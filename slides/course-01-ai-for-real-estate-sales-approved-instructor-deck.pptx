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attendees. Set expectations: practical, non-technical, compliance-aware.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bio brief. Keep company context minimal and educational. Do not turn this into a product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course as a confidence-builder for busy professionals.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objectives are preserved from the approved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manage pacing. Exercises may expand or compress.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next approved syllabus section. State the practical outcome before beginning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to texts, emails, listing notes, showing feedback, and CRM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a vague social post prompt with a repeatable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attendees to write down one task for later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next approved syllabus section. State the practical outcome before beginning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AI predicts useful language; it does not verify your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review lens throughout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protected-class implications, school claims, and subjective neighborhood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prompt provides facts, tone, constraints, and review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next approved syllabus section. State the practical outcome before beginning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this formula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empathy, value, and easy next question. Avoid lender-specific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no panic, no blame, no invented stats.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phrase "just checking in" is the teaching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attendees to save prompts that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next approved syllabus section. State the practical outcome before beginning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examples: portal, IDX, open house, valuation lead, old database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imply AI should auto-send without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availability must be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attendees work in pairs or individually.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measurement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next approved syllabus section. State the practical outcome before beginning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against asking AI to invent descriptions from an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useful copy without protected-class or exaggerated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AI saves time across repeated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attendees that MLS, brokerage, and advertising rules still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next approved syllabus section. State the practical outcome before beginning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is preparation and clarity, not replacing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identify better language for pricing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rate predictions and financial advice. Suggest lender involvement for specifics.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exercise creates a usable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next approved syllabus section. State the practical outcome before beginning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repeated usage beats one dramatic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compliance reminder slide. Avoid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course as serious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attendees to write one workflow they will actually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next approved syllabus section. State the practical outcome before beginning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attendees to customize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slide. Keep it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attendee to choose one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attendees to authoritative sources and broker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cleanly. Invite final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remaining time for questions, examples, and follow-up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324F"/>
          </a:solidFill>
          <a:ln w="12700">
            <a:solidFill>
              <a:srgbClr val="16324F"/>
            </a:solidFill>
            <a:prstDash val="solid"/>
          </a:ln>
        </p:spPr>
      </p:sp>
      <p:sp>
        <p:nvSpPr>
          <p:cNvPr id="3" name="Shape 1"/>
          <p:cNvSpPr/>
          <p:nvPr/>
        </p:nvSpPr>
        <p:spPr>
          <a:xfrm>
            <a:off x="7955280" y="-502920"/>
            <a:ext cx="4389120" cy="4389120"/>
          </a:xfrm>
          <a:prstGeom prst="arc">
            <a:avLst/>
          </a:prstGeom>
          <a:solidFill>
            <a:srgbClr val="16324F">
              <a:alpha val="0"/>
            </a:srgbClr>
          </a:solidFill>
          <a:ln w="25400">
            <a:solidFill>
              <a:srgbClr val="5FBDBD">
                <a:alpha val="80000"/>
              </a:srgbClr>
            </a:solidFill>
            <a:prstDash val="solid"/>
          </a:ln>
        </p:spPr>
      </p:sp>
      <p:sp>
        <p:nvSpPr>
          <p:cNvPr id="4" name="Text 2"/>
          <p:cNvSpPr/>
          <p:nvPr/>
        </p:nvSpPr>
        <p:spPr>
          <a:xfrm>
            <a:off x="731520" y="685800"/>
            <a:ext cx="6217920" cy="228600"/>
          </a:xfrm>
          <a:prstGeom prst="rect">
            <a:avLst/>
          </a:prstGeom>
          <a:noFill/>
          <a:ln/>
        </p:spPr>
        <p:txBody>
          <a:bodyPr wrap="square" lIns="0" tIns="0" rIns="0" bIns="0" rtlCol="0" anchor="ctr"/>
          <a:lstStyle/>
          <a:p>
            <a:pPr indent="0" marL="0">
              <a:buNone/>
            </a:pPr>
            <a:r>
              <a:rPr lang="en-US" sz="1050" b="1" dirty="0">
                <a:solidFill>
                  <a:srgbClr val="F2B84B"/>
                </a:solidFill>
              </a:rPr>
              <a:t>APPROVED REALTOR EDUCATION COURSE</a:t>
            </a:r>
            <a:endParaRPr lang="en-US" sz="1050" dirty="0"/>
          </a:p>
        </p:txBody>
      </p:sp>
      <p:sp>
        <p:nvSpPr>
          <p:cNvPr id="5" name="Text 3"/>
          <p:cNvSpPr/>
          <p:nvPr/>
        </p:nvSpPr>
        <p:spPr>
          <a:xfrm>
            <a:off x="713232" y="1508760"/>
            <a:ext cx="8961120" cy="77724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AI for Real Estate Sales</a:t>
            </a:r>
            <a:endParaRPr lang="en-US" sz="4200" dirty="0"/>
          </a:p>
        </p:txBody>
      </p:sp>
      <p:sp>
        <p:nvSpPr>
          <p:cNvPr id="6" name="Text 4"/>
          <p:cNvSpPr/>
          <p:nvPr/>
        </p:nvSpPr>
        <p:spPr>
          <a:xfrm>
            <a:off x="749808" y="2340864"/>
            <a:ext cx="7955280" cy="411480"/>
          </a:xfrm>
          <a:prstGeom prst="rect">
            <a:avLst/>
          </a:prstGeom>
          <a:noFill/>
          <a:ln/>
        </p:spPr>
        <p:txBody>
          <a:bodyPr wrap="square" lIns="0" tIns="0" rIns="0" bIns="0" rtlCol="0" anchor="ctr"/>
          <a:lstStyle/>
          <a:p>
            <a:pPr indent="0" marL="0">
              <a:buNone/>
            </a:pPr>
            <a:r>
              <a:rPr lang="en-US" sz="2200" dirty="0">
                <a:solidFill>
                  <a:srgbClr val="D7EDEE"/>
                </a:solidFill>
              </a:rPr>
              <a:t>From Confusion to Daily Use</a:t>
            </a:r>
            <a:endParaRPr lang="en-US" sz="2200" dirty="0"/>
          </a:p>
        </p:txBody>
      </p:sp>
      <p:sp>
        <p:nvSpPr>
          <p:cNvPr id="7" name="Shape 5"/>
          <p:cNvSpPr/>
          <p:nvPr/>
        </p:nvSpPr>
        <p:spPr>
          <a:xfrm>
            <a:off x="749808" y="3054096"/>
            <a:ext cx="2011680" cy="0"/>
          </a:xfrm>
          <a:prstGeom prst="line">
            <a:avLst/>
          </a:prstGeom>
          <a:noFill/>
          <a:ln w="50800">
            <a:solidFill>
              <a:srgbClr val="F45B69"/>
            </a:solidFill>
            <a:prstDash val="solid"/>
          </a:ln>
        </p:spPr>
      </p:sp>
      <p:sp>
        <p:nvSpPr>
          <p:cNvPr id="8" name="Shape 6"/>
          <p:cNvSpPr/>
          <p:nvPr/>
        </p:nvSpPr>
        <p:spPr>
          <a:xfrm>
            <a:off x="585216" y="4187952"/>
            <a:ext cx="4092489" cy="734812"/>
          </a:xfrm>
          <a:prstGeom prst="roundRect">
            <a:avLst>
              <a:gd name="adj" fmla="val 4978"/>
            </a:avLst>
          </a:prstGeom>
          <a:solidFill>
            <a:srgbClr val="FFFFFF">
              <a:alpha val="97000"/>
            </a:srgbClr>
          </a:solidFill>
          <a:ln w="7620">
            <a:solidFill>
              <a:srgbClr val="D7E4EA">
                <a:alpha val="75000"/>
              </a:srgbClr>
            </a:solidFill>
            <a:prstDash val="solid"/>
          </a:ln>
        </p:spPr>
      </p:sp>
      <p:pic>
        <p:nvPicPr>
          <p:cNvPr id="9" name="Image 0" descr="C:\Users\TR4_1950X\Documents\New project\assets\brand\miami-realtors-logo-color.png">    </p:cNvPr>
          <p:cNvPicPr>
            <a:picLocks noChangeAspect="1"/>
          </p:cNvPicPr>
          <p:nvPr/>
        </p:nvPicPr>
        <p:blipFill>
          <a:blip r:embed="rId1"/>
          <a:stretch>
            <a:fillRect/>
          </a:stretch>
        </p:blipFill>
        <p:spPr>
          <a:xfrm>
            <a:off x="749808" y="4315968"/>
            <a:ext cx="1184697" cy="517368"/>
          </a:xfrm>
          <a:prstGeom prst="rect">
            <a:avLst/>
          </a:prstGeom>
        </p:spPr>
      </p:pic>
      <p:pic>
        <p:nvPicPr>
          <p:cNvPr id="10" name="Image 1" descr="C:\Users\TR4_1950X\Documents\New project\assets\brand\rworld-official-logo-color.png">    </p:cNvPr>
          <p:cNvPicPr>
            <a:picLocks noChangeAspect="1"/>
          </p:cNvPicPr>
          <p:nvPr/>
        </p:nvPicPr>
        <p:blipFill>
          <a:blip r:embed="rId2"/>
          <a:stretch>
            <a:fillRect/>
          </a:stretch>
        </p:blipFill>
        <p:spPr>
          <a:xfrm>
            <a:off x="2318553" y="4345960"/>
            <a:ext cx="2249424" cy="457383"/>
          </a:xfrm>
          <a:prstGeom prst="rect">
            <a:avLst/>
          </a:prstGeom>
        </p:spPr>
      </p:pic>
      <p:sp>
        <p:nvSpPr>
          <p:cNvPr id="11" name="Text 7"/>
          <p:cNvSpPr/>
          <p:nvPr/>
        </p:nvSpPr>
        <p:spPr>
          <a:xfrm>
            <a:off x="749808" y="5440680"/>
            <a:ext cx="6217920" cy="256032"/>
          </a:xfrm>
          <a:prstGeom prst="rect">
            <a:avLst/>
          </a:prstGeom>
          <a:noFill/>
          <a:ln/>
        </p:spPr>
        <p:txBody>
          <a:bodyPr wrap="square" lIns="0" tIns="0" rIns="0" bIns="0" rtlCol="0" anchor="ctr"/>
          <a:lstStyle/>
          <a:p>
            <a:pPr indent="0" marL="0">
              <a:buNone/>
            </a:pPr>
            <a:r>
              <a:rPr lang="en-US" sz="1200" dirty="0">
                <a:solidFill>
                  <a:srgbClr val="D7EDEE"/>
                </a:solidFill>
              </a:rPr>
              <a:t>For MIAMI REALTORS + RWorld members</a:t>
            </a:r>
            <a:endParaRPr lang="en-US" sz="1200" dirty="0"/>
          </a:p>
        </p:txBody>
      </p:sp>
      <p:sp>
        <p:nvSpPr>
          <p:cNvPr id="12" name="Text 8"/>
          <p:cNvSpPr/>
          <p:nvPr/>
        </p:nvSpPr>
        <p:spPr>
          <a:xfrm>
            <a:off x="749808" y="5760720"/>
            <a:ext cx="4389120" cy="201168"/>
          </a:xfrm>
          <a:prstGeom prst="rect">
            <a:avLst/>
          </a:prstGeom>
          <a:noFill/>
          <a:ln/>
        </p:spPr>
        <p:txBody>
          <a:bodyPr wrap="square" lIns="0" tIns="0" rIns="0" bIns="0" rtlCol="0" anchor="ctr"/>
          <a:lstStyle/>
          <a:p>
            <a:pPr indent="0" marL="0">
              <a:buNone/>
            </a:pPr>
            <a:r>
              <a:rPr lang="en-US" sz="950" dirty="0">
                <a:solidFill>
                  <a:srgbClr val="AFC8CF"/>
                </a:solidFill>
              </a:rPr>
              <a:t>Instructor-ready live training deck</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0E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0E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INSTRUCTOR</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Today is about workflows, not software demos</a:t>
            </a:r>
            <a:endParaRPr lang="en-US" sz="2800" dirty="0"/>
          </a:p>
        </p:txBody>
      </p:sp>
      <p:sp>
        <p:nvSpPr>
          <p:cNvPr id="7" name="Text 5"/>
          <p:cNvSpPr/>
          <p:nvPr/>
        </p:nvSpPr>
        <p:spPr>
          <a:xfrm>
            <a:off x="868680" y="1874520"/>
            <a:ext cx="6400800" cy="3657600"/>
          </a:xfrm>
          <a:prstGeom prst="rect">
            <a:avLst/>
          </a:prstGeom>
          <a:noFill/>
          <a:ln/>
        </p:spPr>
        <p:txBody>
          <a:bodyPr wrap="square" lIns="254" tIns="254" rIns="254" bIns="254" rtlCol="0" anchor="t">
            <a:normAutofit/>
          </a:bodyPr>
          <a:lstStyle/>
          <a:p>
            <a:pPr marL="203200" indent="-203200">
              <a:buSzPct val="100000"/>
              <a:buChar char="•"/>
            </a:pPr>
            <a:r>
              <a:rPr lang="en-US" sz="1650" dirty="0">
                <a:solidFill>
                  <a:srgbClr val="102033"/>
                </a:solidFill>
                <a:latin typeface="Aptos" pitchFamily="34" charset="0"/>
                <a:ea typeface="Aptos" pitchFamily="34" charset="-122"/>
                <a:cs typeface="Aptos" pitchFamily="34" charset="-120"/>
              </a:rPr>
              <a:t>Instructor: Ian Burton Price</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Real estate technology, online lead workflows, and practical AI adoption</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Focus: usable sales communication, follow-up, listing prep, and daily productivity</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Questions are welcome throughout the class</a:t>
            </a:r>
            <a:endParaRPr lang="en-US" sz="1650" dirty="0"/>
          </a:p>
        </p:txBody>
      </p:sp>
      <p:sp>
        <p:nvSpPr>
          <p:cNvPr id="8" name="Shape 6"/>
          <p:cNvSpPr/>
          <p:nvPr/>
        </p:nvSpPr>
        <p:spPr>
          <a:xfrm>
            <a:off x="7571232" y="1828800"/>
            <a:ext cx="3246120" cy="2788920"/>
          </a:xfrm>
          <a:prstGeom prst="roundRect">
            <a:avLst>
              <a:gd name="adj" fmla="val 1967"/>
            </a:avLst>
          </a:prstGeom>
          <a:solidFill>
            <a:srgbClr val="FFF0EF"/>
          </a:solidFill>
          <a:ln w="10160">
            <a:solidFill>
              <a:srgbClr val="F5C8C5"/>
            </a:solidFill>
            <a:prstDash val="solid"/>
          </a:ln>
        </p:spPr>
      </p:sp>
      <p:sp>
        <p:nvSpPr>
          <p:cNvPr id="9" name="Text 7"/>
          <p:cNvSpPr/>
          <p:nvPr/>
        </p:nvSpPr>
        <p:spPr>
          <a:xfrm>
            <a:off x="7882128" y="2148840"/>
            <a:ext cx="2606040" cy="530352"/>
          </a:xfrm>
          <a:prstGeom prst="rect">
            <a:avLst/>
          </a:prstGeom>
          <a:noFill/>
          <a:ln/>
        </p:spPr>
        <p:txBody>
          <a:bodyPr wrap="square" lIns="0" tIns="0" rIns="0" bIns="0" rtlCol="0" anchor="ctr">
            <a:normAutofit/>
          </a:bodyPr>
          <a:lstStyle/>
          <a:p>
            <a:pPr indent="0" marL="0">
              <a:buNone/>
            </a:pPr>
            <a:r>
              <a:rPr lang="en-US" sz="1750" b="1" dirty="0">
                <a:solidFill>
                  <a:srgbClr val="16324F"/>
                </a:solidFill>
              </a:rPr>
              <a:t>Make it usable</a:t>
            </a:r>
            <a:endParaRPr lang="en-US" sz="1750" dirty="0"/>
          </a:p>
        </p:txBody>
      </p:sp>
      <p:sp>
        <p:nvSpPr>
          <p:cNvPr id="10" name="Text 8"/>
          <p:cNvSpPr/>
          <p:nvPr/>
        </p:nvSpPr>
        <p:spPr>
          <a:xfrm>
            <a:off x="7882128" y="2944368"/>
            <a:ext cx="2514600" cy="960120"/>
          </a:xfrm>
          <a:prstGeom prst="rect">
            <a:avLst/>
          </a:prstGeom>
          <a:noFill/>
          <a:ln/>
        </p:spPr>
        <p:txBody>
          <a:bodyPr wrap="square" lIns="508" tIns="508" rIns="508" bIns="508" rtlCol="0" anchor="ctr">
            <a:normAutofit/>
          </a:bodyPr>
          <a:lstStyle/>
          <a:p>
            <a:pPr indent="0" marL="0">
              <a:buNone/>
            </a:pPr>
            <a:r>
              <a:rPr lang="en-US" sz="1220" dirty="0">
                <a:solidFill>
                  <a:srgbClr val="102033"/>
                </a:solidFill>
              </a:rPr>
              <a:t>Turn each example into one repeatable workflow you can use this week.</a:t>
            </a:r>
            <a:endParaRPr lang="en-US" sz="1220" dirty="0"/>
          </a:p>
        </p:txBody>
      </p:sp>
      <p:sp>
        <p:nvSpPr>
          <p:cNvPr id="11" name="Shape 9"/>
          <p:cNvSpPr/>
          <p:nvPr/>
        </p:nvSpPr>
        <p:spPr>
          <a:xfrm>
            <a:off x="7882128" y="4160520"/>
            <a:ext cx="1097280" cy="0"/>
          </a:xfrm>
          <a:prstGeom prst="line">
            <a:avLst/>
          </a:prstGeom>
          <a:noFill/>
          <a:ln w="38100">
            <a:solidFill>
              <a:srgbClr val="F45B69"/>
            </a:solidFill>
            <a:prstDash val="solid"/>
          </a:ln>
        </p:spPr>
      </p:sp>
      <p:sp>
        <p:nvSpPr>
          <p:cNvPr id="12" name="Shape 10"/>
          <p:cNvSpPr/>
          <p:nvPr/>
        </p:nvSpPr>
        <p:spPr>
          <a:xfrm>
            <a:off x="7882128" y="4370832"/>
            <a:ext cx="493776" cy="493776"/>
          </a:xfrm>
          <a:prstGeom prst="roundRect">
            <a:avLst>
              <a:gd name="adj" fmla="val 14815"/>
            </a:avLst>
          </a:prstGeom>
          <a:solidFill>
            <a:srgbClr val="008F8F"/>
          </a:solidFill>
          <a:ln w="12700">
            <a:solidFill>
              <a:srgbClr val="008F8F"/>
            </a:solidFill>
            <a:prstDash val="solid"/>
          </a:ln>
        </p:spPr>
      </p:sp>
      <p:sp>
        <p:nvSpPr>
          <p:cNvPr id="13" name="Text 11"/>
          <p:cNvSpPr/>
          <p:nvPr/>
        </p:nvSpPr>
        <p:spPr>
          <a:xfrm>
            <a:off x="7927848" y="4507992"/>
            <a:ext cx="402336" cy="128016"/>
          </a:xfrm>
          <a:prstGeom prst="rect">
            <a:avLst/>
          </a:prstGeom>
          <a:noFill/>
          <a:ln/>
        </p:spPr>
        <p:txBody>
          <a:bodyPr wrap="square" lIns="0" tIns="0" rIns="0" bIns="0" rtlCol="0" anchor="ctr"/>
          <a:lstStyle/>
          <a:p>
            <a:pPr algn="ctr" indent="0" marL="0">
              <a:buNone/>
            </a:pPr>
            <a:r>
              <a:rPr lang="en-US" sz="850" b="1" dirty="0">
                <a:solidFill>
                  <a:srgbClr val="FFFFFF"/>
                </a:solidFill>
              </a:rPr>
              <a:t>AI</a:t>
            </a:r>
            <a:endParaRPr lang="en-US" sz="8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2/48</a:t>
            </a:r>
            <a:endParaRPr lang="en-US" sz="7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0F3F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0F3F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COURSE PROMISE</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By the end, AI should feel usable in your normal sales day</a:t>
            </a:r>
            <a:endParaRPr lang="en-US" sz="2800" dirty="0"/>
          </a:p>
        </p:txBody>
      </p:sp>
      <p:sp>
        <p:nvSpPr>
          <p:cNvPr id="7" name="Text 5"/>
          <p:cNvSpPr/>
          <p:nvPr/>
        </p:nvSpPr>
        <p:spPr>
          <a:xfrm>
            <a:off x="868680" y="1874520"/>
            <a:ext cx="6400800" cy="3657600"/>
          </a:xfrm>
          <a:prstGeom prst="rect">
            <a:avLst/>
          </a:prstGeom>
          <a:noFill/>
          <a:ln/>
        </p:spPr>
        <p:txBody>
          <a:bodyPr wrap="square" lIns="254" tIns="254" rIns="254" bIns="254" rtlCol="0" anchor="t">
            <a:normAutofit/>
          </a:bodyPr>
          <a:lstStyle/>
          <a:p>
            <a:pPr marL="203200" indent="-203200">
              <a:buSzPct val="100000"/>
              <a:buChar char="•"/>
            </a:pPr>
            <a:r>
              <a:rPr lang="en-US" sz="1650" dirty="0">
                <a:solidFill>
                  <a:srgbClr val="102033"/>
                </a:solidFill>
                <a:latin typeface="Aptos" pitchFamily="34" charset="0"/>
                <a:ea typeface="Aptos" pitchFamily="34" charset="-122"/>
                <a:cs typeface="Aptos" pitchFamily="34" charset="-120"/>
              </a:rPr>
              <a:t>Draft clearer client messages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Follow up with more consistency</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Prepare for buyer and seller conversations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Create listing and marketing drafts faster</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Use AI with privacy, Fair Housing, and professional review in mind</a:t>
            </a:r>
            <a:endParaRPr lang="en-US" sz="1650" dirty="0"/>
          </a:p>
        </p:txBody>
      </p:sp>
      <p:sp>
        <p:nvSpPr>
          <p:cNvPr id="8" name="Shape 6"/>
          <p:cNvSpPr/>
          <p:nvPr/>
        </p:nvSpPr>
        <p:spPr>
          <a:xfrm>
            <a:off x="7571232" y="1828800"/>
            <a:ext cx="3246120" cy="2788920"/>
          </a:xfrm>
          <a:prstGeom prst="roundRect">
            <a:avLst>
              <a:gd name="adj" fmla="val 1967"/>
            </a:avLst>
          </a:prstGeom>
          <a:solidFill>
            <a:srgbClr val="F0F3FF"/>
          </a:solidFill>
          <a:ln w="10160">
            <a:solidFill>
              <a:srgbClr val="BFDADC"/>
            </a:solidFill>
            <a:prstDash val="solid"/>
          </a:ln>
        </p:spPr>
      </p:sp>
      <p:sp>
        <p:nvSpPr>
          <p:cNvPr id="9" name="Text 7"/>
          <p:cNvSpPr/>
          <p:nvPr/>
        </p:nvSpPr>
        <p:spPr>
          <a:xfrm>
            <a:off x="7882128" y="2148840"/>
            <a:ext cx="2606040" cy="530352"/>
          </a:xfrm>
          <a:prstGeom prst="rect">
            <a:avLst/>
          </a:prstGeom>
          <a:noFill/>
          <a:ln/>
        </p:spPr>
        <p:txBody>
          <a:bodyPr wrap="square" lIns="0" tIns="0" rIns="0" bIns="0" rtlCol="0" anchor="ctr">
            <a:normAutofit/>
          </a:bodyPr>
          <a:lstStyle/>
          <a:p>
            <a:pPr indent="0" marL="0">
              <a:buNone/>
            </a:pPr>
            <a:r>
              <a:rPr lang="en-US" sz="1750" b="1" dirty="0">
                <a:solidFill>
                  <a:srgbClr val="16324F"/>
                </a:solidFill>
              </a:rPr>
              <a:t>Use it where work repeats</a:t>
            </a:r>
            <a:endParaRPr lang="en-US" sz="1750" dirty="0"/>
          </a:p>
        </p:txBody>
      </p:sp>
      <p:sp>
        <p:nvSpPr>
          <p:cNvPr id="10" name="Text 8"/>
          <p:cNvSpPr/>
          <p:nvPr/>
        </p:nvSpPr>
        <p:spPr>
          <a:xfrm>
            <a:off x="7882128" y="2944368"/>
            <a:ext cx="2514600" cy="960120"/>
          </a:xfrm>
          <a:prstGeom prst="rect">
            <a:avLst/>
          </a:prstGeom>
          <a:noFill/>
          <a:ln/>
        </p:spPr>
        <p:txBody>
          <a:bodyPr wrap="square" lIns="508" tIns="508" rIns="508" bIns="508" rtlCol="0" anchor="ctr">
            <a:normAutofit/>
          </a:bodyPr>
          <a:lstStyle/>
          <a:p>
            <a:pPr indent="0" marL="0">
              <a:buNone/>
            </a:pPr>
            <a:r>
              <a:rPr lang="en-US" sz="1220" dirty="0">
                <a:solidFill>
                  <a:srgbClr val="102033"/>
                </a:solidFill>
              </a:rPr>
              <a:t>Start with messages, notes, follow-up, and prep before chasing new tools.</a:t>
            </a:r>
            <a:endParaRPr lang="en-US" sz="1220" dirty="0"/>
          </a:p>
        </p:txBody>
      </p:sp>
      <p:sp>
        <p:nvSpPr>
          <p:cNvPr id="11" name="Shape 9"/>
          <p:cNvSpPr/>
          <p:nvPr/>
        </p:nvSpPr>
        <p:spPr>
          <a:xfrm>
            <a:off x="7882128" y="4160520"/>
            <a:ext cx="1097280" cy="0"/>
          </a:xfrm>
          <a:prstGeom prst="line">
            <a:avLst/>
          </a:prstGeom>
          <a:noFill/>
          <a:ln w="38100">
            <a:solidFill>
              <a:srgbClr val="008F8F"/>
            </a:solidFill>
            <a:prstDash val="solid"/>
          </a:ln>
        </p:spPr>
      </p:sp>
      <p:sp>
        <p:nvSpPr>
          <p:cNvPr id="12" name="Shape 10"/>
          <p:cNvSpPr/>
          <p:nvPr/>
        </p:nvSpPr>
        <p:spPr>
          <a:xfrm>
            <a:off x="7882128" y="4370832"/>
            <a:ext cx="493776" cy="493776"/>
          </a:xfrm>
          <a:prstGeom prst="roundRect">
            <a:avLst>
              <a:gd name="adj" fmla="val 14815"/>
            </a:avLst>
          </a:prstGeom>
          <a:solidFill>
            <a:srgbClr val="008F8F"/>
          </a:solidFill>
          <a:ln w="12700">
            <a:solidFill>
              <a:srgbClr val="008F8F"/>
            </a:solidFill>
            <a:prstDash val="solid"/>
          </a:ln>
        </p:spPr>
      </p:sp>
      <p:sp>
        <p:nvSpPr>
          <p:cNvPr id="13" name="Text 11"/>
          <p:cNvSpPr/>
          <p:nvPr/>
        </p:nvSpPr>
        <p:spPr>
          <a:xfrm>
            <a:off x="7927848" y="4507992"/>
            <a:ext cx="402336" cy="128016"/>
          </a:xfrm>
          <a:prstGeom prst="rect">
            <a:avLst/>
          </a:prstGeom>
          <a:noFill/>
          <a:ln/>
        </p:spPr>
        <p:txBody>
          <a:bodyPr wrap="square" lIns="0" tIns="0" rIns="0" bIns="0" rtlCol="0" anchor="ctr"/>
          <a:lstStyle/>
          <a:p>
            <a:pPr algn="ctr" indent="0" marL="0">
              <a:buNone/>
            </a:pPr>
            <a:r>
              <a:rPr lang="en-US" sz="850" b="1" dirty="0">
                <a:solidFill>
                  <a:srgbClr val="FFFFFF"/>
                </a:solidFill>
              </a:rPr>
              <a:t>AI</a:t>
            </a:r>
            <a:endParaRPr lang="en-US" sz="8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3/48</a:t>
            </a:r>
            <a:endParaRPr lang="en-US" sz="7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9F8F0"/>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9F8F0"/>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APPROVED OBJECTIVES</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Approved learning objectives</a:t>
            </a:r>
            <a:endParaRPr lang="en-US" sz="2800" dirty="0"/>
          </a:p>
        </p:txBody>
      </p:sp>
      <p:sp>
        <p:nvSpPr>
          <p:cNvPr id="7" name="Text 5"/>
          <p:cNvSpPr/>
          <p:nvPr/>
        </p:nvSpPr>
        <p:spPr>
          <a:xfrm>
            <a:off x="868680" y="1874520"/>
            <a:ext cx="6400800" cy="3657600"/>
          </a:xfrm>
          <a:prstGeom prst="rect">
            <a:avLst/>
          </a:prstGeom>
          <a:noFill/>
          <a:ln/>
        </p:spPr>
        <p:txBody>
          <a:bodyPr wrap="square" lIns="254" tIns="254" rIns="254" bIns="254" rtlCol="0" anchor="t">
            <a:normAutofit/>
          </a:bodyPr>
          <a:lstStyle/>
          <a:p>
            <a:pPr marL="203200" indent="-203200">
              <a:buSzPct val="100000"/>
              <a:buChar char="•"/>
            </a:pPr>
            <a:r>
              <a:rPr lang="en-US" sz="1440" dirty="0">
                <a:solidFill>
                  <a:srgbClr val="102033"/>
                </a:solidFill>
                <a:latin typeface="Aptos" pitchFamily="34" charset="0"/>
                <a:ea typeface="Aptos" pitchFamily="34" charset="-122"/>
                <a:cs typeface="Aptos" pitchFamily="34" charset="-120"/>
              </a:rPr>
              <a:t>Explain what AI can and cannot do in a real estate sales environment</a:t>
            </a:r>
            <a:endParaRPr lang="en-US" sz="1440" dirty="0"/>
          </a:p>
          <a:p>
            <a:pPr marL="203200" indent="-203200">
              <a:buSzPct val="100000"/>
              <a:buChar char="•"/>
            </a:pPr>
            <a:r>
              <a:rPr lang="en-US" sz="1440" dirty="0">
                <a:solidFill>
                  <a:srgbClr val="102033"/>
                </a:solidFill>
                <a:latin typeface="Aptos" pitchFamily="34" charset="0"/>
                <a:ea typeface="Aptos" pitchFamily="34" charset="-122"/>
                <a:cs typeface="Aptos" pitchFamily="34" charset="-120"/>
              </a:rPr>
              <a:t>Use AI to draft emails, text messages, listing copy, and client updates</a:t>
            </a:r>
            <a:endParaRPr lang="en-US" sz="1440" dirty="0"/>
          </a:p>
          <a:p>
            <a:pPr marL="203200" indent="-203200">
              <a:buSzPct val="100000"/>
              <a:buChar char="•"/>
            </a:pPr>
            <a:r>
              <a:rPr lang="en-US" sz="1440" dirty="0">
                <a:solidFill>
                  <a:srgbClr val="102033"/>
                </a:solidFill>
                <a:latin typeface="Aptos" pitchFamily="34" charset="0"/>
                <a:ea typeface="Aptos" pitchFamily="34" charset="-122"/>
                <a:cs typeface="Aptos" pitchFamily="34" charset="-120"/>
              </a:rPr>
              <a:t>Personalize buyer and seller communication with better context</a:t>
            </a:r>
            <a:endParaRPr lang="en-US" sz="1440" dirty="0"/>
          </a:p>
          <a:p>
            <a:pPr marL="203200" indent="-203200">
              <a:buSzPct val="100000"/>
              <a:buChar char="•"/>
            </a:pPr>
            <a:r>
              <a:rPr lang="en-US" sz="1440" dirty="0">
                <a:solidFill>
                  <a:srgbClr val="102033"/>
                </a:solidFill>
                <a:latin typeface="Aptos" pitchFamily="34" charset="0"/>
                <a:ea typeface="Aptos" pitchFamily="34" charset="-122"/>
                <a:cs typeface="Aptos" pitchFamily="34" charset="-120"/>
              </a:rPr>
              <a:t>Prepare for appointments, objections, and follow-up conversations</a:t>
            </a:r>
            <a:endParaRPr lang="en-US" sz="1440" dirty="0"/>
          </a:p>
          <a:p>
            <a:pPr marL="203200" indent="-203200">
              <a:buSzPct val="100000"/>
              <a:buChar char="•"/>
            </a:pPr>
            <a:r>
              <a:rPr lang="en-US" sz="1440" dirty="0">
                <a:solidFill>
                  <a:srgbClr val="102033"/>
                </a:solidFill>
                <a:latin typeface="Aptos" pitchFamily="34" charset="0"/>
                <a:ea typeface="Aptos" pitchFamily="34" charset="-122"/>
                <a:cs typeface="Aptos" pitchFamily="34" charset="-120"/>
              </a:rPr>
              <a:t>Build a simple daily AI workflow for productivity and consistency</a:t>
            </a:r>
            <a:endParaRPr lang="en-US" sz="1440" dirty="0"/>
          </a:p>
          <a:p>
            <a:pPr marL="203200" indent="-203200">
              <a:buSzPct val="100000"/>
              <a:buChar char="•"/>
            </a:pPr>
            <a:r>
              <a:rPr lang="en-US" sz="1440" dirty="0">
                <a:solidFill>
                  <a:srgbClr val="102033"/>
                </a:solidFill>
                <a:latin typeface="Aptos" pitchFamily="34" charset="0"/>
                <a:ea typeface="Aptos" pitchFamily="34" charset="-122"/>
                <a:cs typeface="Aptos" pitchFamily="34" charset="-120"/>
              </a:rPr>
              <a:t>Identify basic risks involving accuracy, privacy, Fair Housing, and overreliance</a:t>
            </a:r>
            <a:endParaRPr lang="en-US" sz="1440" dirty="0"/>
          </a:p>
        </p:txBody>
      </p:sp>
      <p:sp>
        <p:nvSpPr>
          <p:cNvPr id="8" name="Shape 6"/>
          <p:cNvSpPr/>
          <p:nvPr/>
        </p:nvSpPr>
        <p:spPr>
          <a:xfrm>
            <a:off x="7571232" y="1828800"/>
            <a:ext cx="3246120" cy="2788920"/>
          </a:xfrm>
          <a:prstGeom prst="roundRect">
            <a:avLst>
              <a:gd name="adj" fmla="val 1967"/>
            </a:avLst>
          </a:prstGeom>
          <a:solidFill>
            <a:srgbClr val="E9F8F0"/>
          </a:solidFill>
          <a:ln w="10160">
            <a:solidFill>
              <a:srgbClr val="BFDADC"/>
            </a:solidFill>
            <a:prstDash val="solid"/>
          </a:ln>
        </p:spPr>
      </p:sp>
      <p:sp>
        <p:nvSpPr>
          <p:cNvPr id="9" name="Text 7"/>
          <p:cNvSpPr/>
          <p:nvPr/>
        </p:nvSpPr>
        <p:spPr>
          <a:xfrm>
            <a:off x="7882128" y="2148840"/>
            <a:ext cx="2606040" cy="530352"/>
          </a:xfrm>
          <a:prstGeom prst="rect">
            <a:avLst/>
          </a:prstGeom>
          <a:noFill/>
          <a:ln/>
        </p:spPr>
        <p:txBody>
          <a:bodyPr wrap="square" lIns="0" tIns="0" rIns="0" bIns="0" rtlCol="0" anchor="ctr">
            <a:normAutofit/>
          </a:bodyPr>
          <a:lstStyle/>
          <a:p>
            <a:pPr indent="0" marL="0">
              <a:buNone/>
            </a:pPr>
            <a:r>
              <a:rPr lang="en-US" sz="1750" b="1" dirty="0">
                <a:solidFill>
                  <a:srgbClr val="16324F"/>
                </a:solidFill>
              </a:rPr>
              <a:t>What this class builds</a:t>
            </a:r>
            <a:endParaRPr lang="en-US" sz="1750" dirty="0"/>
          </a:p>
        </p:txBody>
      </p:sp>
      <p:sp>
        <p:nvSpPr>
          <p:cNvPr id="10" name="Text 8"/>
          <p:cNvSpPr/>
          <p:nvPr/>
        </p:nvSpPr>
        <p:spPr>
          <a:xfrm>
            <a:off x="7882128" y="2944368"/>
            <a:ext cx="2514600" cy="960120"/>
          </a:xfrm>
          <a:prstGeom prst="rect">
            <a:avLst/>
          </a:prstGeom>
          <a:noFill/>
          <a:ln/>
        </p:spPr>
        <p:txBody>
          <a:bodyPr wrap="square" lIns="508" tIns="508" rIns="508" bIns="508" rtlCol="0" anchor="ctr">
            <a:normAutofit/>
          </a:bodyPr>
          <a:lstStyle/>
          <a:p>
            <a:pPr indent="0" marL="0">
              <a:buNone/>
            </a:pPr>
            <a:r>
              <a:rPr lang="en-US" sz="1220" dirty="0">
                <a:solidFill>
                  <a:srgbClr val="102033"/>
                </a:solidFill>
              </a:rPr>
              <a:t>A practical AI workflow for real estate sales, not a technical certification.</a:t>
            </a:r>
            <a:endParaRPr lang="en-US" sz="1220" dirty="0"/>
          </a:p>
        </p:txBody>
      </p:sp>
      <p:sp>
        <p:nvSpPr>
          <p:cNvPr id="11" name="Shape 9"/>
          <p:cNvSpPr/>
          <p:nvPr/>
        </p:nvSpPr>
        <p:spPr>
          <a:xfrm>
            <a:off x="7882128" y="4160520"/>
            <a:ext cx="1097280" cy="0"/>
          </a:xfrm>
          <a:prstGeom prst="line">
            <a:avLst/>
          </a:prstGeom>
          <a:noFill/>
          <a:ln w="38100">
            <a:solidFill>
              <a:srgbClr val="008F8F"/>
            </a:solidFill>
            <a:prstDash val="solid"/>
          </a:ln>
        </p:spPr>
      </p:sp>
      <p:sp>
        <p:nvSpPr>
          <p:cNvPr id="12" name="Shape 10"/>
          <p:cNvSpPr/>
          <p:nvPr/>
        </p:nvSpPr>
        <p:spPr>
          <a:xfrm>
            <a:off x="7882128" y="4370832"/>
            <a:ext cx="493776" cy="493776"/>
          </a:xfrm>
          <a:prstGeom prst="roundRect">
            <a:avLst>
              <a:gd name="adj" fmla="val 14815"/>
            </a:avLst>
          </a:prstGeom>
          <a:solidFill>
            <a:srgbClr val="008F8F"/>
          </a:solidFill>
          <a:ln w="12700">
            <a:solidFill>
              <a:srgbClr val="008F8F"/>
            </a:solidFill>
            <a:prstDash val="solid"/>
          </a:ln>
        </p:spPr>
      </p:sp>
      <p:sp>
        <p:nvSpPr>
          <p:cNvPr id="13" name="Text 11"/>
          <p:cNvSpPr/>
          <p:nvPr/>
        </p:nvSpPr>
        <p:spPr>
          <a:xfrm>
            <a:off x="7927848" y="4507992"/>
            <a:ext cx="402336" cy="128016"/>
          </a:xfrm>
          <a:prstGeom prst="rect">
            <a:avLst/>
          </a:prstGeom>
          <a:noFill/>
          <a:ln/>
        </p:spPr>
        <p:txBody>
          <a:bodyPr wrap="square" lIns="0" tIns="0" rIns="0" bIns="0" rtlCol="0" anchor="ctr"/>
          <a:lstStyle/>
          <a:p>
            <a:pPr algn="ctr" indent="0" marL="0">
              <a:buNone/>
            </a:pPr>
            <a:r>
              <a:rPr lang="en-US" sz="850" b="1" dirty="0">
                <a:solidFill>
                  <a:srgbClr val="FFFFFF"/>
                </a:solidFill>
              </a:rPr>
              <a:t>AI</a:t>
            </a:r>
            <a:endParaRPr lang="en-US" sz="8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4/48</a:t>
            </a:r>
            <a:endParaRPr lang="en-US" sz="7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AF7F7"/>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AF7F7"/>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SESSION MAP</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The two-hour path</a:t>
            </a:r>
            <a:endParaRPr lang="en-US" sz="2800" dirty="0"/>
          </a:p>
        </p:txBody>
      </p:sp>
      <p:sp>
        <p:nvSpPr>
          <p:cNvPr id="7" name="Shape 5"/>
          <p:cNvSpPr/>
          <p:nvPr/>
        </p:nvSpPr>
        <p:spPr>
          <a:xfrm>
            <a:off x="777240" y="1828800"/>
            <a:ext cx="402336" cy="402336"/>
          </a:xfrm>
          <a:prstGeom prst="ellipse">
            <a:avLst/>
          </a:prstGeom>
          <a:solidFill>
            <a:srgbClr val="008F8F"/>
          </a:solidFill>
          <a:ln w="12700">
            <a:solidFill>
              <a:srgbClr val="008F8F"/>
            </a:solidFill>
            <a:prstDash val="solid"/>
          </a:ln>
        </p:spPr>
      </p:sp>
      <p:sp>
        <p:nvSpPr>
          <p:cNvPr id="8" name="Text 6"/>
          <p:cNvSpPr/>
          <p:nvPr/>
        </p:nvSpPr>
        <p:spPr>
          <a:xfrm>
            <a:off x="777240" y="192024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9" name="Text 7"/>
          <p:cNvSpPr/>
          <p:nvPr/>
        </p:nvSpPr>
        <p:spPr>
          <a:xfrm>
            <a:off x="1307592" y="1847088"/>
            <a:ext cx="685800" cy="164592"/>
          </a:xfrm>
          <a:prstGeom prst="rect">
            <a:avLst/>
          </a:prstGeom>
          <a:noFill/>
          <a:ln/>
        </p:spPr>
        <p:txBody>
          <a:bodyPr wrap="square" lIns="0" tIns="0" rIns="0" bIns="0" rtlCol="0" anchor="ctr"/>
          <a:lstStyle/>
          <a:p>
            <a:pPr indent="0" marL="0">
              <a:buNone/>
            </a:pPr>
            <a:r>
              <a:rPr lang="en-US" sz="900" b="1" dirty="0">
                <a:solidFill>
                  <a:srgbClr val="52606D"/>
                </a:solidFill>
              </a:rPr>
              <a:t>10m</a:t>
            </a:r>
            <a:endParaRPr lang="en-US" sz="900" dirty="0"/>
          </a:p>
        </p:txBody>
      </p:sp>
      <p:sp>
        <p:nvSpPr>
          <p:cNvPr id="10" name="Text 8"/>
          <p:cNvSpPr/>
          <p:nvPr/>
        </p:nvSpPr>
        <p:spPr>
          <a:xfrm>
            <a:off x="1307592" y="2139696"/>
            <a:ext cx="1920240" cy="320040"/>
          </a:xfrm>
          <a:prstGeom prst="rect">
            <a:avLst/>
          </a:prstGeom>
          <a:noFill/>
          <a:ln/>
        </p:spPr>
        <p:txBody>
          <a:bodyPr wrap="square" lIns="0" tIns="0" rIns="0" bIns="0" rtlCol="0" anchor="ctr">
            <a:normAutofit/>
          </a:bodyPr>
          <a:lstStyle/>
          <a:p>
            <a:pPr indent="0" marL="0">
              <a:buNone/>
            </a:pPr>
            <a:r>
              <a:rPr lang="en-US" sz="1500" b="1" dirty="0">
                <a:solidFill>
                  <a:srgbClr val="102033"/>
                </a:solidFill>
              </a:rPr>
              <a:t>Reality check</a:t>
            </a:r>
            <a:endParaRPr lang="en-US" sz="1500" dirty="0"/>
          </a:p>
        </p:txBody>
      </p:sp>
      <p:sp>
        <p:nvSpPr>
          <p:cNvPr id="11" name="Shape 9"/>
          <p:cNvSpPr/>
          <p:nvPr/>
        </p:nvSpPr>
        <p:spPr>
          <a:xfrm>
            <a:off x="3566160" y="1828800"/>
            <a:ext cx="402336" cy="402336"/>
          </a:xfrm>
          <a:prstGeom prst="ellipse">
            <a:avLst/>
          </a:prstGeom>
          <a:solidFill>
            <a:srgbClr val="2F80ED"/>
          </a:solidFill>
          <a:ln w="12700">
            <a:solidFill>
              <a:srgbClr val="2F80ED"/>
            </a:solidFill>
            <a:prstDash val="solid"/>
          </a:ln>
        </p:spPr>
      </p:sp>
      <p:sp>
        <p:nvSpPr>
          <p:cNvPr id="12" name="Text 10"/>
          <p:cNvSpPr/>
          <p:nvPr/>
        </p:nvSpPr>
        <p:spPr>
          <a:xfrm>
            <a:off x="3566160" y="192024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13" name="Text 11"/>
          <p:cNvSpPr/>
          <p:nvPr/>
        </p:nvSpPr>
        <p:spPr>
          <a:xfrm>
            <a:off x="4096512" y="1847088"/>
            <a:ext cx="685800" cy="164592"/>
          </a:xfrm>
          <a:prstGeom prst="rect">
            <a:avLst/>
          </a:prstGeom>
          <a:noFill/>
          <a:ln/>
        </p:spPr>
        <p:txBody>
          <a:bodyPr wrap="square" lIns="0" tIns="0" rIns="0" bIns="0" rtlCol="0" anchor="ctr"/>
          <a:lstStyle/>
          <a:p>
            <a:pPr indent="0" marL="0">
              <a:buNone/>
            </a:pPr>
            <a:r>
              <a:rPr lang="en-US" sz="900" b="1" dirty="0">
                <a:solidFill>
                  <a:srgbClr val="52606D"/>
                </a:solidFill>
              </a:rPr>
              <a:t>20m</a:t>
            </a:r>
            <a:endParaRPr lang="en-US" sz="900" dirty="0"/>
          </a:p>
        </p:txBody>
      </p:sp>
      <p:sp>
        <p:nvSpPr>
          <p:cNvPr id="14" name="Text 12"/>
          <p:cNvSpPr/>
          <p:nvPr/>
        </p:nvSpPr>
        <p:spPr>
          <a:xfrm>
            <a:off x="4096512" y="2139696"/>
            <a:ext cx="1920240" cy="320040"/>
          </a:xfrm>
          <a:prstGeom prst="rect">
            <a:avLst/>
          </a:prstGeom>
          <a:noFill/>
          <a:ln/>
        </p:spPr>
        <p:txBody>
          <a:bodyPr wrap="square" lIns="0" tIns="0" rIns="0" bIns="0" rtlCol="0" anchor="ctr">
            <a:normAutofit/>
          </a:bodyPr>
          <a:lstStyle/>
          <a:p>
            <a:pPr indent="0" marL="0">
              <a:buNone/>
            </a:pPr>
            <a:r>
              <a:rPr lang="en-US" sz="1500" b="1" dirty="0">
                <a:solidFill>
                  <a:srgbClr val="102033"/>
                </a:solidFill>
              </a:rPr>
              <a:t>Strengths + risks</a:t>
            </a:r>
            <a:endParaRPr lang="en-US" sz="1500" dirty="0"/>
          </a:p>
        </p:txBody>
      </p:sp>
      <p:sp>
        <p:nvSpPr>
          <p:cNvPr id="15" name="Shape 13"/>
          <p:cNvSpPr/>
          <p:nvPr/>
        </p:nvSpPr>
        <p:spPr>
          <a:xfrm>
            <a:off x="6355080" y="1828800"/>
            <a:ext cx="402336" cy="402336"/>
          </a:xfrm>
          <a:prstGeom prst="ellipse">
            <a:avLst/>
          </a:prstGeom>
          <a:solidFill>
            <a:srgbClr val="F45B69"/>
          </a:solidFill>
          <a:ln w="12700">
            <a:solidFill>
              <a:srgbClr val="F45B69"/>
            </a:solidFill>
            <a:prstDash val="solid"/>
          </a:ln>
        </p:spPr>
      </p:sp>
      <p:sp>
        <p:nvSpPr>
          <p:cNvPr id="16" name="Text 14"/>
          <p:cNvSpPr/>
          <p:nvPr/>
        </p:nvSpPr>
        <p:spPr>
          <a:xfrm>
            <a:off x="6355080" y="192024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17" name="Text 15"/>
          <p:cNvSpPr/>
          <p:nvPr/>
        </p:nvSpPr>
        <p:spPr>
          <a:xfrm>
            <a:off x="6885432" y="1847088"/>
            <a:ext cx="685800" cy="164592"/>
          </a:xfrm>
          <a:prstGeom prst="rect">
            <a:avLst/>
          </a:prstGeom>
          <a:noFill/>
          <a:ln/>
        </p:spPr>
        <p:txBody>
          <a:bodyPr wrap="square" lIns="0" tIns="0" rIns="0" bIns="0" rtlCol="0" anchor="ctr"/>
          <a:lstStyle/>
          <a:p>
            <a:pPr indent="0" marL="0">
              <a:buNone/>
            </a:pPr>
            <a:r>
              <a:rPr lang="en-US" sz="900" b="1" dirty="0">
                <a:solidFill>
                  <a:srgbClr val="52606D"/>
                </a:solidFill>
              </a:rPr>
              <a:t>25m</a:t>
            </a:r>
            <a:endParaRPr lang="en-US" sz="900" dirty="0"/>
          </a:p>
        </p:txBody>
      </p:sp>
      <p:sp>
        <p:nvSpPr>
          <p:cNvPr id="18" name="Text 16"/>
          <p:cNvSpPr/>
          <p:nvPr/>
        </p:nvSpPr>
        <p:spPr>
          <a:xfrm>
            <a:off x="6885432" y="2139696"/>
            <a:ext cx="1920240" cy="320040"/>
          </a:xfrm>
          <a:prstGeom prst="rect">
            <a:avLst/>
          </a:prstGeom>
          <a:noFill/>
          <a:ln/>
        </p:spPr>
        <p:txBody>
          <a:bodyPr wrap="square" lIns="0" tIns="0" rIns="0" bIns="0" rtlCol="0" anchor="ctr">
            <a:normAutofit/>
          </a:bodyPr>
          <a:lstStyle/>
          <a:p>
            <a:pPr indent="0" marL="0">
              <a:buNone/>
            </a:pPr>
            <a:r>
              <a:rPr lang="en-US" sz="1500" b="1" dirty="0">
                <a:solidFill>
                  <a:srgbClr val="102033"/>
                </a:solidFill>
              </a:rPr>
              <a:t>Client communication</a:t>
            </a:r>
            <a:endParaRPr lang="en-US" sz="1500" dirty="0"/>
          </a:p>
        </p:txBody>
      </p:sp>
      <p:sp>
        <p:nvSpPr>
          <p:cNvPr id="19" name="Shape 17"/>
          <p:cNvSpPr/>
          <p:nvPr/>
        </p:nvSpPr>
        <p:spPr>
          <a:xfrm>
            <a:off x="9144000" y="1828800"/>
            <a:ext cx="402336" cy="402336"/>
          </a:xfrm>
          <a:prstGeom prst="ellipse">
            <a:avLst/>
          </a:prstGeom>
          <a:solidFill>
            <a:srgbClr val="F2B84B"/>
          </a:solidFill>
          <a:ln w="12700">
            <a:solidFill>
              <a:srgbClr val="F2B84B"/>
            </a:solidFill>
            <a:prstDash val="solid"/>
          </a:ln>
        </p:spPr>
      </p:sp>
      <p:sp>
        <p:nvSpPr>
          <p:cNvPr id="20" name="Text 18"/>
          <p:cNvSpPr/>
          <p:nvPr/>
        </p:nvSpPr>
        <p:spPr>
          <a:xfrm>
            <a:off x="9144000" y="192024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21" name="Text 19"/>
          <p:cNvSpPr/>
          <p:nvPr/>
        </p:nvSpPr>
        <p:spPr>
          <a:xfrm>
            <a:off x="9674352" y="1847088"/>
            <a:ext cx="685800" cy="164592"/>
          </a:xfrm>
          <a:prstGeom prst="rect">
            <a:avLst/>
          </a:prstGeom>
          <a:noFill/>
          <a:ln/>
        </p:spPr>
        <p:txBody>
          <a:bodyPr wrap="square" lIns="0" tIns="0" rIns="0" bIns="0" rtlCol="0" anchor="ctr"/>
          <a:lstStyle/>
          <a:p>
            <a:pPr indent="0" marL="0">
              <a:buNone/>
            </a:pPr>
            <a:r>
              <a:rPr lang="en-US" sz="900" b="1" dirty="0">
                <a:solidFill>
                  <a:srgbClr val="52606D"/>
                </a:solidFill>
              </a:rPr>
              <a:t>20m</a:t>
            </a:r>
            <a:endParaRPr lang="en-US" sz="900" dirty="0"/>
          </a:p>
        </p:txBody>
      </p:sp>
      <p:sp>
        <p:nvSpPr>
          <p:cNvPr id="22" name="Text 20"/>
          <p:cNvSpPr/>
          <p:nvPr/>
        </p:nvSpPr>
        <p:spPr>
          <a:xfrm>
            <a:off x="9674352" y="2139696"/>
            <a:ext cx="1920240" cy="320040"/>
          </a:xfrm>
          <a:prstGeom prst="rect">
            <a:avLst/>
          </a:prstGeom>
          <a:noFill/>
          <a:ln/>
        </p:spPr>
        <p:txBody>
          <a:bodyPr wrap="square" lIns="0" tIns="0" rIns="0" bIns="0" rtlCol="0" anchor="ctr">
            <a:normAutofit/>
          </a:bodyPr>
          <a:lstStyle/>
          <a:p>
            <a:pPr indent="0" marL="0">
              <a:buNone/>
            </a:pPr>
            <a:r>
              <a:rPr lang="en-US" sz="1500" b="1" dirty="0">
                <a:solidFill>
                  <a:srgbClr val="102033"/>
                </a:solidFill>
              </a:rPr>
              <a:t>Lead follow-up</a:t>
            </a:r>
            <a:endParaRPr lang="en-US" sz="1500" dirty="0"/>
          </a:p>
        </p:txBody>
      </p:sp>
      <p:sp>
        <p:nvSpPr>
          <p:cNvPr id="23" name="Shape 21"/>
          <p:cNvSpPr/>
          <p:nvPr/>
        </p:nvSpPr>
        <p:spPr>
          <a:xfrm>
            <a:off x="777240" y="3383280"/>
            <a:ext cx="402336" cy="402336"/>
          </a:xfrm>
          <a:prstGeom prst="ellipse">
            <a:avLst/>
          </a:prstGeom>
          <a:solidFill>
            <a:srgbClr val="008F8F"/>
          </a:solidFill>
          <a:ln w="12700">
            <a:solidFill>
              <a:srgbClr val="008F8F"/>
            </a:solidFill>
            <a:prstDash val="solid"/>
          </a:ln>
        </p:spPr>
      </p:sp>
      <p:sp>
        <p:nvSpPr>
          <p:cNvPr id="24" name="Text 22"/>
          <p:cNvSpPr/>
          <p:nvPr/>
        </p:nvSpPr>
        <p:spPr>
          <a:xfrm>
            <a:off x="777240" y="347472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5</a:t>
            </a:r>
            <a:endParaRPr lang="en-US" sz="800" dirty="0"/>
          </a:p>
        </p:txBody>
      </p:sp>
      <p:sp>
        <p:nvSpPr>
          <p:cNvPr id="25" name="Text 23"/>
          <p:cNvSpPr/>
          <p:nvPr/>
        </p:nvSpPr>
        <p:spPr>
          <a:xfrm>
            <a:off x="1307592" y="3401568"/>
            <a:ext cx="685800" cy="164592"/>
          </a:xfrm>
          <a:prstGeom prst="rect">
            <a:avLst/>
          </a:prstGeom>
          <a:noFill/>
          <a:ln/>
        </p:spPr>
        <p:txBody>
          <a:bodyPr wrap="square" lIns="0" tIns="0" rIns="0" bIns="0" rtlCol="0" anchor="ctr"/>
          <a:lstStyle/>
          <a:p>
            <a:pPr indent="0" marL="0">
              <a:buNone/>
            </a:pPr>
            <a:r>
              <a:rPr lang="en-US" sz="900" b="1" dirty="0">
                <a:solidFill>
                  <a:srgbClr val="52606D"/>
                </a:solidFill>
              </a:rPr>
              <a:t>20m</a:t>
            </a:r>
            <a:endParaRPr lang="en-US" sz="900" dirty="0"/>
          </a:p>
        </p:txBody>
      </p:sp>
      <p:sp>
        <p:nvSpPr>
          <p:cNvPr id="26" name="Text 24"/>
          <p:cNvSpPr/>
          <p:nvPr/>
        </p:nvSpPr>
        <p:spPr>
          <a:xfrm>
            <a:off x="1307592" y="3694176"/>
            <a:ext cx="1920240" cy="320040"/>
          </a:xfrm>
          <a:prstGeom prst="rect">
            <a:avLst/>
          </a:prstGeom>
          <a:noFill/>
          <a:ln/>
        </p:spPr>
        <p:txBody>
          <a:bodyPr wrap="square" lIns="0" tIns="0" rIns="0" bIns="0" rtlCol="0" anchor="ctr">
            <a:normAutofit/>
          </a:bodyPr>
          <a:lstStyle/>
          <a:p>
            <a:pPr indent="0" marL="0">
              <a:buNone/>
            </a:pPr>
            <a:r>
              <a:rPr lang="en-US" sz="1500" b="1" dirty="0">
                <a:solidFill>
                  <a:srgbClr val="102033"/>
                </a:solidFill>
              </a:rPr>
              <a:t>Listings + marketing</a:t>
            </a:r>
            <a:endParaRPr lang="en-US" sz="1500" dirty="0"/>
          </a:p>
        </p:txBody>
      </p:sp>
      <p:sp>
        <p:nvSpPr>
          <p:cNvPr id="27" name="Shape 25"/>
          <p:cNvSpPr/>
          <p:nvPr/>
        </p:nvSpPr>
        <p:spPr>
          <a:xfrm>
            <a:off x="3566160" y="3383280"/>
            <a:ext cx="402336" cy="402336"/>
          </a:xfrm>
          <a:prstGeom prst="ellipse">
            <a:avLst/>
          </a:prstGeom>
          <a:solidFill>
            <a:srgbClr val="2F80ED"/>
          </a:solidFill>
          <a:ln w="12700">
            <a:solidFill>
              <a:srgbClr val="2F80ED"/>
            </a:solidFill>
            <a:prstDash val="solid"/>
          </a:ln>
        </p:spPr>
      </p:sp>
      <p:sp>
        <p:nvSpPr>
          <p:cNvPr id="28" name="Text 26"/>
          <p:cNvSpPr/>
          <p:nvPr/>
        </p:nvSpPr>
        <p:spPr>
          <a:xfrm>
            <a:off x="3566160" y="347472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6</a:t>
            </a:r>
            <a:endParaRPr lang="en-US" sz="800" dirty="0"/>
          </a:p>
        </p:txBody>
      </p:sp>
      <p:sp>
        <p:nvSpPr>
          <p:cNvPr id="29" name="Text 27"/>
          <p:cNvSpPr/>
          <p:nvPr/>
        </p:nvSpPr>
        <p:spPr>
          <a:xfrm>
            <a:off x="4096512" y="3401568"/>
            <a:ext cx="685800" cy="164592"/>
          </a:xfrm>
          <a:prstGeom prst="rect">
            <a:avLst/>
          </a:prstGeom>
          <a:noFill/>
          <a:ln/>
        </p:spPr>
        <p:txBody>
          <a:bodyPr wrap="square" lIns="0" tIns="0" rIns="0" bIns="0" rtlCol="0" anchor="ctr"/>
          <a:lstStyle/>
          <a:p>
            <a:pPr indent="0" marL="0">
              <a:buNone/>
            </a:pPr>
            <a:r>
              <a:rPr lang="en-US" sz="900" b="1" dirty="0">
                <a:solidFill>
                  <a:srgbClr val="52606D"/>
                </a:solidFill>
              </a:rPr>
              <a:t>20m</a:t>
            </a:r>
            <a:endParaRPr lang="en-US" sz="900" dirty="0"/>
          </a:p>
        </p:txBody>
      </p:sp>
      <p:sp>
        <p:nvSpPr>
          <p:cNvPr id="30" name="Text 28"/>
          <p:cNvSpPr/>
          <p:nvPr/>
        </p:nvSpPr>
        <p:spPr>
          <a:xfrm>
            <a:off x="4096512" y="3694176"/>
            <a:ext cx="1920240" cy="320040"/>
          </a:xfrm>
          <a:prstGeom prst="rect">
            <a:avLst/>
          </a:prstGeom>
          <a:noFill/>
          <a:ln/>
        </p:spPr>
        <p:txBody>
          <a:bodyPr wrap="square" lIns="0" tIns="0" rIns="0" bIns="0" rtlCol="0" anchor="ctr">
            <a:normAutofit/>
          </a:bodyPr>
          <a:lstStyle/>
          <a:p>
            <a:pPr indent="0" marL="0">
              <a:buNone/>
            </a:pPr>
            <a:r>
              <a:rPr lang="en-US" sz="1500" b="1" dirty="0">
                <a:solidFill>
                  <a:srgbClr val="102033"/>
                </a:solidFill>
              </a:rPr>
              <a:t>Appointment prep</a:t>
            </a:r>
            <a:endParaRPr lang="en-US" sz="1500" dirty="0"/>
          </a:p>
        </p:txBody>
      </p:sp>
      <p:sp>
        <p:nvSpPr>
          <p:cNvPr id="31" name="Shape 29"/>
          <p:cNvSpPr/>
          <p:nvPr/>
        </p:nvSpPr>
        <p:spPr>
          <a:xfrm>
            <a:off x="6355080" y="3383280"/>
            <a:ext cx="402336" cy="402336"/>
          </a:xfrm>
          <a:prstGeom prst="ellipse">
            <a:avLst/>
          </a:prstGeom>
          <a:solidFill>
            <a:srgbClr val="F45B69"/>
          </a:solidFill>
          <a:ln w="12700">
            <a:solidFill>
              <a:srgbClr val="F45B69"/>
            </a:solidFill>
            <a:prstDash val="solid"/>
          </a:ln>
        </p:spPr>
      </p:sp>
      <p:sp>
        <p:nvSpPr>
          <p:cNvPr id="32" name="Text 30"/>
          <p:cNvSpPr/>
          <p:nvPr/>
        </p:nvSpPr>
        <p:spPr>
          <a:xfrm>
            <a:off x="6355080" y="347472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7</a:t>
            </a:r>
            <a:endParaRPr lang="en-US" sz="800" dirty="0"/>
          </a:p>
        </p:txBody>
      </p:sp>
      <p:sp>
        <p:nvSpPr>
          <p:cNvPr id="33" name="Text 31"/>
          <p:cNvSpPr/>
          <p:nvPr/>
        </p:nvSpPr>
        <p:spPr>
          <a:xfrm>
            <a:off x="6885432" y="3401568"/>
            <a:ext cx="685800" cy="164592"/>
          </a:xfrm>
          <a:prstGeom prst="rect">
            <a:avLst/>
          </a:prstGeom>
          <a:noFill/>
          <a:ln/>
        </p:spPr>
        <p:txBody>
          <a:bodyPr wrap="square" lIns="0" tIns="0" rIns="0" bIns="0" rtlCol="0" anchor="ctr"/>
          <a:lstStyle/>
          <a:p>
            <a:pPr indent="0" marL="0">
              <a:buNone/>
            </a:pPr>
            <a:r>
              <a:rPr lang="en-US" sz="900" b="1" dirty="0">
                <a:solidFill>
                  <a:srgbClr val="52606D"/>
                </a:solidFill>
              </a:rPr>
              <a:t>20m</a:t>
            </a:r>
            <a:endParaRPr lang="en-US" sz="900" dirty="0"/>
          </a:p>
        </p:txBody>
      </p:sp>
      <p:sp>
        <p:nvSpPr>
          <p:cNvPr id="34" name="Text 32"/>
          <p:cNvSpPr/>
          <p:nvPr/>
        </p:nvSpPr>
        <p:spPr>
          <a:xfrm>
            <a:off x="6885432" y="3694176"/>
            <a:ext cx="1920240" cy="320040"/>
          </a:xfrm>
          <a:prstGeom prst="rect">
            <a:avLst/>
          </a:prstGeom>
          <a:noFill/>
          <a:ln/>
        </p:spPr>
        <p:txBody>
          <a:bodyPr wrap="square" lIns="0" tIns="0" rIns="0" bIns="0" rtlCol="0" anchor="ctr">
            <a:normAutofit/>
          </a:bodyPr>
          <a:lstStyle/>
          <a:p>
            <a:pPr indent="0" marL="0">
              <a:buNone/>
            </a:pPr>
            <a:r>
              <a:rPr lang="en-US" sz="1500" b="1" dirty="0">
                <a:solidFill>
                  <a:srgbClr val="102033"/>
                </a:solidFill>
              </a:rPr>
              <a:t>Workflow + guardrails</a:t>
            </a:r>
            <a:endParaRPr lang="en-US" sz="1500" dirty="0"/>
          </a:p>
        </p:txBody>
      </p:sp>
      <p:sp>
        <p:nvSpPr>
          <p:cNvPr id="35" name="Shape 33"/>
          <p:cNvSpPr/>
          <p:nvPr/>
        </p:nvSpPr>
        <p:spPr>
          <a:xfrm>
            <a:off x="9144000" y="3383280"/>
            <a:ext cx="402336" cy="402336"/>
          </a:xfrm>
          <a:prstGeom prst="ellipse">
            <a:avLst/>
          </a:prstGeom>
          <a:solidFill>
            <a:srgbClr val="F2B84B"/>
          </a:solidFill>
          <a:ln w="12700">
            <a:solidFill>
              <a:srgbClr val="F2B84B"/>
            </a:solidFill>
            <a:prstDash val="solid"/>
          </a:ln>
        </p:spPr>
      </p:sp>
      <p:sp>
        <p:nvSpPr>
          <p:cNvPr id="36" name="Text 34"/>
          <p:cNvSpPr/>
          <p:nvPr/>
        </p:nvSpPr>
        <p:spPr>
          <a:xfrm>
            <a:off x="9144000" y="347472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8</a:t>
            </a:r>
            <a:endParaRPr lang="en-US" sz="800" dirty="0"/>
          </a:p>
        </p:txBody>
      </p:sp>
      <p:sp>
        <p:nvSpPr>
          <p:cNvPr id="37" name="Text 35"/>
          <p:cNvSpPr/>
          <p:nvPr/>
        </p:nvSpPr>
        <p:spPr>
          <a:xfrm>
            <a:off x="9674352" y="3401568"/>
            <a:ext cx="685800" cy="164592"/>
          </a:xfrm>
          <a:prstGeom prst="rect">
            <a:avLst/>
          </a:prstGeom>
          <a:noFill/>
          <a:ln/>
        </p:spPr>
        <p:txBody>
          <a:bodyPr wrap="square" lIns="0" tIns="0" rIns="0" bIns="0" rtlCol="0" anchor="ctr"/>
          <a:lstStyle/>
          <a:p>
            <a:pPr indent="0" marL="0">
              <a:buNone/>
            </a:pPr>
            <a:r>
              <a:rPr lang="en-US" sz="900" b="1" dirty="0">
                <a:solidFill>
                  <a:srgbClr val="52606D"/>
                </a:solidFill>
              </a:rPr>
              <a:t>5m</a:t>
            </a:r>
            <a:endParaRPr lang="en-US" sz="900" dirty="0"/>
          </a:p>
        </p:txBody>
      </p:sp>
      <p:sp>
        <p:nvSpPr>
          <p:cNvPr id="38" name="Text 36"/>
          <p:cNvSpPr/>
          <p:nvPr/>
        </p:nvSpPr>
        <p:spPr>
          <a:xfrm>
            <a:off x="9674352" y="3694176"/>
            <a:ext cx="1920240" cy="320040"/>
          </a:xfrm>
          <a:prstGeom prst="rect">
            <a:avLst/>
          </a:prstGeom>
          <a:noFill/>
          <a:ln/>
        </p:spPr>
        <p:txBody>
          <a:bodyPr wrap="square" lIns="0" tIns="0" rIns="0" bIns="0" rtlCol="0" anchor="ctr">
            <a:normAutofit/>
          </a:bodyPr>
          <a:lstStyle/>
          <a:p>
            <a:pPr indent="0" marL="0">
              <a:buNone/>
            </a:pPr>
            <a:r>
              <a:rPr lang="en-US" sz="1500" b="1" dirty="0">
                <a:solidFill>
                  <a:srgbClr val="102033"/>
                </a:solidFill>
              </a:rPr>
              <a:t>Prompt practice</a:t>
            </a:r>
            <a:endParaRPr lang="en-US" sz="1500" dirty="0"/>
          </a:p>
        </p:txBody>
      </p:sp>
      <p:sp>
        <p:nvSpPr>
          <p:cNvPr id="39" name="Shape 37"/>
          <p:cNvSpPr/>
          <p:nvPr/>
        </p:nvSpPr>
        <p:spPr>
          <a:xfrm>
            <a:off x="502920" y="6473952"/>
            <a:ext cx="11201400" cy="0"/>
          </a:xfrm>
          <a:prstGeom prst="line">
            <a:avLst/>
          </a:prstGeom>
          <a:noFill/>
          <a:ln w="9525">
            <a:solidFill>
              <a:srgbClr val="D8E6E8"/>
            </a:solidFill>
            <a:prstDash val="solid"/>
          </a:ln>
        </p:spPr>
      </p:sp>
      <p:sp>
        <p:nvSpPr>
          <p:cNvPr id="40" name="Text 38"/>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41" name="Text 39"/>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5/48</a:t>
            </a:r>
            <a:endParaRPr lang="en-US" sz="7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749808" y="822960"/>
            <a:ext cx="3840480" cy="256032"/>
          </a:xfrm>
          <a:prstGeom prst="rect">
            <a:avLst/>
          </a:prstGeom>
          <a:noFill/>
          <a:ln/>
        </p:spPr>
        <p:txBody>
          <a:bodyPr wrap="square" lIns="0" tIns="0" rIns="0" bIns="0" rtlCol="0" anchor="ctr"/>
          <a:lstStyle/>
          <a:p>
            <a:pPr indent="0" marL="0">
              <a:buNone/>
            </a:pPr>
            <a:r>
              <a:rPr lang="en-US" sz="1100" b="1" dirty="0">
                <a:solidFill>
                  <a:srgbClr val="F2B84B"/>
                </a:solidFill>
              </a:rPr>
              <a:t>SECTION 1</a:t>
            </a:r>
            <a:endParaRPr lang="en-US" sz="1100" dirty="0"/>
          </a:p>
        </p:txBody>
      </p:sp>
      <p:sp>
        <p:nvSpPr>
          <p:cNvPr id="3" name="Text 1"/>
          <p:cNvSpPr/>
          <p:nvPr/>
        </p:nvSpPr>
        <p:spPr>
          <a:xfrm>
            <a:off x="713232" y="1828800"/>
            <a:ext cx="9966960" cy="77724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Welcome and AI Reality Check</a:t>
            </a:r>
            <a:endParaRPr lang="en-US" sz="3400" dirty="0"/>
          </a:p>
        </p:txBody>
      </p:sp>
      <p:sp>
        <p:nvSpPr>
          <p:cNvPr id="4" name="Text 2"/>
          <p:cNvSpPr/>
          <p:nvPr/>
        </p:nvSpPr>
        <p:spPr>
          <a:xfrm>
            <a:off x="749808" y="2852928"/>
            <a:ext cx="8138160" cy="411480"/>
          </a:xfrm>
          <a:prstGeom prst="rect">
            <a:avLst/>
          </a:prstGeom>
          <a:noFill/>
          <a:ln/>
        </p:spPr>
        <p:txBody>
          <a:bodyPr wrap="square" lIns="0" tIns="0" rIns="0" bIns="0" rtlCol="0" anchor="ctr">
            <a:normAutofit/>
          </a:bodyPr>
          <a:lstStyle/>
          <a:p>
            <a:pPr indent="0" marL="0">
              <a:buNone/>
            </a:pPr>
            <a:r>
              <a:rPr lang="en-US" sz="1600" dirty="0">
                <a:solidFill>
                  <a:srgbClr val="DCEEEF"/>
                </a:solidFill>
              </a:rPr>
              <a:t>AI is a practical assistant, not a replacement for licensed judgment.</a:t>
            </a:r>
            <a:endParaRPr lang="en-US" sz="1600" dirty="0"/>
          </a:p>
        </p:txBody>
      </p:sp>
      <p:sp>
        <p:nvSpPr>
          <p:cNvPr id="5" name="Shape 3"/>
          <p:cNvSpPr/>
          <p:nvPr/>
        </p:nvSpPr>
        <p:spPr>
          <a:xfrm>
            <a:off x="749808" y="3657600"/>
            <a:ext cx="1828800" cy="0"/>
          </a:xfrm>
          <a:prstGeom prst="line">
            <a:avLst/>
          </a:prstGeom>
          <a:noFill/>
          <a:ln w="50800">
            <a:solidFill>
              <a:srgbClr val="F45B69"/>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0E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0E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WHY NOW</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AI matters because speed and consistency shape client experience</a:t>
            </a:r>
            <a:endParaRPr lang="en-US" sz="2800" dirty="0"/>
          </a:p>
        </p:txBody>
      </p:sp>
      <p:sp>
        <p:nvSpPr>
          <p:cNvPr id="7" name="Text 5"/>
          <p:cNvSpPr/>
          <p:nvPr/>
        </p:nvSpPr>
        <p:spPr>
          <a:xfrm>
            <a:off x="868680" y="1874520"/>
            <a:ext cx="6400800" cy="3657600"/>
          </a:xfrm>
          <a:prstGeom prst="rect">
            <a:avLst/>
          </a:prstGeom>
          <a:noFill/>
          <a:ln/>
        </p:spPr>
        <p:txBody>
          <a:bodyPr wrap="square" lIns="254" tIns="254" rIns="254" bIns="254" rtlCol="0" anchor="t">
            <a:normAutofit/>
          </a:bodyPr>
          <a:lstStyle/>
          <a:p>
            <a:pPr marL="203200" indent="-203200">
              <a:buSzPct val="100000"/>
              <a:buChar char="•"/>
            </a:pPr>
            <a:r>
              <a:rPr lang="en-US" sz="1650" dirty="0">
                <a:solidFill>
                  <a:srgbClr val="102033"/>
                </a:solidFill>
                <a:latin typeface="Aptos" pitchFamily="34" charset="0"/>
                <a:ea typeface="Aptos" pitchFamily="34" charset="-122"/>
                <a:cs typeface="Aptos" pitchFamily="34" charset="-120"/>
              </a:rPr>
              <a:t>Consumers expect quick, clear responses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Most agents have more follow-up tasks than hours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AI reduces blank-page time for common communication tasks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The advantage is not using AI once; it is using it repeatably</a:t>
            </a:r>
            <a:endParaRPr lang="en-US" sz="1650" dirty="0"/>
          </a:p>
        </p:txBody>
      </p:sp>
      <p:sp>
        <p:nvSpPr>
          <p:cNvPr id="8" name="Shape 6"/>
          <p:cNvSpPr/>
          <p:nvPr/>
        </p:nvSpPr>
        <p:spPr>
          <a:xfrm>
            <a:off x="7571232" y="1828800"/>
            <a:ext cx="3246120" cy="2788920"/>
          </a:xfrm>
          <a:prstGeom prst="roundRect">
            <a:avLst>
              <a:gd name="adj" fmla="val 1967"/>
            </a:avLst>
          </a:prstGeom>
          <a:solidFill>
            <a:srgbClr val="FFF0EF"/>
          </a:solidFill>
          <a:ln w="10160">
            <a:solidFill>
              <a:srgbClr val="BFDADC"/>
            </a:solidFill>
            <a:prstDash val="solid"/>
          </a:ln>
        </p:spPr>
      </p:sp>
      <p:sp>
        <p:nvSpPr>
          <p:cNvPr id="9" name="Text 7"/>
          <p:cNvSpPr/>
          <p:nvPr/>
        </p:nvSpPr>
        <p:spPr>
          <a:xfrm>
            <a:off x="7882128" y="2148840"/>
            <a:ext cx="2606040" cy="530352"/>
          </a:xfrm>
          <a:prstGeom prst="rect">
            <a:avLst/>
          </a:prstGeom>
          <a:noFill/>
          <a:ln/>
        </p:spPr>
        <p:txBody>
          <a:bodyPr wrap="square" lIns="0" tIns="0" rIns="0" bIns="0" rtlCol="0" anchor="ctr">
            <a:normAutofit/>
          </a:bodyPr>
          <a:lstStyle/>
          <a:p>
            <a:pPr indent="0" marL="0">
              <a:buNone/>
            </a:pPr>
            <a:r>
              <a:rPr lang="en-US" sz="1750" b="1" dirty="0">
                <a:solidFill>
                  <a:srgbClr val="16324F"/>
                </a:solidFill>
              </a:rPr>
              <a:t>Speed plus judgment</a:t>
            </a:r>
            <a:endParaRPr lang="en-US" sz="1750" dirty="0"/>
          </a:p>
        </p:txBody>
      </p:sp>
      <p:sp>
        <p:nvSpPr>
          <p:cNvPr id="10" name="Text 8"/>
          <p:cNvSpPr/>
          <p:nvPr/>
        </p:nvSpPr>
        <p:spPr>
          <a:xfrm>
            <a:off x="7882128" y="2944368"/>
            <a:ext cx="2514600" cy="960120"/>
          </a:xfrm>
          <a:prstGeom prst="rect">
            <a:avLst/>
          </a:prstGeom>
          <a:noFill/>
          <a:ln/>
        </p:spPr>
        <p:txBody>
          <a:bodyPr wrap="square" lIns="508" tIns="508" rIns="508" bIns="508" rtlCol="0" anchor="ctr">
            <a:normAutofit/>
          </a:bodyPr>
          <a:lstStyle/>
          <a:p>
            <a:pPr indent="0" marL="0">
              <a:buNone/>
            </a:pPr>
            <a:r>
              <a:rPr lang="en-US" sz="1220" dirty="0">
                <a:solidFill>
                  <a:srgbClr val="102033"/>
                </a:solidFill>
              </a:rPr>
              <a:t>AI can reduce blank-page time; the agent still owns accuracy and relationship quality.</a:t>
            </a:r>
            <a:endParaRPr lang="en-US" sz="1220" dirty="0"/>
          </a:p>
        </p:txBody>
      </p:sp>
      <p:sp>
        <p:nvSpPr>
          <p:cNvPr id="11" name="Shape 9"/>
          <p:cNvSpPr/>
          <p:nvPr/>
        </p:nvSpPr>
        <p:spPr>
          <a:xfrm>
            <a:off x="7882128" y="4160520"/>
            <a:ext cx="1097280" cy="0"/>
          </a:xfrm>
          <a:prstGeom prst="line">
            <a:avLst/>
          </a:prstGeom>
          <a:noFill/>
          <a:ln w="38100">
            <a:solidFill>
              <a:srgbClr val="008F8F"/>
            </a:solidFill>
            <a:prstDash val="solid"/>
          </a:ln>
        </p:spPr>
      </p:sp>
      <p:sp>
        <p:nvSpPr>
          <p:cNvPr id="12" name="Shape 10"/>
          <p:cNvSpPr/>
          <p:nvPr/>
        </p:nvSpPr>
        <p:spPr>
          <a:xfrm>
            <a:off x="7882128" y="4370832"/>
            <a:ext cx="493776" cy="493776"/>
          </a:xfrm>
          <a:prstGeom prst="roundRect">
            <a:avLst>
              <a:gd name="adj" fmla="val 14815"/>
            </a:avLst>
          </a:prstGeom>
          <a:solidFill>
            <a:srgbClr val="008F8F"/>
          </a:solidFill>
          <a:ln w="12700">
            <a:solidFill>
              <a:srgbClr val="008F8F"/>
            </a:solidFill>
            <a:prstDash val="solid"/>
          </a:ln>
        </p:spPr>
      </p:sp>
      <p:sp>
        <p:nvSpPr>
          <p:cNvPr id="13" name="Text 11"/>
          <p:cNvSpPr/>
          <p:nvPr/>
        </p:nvSpPr>
        <p:spPr>
          <a:xfrm>
            <a:off x="7927848" y="4507992"/>
            <a:ext cx="402336" cy="128016"/>
          </a:xfrm>
          <a:prstGeom prst="rect">
            <a:avLst/>
          </a:prstGeom>
          <a:noFill/>
          <a:ln/>
        </p:spPr>
        <p:txBody>
          <a:bodyPr wrap="square" lIns="0" tIns="0" rIns="0" bIns="0" rtlCol="0" anchor="ctr"/>
          <a:lstStyle/>
          <a:p>
            <a:pPr algn="ctr" indent="0" marL="0">
              <a:buNone/>
            </a:pPr>
            <a:r>
              <a:rPr lang="en-US" sz="850" b="1" dirty="0">
                <a:solidFill>
                  <a:srgbClr val="FFFFFF"/>
                </a:solidFill>
              </a:rPr>
              <a:t>AI</a:t>
            </a:r>
            <a:endParaRPr lang="en-US" sz="8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7/48</a:t>
            </a:r>
            <a:endParaRPr lang="en-US" sz="7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0F3F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0F3F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SHIFT</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Move from random prompts to repeatable business assistance</a:t>
            </a:r>
            <a:endParaRPr lang="en-US" sz="2800" dirty="0"/>
          </a:p>
        </p:txBody>
      </p:sp>
      <p:sp>
        <p:nvSpPr>
          <p:cNvPr id="7" name="Shape 5"/>
          <p:cNvSpPr/>
          <p:nvPr/>
        </p:nvSpPr>
        <p:spPr>
          <a:xfrm>
            <a:off x="868680" y="1828800"/>
            <a:ext cx="4754880" cy="3429000"/>
          </a:xfrm>
          <a:prstGeom prst="roundRect">
            <a:avLst>
              <a:gd name="adj" fmla="val 1600"/>
            </a:avLst>
          </a:prstGeom>
          <a:solidFill>
            <a:srgbClr val="FFF0EF"/>
          </a:solidFill>
          <a:ln w="10160">
            <a:solidFill>
              <a:srgbClr val="D8E6E8"/>
            </a:solidFill>
            <a:prstDash val="solid"/>
          </a:ln>
        </p:spPr>
      </p:sp>
      <p:sp>
        <p:nvSpPr>
          <p:cNvPr id="8" name="Text 6"/>
          <p:cNvSpPr/>
          <p:nvPr/>
        </p:nvSpPr>
        <p:spPr>
          <a:xfrm>
            <a:off x="1161288" y="2103120"/>
            <a:ext cx="3931920" cy="292608"/>
          </a:xfrm>
          <a:prstGeom prst="rect">
            <a:avLst/>
          </a:prstGeom>
          <a:noFill/>
          <a:ln/>
        </p:spPr>
        <p:txBody>
          <a:bodyPr wrap="square" lIns="0" tIns="0" rIns="0" bIns="0" rtlCol="0" anchor="ctr"/>
          <a:lstStyle/>
          <a:p>
            <a:pPr indent="0" marL="0">
              <a:buNone/>
            </a:pPr>
            <a:r>
              <a:rPr lang="en-US" sz="1900" b="1" dirty="0">
                <a:solidFill>
                  <a:srgbClr val="16324F"/>
                </a:solidFill>
              </a:rPr>
              <a:t>Random AI use</a:t>
            </a:r>
            <a:endParaRPr lang="en-US" sz="1900" dirty="0"/>
          </a:p>
        </p:txBody>
      </p:sp>
      <p:sp>
        <p:nvSpPr>
          <p:cNvPr id="9" name="Text 7"/>
          <p:cNvSpPr/>
          <p:nvPr/>
        </p:nvSpPr>
        <p:spPr>
          <a:xfrm>
            <a:off x="1280160" y="2651760"/>
            <a:ext cx="4023360" cy="210312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02033"/>
                </a:solidFill>
                <a:latin typeface="Aptos" pitchFamily="34" charset="0"/>
                <a:ea typeface="Aptos" pitchFamily="34" charset="-122"/>
                <a:cs typeface="Aptos" pitchFamily="34" charset="-120"/>
              </a:rPr>
              <a:t>One-off prompts</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Generic output</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No saved process</a:t>
            </a:r>
            <a:endParaRPr lang="en-US" sz="1500" dirty="0"/>
          </a:p>
        </p:txBody>
      </p:sp>
      <p:sp>
        <p:nvSpPr>
          <p:cNvPr id="10" name="Shape 8"/>
          <p:cNvSpPr/>
          <p:nvPr/>
        </p:nvSpPr>
        <p:spPr>
          <a:xfrm>
            <a:off x="6172200" y="1828800"/>
            <a:ext cx="4754880" cy="3429000"/>
          </a:xfrm>
          <a:prstGeom prst="roundRect">
            <a:avLst>
              <a:gd name="adj" fmla="val 1600"/>
            </a:avLst>
          </a:prstGeom>
          <a:solidFill>
            <a:srgbClr val="EAF7F7"/>
          </a:solidFill>
          <a:ln w="10160">
            <a:solidFill>
              <a:srgbClr val="D8E6E8"/>
            </a:solidFill>
            <a:prstDash val="solid"/>
          </a:ln>
        </p:spPr>
      </p:sp>
      <p:sp>
        <p:nvSpPr>
          <p:cNvPr id="11" name="Text 9"/>
          <p:cNvSpPr/>
          <p:nvPr/>
        </p:nvSpPr>
        <p:spPr>
          <a:xfrm>
            <a:off x="6464808" y="2103120"/>
            <a:ext cx="3931920" cy="292608"/>
          </a:xfrm>
          <a:prstGeom prst="rect">
            <a:avLst/>
          </a:prstGeom>
          <a:noFill/>
          <a:ln/>
        </p:spPr>
        <p:txBody>
          <a:bodyPr wrap="square" lIns="0" tIns="0" rIns="0" bIns="0" rtlCol="0" anchor="ctr"/>
          <a:lstStyle/>
          <a:p>
            <a:pPr indent="0" marL="0">
              <a:buNone/>
            </a:pPr>
            <a:r>
              <a:rPr lang="en-US" sz="1900" b="1" dirty="0">
                <a:solidFill>
                  <a:srgbClr val="16324F"/>
                </a:solidFill>
              </a:rPr>
              <a:t>Repeatable workflow</a:t>
            </a:r>
            <a:endParaRPr lang="en-US" sz="1900" dirty="0"/>
          </a:p>
        </p:txBody>
      </p:sp>
      <p:sp>
        <p:nvSpPr>
          <p:cNvPr id="12" name="Text 10"/>
          <p:cNvSpPr/>
          <p:nvPr/>
        </p:nvSpPr>
        <p:spPr>
          <a:xfrm>
            <a:off x="6583680" y="2651760"/>
            <a:ext cx="4023360" cy="210312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02033"/>
                </a:solidFill>
                <a:latin typeface="Aptos" pitchFamily="34" charset="0"/>
                <a:ea typeface="Aptos" pitchFamily="34" charset="-122"/>
                <a:cs typeface="Aptos" pitchFamily="34" charset="-120"/>
              </a:rPr>
              <a:t>Known use case</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Context-rich prompt</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Reviewed reusable output</a:t>
            </a:r>
            <a:endParaRPr lang="en-US" sz="1500" dirty="0"/>
          </a:p>
        </p:txBody>
      </p:sp>
      <p:sp>
        <p:nvSpPr>
          <p:cNvPr id="13" name="Shape 11"/>
          <p:cNvSpPr/>
          <p:nvPr/>
        </p:nvSpPr>
        <p:spPr>
          <a:xfrm>
            <a:off x="5650992" y="3017520"/>
            <a:ext cx="438912" cy="475488"/>
          </a:xfrm>
          <a:prstGeom prst="chevron">
            <a:avLst/>
          </a:prstGeom>
          <a:solidFill>
            <a:srgbClr val="008F8F"/>
          </a:solidFill>
          <a:ln w="12700">
            <a:solidFill>
              <a:srgbClr val="008F8F"/>
            </a:solidFill>
            <a:prstDash val="solid"/>
          </a:ln>
        </p:spPr>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8/48</a:t>
            </a:r>
            <a:endParaRPr lang="en-US" sz="7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9F8F0"/>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9F8F0"/>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DISCUSSION</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Where would 20 saved minutes matter most this week?</a:t>
            </a:r>
            <a:endParaRPr lang="en-US" sz="2800" dirty="0"/>
          </a:p>
        </p:txBody>
      </p:sp>
      <p:sp>
        <p:nvSpPr>
          <p:cNvPr id="7" name="Shape 5"/>
          <p:cNvSpPr/>
          <p:nvPr/>
        </p:nvSpPr>
        <p:spPr>
          <a:xfrm>
            <a:off x="822960" y="1755648"/>
            <a:ext cx="5413248" cy="109728"/>
          </a:xfrm>
          <a:prstGeom prst="rect">
            <a:avLst/>
          </a:prstGeom>
          <a:solidFill>
            <a:srgbClr val="F2B84B"/>
          </a:solidFill>
          <a:ln w="12700">
            <a:solidFill>
              <a:srgbClr val="F2B84B"/>
            </a:solidFill>
            <a:prstDash val="solid"/>
          </a:ln>
        </p:spPr>
      </p:sp>
      <p:sp>
        <p:nvSpPr>
          <p:cNvPr id="8" name="Shape 6"/>
          <p:cNvSpPr/>
          <p:nvPr/>
        </p:nvSpPr>
        <p:spPr>
          <a:xfrm>
            <a:off x="868680" y="1874520"/>
            <a:ext cx="5303520" cy="2560320"/>
          </a:xfrm>
          <a:prstGeom prst="roundRect">
            <a:avLst>
              <a:gd name="adj" fmla="val 2143"/>
            </a:avLst>
          </a:prstGeom>
          <a:solidFill>
            <a:srgbClr val="FFFFFF"/>
          </a:solidFill>
          <a:ln w="10160">
            <a:solidFill>
              <a:srgbClr val="D8E6E8"/>
            </a:solidFill>
            <a:prstDash val="solid"/>
          </a:ln>
        </p:spPr>
      </p:sp>
      <p:sp>
        <p:nvSpPr>
          <p:cNvPr id="9" name="Text 7"/>
          <p:cNvSpPr/>
          <p:nvPr/>
        </p:nvSpPr>
        <p:spPr>
          <a:xfrm>
            <a:off x="1143000" y="2103120"/>
            <a:ext cx="4663440" cy="320040"/>
          </a:xfrm>
          <a:prstGeom prst="rect">
            <a:avLst/>
          </a:prstGeom>
          <a:noFill/>
          <a:ln/>
        </p:spPr>
        <p:txBody>
          <a:bodyPr wrap="square" lIns="0" tIns="0" rIns="0" bIns="0" rtlCol="0" anchor="ctr">
            <a:normAutofit/>
          </a:bodyPr>
          <a:lstStyle/>
          <a:p>
            <a:pPr indent="0" marL="0">
              <a:buNone/>
            </a:pPr>
            <a:r>
              <a:rPr lang="en-US" sz="1400" dirty="0">
                <a:solidFill>
                  <a:srgbClr val="52606D"/>
                </a:solidFill>
              </a:rPr>
              <a:t>Pick one task you delay because it is repetitive, awkward, or annoying.</a:t>
            </a:r>
            <a:endParaRPr lang="en-US" sz="1400" dirty="0"/>
          </a:p>
        </p:txBody>
      </p:sp>
      <p:sp>
        <p:nvSpPr>
          <p:cNvPr id="10" name="Text 8"/>
          <p:cNvSpPr/>
          <p:nvPr/>
        </p:nvSpPr>
        <p:spPr>
          <a:xfrm>
            <a:off x="1143000" y="4005072"/>
            <a:ext cx="2194560" cy="182880"/>
          </a:xfrm>
          <a:prstGeom prst="rect">
            <a:avLst/>
          </a:prstGeom>
          <a:noFill/>
          <a:ln/>
        </p:spPr>
        <p:txBody>
          <a:bodyPr wrap="square" lIns="0" tIns="0" rIns="0" bIns="0" rtlCol="0" anchor="ctr"/>
          <a:lstStyle/>
          <a:p>
            <a:pPr indent="0" marL="0">
              <a:buNone/>
            </a:pPr>
            <a:r>
              <a:rPr lang="en-US" sz="950" b="1" dirty="0">
                <a:solidFill>
                  <a:srgbClr val="008F8F"/>
                </a:solidFill>
              </a:rPr>
              <a:t>Workshop canvas</a:t>
            </a:r>
            <a:endParaRPr lang="en-US" sz="950" dirty="0"/>
          </a:p>
        </p:txBody>
      </p:sp>
      <p:sp>
        <p:nvSpPr>
          <p:cNvPr id="11" name="Shape 9"/>
          <p:cNvSpPr/>
          <p:nvPr/>
        </p:nvSpPr>
        <p:spPr>
          <a:xfrm>
            <a:off x="6446520" y="1810512"/>
            <a:ext cx="4343400" cy="2697480"/>
          </a:xfrm>
          <a:prstGeom prst="roundRect">
            <a:avLst>
              <a:gd name="adj" fmla="val 2034"/>
            </a:avLst>
          </a:prstGeom>
          <a:solidFill>
            <a:srgbClr val="E9F8F0"/>
          </a:solidFill>
          <a:ln w="10160">
            <a:solidFill>
              <a:srgbClr val="BBDCC9"/>
            </a:solidFill>
            <a:prstDash val="solid"/>
          </a:ln>
        </p:spPr>
      </p:sp>
      <p:sp>
        <p:nvSpPr>
          <p:cNvPr id="12" name="Text 10"/>
          <p:cNvSpPr/>
          <p:nvPr/>
        </p:nvSpPr>
        <p:spPr>
          <a:xfrm>
            <a:off x="6720840" y="2148840"/>
            <a:ext cx="3657600" cy="182880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02033"/>
                </a:solidFill>
                <a:latin typeface="Aptos" pitchFamily="34" charset="0"/>
                <a:ea typeface="Aptos" pitchFamily="34" charset="-122"/>
                <a:cs typeface="Aptos" pitchFamily="34" charset="-120"/>
              </a:rPr>
              <a:t>Seller update after low activity</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Follow-up after a showing</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Open house recap</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CRM note cleanup</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Social caption from listing facts</a:t>
            </a:r>
            <a:endParaRPr lang="en-US" sz="1500" dirty="0"/>
          </a:p>
        </p:txBody>
      </p:sp>
      <p:sp>
        <p:nvSpPr>
          <p:cNvPr id="13" name="Text 11"/>
          <p:cNvSpPr/>
          <p:nvPr/>
        </p:nvSpPr>
        <p:spPr>
          <a:xfrm>
            <a:off x="9738360" y="4069080"/>
            <a:ext cx="731520" cy="201168"/>
          </a:xfrm>
          <a:prstGeom prst="rect">
            <a:avLst/>
          </a:prstGeom>
          <a:noFill/>
          <a:ln/>
        </p:spPr>
        <p:txBody>
          <a:bodyPr wrap="square" lIns="0" tIns="0" rIns="0" bIns="0" rtlCol="0" anchor="ctr"/>
          <a:lstStyle/>
          <a:p>
            <a:pPr indent="0" marL="0">
              <a:buNone/>
            </a:pPr>
            <a:r>
              <a:rPr lang="en-US" sz="950" b="1" dirty="0">
                <a:solidFill>
                  <a:srgbClr val="2E7D5B"/>
                </a:solidFill>
              </a:rPr>
              <a:t>4-6 min</a:t>
            </a:r>
            <a:endParaRPr lang="en-US" sz="9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9/48</a:t>
            </a:r>
            <a:endParaRPr lang="en-US" sz="7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749808" y="822960"/>
            <a:ext cx="3840480" cy="256032"/>
          </a:xfrm>
          <a:prstGeom prst="rect">
            <a:avLst/>
          </a:prstGeom>
          <a:noFill/>
          <a:ln/>
        </p:spPr>
        <p:txBody>
          <a:bodyPr wrap="square" lIns="0" tIns="0" rIns="0" bIns="0" rtlCol="0" anchor="ctr"/>
          <a:lstStyle/>
          <a:p>
            <a:pPr indent="0" marL="0">
              <a:buNone/>
            </a:pPr>
            <a:r>
              <a:rPr lang="en-US" sz="1100" b="1" dirty="0">
                <a:solidFill>
                  <a:srgbClr val="F2B84B"/>
                </a:solidFill>
              </a:rPr>
              <a:t>SECTION 2</a:t>
            </a:r>
            <a:endParaRPr lang="en-US" sz="1100" dirty="0"/>
          </a:p>
        </p:txBody>
      </p:sp>
      <p:sp>
        <p:nvSpPr>
          <p:cNvPr id="3" name="Text 1"/>
          <p:cNvSpPr/>
          <p:nvPr/>
        </p:nvSpPr>
        <p:spPr>
          <a:xfrm>
            <a:off x="713232" y="1828800"/>
            <a:ext cx="9966960" cy="77724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What AI Is Good At - And Where It Gets Risky</a:t>
            </a:r>
            <a:endParaRPr lang="en-US" sz="3400" dirty="0"/>
          </a:p>
        </p:txBody>
      </p:sp>
      <p:sp>
        <p:nvSpPr>
          <p:cNvPr id="4" name="Text 2"/>
          <p:cNvSpPr/>
          <p:nvPr/>
        </p:nvSpPr>
        <p:spPr>
          <a:xfrm>
            <a:off x="749808" y="2852928"/>
            <a:ext cx="8138160" cy="411480"/>
          </a:xfrm>
          <a:prstGeom prst="rect">
            <a:avLst/>
          </a:prstGeom>
          <a:noFill/>
          <a:ln/>
        </p:spPr>
        <p:txBody>
          <a:bodyPr wrap="square" lIns="0" tIns="0" rIns="0" bIns="0" rtlCol="0" anchor="ctr">
            <a:normAutofit/>
          </a:bodyPr>
          <a:lstStyle/>
          <a:p>
            <a:pPr indent="0" marL="0">
              <a:buNone/>
            </a:pPr>
            <a:r>
              <a:rPr lang="en-US" sz="1600" dirty="0">
                <a:solidFill>
                  <a:srgbClr val="DCEEEF"/>
                </a:solidFill>
              </a:rPr>
              <a:t>Use AI for drafting and structure. Verify facts before clients see them.</a:t>
            </a:r>
            <a:endParaRPr lang="en-US" sz="1600" dirty="0"/>
          </a:p>
        </p:txBody>
      </p:sp>
      <p:sp>
        <p:nvSpPr>
          <p:cNvPr id="5" name="Shape 3"/>
          <p:cNvSpPr/>
          <p:nvPr/>
        </p:nvSpPr>
        <p:spPr>
          <a:xfrm>
            <a:off x="749808" y="3657600"/>
            <a:ext cx="1828800" cy="0"/>
          </a:xfrm>
          <a:prstGeom prst="line">
            <a:avLst/>
          </a:prstGeom>
          <a:noFill/>
          <a:ln w="50800">
            <a:solidFill>
              <a:srgbClr val="F45B69"/>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4D9"/>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4D9"/>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AI BASICS</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A plain-English way to think about AI</a:t>
            </a:r>
            <a:endParaRPr lang="en-US" sz="2800" dirty="0"/>
          </a:p>
        </p:txBody>
      </p:sp>
      <p:sp>
        <p:nvSpPr>
          <p:cNvPr id="7" name="Shape 5"/>
          <p:cNvSpPr/>
          <p:nvPr/>
        </p:nvSpPr>
        <p:spPr>
          <a:xfrm>
            <a:off x="868680" y="1828800"/>
            <a:ext cx="4754880" cy="3429000"/>
          </a:xfrm>
          <a:prstGeom prst="roundRect">
            <a:avLst>
              <a:gd name="adj" fmla="val 1600"/>
            </a:avLst>
          </a:prstGeom>
          <a:solidFill>
            <a:srgbClr val="FFF0EF"/>
          </a:solidFill>
          <a:ln w="10160">
            <a:solidFill>
              <a:srgbClr val="D8E6E8"/>
            </a:solidFill>
            <a:prstDash val="solid"/>
          </a:ln>
        </p:spPr>
      </p:sp>
      <p:sp>
        <p:nvSpPr>
          <p:cNvPr id="8" name="Text 6"/>
          <p:cNvSpPr/>
          <p:nvPr/>
        </p:nvSpPr>
        <p:spPr>
          <a:xfrm>
            <a:off x="1161288" y="2103120"/>
            <a:ext cx="3931920" cy="292608"/>
          </a:xfrm>
          <a:prstGeom prst="rect">
            <a:avLst/>
          </a:prstGeom>
          <a:noFill/>
          <a:ln/>
        </p:spPr>
        <p:txBody>
          <a:bodyPr wrap="square" lIns="0" tIns="0" rIns="0" bIns="0" rtlCol="0" anchor="ctr"/>
          <a:lstStyle/>
          <a:p>
            <a:pPr indent="0" marL="0">
              <a:buNone/>
            </a:pPr>
            <a:r>
              <a:rPr lang="en-US" sz="1900" b="1" dirty="0">
                <a:solidFill>
                  <a:srgbClr val="16324F"/>
                </a:solidFill>
              </a:rPr>
              <a:t>Good at</a:t>
            </a:r>
            <a:endParaRPr lang="en-US" sz="1900" dirty="0"/>
          </a:p>
        </p:txBody>
      </p:sp>
      <p:sp>
        <p:nvSpPr>
          <p:cNvPr id="9" name="Text 7"/>
          <p:cNvSpPr/>
          <p:nvPr/>
        </p:nvSpPr>
        <p:spPr>
          <a:xfrm>
            <a:off x="1280160" y="2651760"/>
            <a:ext cx="4023360" cy="210312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02033"/>
                </a:solidFill>
                <a:latin typeface="Aptos" pitchFamily="34" charset="0"/>
                <a:ea typeface="Aptos" pitchFamily="34" charset="-122"/>
                <a:cs typeface="Aptos" pitchFamily="34" charset="-120"/>
              </a:rPr>
              <a:t>Drafting</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Rewriting</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Summarizing</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Brainstorming</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Organizing</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Role-play</a:t>
            </a:r>
            <a:endParaRPr lang="en-US" sz="1500" dirty="0"/>
          </a:p>
        </p:txBody>
      </p:sp>
      <p:sp>
        <p:nvSpPr>
          <p:cNvPr id="10" name="Shape 8"/>
          <p:cNvSpPr/>
          <p:nvPr/>
        </p:nvSpPr>
        <p:spPr>
          <a:xfrm>
            <a:off x="6172200" y="1828800"/>
            <a:ext cx="4754880" cy="3429000"/>
          </a:xfrm>
          <a:prstGeom prst="roundRect">
            <a:avLst>
              <a:gd name="adj" fmla="val 1600"/>
            </a:avLst>
          </a:prstGeom>
          <a:solidFill>
            <a:srgbClr val="EAF7F7"/>
          </a:solidFill>
          <a:ln w="10160">
            <a:solidFill>
              <a:srgbClr val="D8E6E8"/>
            </a:solidFill>
            <a:prstDash val="solid"/>
          </a:ln>
        </p:spPr>
      </p:sp>
      <p:sp>
        <p:nvSpPr>
          <p:cNvPr id="11" name="Text 9"/>
          <p:cNvSpPr/>
          <p:nvPr/>
        </p:nvSpPr>
        <p:spPr>
          <a:xfrm>
            <a:off x="6464808" y="2103120"/>
            <a:ext cx="3931920" cy="292608"/>
          </a:xfrm>
          <a:prstGeom prst="rect">
            <a:avLst/>
          </a:prstGeom>
          <a:noFill/>
          <a:ln/>
        </p:spPr>
        <p:txBody>
          <a:bodyPr wrap="square" lIns="0" tIns="0" rIns="0" bIns="0" rtlCol="0" anchor="ctr"/>
          <a:lstStyle/>
          <a:p>
            <a:pPr indent="0" marL="0">
              <a:buNone/>
            </a:pPr>
            <a:r>
              <a:rPr lang="en-US" sz="1900" b="1" dirty="0">
                <a:solidFill>
                  <a:srgbClr val="16324F"/>
                </a:solidFill>
              </a:rPr>
              <a:t>Not safe for</a:t>
            </a:r>
            <a:endParaRPr lang="en-US" sz="1900" dirty="0"/>
          </a:p>
        </p:txBody>
      </p:sp>
      <p:sp>
        <p:nvSpPr>
          <p:cNvPr id="12" name="Text 10"/>
          <p:cNvSpPr/>
          <p:nvPr/>
        </p:nvSpPr>
        <p:spPr>
          <a:xfrm>
            <a:off x="6583680" y="2651760"/>
            <a:ext cx="4023360" cy="210312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02033"/>
                </a:solidFill>
                <a:latin typeface="Aptos" pitchFamily="34" charset="0"/>
                <a:ea typeface="Aptos" pitchFamily="34" charset="-122"/>
                <a:cs typeface="Aptos" pitchFamily="34" charset="-120"/>
              </a:rPr>
              <a:t>Guaranteeing facts</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Legal advice</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Local market certainty</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MLS rule interpretation</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Fair Housing judgment</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Final decisions</a:t>
            </a:r>
            <a:endParaRPr lang="en-US" sz="1500" dirty="0"/>
          </a:p>
        </p:txBody>
      </p:sp>
      <p:sp>
        <p:nvSpPr>
          <p:cNvPr id="13" name="Shape 11"/>
          <p:cNvSpPr/>
          <p:nvPr/>
        </p:nvSpPr>
        <p:spPr>
          <a:xfrm>
            <a:off x="5650992" y="3017520"/>
            <a:ext cx="438912" cy="475488"/>
          </a:xfrm>
          <a:prstGeom prst="chevron">
            <a:avLst/>
          </a:prstGeom>
          <a:solidFill>
            <a:srgbClr val="008F8F"/>
          </a:solidFill>
          <a:ln w="12700">
            <a:solidFill>
              <a:srgbClr val="008F8F"/>
            </a:solidFill>
            <a:prstDash val="solid"/>
          </a:ln>
        </p:spPr>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11/48</a:t>
            </a:r>
            <a:endParaRPr lang="en-US" sz="7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0E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0E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REVIEW LENS</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Four questions before using AI output with a client</a:t>
            </a:r>
            <a:endParaRPr lang="en-US" sz="2800" dirty="0"/>
          </a:p>
        </p:txBody>
      </p:sp>
      <p:sp>
        <p:nvSpPr>
          <p:cNvPr id="7" name="Shape 5"/>
          <p:cNvSpPr/>
          <p:nvPr/>
        </p:nvSpPr>
        <p:spPr>
          <a:xfrm>
            <a:off x="868680" y="1828800"/>
            <a:ext cx="4572000" cy="1078992"/>
          </a:xfrm>
          <a:prstGeom prst="roundRect">
            <a:avLst>
              <a:gd name="adj" fmla="val 5085"/>
            </a:avLst>
          </a:prstGeom>
          <a:solidFill>
            <a:srgbClr val="FFFFFF"/>
          </a:solidFill>
          <a:ln w="10160">
            <a:solidFill>
              <a:srgbClr val="D8E6E8"/>
            </a:solidFill>
            <a:prstDash val="solid"/>
          </a:ln>
        </p:spPr>
      </p:sp>
      <p:sp>
        <p:nvSpPr>
          <p:cNvPr id="8" name="Shape 6"/>
          <p:cNvSpPr/>
          <p:nvPr/>
        </p:nvSpPr>
        <p:spPr>
          <a:xfrm>
            <a:off x="1097280" y="2084832"/>
            <a:ext cx="402336" cy="402336"/>
          </a:xfrm>
          <a:prstGeom prst="ellipse">
            <a:avLst/>
          </a:prstGeom>
          <a:solidFill>
            <a:srgbClr val="008F8F"/>
          </a:solidFill>
          <a:ln w="12700">
            <a:solidFill>
              <a:srgbClr val="008F8F"/>
            </a:solidFill>
            <a:prstDash val="solid"/>
          </a:ln>
        </p:spPr>
      </p:sp>
      <p:sp>
        <p:nvSpPr>
          <p:cNvPr id="9" name="Text 7"/>
          <p:cNvSpPr/>
          <p:nvPr/>
        </p:nvSpPr>
        <p:spPr>
          <a:xfrm>
            <a:off x="1097280" y="217627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10" name="Text 8"/>
          <p:cNvSpPr/>
          <p:nvPr/>
        </p:nvSpPr>
        <p:spPr>
          <a:xfrm>
            <a:off x="1691640" y="2029968"/>
            <a:ext cx="3474720" cy="201168"/>
          </a:xfrm>
          <a:prstGeom prst="rect">
            <a:avLst/>
          </a:prstGeom>
          <a:noFill/>
          <a:ln/>
        </p:spPr>
        <p:txBody>
          <a:bodyPr wrap="square" lIns="0" tIns="0" rIns="0" bIns="0" rtlCol="0" anchor="ctr"/>
          <a:lstStyle/>
          <a:p>
            <a:pPr indent="0" marL="0">
              <a:buNone/>
            </a:pPr>
            <a:r>
              <a:rPr lang="en-US" sz="1450" b="1" dirty="0">
                <a:solidFill>
                  <a:srgbClr val="16324F"/>
                </a:solidFill>
              </a:rPr>
              <a:t>Is it true?</a:t>
            </a:r>
            <a:endParaRPr lang="en-US" sz="1450" dirty="0"/>
          </a:p>
        </p:txBody>
      </p:sp>
      <p:sp>
        <p:nvSpPr>
          <p:cNvPr id="11" name="Text 9"/>
          <p:cNvSpPr/>
          <p:nvPr/>
        </p:nvSpPr>
        <p:spPr>
          <a:xfrm>
            <a:off x="1691640" y="2331720"/>
            <a:ext cx="3474720" cy="347472"/>
          </a:xfrm>
          <a:prstGeom prst="rect">
            <a:avLst/>
          </a:prstGeom>
          <a:noFill/>
          <a:ln/>
        </p:spPr>
        <p:txBody>
          <a:bodyPr wrap="square" lIns="0" tIns="0" rIns="0" bIns="0" rtlCol="0" anchor="ctr">
            <a:normAutofit/>
          </a:bodyPr>
          <a:lstStyle/>
          <a:p>
            <a:pPr indent="0" marL="0">
              <a:buNone/>
            </a:pPr>
            <a:r>
              <a:rPr lang="en-US" sz="1070" dirty="0">
                <a:solidFill>
                  <a:srgbClr val="52606D"/>
                </a:solidFill>
              </a:rPr>
              <a:t>Verify property facts, stats, dates, and claims.</a:t>
            </a:r>
            <a:endParaRPr lang="en-US" sz="1070" dirty="0"/>
          </a:p>
        </p:txBody>
      </p:sp>
      <p:sp>
        <p:nvSpPr>
          <p:cNvPr id="12" name="Shape 10"/>
          <p:cNvSpPr/>
          <p:nvPr/>
        </p:nvSpPr>
        <p:spPr>
          <a:xfrm>
            <a:off x="6126480" y="1828800"/>
            <a:ext cx="4572000" cy="1078992"/>
          </a:xfrm>
          <a:prstGeom prst="roundRect">
            <a:avLst>
              <a:gd name="adj" fmla="val 5085"/>
            </a:avLst>
          </a:prstGeom>
          <a:solidFill>
            <a:srgbClr val="FFFFFF"/>
          </a:solidFill>
          <a:ln w="10160">
            <a:solidFill>
              <a:srgbClr val="D8E6E8"/>
            </a:solidFill>
            <a:prstDash val="solid"/>
          </a:ln>
        </p:spPr>
      </p:sp>
      <p:sp>
        <p:nvSpPr>
          <p:cNvPr id="13" name="Shape 11"/>
          <p:cNvSpPr/>
          <p:nvPr/>
        </p:nvSpPr>
        <p:spPr>
          <a:xfrm>
            <a:off x="6355080" y="2084832"/>
            <a:ext cx="402336" cy="402336"/>
          </a:xfrm>
          <a:prstGeom prst="ellipse">
            <a:avLst/>
          </a:prstGeom>
          <a:solidFill>
            <a:srgbClr val="2F80ED"/>
          </a:solidFill>
          <a:ln w="12700">
            <a:solidFill>
              <a:srgbClr val="2F80ED"/>
            </a:solidFill>
            <a:prstDash val="solid"/>
          </a:ln>
        </p:spPr>
      </p:sp>
      <p:sp>
        <p:nvSpPr>
          <p:cNvPr id="14" name="Text 12"/>
          <p:cNvSpPr/>
          <p:nvPr/>
        </p:nvSpPr>
        <p:spPr>
          <a:xfrm>
            <a:off x="6355080" y="217627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15" name="Text 13"/>
          <p:cNvSpPr/>
          <p:nvPr/>
        </p:nvSpPr>
        <p:spPr>
          <a:xfrm>
            <a:off x="6949440" y="2029968"/>
            <a:ext cx="3474720" cy="201168"/>
          </a:xfrm>
          <a:prstGeom prst="rect">
            <a:avLst/>
          </a:prstGeom>
          <a:noFill/>
          <a:ln/>
        </p:spPr>
        <p:txBody>
          <a:bodyPr wrap="square" lIns="0" tIns="0" rIns="0" bIns="0" rtlCol="0" anchor="ctr"/>
          <a:lstStyle/>
          <a:p>
            <a:pPr indent="0" marL="0">
              <a:buNone/>
            </a:pPr>
            <a:r>
              <a:rPr lang="en-US" sz="1450" b="1" dirty="0">
                <a:solidFill>
                  <a:srgbClr val="16324F"/>
                </a:solidFill>
              </a:rPr>
              <a:t>Is it allowed?</a:t>
            </a:r>
            <a:endParaRPr lang="en-US" sz="1450" dirty="0"/>
          </a:p>
        </p:txBody>
      </p:sp>
      <p:sp>
        <p:nvSpPr>
          <p:cNvPr id="16" name="Text 14"/>
          <p:cNvSpPr/>
          <p:nvPr/>
        </p:nvSpPr>
        <p:spPr>
          <a:xfrm>
            <a:off x="6949440" y="2331720"/>
            <a:ext cx="3474720" cy="347472"/>
          </a:xfrm>
          <a:prstGeom prst="rect">
            <a:avLst/>
          </a:prstGeom>
          <a:noFill/>
          <a:ln/>
        </p:spPr>
        <p:txBody>
          <a:bodyPr wrap="square" lIns="0" tIns="0" rIns="0" bIns="0" rtlCol="0" anchor="ctr">
            <a:normAutofit/>
          </a:bodyPr>
          <a:lstStyle/>
          <a:p>
            <a:pPr indent="0" marL="0">
              <a:buNone/>
            </a:pPr>
            <a:r>
              <a:rPr lang="en-US" sz="1070" dirty="0">
                <a:solidFill>
                  <a:srgbClr val="52606D"/>
                </a:solidFill>
              </a:rPr>
              <a:t>Check brokerage, MLS, advertising, and communication rules.</a:t>
            </a:r>
            <a:endParaRPr lang="en-US" sz="1070" dirty="0"/>
          </a:p>
        </p:txBody>
      </p:sp>
      <p:sp>
        <p:nvSpPr>
          <p:cNvPr id="17" name="Shape 15"/>
          <p:cNvSpPr/>
          <p:nvPr/>
        </p:nvSpPr>
        <p:spPr>
          <a:xfrm>
            <a:off x="868680" y="3246120"/>
            <a:ext cx="4572000" cy="1078992"/>
          </a:xfrm>
          <a:prstGeom prst="roundRect">
            <a:avLst>
              <a:gd name="adj" fmla="val 5085"/>
            </a:avLst>
          </a:prstGeom>
          <a:solidFill>
            <a:srgbClr val="FFFFFF"/>
          </a:solidFill>
          <a:ln w="10160">
            <a:solidFill>
              <a:srgbClr val="D8E6E8"/>
            </a:solidFill>
            <a:prstDash val="solid"/>
          </a:ln>
        </p:spPr>
      </p:sp>
      <p:sp>
        <p:nvSpPr>
          <p:cNvPr id="18" name="Shape 16"/>
          <p:cNvSpPr/>
          <p:nvPr/>
        </p:nvSpPr>
        <p:spPr>
          <a:xfrm>
            <a:off x="1097280" y="3502152"/>
            <a:ext cx="402336" cy="402336"/>
          </a:xfrm>
          <a:prstGeom prst="ellipse">
            <a:avLst/>
          </a:prstGeom>
          <a:solidFill>
            <a:srgbClr val="F45B69"/>
          </a:solidFill>
          <a:ln w="12700">
            <a:solidFill>
              <a:srgbClr val="F45B69"/>
            </a:solidFill>
            <a:prstDash val="solid"/>
          </a:ln>
        </p:spPr>
      </p:sp>
      <p:sp>
        <p:nvSpPr>
          <p:cNvPr id="19" name="Text 17"/>
          <p:cNvSpPr/>
          <p:nvPr/>
        </p:nvSpPr>
        <p:spPr>
          <a:xfrm>
            <a:off x="1097280" y="359359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20" name="Text 18"/>
          <p:cNvSpPr/>
          <p:nvPr/>
        </p:nvSpPr>
        <p:spPr>
          <a:xfrm>
            <a:off x="1691640" y="3447288"/>
            <a:ext cx="3474720" cy="201168"/>
          </a:xfrm>
          <a:prstGeom prst="rect">
            <a:avLst/>
          </a:prstGeom>
          <a:noFill/>
          <a:ln/>
        </p:spPr>
        <p:txBody>
          <a:bodyPr wrap="square" lIns="0" tIns="0" rIns="0" bIns="0" rtlCol="0" anchor="ctr"/>
          <a:lstStyle/>
          <a:p>
            <a:pPr indent="0" marL="0">
              <a:buNone/>
            </a:pPr>
            <a:r>
              <a:rPr lang="en-US" sz="1450" b="1" dirty="0">
                <a:solidFill>
                  <a:srgbClr val="16324F"/>
                </a:solidFill>
              </a:rPr>
              <a:t>Is it fair?</a:t>
            </a:r>
            <a:endParaRPr lang="en-US" sz="1450" dirty="0"/>
          </a:p>
        </p:txBody>
      </p:sp>
      <p:sp>
        <p:nvSpPr>
          <p:cNvPr id="21" name="Text 19"/>
          <p:cNvSpPr/>
          <p:nvPr/>
        </p:nvSpPr>
        <p:spPr>
          <a:xfrm>
            <a:off x="1691640" y="3749040"/>
            <a:ext cx="3474720" cy="347472"/>
          </a:xfrm>
          <a:prstGeom prst="rect">
            <a:avLst/>
          </a:prstGeom>
          <a:noFill/>
          <a:ln/>
        </p:spPr>
        <p:txBody>
          <a:bodyPr wrap="square" lIns="0" tIns="0" rIns="0" bIns="0" rtlCol="0" anchor="ctr">
            <a:normAutofit/>
          </a:bodyPr>
          <a:lstStyle/>
          <a:p>
            <a:pPr indent="0" marL="0">
              <a:buNone/>
            </a:pPr>
            <a:r>
              <a:rPr lang="en-US" sz="1070" dirty="0">
                <a:solidFill>
                  <a:srgbClr val="52606D"/>
                </a:solidFill>
              </a:rPr>
              <a:t>Avoid protected-class language, steering, or discriminatory targeting.</a:t>
            </a:r>
            <a:endParaRPr lang="en-US" sz="1070" dirty="0"/>
          </a:p>
        </p:txBody>
      </p:sp>
      <p:sp>
        <p:nvSpPr>
          <p:cNvPr id="22" name="Shape 20"/>
          <p:cNvSpPr/>
          <p:nvPr/>
        </p:nvSpPr>
        <p:spPr>
          <a:xfrm>
            <a:off x="6126480" y="3246120"/>
            <a:ext cx="4572000" cy="1078992"/>
          </a:xfrm>
          <a:prstGeom prst="roundRect">
            <a:avLst>
              <a:gd name="adj" fmla="val 5085"/>
            </a:avLst>
          </a:prstGeom>
          <a:solidFill>
            <a:srgbClr val="FFFFFF"/>
          </a:solidFill>
          <a:ln w="10160">
            <a:solidFill>
              <a:srgbClr val="D8E6E8"/>
            </a:solidFill>
            <a:prstDash val="solid"/>
          </a:ln>
        </p:spPr>
      </p:sp>
      <p:sp>
        <p:nvSpPr>
          <p:cNvPr id="23" name="Shape 21"/>
          <p:cNvSpPr/>
          <p:nvPr/>
        </p:nvSpPr>
        <p:spPr>
          <a:xfrm>
            <a:off x="6355080" y="3502152"/>
            <a:ext cx="402336" cy="402336"/>
          </a:xfrm>
          <a:prstGeom prst="ellipse">
            <a:avLst/>
          </a:prstGeom>
          <a:solidFill>
            <a:srgbClr val="2E7D5B"/>
          </a:solidFill>
          <a:ln w="12700">
            <a:solidFill>
              <a:srgbClr val="2E7D5B"/>
            </a:solidFill>
            <a:prstDash val="solid"/>
          </a:ln>
        </p:spPr>
      </p:sp>
      <p:sp>
        <p:nvSpPr>
          <p:cNvPr id="24" name="Text 22"/>
          <p:cNvSpPr/>
          <p:nvPr/>
        </p:nvSpPr>
        <p:spPr>
          <a:xfrm>
            <a:off x="6355080" y="359359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25" name="Text 23"/>
          <p:cNvSpPr/>
          <p:nvPr/>
        </p:nvSpPr>
        <p:spPr>
          <a:xfrm>
            <a:off x="6949440" y="3447288"/>
            <a:ext cx="3474720" cy="201168"/>
          </a:xfrm>
          <a:prstGeom prst="rect">
            <a:avLst/>
          </a:prstGeom>
          <a:noFill/>
          <a:ln/>
        </p:spPr>
        <p:txBody>
          <a:bodyPr wrap="square" lIns="0" tIns="0" rIns="0" bIns="0" rtlCol="0" anchor="ctr"/>
          <a:lstStyle/>
          <a:p>
            <a:pPr indent="0" marL="0">
              <a:buNone/>
            </a:pPr>
            <a:r>
              <a:rPr lang="en-US" sz="1450" b="1" dirty="0">
                <a:solidFill>
                  <a:srgbClr val="16324F"/>
                </a:solidFill>
              </a:rPr>
              <a:t>Is it yours?</a:t>
            </a:r>
            <a:endParaRPr lang="en-US" sz="1450" dirty="0"/>
          </a:p>
        </p:txBody>
      </p:sp>
      <p:sp>
        <p:nvSpPr>
          <p:cNvPr id="26" name="Text 24"/>
          <p:cNvSpPr/>
          <p:nvPr/>
        </p:nvSpPr>
        <p:spPr>
          <a:xfrm>
            <a:off x="6949440" y="3749040"/>
            <a:ext cx="3474720" cy="347472"/>
          </a:xfrm>
          <a:prstGeom prst="rect">
            <a:avLst/>
          </a:prstGeom>
          <a:noFill/>
          <a:ln/>
        </p:spPr>
        <p:txBody>
          <a:bodyPr wrap="square" lIns="0" tIns="0" rIns="0" bIns="0" rtlCol="0" anchor="ctr">
            <a:normAutofit/>
          </a:bodyPr>
          <a:lstStyle/>
          <a:p>
            <a:pPr indent="0" marL="0">
              <a:buNone/>
            </a:pPr>
            <a:r>
              <a:rPr lang="en-US" sz="1070" dirty="0">
                <a:solidFill>
                  <a:srgbClr val="52606D"/>
                </a:solidFill>
              </a:rPr>
              <a:t>Edit for your voice, judgment, and client relationship.</a:t>
            </a:r>
            <a:endParaRPr lang="en-US" sz="1070" dirty="0"/>
          </a:p>
        </p:txBody>
      </p:sp>
      <p:sp>
        <p:nvSpPr>
          <p:cNvPr id="27" name="Shape 25"/>
          <p:cNvSpPr/>
          <p:nvPr/>
        </p:nvSpPr>
        <p:spPr>
          <a:xfrm>
            <a:off x="502920" y="6473952"/>
            <a:ext cx="11201400" cy="0"/>
          </a:xfrm>
          <a:prstGeom prst="line">
            <a:avLst/>
          </a:prstGeom>
          <a:noFill/>
          <a:ln w="9525">
            <a:solidFill>
              <a:srgbClr val="D8E6E8"/>
            </a:solidFill>
            <a:prstDash val="solid"/>
          </a:ln>
        </p:spPr>
      </p:sp>
      <p:sp>
        <p:nvSpPr>
          <p:cNvPr id="28" name="Text 26"/>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29" name="Text 27"/>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12/48</a:t>
            </a:r>
            <a:endParaRPr lang="en-US" sz="7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0F3F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0F3F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ACTIVITY</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Compliance risk check</a:t>
            </a:r>
            <a:endParaRPr lang="en-US" sz="2800" dirty="0"/>
          </a:p>
        </p:txBody>
      </p:sp>
      <p:sp>
        <p:nvSpPr>
          <p:cNvPr id="7" name="Shape 5"/>
          <p:cNvSpPr/>
          <p:nvPr/>
        </p:nvSpPr>
        <p:spPr>
          <a:xfrm>
            <a:off x="822960" y="1755648"/>
            <a:ext cx="5413248" cy="109728"/>
          </a:xfrm>
          <a:prstGeom prst="rect">
            <a:avLst/>
          </a:prstGeom>
          <a:solidFill>
            <a:srgbClr val="F2B84B"/>
          </a:solidFill>
          <a:ln w="12700">
            <a:solidFill>
              <a:srgbClr val="F2B84B"/>
            </a:solidFill>
            <a:prstDash val="solid"/>
          </a:ln>
        </p:spPr>
      </p:sp>
      <p:sp>
        <p:nvSpPr>
          <p:cNvPr id="8" name="Shape 6"/>
          <p:cNvSpPr/>
          <p:nvPr/>
        </p:nvSpPr>
        <p:spPr>
          <a:xfrm>
            <a:off x="868680" y="1874520"/>
            <a:ext cx="5303520" cy="2560320"/>
          </a:xfrm>
          <a:prstGeom prst="roundRect">
            <a:avLst>
              <a:gd name="adj" fmla="val 2143"/>
            </a:avLst>
          </a:prstGeom>
          <a:solidFill>
            <a:srgbClr val="FFFFFF"/>
          </a:solidFill>
          <a:ln w="10160">
            <a:solidFill>
              <a:srgbClr val="D8E6E8"/>
            </a:solidFill>
            <a:prstDash val="solid"/>
          </a:ln>
        </p:spPr>
      </p:sp>
      <p:sp>
        <p:nvSpPr>
          <p:cNvPr id="9" name="Text 7"/>
          <p:cNvSpPr/>
          <p:nvPr/>
        </p:nvSpPr>
        <p:spPr>
          <a:xfrm>
            <a:off x="1143000" y="2103120"/>
            <a:ext cx="4663440" cy="320040"/>
          </a:xfrm>
          <a:prstGeom prst="rect">
            <a:avLst/>
          </a:prstGeom>
          <a:noFill/>
          <a:ln/>
        </p:spPr>
        <p:txBody>
          <a:bodyPr wrap="square" lIns="0" tIns="0" rIns="0" bIns="0" rtlCol="0" anchor="ctr">
            <a:normAutofit/>
          </a:bodyPr>
          <a:lstStyle/>
          <a:p>
            <a:pPr indent="0" marL="0">
              <a:buNone/>
            </a:pPr>
            <a:r>
              <a:rPr lang="en-US" sz="1400" dirty="0">
                <a:solidFill>
                  <a:srgbClr val="52606D"/>
                </a:solidFill>
              </a:rPr>
              <a:t>Review this AI-generated sentence:</a:t>
            </a:r>
            <a:endParaRPr lang="en-US" sz="1400" dirty="0"/>
          </a:p>
        </p:txBody>
      </p:sp>
      <p:sp>
        <p:nvSpPr>
          <p:cNvPr id="10" name="Text 8"/>
          <p:cNvSpPr/>
          <p:nvPr/>
        </p:nvSpPr>
        <p:spPr>
          <a:xfrm>
            <a:off x="1143000" y="2578608"/>
            <a:ext cx="4663440" cy="1143000"/>
          </a:xfrm>
          <a:prstGeom prst="rect">
            <a:avLst/>
          </a:prstGeom>
          <a:noFill/>
          <a:ln/>
        </p:spPr>
        <p:txBody>
          <a:bodyPr wrap="square" lIns="381" tIns="381" rIns="381" bIns="381" rtlCol="0" anchor="ctr">
            <a:normAutofit/>
          </a:bodyPr>
          <a:lstStyle/>
          <a:p>
            <a:pPr indent="0" marL="0">
              <a:buNone/>
            </a:pPr>
            <a:r>
              <a:rPr lang="en-US" sz="1700" b="1" dirty="0">
                <a:solidFill>
                  <a:srgbClr val="16324F"/>
                </a:solidFill>
              </a:rPr>
              <a:t>This quiet family neighborhood is perfect for young professionals and has the best schools in the area.</a:t>
            </a:r>
            <a:endParaRPr lang="en-US" sz="1700" dirty="0"/>
          </a:p>
        </p:txBody>
      </p:sp>
      <p:sp>
        <p:nvSpPr>
          <p:cNvPr id="11" name="Text 9"/>
          <p:cNvSpPr/>
          <p:nvPr/>
        </p:nvSpPr>
        <p:spPr>
          <a:xfrm>
            <a:off x="1143000" y="4005072"/>
            <a:ext cx="2194560" cy="182880"/>
          </a:xfrm>
          <a:prstGeom prst="rect">
            <a:avLst/>
          </a:prstGeom>
          <a:noFill/>
          <a:ln/>
        </p:spPr>
        <p:txBody>
          <a:bodyPr wrap="square" lIns="0" tIns="0" rIns="0" bIns="0" rtlCol="0" anchor="ctr"/>
          <a:lstStyle/>
          <a:p>
            <a:pPr indent="0" marL="0">
              <a:buNone/>
            </a:pPr>
            <a:r>
              <a:rPr lang="en-US" sz="950" b="1" dirty="0">
                <a:solidFill>
                  <a:srgbClr val="008F8F"/>
                </a:solidFill>
              </a:rPr>
              <a:t>Workshop canvas</a:t>
            </a:r>
            <a:endParaRPr lang="en-US" sz="950" dirty="0"/>
          </a:p>
        </p:txBody>
      </p:sp>
      <p:sp>
        <p:nvSpPr>
          <p:cNvPr id="12" name="Shape 10"/>
          <p:cNvSpPr/>
          <p:nvPr/>
        </p:nvSpPr>
        <p:spPr>
          <a:xfrm>
            <a:off x="6446520" y="1810512"/>
            <a:ext cx="4343400" cy="2697480"/>
          </a:xfrm>
          <a:prstGeom prst="roundRect">
            <a:avLst>
              <a:gd name="adj" fmla="val 2034"/>
            </a:avLst>
          </a:prstGeom>
          <a:solidFill>
            <a:srgbClr val="E9F8F0"/>
          </a:solidFill>
          <a:ln w="10160">
            <a:solidFill>
              <a:srgbClr val="BBDCC9"/>
            </a:solidFill>
            <a:prstDash val="solid"/>
          </a:ln>
        </p:spPr>
      </p:sp>
      <p:sp>
        <p:nvSpPr>
          <p:cNvPr id="13" name="Text 11"/>
          <p:cNvSpPr/>
          <p:nvPr/>
        </p:nvSpPr>
        <p:spPr>
          <a:xfrm>
            <a:off x="6720840" y="2148840"/>
            <a:ext cx="3657600" cy="182880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02033"/>
                </a:solidFill>
                <a:latin typeface="Aptos" pitchFamily="34" charset="0"/>
                <a:ea typeface="Aptos" pitchFamily="34" charset="-122"/>
                <a:cs typeface="Aptos" pitchFamily="34" charset="-120"/>
              </a:rPr>
              <a:t>What could create risk?</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What facts need verification?</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How could it be rewritten safely?</a:t>
            </a:r>
            <a:endParaRPr lang="en-US" sz="1500" dirty="0"/>
          </a:p>
        </p:txBody>
      </p:sp>
      <p:sp>
        <p:nvSpPr>
          <p:cNvPr id="14" name="Text 12"/>
          <p:cNvSpPr/>
          <p:nvPr/>
        </p:nvSpPr>
        <p:spPr>
          <a:xfrm>
            <a:off x="9738360" y="4069080"/>
            <a:ext cx="731520" cy="201168"/>
          </a:xfrm>
          <a:prstGeom prst="rect">
            <a:avLst/>
          </a:prstGeom>
          <a:noFill/>
          <a:ln/>
        </p:spPr>
        <p:txBody>
          <a:bodyPr wrap="square" lIns="0" tIns="0" rIns="0" bIns="0" rtlCol="0" anchor="ctr"/>
          <a:lstStyle/>
          <a:p>
            <a:pPr indent="0" marL="0">
              <a:buNone/>
            </a:pPr>
            <a:r>
              <a:rPr lang="en-US" sz="950" b="1" dirty="0">
                <a:solidFill>
                  <a:srgbClr val="2E7D5B"/>
                </a:solidFill>
              </a:rPr>
              <a:t>4-6 min</a:t>
            </a:r>
            <a:endParaRPr lang="en-US" sz="950" dirty="0"/>
          </a:p>
        </p:txBody>
      </p:sp>
      <p:sp>
        <p:nvSpPr>
          <p:cNvPr id="15" name="Shape 13"/>
          <p:cNvSpPr/>
          <p:nvPr/>
        </p:nvSpPr>
        <p:spPr>
          <a:xfrm>
            <a:off x="502920" y="6473952"/>
            <a:ext cx="11201400" cy="0"/>
          </a:xfrm>
          <a:prstGeom prst="line">
            <a:avLst/>
          </a:prstGeom>
          <a:noFill/>
          <a:ln w="9525">
            <a:solidFill>
              <a:srgbClr val="D8E6E8"/>
            </a:solidFill>
            <a:prstDash val="solid"/>
          </a:ln>
        </p:spPr>
      </p:sp>
      <p:sp>
        <p:nvSpPr>
          <p:cNvPr id="16" name="Text 14"/>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7" name="Text 15"/>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13/48</a:t>
            </a:r>
            <a:endParaRPr lang="en-US" sz="7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9F8F0"/>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9F8F0"/>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BEFORE / AFTER</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Better instruction creates safer output</a:t>
            </a:r>
            <a:endParaRPr lang="en-US" sz="2800" dirty="0"/>
          </a:p>
        </p:txBody>
      </p:sp>
      <p:sp>
        <p:nvSpPr>
          <p:cNvPr id="7" name="Shape 5"/>
          <p:cNvSpPr/>
          <p:nvPr/>
        </p:nvSpPr>
        <p:spPr>
          <a:xfrm>
            <a:off x="868680" y="1828800"/>
            <a:ext cx="4663440" cy="3108960"/>
          </a:xfrm>
          <a:prstGeom prst="roundRect">
            <a:avLst>
              <a:gd name="adj" fmla="val 1765"/>
            </a:avLst>
          </a:prstGeom>
          <a:solidFill>
            <a:srgbClr val="FFF0EF"/>
          </a:solidFill>
          <a:ln w="10160">
            <a:solidFill>
              <a:srgbClr val="D8E6E8"/>
            </a:solidFill>
            <a:prstDash val="solid"/>
          </a:ln>
        </p:spPr>
      </p:sp>
      <p:sp>
        <p:nvSpPr>
          <p:cNvPr id="8" name="Text 6"/>
          <p:cNvSpPr/>
          <p:nvPr/>
        </p:nvSpPr>
        <p:spPr>
          <a:xfrm>
            <a:off x="1124712" y="2084832"/>
            <a:ext cx="1371600" cy="201168"/>
          </a:xfrm>
          <a:prstGeom prst="rect">
            <a:avLst/>
          </a:prstGeom>
          <a:noFill/>
          <a:ln/>
        </p:spPr>
        <p:txBody>
          <a:bodyPr wrap="square" lIns="0" tIns="0" rIns="0" bIns="0" rtlCol="0" anchor="ctr"/>
          <a:lstStyle/>
          <a:p>
            <a:pPr indent="0" marL="0">
              <a:buNone/>
            </a:pPr>
            <a:r>
              <a:rPr lang="en-US" sz="1000" b="1" dirty="0">
                <a:solidFill>
                  <a:srgbClr val="F45B69"/>
                </a:solidFill>
              </a:rPr>
              <a:t>Before</a:t>
            </a:r>
            <a:endParaRPr lang="en-US" sz="1000" dirty="0"/>
          </a:p>
        </p:txBody>
      </p:sp>
      <p:sp>
        <p:nvSpPr>
          <p:cNvPr id="9" name="Text 7"/>
          <p:cNvSpPr/>
          <p:nvPr/>
        </p:nvSpPr>
        <p:spPr>
          <a:xfrm>
            <a:off x="1143000" y="2514600"/>
            <a:ext cx="4069080" cy="1828800"/>
          </a:xfrm>
          <a:prstGeom prst="rect">
            <a:avLst/>
          </a:prstGeom>
          <a:noFill/>
          <a:ln/>
        </p:spPr>
        <p:txBody>
          <a:bodyPr wrap="square" lIns="381" tIns="381" rIns="381" bIns="381" rtlCol="0" anchor="ctr">
            <a:normAutofit/>
          </a:bodyPr>
          <a:lstStyle/>
          <a:p>
            <a:pPr indent="0" marL="0">
              <a:buNone/>
            </a:pPr>
            <a:r>
              <a:rPr lang="en-US" sz="1340" dirty="0">
                <a:solidFill>
                  <a:srgbClr val="102033"/>
                </a:solidFill>
              </a:rPr>
              <a:t>Write a listing description for a nice house in Coral Gables.</a:t>
            </a:r>
            <a:endParaRPr lang="en-US" sz="1340" dirty="0"/>
          </a:p>
        </p:txBody>
      </p:sp>
      <p:sp>
        <p:nvSpPr>
          <p:cNvPr id="10" name="Shape 8"/>
          <p:cNvSpPr/>
          <p:nvPr/>
        </p:nvSpPr>
        <p:spPr>
          <a:xfrm>
            <a:off x="6080760" y="1828800"/>
            <a:ext cx="4663440" cy="3108960"/>
          </a:xfrm>
          <a:prstGeom prst="roundRect">
            <a:avLst>
              <a:gd name="adj" fmla="val 1765"/>
            </a:avLst>
          </a:prstGeom>
          <a:solidFill>
            <a:srgbClr val="EAF7F7"/>
          </a:solidFill>
          <a:ln w="10160">
            <a:solidFill>
              <a:srgbClr val="D8E6E8"/>
            </a:solidFill>
            <a:prstDash val="solid"/>
          </a:ln>
        </p:spPr>
      </p:sp>
      <p:sp>
        <p:nvSpPr>
          <p:cNvPr id="11" name="Text 9"/>
          <p:cNvSpPr/>
          <p:nvPr/>
        </p:nvSpPr>
        <p:spPr>
          <a:xfrm>
            <a:off x="6336792" y="2084832"/>
            <a:ext cx="1371600" cy="201168"/>
          </a:xfrm>
          <a:prstGeom prst="rect">
            <a:avLst/>
          </a:prstGeom>
          <a:noFill/>
          <a:ln/>
        </p:spPr>
        <p:txBody>
          <a:bodyPr wrap="square" lIns="0" tIns="0" rIns="0" bIns="0" rtlCol="0" anchor="ctr"/>
          <a:lstStyle/>
          <a:p>
            <a:pPr indent="0" marL="0">
              <a:buNone/>
            </a:pPr>
            <a:r>
              <a:rPr lang="en-US" sz="1000" b="1" dirty="0">
                <a:solidFill>
                  <a:srgbClr val="008F8F"/>
                </a:solidFill>
              </a:rPr>
              <a:t>After</a:t>
            </a:r>
            <a:endParaRPr lang="en-US" sz="1000" dirty="0"/>
          </a:p>
        </p:txBody>
      </p:sp>
      <p:sp>
        <p:nvSpPr>
          <p:cNvPr id="12" name="Text 10"/>
          <p:cNvSpPr/>
          <p:nvPr/>
        </p:nvSpPr>
        <p:spPr>
          <a:xfrm>
            <a:off x="6355080" y="2514600"/>
            <a:ext cx="4069080" cy="1828800"/>
          </a:xfrm>
          <a:prstGeom prst="rect">
            <a:avLst/>
          </a:prstGeom>
          <a:noFill/>
          <a:ln/>
        </p:spPr>
        <p:txBody>
          <a:bodyPr wrap="square" lIns="381" tIns="381" rIns="381" bIns="381" rtlCol="0" anchor="ctr">
            <a:normAutofit/>
          </a:bodyPr>
          <a:lstStyle/>
          <a:p>
            <a:pPr indent="0" marL="0">
              <a:buNone/>
            </a:pPr>
            <a:r>
              <a:rPr lang="en-US" sz="1340" dirty="0">
                <a:solidFill>
                  <a:srgbClr val="102033"/>
                </a:solidFill>
              </a:rPr>
              <a:t>Using only the verified facts below, draft a warm 130-word listing description. Avoid Fair Housing risk, school claims, or invented features. Facts: 3 bedrooms, 2 baths, updated kitchen, covered patio, 2-car garage, near parks and dining.</a:t>
            </a:r>
            <a:endParaRPr lang="en-US" sz="1340" dirty="0"/>
          </a:p>
        </p:txBody>
      </p:sp>
      <p:sp>
        <p:nvSpPr>
          <p:cNvPr id="13" name="Shape 11"/>
          <p:cNvSpPr/>
          <p:nvPr/>
        </p:nvSpPr>
        <p:spPr>
          <a:xfrm>
            <a:off x="502920" y="6473952"/>
            <a:ext cx="11201400" cy="0"/>
          </a:xfrm>
          <a:prstGeom prst="line">
            <a:avLst/>
          </a:prstGeom>
          <a:noFill/>
          <a:ln w="9525">
            <a:solidFill>
              <a:srgbClr val="D8E6E8"/>
            </a:solidFill>
            <a:prstDash val="solid"/>
          </a:ln>
        </p:spPr>
      </p:sp>
      <p:sp>
        <p:nvSpPr>
          <p:cNvPr id="14" name="Text 12"/>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5" name="Text 13"/>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14/48</a:t>
            </a:r>
            <a:endParaRPr lang="en-US" sz="7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749808" y="822960"/>
            <a:ext cx="3840480" cy="256032"/>
          </a:xfrm>
          <a:prstGeom prst="rect">
            <a:avLst/>
          </a:prstGeom>
          <a:noFill/>
          <a:ln/>
        </p:spPr>
        <p:txBody>
          <a:bodyPr wrap="square" lIns="0" tIns="0" rIns="0" bIns="0" rtlCol="0" anchor="ctr"/>
          <a:lstStyle/>
          <a:p>
            <a:pPr indent="0" marL="0">
              <a:buNone/>
            </a:pPr>
            <a:r>
              <a:rPr lang="en-US" sz="1100" b="1" dirty="0">
                <a:solidFill>
                  <a:srgbClr val="F2B84B"/>
                </a:solidFill>
              </a:rPr>
              <a:t>SECTION 3</a:t>
            </a:r>
            <a:endParaRPr lang="en-US" sz="1100" dirty="0"/>
          </a:p>
        </p:txBody>
      </p:sp>
      <p:sp>
        <p:nvSpPr>
          <p:cNvPr id="3" name="Text 1"/>
          <p:cNvSpPr/>
          <p:nvPr/>
        </p:nvSpPr>
        <p:spPr>
          <a:xfrm>
            <a:off x="713232" y="1828800"/>
            <a:ext cx="9966960" cy="77724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AI for Client Communication</a:t>
            </a:r>
            <a:endParaRPr lang="en-US" sz="3400" dirty="0"/>
          </a:p>
        </p:txBody>
      </p:sp>
      <p:sp>
        <p:nvSpPr>
          <p:cNvPr id="4" name="Text 2"/>
          <p:cNvSpPr/>
          <p:nvPr/>
        </p:nvSpPr>
        <p:spPr>
          <a:xfrm>
            <a:off x="749808" y="2852928"/>
            <a:ext cx="8138160" cy="411480"/>
          </a:xfrm>
          <a:prstGeom prst="rect">
            <a:avLst/>
          </a:prstGeom>
          <a:noFill/>
          <a:ln/>
        </p:spPr>
        <p:txBody>
          <a:bodyPr wrap="square" lIns="0" tIns="0" rIns="0" bIns="0" rtlCol="0" anchor="ctr">
            <a:normAutofit/>
          </a:bodyPr>
          <a:lstStyle/>
          <a:p>
            <a:pPr indent="0" marL="0">
              <a:buNone/>
            </a:pPr>
            <a:r>
              <a:rPr lang="en-US" sz="1600" dirty="0">
                <a:solidFill>
                  <a:srgbClr val="DCEEEF"/>
                </a:solidFill>
              </a:rPr>
              <a:t>Better context creates messages that sound more like a professional agent.</a:t>
            </a:r>
            <a:endParaRPr lang="en-US" sz="1600" dirty="0"/>
          </a:p>
        </p:txBody>
      </p:sp>
      <p:sp>
        <p:nvSpPr>
          <p:cNvPr id="5" name="Shape 3"/>
          <p:cNvSpPr/>
          <p:nvPr/>
        </p:nvSpPr>
        <p:spPr>
          <a:xfrm>
            <a:off x="749808" y="3657600"/>
            <a:ext cx="1828800" cy="0"/>
          </a:xfrm>
          <a:prstGeom prst="line">
            <a:avLst/>
          </a:prstGeom>
          <a:noFill/>
          <a:ln w="50800">
            <a:solidFill>
              <a:srgbClr val="F45B69"/>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4D9"/>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4D9"/>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PROMPT FORMULA</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Use the Realtor prompt formula</a:t>
            </a:r>
            <a:endParaRPr lang="en-US" sz="2800" dirty="0"/>
          </a:p>
        </p:txBody>
      </p:sp>
      <p:sp>
        <p:nvSpPr>
          <p:cNvPr id="7" name="Shape 5"/>
          <p:cNvSpPr/>
          <p:nvPr/>
        </p:nvSpPr>
        <p:spPr>
          <a:xfrm>
            <a:off x="749808" y="1828800"/>
            <a:ext cx="3246120" cy="960120"/>
          </a:xfrm>
          <a:prstGeom prst="roundRect">
            <a:avLst>
              <a:gd name="adj" fmla="val 5714"/>
            </a:avLst>
          </a:prstGeom>
          <a:solidFill>
            <a:srgbClr val="FFFFFF"/>
          </a:solidFill>
          <a:ln w="10160">
            <a:solidFill>
              <a:srgbClr val="D8E6E8"/>
            </a:solidFill>
            <a:prstDash val="solid"/>
          </a:ln>
        </p:spPr>
      </p:sp>
      <p:sp>
        <p:nvSpPr>
          <p:cNvPr id="8" name="Text 6"/>
          <p:cNvSpPr/>
          <p:nvPr/>
        </p:nvSpPr>
        <p:spPr>
          <a:xfrm>
            <a:off x="969264" y="1993392"/>
            <a:ext cx="1280160" cy="182880"/>
          </a:xfrm>
          <a:prstGeom prst="rect">
            <a:avLst/>
          </a:prstGeom>
          <a:noFill/>
          <a:ln/>
        </p:spPr>
        <p:txBody>
          <a:bodyPr wrap="square" lIns="0" tIns="0" rIns="0" bIns="0" rtlCol="0" anchor="ctr"/>
          <a:lstStyle/>
          <a:p>
            <a:pPr indent="0" marL="0">
              <a:buNone/>
            </a:pPr>
            <a:r>
              <a:rPr lang="en-US" sz="950" b="1" dirty="0">
                <a:solidFill>
                  <a:srgbClr val="008F8F"/>
                </a:solidFill>
              </a:rPr>
              <a:t>Role</a:t>
            </a:r>
            <a:endParaRPr lang="en-US" sz="950" dirty="0"/>
          </a:p>
        </p:txBody>
      </p:sp>
      <p:sp>
        <p:nvSpPr>
          <p:cNvPr id="9" name="Text 7"/>
          <p:cNvSpPr/>
          <p:nvPr/>
        </p:nvSpPr>
        <p:spPr>
          <a:xfrm>
            <a:off x="969264" y="2267712"/>
            <a:ext cx="2743200" cy="256032"/>
          </a:xfrm>
          <a:prstGeom prst="rect">
            <a:avLst/>
          </a:prstGeom>
          <a:noFill/>
          <a:ln/>
        </p:spPr>
        <p:txBody>
          <a:bodyPr wrap="square" lIns="0" tIns="0" rIns="0" bIns="0" rtlCol="0" anchor="ctr">
            <a:normAutofit/>
          </a:bodyPr>
          <a:lstStyle/>
          <a:p>
            <a:pPr indent="0" marL="0">
              <a:buNone/>
            </a:pPr>
            <a:r>
              <a:rPr lang="en-US" sz="1150" dirty="0">
                <a:solidFill>
                  <a:srgbClr val="102033"/>
                </a:solidFill>
              </a:rPr>
              <a:t>You are helping me as a REALTOR</a:t>
            </a:r>
            <a:endParaRPr lang="en-US" sz="1150" dirty="0"/>
          </a:p>
        </p:txBody>
      </p:sp>
      <p:sp>
        <p:nvSpPr>
          <p:cNvPr id="10" name="Shape 8"/>
          <p:cNvSpPr/>
          <p:nvPr/>
        </p:nvSpPr>
        <p:spPr>
          <a:xfrm>
            <a:off x="4425696" y="1828800"/>
            <a:ext cx="3246120" cy="960120"/>
          </a:xfrm>
          <a:prstGeom prst="roundRect">
            <a:avLst>
              <a:gd name="adj" fmla="val 5714"/>
            </a:avLst>
          </a:prstGeom>
          <a:solidFill>
            <a:srgbClr val="FFFFFF"/>
          </a:solidFill>
          <a:ln w="10160">
            <a:solidFill>
              <a:srgbClr val="D8E6E8"/>
            </a:solidFill>
            <a:prstDash val="solid"/>
          </a:ln>
        </p:spPr>
      </p:sp>
      <p:sp>
        <p:nvSpPr>
          <p:cNvPr id="11" name="Text 9"/>
          <p:cNvSpPr/>
          <p:nvPr/>
        </p:nvSpPr>
        <p:spPr>
          <a:xfrm>
            <a:off x="4645152" y="1993392"/>
            <a:ext cx="1280160" cy="182880"/>
          </a:xfrm>
          <a:prstGeom prst="rect">
            <a:avLst/>
          </a:prstGeom>
          <a:noFill/>
          <a:ln/>
        </p:spPr>
        <p:txBody>
          <a:bodyPr wrap="square" lIns="0" tIns="0" rIns="0" bIns="0" rtlCol="0" anchor="ctr"/>
          <a:lstStyle/>
          <a:p>
            <a:pPr indent="0" marL="0">
              <a:buNone/>
            </a:pPr>
            <a:r>
              <a:rPr lang="en-US" sz="950" b="1" dirty="0">
                <a:solidFill>
                  <a:srgbClr val="008F8F"/>
                </a:solidFill>
              </a:rPr>
              <a:t>Task</a:t>
            </a:r>
            <a:endParaRPr lang="en-US" sz="950" dirty="0"/>
          </a:p>
        </p:txBody>
      </p:sp>
      <p:sp>
        <p:nvSpPr>
          <p:cNvPr id="12" name="Text 10"/>
          <p:cNvSpPr/>
          <p:nvPr/>
        </p:nvSpPr>
        <p:spPr>
          <a:xfrm>
            <a:off x="4645152" y="2267712"/>
            <a:ext cx="2743200" cy="256032"/>
          </a:xfrm>
          <a:prstGeom prst="rect">
            <a:avLst/>
          </a:prstGeom>
          <a:noFill/>
          <a:ln/>
        </p:spPr>
        <p:txBody>
          <a:bodyPr wrap="square" lIns="0" tIns="0" rIns="0" bIns="0" rtlCol="0" anchor="ctr">
            <a:normAutofit/>
          </a:bodyPr>
          <a:lstStyle/>
          <a:p>
            <a:pPr indent="0" marL="0">
              <a:buNone/>
            </a:pPr>
            <a:r>
              <a:rPr lang="en-US" sz="1150" dirty="0">
                <a:solidFill>
                  <a:srgbClr val="102033"/>
                </a:solidFill>
              </a:rPr>
              <a:t>Draft a text / email / script / checklist</a:t>
            </a:r>
            <a:endParaRPr lang="en-US" sz="1150" dirty="0"/>
          </a:p>
        </p:txBody>
      </p:sp>
      <p:sp>
        <p:nvSpPr>
          <p:cNvPr id="13" name="Shape 11"/>
          <p:cNvSpPr/>
          <p:nvPr/>
        </p:nvSpPr>
        <p:spPr>
          <a:xfrm>
            <a:off x="8101584" y="1828800"/>
            <a:ext cx="3246120" cy="960120"/>
          </a:xfrm>
          <a:prstGeom prst="roundRect">
            <a:avLst>
              <a:gd name="adj" fmla="val 5714"/>
            </a:avLst>
          </a:prstGeom>
          <a:solidFill>
            <a:srgbClr val="FFFFFF"/>
          </a:solidFill>
          <a:ln w="10160">
            <a:solidFill>
              <a:srgbClr val="D8E6E8"/>
            </a:solidFill>
            <a:prstDash val="solid"/>
          </a:ln>
        </p:spPr>
      </p:sp>
      <p:sp>
        <p:nvSpPr>
          <p:cNvPr id="14" name="Text 12"/>
          <p:cNvSpPr/>
          <p:nvPr/>
        </p:nvSpPr>
        <p:spPr>
          <a:xfrm>
            <a:off x="8321040" y="1993392"/>
            <a:ext cx="1280160" cy="182880"/>
          </a:xfrm>
          <a:prstGeom prst="rect">
            <a:avLst/>
          </a:prstGeom>
          <a:noFill/>
          <a:ln/>
        </p:spPr>
        <p:txBody>
          <a:bodyPr wrap="square" lIns="0" tIns="0" rIns="0" bIns="0" rtlCol="0" anchor="ctr"/>
          <a:lstStyle/>
          <a:p>
            <a:pPr indent="0" marL="0">
              <a:buNone/>
            </a:pPr>
            <a:r>
              <a:rPr lang="en-US" sz="950" b="1" dirty="0">
                <a:solidFill>
                  <a:srgbClr val="008F8F"/>
                </a:solidFill>
              </a:rPr>
              <a:t>Context</a:t>
            </a:r>
            <a:endParaRPr lang="en-US" sz="950" dirty="0"/>
          </a:p>
        </p:txBody>
      </p:sp>
      <p:sp>
        <p:nvSpPr>
          <p:cNvPr id="15" name="Text 13"/>
          <p:cNvSpPr/>
          <p:nvPr/>
        </p:nvSpPr>
        <p:spPr>
          <a:xfrm>
            <a:off x="8321040" y="2267712"/>
            <a:ext cx="2743200" cy="256032"/>
          </a:xfrm>
          <a:prstGeom prst="rect">
            <a:avLst/>
          </a:prstGeom>
          <a:noFill/>
          <a:ln/>
        </p:spPr>
        <p:txBody>
          <a:bodyPr wrap="square" lIns="0" tIns="0" rIns="0" bIns="0" rtlCol="0" anchor="ctr">
            <a:normAutofit/>
          </a:bodyPr>
          <a:lstStyle/>
          <a:p>
            <a:pPr indent="0" marL="0">
              <a:buNone/>
            </a:pPr>
            <a:r>
              <a:rPr lang="en-US" sz="1150" dirty="0">
                <a:solidFill>
                  <a:srgbClr val="102033"/>
                </a:solidFill>
              </a:rPr>
              <a:t>Client situation, property, timeline, concern</a:t>
            </a:r>
            <a:endParaRPr lang="en-US" sz="1150" dirty="0"/>
          </a:p>
        </p:txBody>
      </p:sp>
      <p:sp>
        <p:nvSpPr>
          <p:cNvPr id="16" name="Shape 14"/>
          <p:cNvSpPr/>
          <p:nvPr/>
        </p:nvSpPr>
        <p:spPr>
          <a:xfrm>
            <a:off x="749808" y="3154680"/>
            <a:ext cx="3246120" cy="960120"/>
          </a:xfrm>
          <a:prstGeom prst="roundRect">
            <a:avLst>
              <a:gd name="adj" fmla="val 5714"/>
            </a:avLst>
          </a:prstGeom>
          <a:solidFill>
            <a:srgbClr val="FFFFFF"/>
          </a:solidFill>
          <a:ln w="10160">
            <a:solidFill>
              <a:srgbClr val="D8E6E8"/>
            </a:solidFill>
            <a:prstDash val="solid"/>
          </a:ln>
        </p:spPr>
      </p:sp>
      <p:sp>
        <p:nvSpPr>
          <p:cNvPr id="17" name="Text 15"/>
          <p:cNvSpPr/>
          <p:nvPr/>
        </p:nvSpPr>
        <p:spPr>
          <a:xfrm>
            <a:off x="969264" y="3319272"/>
            <a:ext cx="1280160" cy="182880"/>
          </a:xfrm>
          <a:prstGeom prst="rect">
            <a:avLst/>
          </a:prstGeom>
          <a:noFill/>
          <a:ln/>
        </p:spPr>
        <p:txBody>
          <a:bodyPr wrap="square" lIns="0" tIns="0" rIns="0" bIns="0" rtlCol="0" anchor="ctr"/>
          <a:lstStyle/>
          <a:p>
            <a:pPr indent="0" marL="0">
              <a:buNone/>
            </a:pPr>
            <a:r>
              <a:rPr lang="en-US" sz="950" b="1" dirty="0">
                <a:solidFill>
                  <a:srgbClr val="008F8F"/>
                </a:solidFill>
              </a:rPr>
              <a:t>Tone</a:t>
            </a:r>
            <a:endParaRPr lang="en-US" sz="950" dirty="0"/>
          </a:p>
        </p:txBody>
      </p:sp>
      <p:sp>
        <p:nvSpPr>
          <p:cNvPr id="18" name="Text 16"/>
          <p:cNvSpPr/>
          <p:nvPr/>
        </p:nvSpPr>
        <p:spPr>
          <a:xfrm>
            <a:off x="969264" y="3593592"/>
            <a:ext cx="2743200" cy="256032"/>
          </a:xfrm>
          <a:prstGeom prst="rect">
            <a:avLst/>
          </a:prstGeom>
          <a:noFill/>
          <a:ln/>
        </p:spPr>
        <p:txBody>
          <a:bodyPr wrap="square" lIns="0" tIns="0" rIns="0" bIns="0" rtlCol="0" anchor="ctr">
            <a:normAutofit/>
          </a:bodyPr>
          <a:lstStyle/>
          <a:p>
            <a:pPr indent="0" marL="0">
              <a:buNone/>
            </a:pPr>
            <a:r>
              <a:rPr lang="en-US" sz="1150" dirty="0">
                <a:solidFill>
                  <a:srgbClr val="102033"/>
                </a:solidFill>
              </a:rPr>
              <a:t>Warm, concise, direct, educational</a:t>
            </a:r>
            <a:endParaRPr lang="en-US" sz="1150" dirty="0"/>
          </a:p>
        </p:txBody>
      </p:sp>
      <p:sp>
        <p:nvSpPr>
          <p:cNvPr id="19" name="Shape 17"/>
          <p:cNvSpPr/>
          <p:nvPr/>
        </p:nvSpPr>
        <p:spPr>
          <a:xfrm>
            <a:off x="4425696" y="3154680"/>
            <a:ext cx="3246120" cy="960120"/>
          </a:xfrm>
          <a:prstGeom prst="roundRect">
            <a:avLst>
              <a:gd name="adj" fmla="val 5714"/>
            </a:avLst>
          </a:prstGeom>
          <a:solidFill>
            <a:srgbClr val="FFFFFF"/>
          </a:solidFill>
          <a:ln w="10160">
            <a:solidFill>
              <a:srgbClr val="D8E6E8"/>
            </a:solidFill>
            <a:prstDash val="solid"/>
          </a:ln>
        </p:spPr>
      </p:sp>
      <p:sp>
        <p:nvSpPr>
          <p:cNvPr id="20" name="Text 18"/>
          <p:cNvSpPr/>
          <p:nvPr/>
        </p:nvSpPr>
        <p:spPr>
          <a:xfrm>
            <a:off x="4645152" y="3319272"/>
            <a:ext cx="1280160" cy="182880"/>
          </a:xfrm>
          <a:prstGeom prst="rect">
            <a:avLst/>
          </a:prstGeom>
          <a:noFill/>
          <a:ln/>
        </p:spPr>
        <p:txBody>
          <a:bodyPr wrap="square" lIns="0" tIns="0" rIns="0" bIns="0" rtlCol="0" anchor="ctr"/>
          <a:lstStyle/>
          <a:p>
            <a:pPr indent="0" marL="0">
              <a:buNone/>
            </a:pPr>
            <a:r>
              <a:rPr lang="en-US" sz="950" b="1" dirty="0">
                <a:solidFill>
                  <a:srgbClr val="008F8F"/>
                </a:solidFill>
              </a:rPr>
              <a:t>Constraints</a:t>
            </a:r>
            <a:endParaRPr lang="en-US" sz="950" dirty="0"/>
          </a:p>
        </p:txBody>
      </p:sp>
      <p:sp>
        <p:nvSpPr>
          <p:cNvPr id="21" name="Text 19"/>
          <p:cNvSpPr/>
          <p:nvPr/>
        </p:nvSpPr>
        <p:spPr>
          <a:xfrm>
            <a:off x="4645152" y="3593592"/>
            <a:ext cx="2743200" cy="256032"/>
          </a:xfrm>
          <a:prstGeom prst="rect">
            <a:avLst/>
          </a:prstGeom>
          <a:noFill/>
          <a:ln/>
        </p:spPr>
        <p:txBody>
          <a:bodyPr wrap="square" lIns="0" tIns="0" rIns="0" bIns="0" rtlCol="0" anchor="ctr">
            <a:normAutofit/>
          </a:bodyPr>
          <a:lstStyle/>
          <a:p>
            <a:pPr indent="0" marL="0">
              <a:buNone/>
            </a:pPr>
            <a:r>
              <a:rPr lang="en-US" sz="1150" dirty="0">
                <a:solidFill>
                  <a:srgbClr val="102033"/>
                </a:solidFill>
              </a:rPr>
              <a:t>Avoid claims, private data, Fair Housing risk</a:t>
            </a:r>
            <a:endParaRPr lang="en-US" sz="1150" dirty="0"/>
          </a:p>
        </p:txBody>
      </p:sp>
      <p:sp>
        <p:nvSpPr>
          <p:cNvPr id="22" name="Shape 20"/>
          <p:cNvSpPr/>
          <p:nvPr/>
        </p:nvSpPr>
        <p:spPr>
          <a:xfrm>
            <a:off x="8101584" y="3154680"/>
            <a:ext cx="3246120" cy="960120"/>
          </a:xfrm>
          <a:prstGeom prst="roundRect">
            <a:avLst>
              <a:gd name="adj" fmla="val 5714"/>
            </a:avLst>
          </a:prstGeom>
          <a:solidFill>
            <a:srgbClr val="FFFFFF"/>
          </a:solidFill>
          <a:ln w="10160">
            <a:solidFill>
              <a:srgbClr val="D8E6E8"/>
            </a:solidFill>
            <a:prstDash val="solid"/>
          </a:ln>
        </p:spPr>
      </p:sp>
      <p:sp>
        <p:nvSpPr>
          <p:cNvPr id="23" name="Text 21"/>
          <p:cNvSpPr/>
          <p:nvPr/>
        </p:nvSpPr>
        <p:spPr>
          <a:xfrm>
            <a:off x="8321040" y="3319272"/>
            <a:ext cx="1280160" cy="182880"/>
          </a:xfrm>
          <a:prstGeom prst="rect">
            <a:avLst/>
          </a:prstGeom>
          <a:noFill/>
          <a:ln/>
        </p:spPr>
        <p:txBody>
          <a:bodyPr wrap="square" lIns="0" tIns="0" rIns="0" bIns="0" rtlCol="0" anchor="ctr"/>
          <a:lstStyle/>
          <a:p>
            <a:pPr indent="0" marL="0">
              <a:buNone/>
            </a:pPr>
            <a:r>
              <a:rPr lang="en-US" sz="950" b="1" dirty="0">
                <a:solidFill>
                  <a:srgbClr val="008F8F"/>
                </a:solidFill>
              </a:rPr>
              <a:t>Goal</a:t>
            </a:r>
            <a:endParaRPr lang="en-US" sz="950" dirty="0"/>
          </a:p>
        </p:txBody>
      </p:sp>
      <p:sp>
        <p:nvSpPr>
          <p:cNvPr id="24" name="Text 22"/>
          <p:cNvSpPr/>
          <p:nvPr/>
        </p:nvSpPr>
        <p:spPr>
          <a:xfrm>
            <a:off x="8321040" y="3593592"/>
            <a:ext cx="2743200" cy="256032"/>
          </a:xfrm>
          <a:prstGeom prst="rect">
            <a:avLst/>
          </a:prstGeom>
          <a:noFill/>
          <a:ln/>
        </p:spPr>
        <p:txBody>
          <a:bodyPr wrap="square" lIns="0" tIns="0" rIns="0" bIns="0" rtlCol="0" anchor="ctr">
            <a:normAutofit/>
          </a:bodyPr>
          <a:lstStyle/>
          <a:p>
            <a:pPr indent="0" marL="0">
              <a:buNone/>
            </a:pPr>
            <a:r>
              <a:rPr lang="en-US" sz="1150" dirty="0">
                <a:solidFill>
                  <a:srgbClr val="102033"/>
                </a:solidFill>
              </a:rPr>
              <a:t>Reply, next step, clarity, appointment</a:t>
            </a:r>
            <a:endParaRPr lang="en-US" sz="1150" dirty="0"/>
          </a:p>
        </p:txBody>
      </p:sp>
      <p:sp>
        <p:nvSpPr>
          <p:cNvPr id="25" name="Shape 23"/>
          <p:cNvSpPr/>
          <p:nvPr/>
        </p:nvSpPr>
        <p:spPr>
          <a:xfrm>
            <a:off x="502920" y="6473952"/>
            <a:ext cx="11201400" cy="0"/>
          </a:xfrm>
          <a:prstGeom prst="line">
            <a:avLst/>
          </a:prstGeom>
          <a:noFill/>
          <a:ln w="9525">
            <a:solidFill>
              <a:srgbClr val="D8E6E8"/>
            </a:solidFill>
            <a:prstDash val="solid"/>
          </a:ln>
        </p:spPr>
      </p:sp>
      <p:sp>
        <p:nvSpPr>
          <p:cNvPr id="26" name="Text 24"/>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27" name="Text 25"/>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16/48</a:t>
            </a:r>
            <a:endParaRPr lang="en-US" sz="7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0E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0E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BUYER EXAMPLE</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Buyer follow-up: clear, short, useful</a:t>
            </a:r>
            <a:endParaRPr lang="en-US" sz="2800" dirty="0"/>
          </a:p>
        </p:txBody>
      </p:sp>
      <p:sp>
        <p:nvSpPr>
          <p:cNvPr id="7" name="Shape 5"/>
          <p:cNvSpPr/>
          <p:nvPr/>
        </p:nvSpPr>
        <p:spPr>
          <a:xfrm>
            <a:off x="868680" y="1828800"/>
            <a:ext cx="3063240" cy="2971800"/>
          </a:xfrm>
          <a:prstGeom prst="roundRect">
            <a:avLst>
              <a:gd name="adj" fmla="val 1846"/>
            </a:avLst>
          </a:prstGeom>
          <a:solidFill>
            <a:srgbClr val="FFFFFF"/>
          </a:solidFill>
          <a:ln w="10160">
            <a:solidFill>
              <a:srgbClr val="D8E6E8"/>
            </a:solidFill>
            <a:prstDash val="solid"/>
          </a:ln>
        </p:spPr>
      </p:sp>
      <p:sp>
        <p:nvSpPr>
          <p:cNvPr id="8" name="Shape 6"/>
          <p:cNvSpPr/>
          <p:nvPr/>
        </p:nvSpPr>
        <p:spPr>
          <a:xfrm>
            <a:off x="1143000" y="2121408"/>
            <a:ext cx="2514600" cy="1051560"/>
          </a:xfrm>
          <a:prstGeom prst="roundRect">
            <a:avLst>
              <a:gd name="adj" fmla="val 10435"/>
            </a:avLst>
          </a:prstGeom>
          <a:solidFill>
            <a:srgbClr val="F0F3FF"/>
          </a:solidFill>
          <a:ln w="12700">
            <a:solidFill>
              <a:srgbClr val="D8DDF4"/>
            </a:solidFill>
            <a:prstDash val="solid"/>
          </a:ln>
        </p:spPr>
      </p:sp>
      <p:sp>
        <p:nvSpPr>
          <p:cNvPr id="9" name="Text 7"/>
          <p:cNvSpPr/>
          <p:nvPr/>
        </p:nvSpPr>
        <p:spPr>
          <a:xfrm>
            <a:off x="1325880" y="2377440"/>
            <a:ext cx="2148840" cy="502920"/>
          </a:xfrm>
          <a:prstGeom prst="rect">
            <a:avLst/>
          </a:prstGeom>
          <a:noFill/>
          <a:ln/>
        </p:spPr>
        <p:txBody>
          <a:bodyPr wrap="square" lIns="381" tIns="381" rIns="381" bIns="381" rtlCol="0" anchor="ctr">
            <a:normAutofit/>
          </a:bodyPr>
          <a:lstStyle/>
          <a:p>
            <a:pPr indent="0" marL="0">
              <a:buNone/>
            </a:pPr>
            <a:r>
              <a:rPr lang="en-US" sz="1280" b="1" dirty="0">
                <a:solidFill>
                  <a:srgbClr val="16324F"/>
                </a:solidFill>
              </a:rPr>
              <a:t>A buyer toured two condos, liked one, but is worried about monthly payment.</a:t>
            </a:r>
            <a:endParaRPr lang="en-US" sz="1280" dirty="0"/>
          </a:p>
        </p:txBody>
      </p:sp>
      <p:sp>
        <p:nvSpPr>
          <p:cNvPr id="10" name="Text 8"/>
          <p:cNvSpPr/>
          <p:nvPr/>
        </p:nvSpPr>
        <p:spPr>
          <a:xfrm>
            <a:off x="1143000" y="3730752"/>
            <a:ext cx="1371600" cy="182880"/>
          </a:xfrm>
          <a:prstGeom prst="rect">
            <a:avLst/>
          </a:prstGeom>
          <a:noFill/>
          <a:ln/>
        </p:spPr>
        <p:txBody>
          <a:bodyPr wrap="square" lIns="0" tIns="0" rIns="0" bIns="0" rtlCol="0" anchor="ctr"/>
          <a:lstStyle/>
          <a:p>
            <a:pPr indent="0" marL="0">
              <a:buNone/>
            </a:pPr>
            <a:r>
              <a:rPr lang="en-US" sz="950" b="1" dirty="0">
                <a:solidFill>
                  <a:srgbClr val="008F8F"/>
                </a:solidFill>
              </a:rPr>
              <a:t>Client context</a:t>
            </a:r>
            <a:endParaRPr lang="en-US" sz="950" dirty="0"/>
          </a:p>
        </p:txBody>
      </p:sp>
      <p:sp>
        <p:nvSpPr>
          <p:cNvPr id="11" name="Shape 9"/>
          <p:cNvSpPr/>
          <p:nvPr/>
        </p:nvSpPr>
        <p:spPr>
          <a:xfrm>
            <a:off x="4572000" y="1828800"/>
            <a:ext cx="6080760" cy="2971800"/>
          </a:xfrm>
          <a:prstGeom prst="roundRect">
            <a:avLst>
              <a:gd name="adj" fmla="val 1846"/>
            </a:avLst>
          </a:prstGeom>
          <a:solidFill>
            <a:srgbClr val="EAF7F7"/>
          </a:solidFill>
          <a:ln w="10160">
            <a:solidFill>
              <a:srgbClr val="D8E6E8"/>
            </a:solidFill>
            <a:prstDash val="solid"/>
          </a:ln>
        </p:spPr>
      </p:sp>
      <p:sp>
        <p:nvSpPr>
          <p:cNvPr id="12" name="Shape 10"/>
          <p:cNvSpPr/>
          <p:nvPr/>
        </p:nvSpPr>
        <p:spPr>
          <a:xfrm>
            <a:off x="4892040" y="2212848"/>
            <a:ext cx="5440680" cy="1600200"/>
          </a:xfrm>
          <a:prstGeom prst="roundRect">
            <a:avLst>
              <a:gd name="adj" fmla="val 6857"/>
            </a:avLst>
          </a:prstGeom>
          <a:solidFill>
            <a:srgbClr val="FFFFFF"/>
          </a:solidFill>
          <a:ln w="12700">
            <a:solidFill>
              <a:srgbClr val="CFE5E8"/>
            </a:solidFill>
            <a:prstDash val="solid"/>
          </a:ln>
        </p:spPr>
      </p:sp>
      <p:sp>
        <p:nvSpPr>
          <p:cNvPr id="13" name="Text 11"/>
          <p:cNvSpPr/>
          <p:nvPr/>
        </p:nvSpPr>
        <p:spPr>
          <a:xfrm>
            <a:off x="5166360" y="2487168"/>
            <a:ext cx="4892040" cy="1051560"/>
          </a:xfrm>
          <a:prstGeom prst="rect">
            <a:avLst/>
          </a:prstGeom>
          <a:noFill/>
          <a:ln/>
        </p:spPr>
        <p:txBody>
          <a:bodyPr wrap="square" lIns="381" tIns="381" rIns="381" bIns="381" rtlCol="0" anchor="ctr">
            <a:normAutofit/>
          </a:bodyPr>
          <a:lstStyle/>
          <a:p>
            <a:pPr indent="0" marL="0">
              <a:buNone/>
            </a:pPr>
            <a:r>
              <a:rPr lang="en-US" sz="1320" dirty="0">
                <a:solidFill>
                  <a:srgbClr val="102033"/>
                </a:solidFill>
              </a:rPr>
              <a:t>I know the monthly payment is the big question. I can send a quick side-by-side with estimated HOA, taxes, and payment ranges so you can compare without guessing. Would that be helpful before we decide whether to see similar options?</a:t>
            </a:r>
            <a:endParaRPr lang="en-US" sz="1320" dirty="0"/>
          </a:p>
        </p:txBody>
      </p:sp>
      <p:sp>
        <p:nvSpPr>
          <p:cNvPr id="14" name="Text 12"/>
          <p:cNvSpPr/>
          <p:nvPr/>
        </p:nvSpPr>
        <p:spPr>
          <a:xfrm>
            <a:off x="4892040" y="4133088"/>
            <a:ext cx="2057400" cy="182880"/>
          </a:xfrm>
          <a:prstGeom prst="rect">
            <a:avLst/>
          </a:prstGeom>
          <a:noFill/>
          <a:ln/>
        </p:spPr>
        <p:txBody>
          <a:bodyPr wrap="square" lIns="0" tIns="0" rIns="0" bIns="0" rtlCol="0" anchor="ctr"/>
          <a:lstStyle/>
          <a:p>
            <a:pPr indent="0" marL="0">
              <a:buNone/>
            </a:pPr>
            <a:r>
              <a:rPr lang="en-US" sz="950" b="1" dirty="0">
                <a:solidFill>
                  <a:srgbClr val="008F8F"/>
                </a:solidFill>
              </a:rPr>
              <a:t>Agent-reviewed response</a:t>
            </a:r>
            <a:endParaRPr lang="en-US" sz="950" dirty="0"/>
          </a:p>
        </p:txBody>
      </p:sp>
      <p:sp>
        <p:nvSpPr>
          <p:cNvPr id="15" name="Shape 13"/>
          <p:cNvSpPr/>
          <p:nvPr/>
        </p:nvSpPr>
        <p:spPr>
          <a:xfrm>
            <a:off x="502920" y="6473952"/>
            <a:ext cx="11201400" cy="0"/>
          </a:xfrm>
          <a:prstGeom prst="line">
            <a:avLst/>
          </a:prstGeom>
          <a:noFill/>
          <a:ln w="9525">
            <a:solidFill>
              <a:srgbClr val="D8E6E8"/>
            </a:solidFill>
            <a:prstDash val="solid"/>
          </a:ln>
        </p:spPr>
      </p:sp>
      <p:sp>
        <p:nvSpPr>
          <p:cNvPr id="16" name="Text 14"/>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7" name="Text 15"/>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17/48</a:t>
            </a:r>
            <a:endParaRPr lang="en-US" sz="7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0F3F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0F3F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SELLER EXAMPLE</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Seller update: honest without sounding negative</a:t>
            </a:r>
            <a:endParaRPr lang="en-US" sz="2800" dirty="0"/>
          </a:p>
        </p:txBody>
      </p:sp>
      <p:sp>
        <p:nvSpPr>
          <p:cNvPr id="7" name="Shape 5"/>
          <p:cNvSpPr/>
          <p:nvPr/>
        </p:nvSpPr>
        <p:spPr>
          <a:xfrm>
            <a:off x="868680" y="1828800"/>
            <a:ext cx="3063240" cy="2971800"/>
          </a:xfrm>
          <a:prstGeom prst="roundRect">
            <a:avLst>
              <a:gd name="adj" fmla="val 1846"/>
            </a:avLst>
          </a:prstGeom>
          <a:solidFill>
            <a:srgbClr val="FFFFFF"/>
          </a:solidFill>
          <a:ln w="10160">
            <a:solidFill>
              <a:srgbClr val="D8E6E8"/>
            </a:solidFill>
            <a:prstDash val="solid"/>
          </a:ln>
        </p:spPr>
      </p:sp>
      <p:sp>
        <p:nvSpPr>
          <p:cNvPr id="8" name="Shape 6"/>
          <p:cNvSpPr/>
          <p:nvPr/>
        </p:nvSpPr>
        <p:spPr>
          <a:xfrm>
            <a:off x="1143000" y="2121408"/>
            <a:ext cx="2514600" cy="1051560"/>
          </a:xfrm>
          <a:prstGeom prst="roundRect">
            <a:avLst>
              <a:gd name="adj" fmla="val 10435"/>
            </a:avLst>
          </a:prstGeom>
          <a:solidFill>
            <a:srgbClr val="F0F3FF"/>
          </a:solidFill>
          <a:ln w="12700">
            <a:solidFill>
              <a:srgbClr val="D8DDF4"/>
            </a:solidFill>
            <a:prstDash val="solid"/>
          </a:ln>
        </p:spPr>
      </p:sp>
      <p:sp>
        <p:nvSpPr>
          <p:cNvPr id="9" name="Text 7"/>
          <p:cNvSpPr/>
          <p:nvPr/>
        </p:nvSpPr>
        <p:spPr>
          <a:xfrm>
            <a:off x="1325880" y="2377440"/>
            <a:ext cx="2148840" cy="502920"/>
          </a:xfrm>
          <a:prstGeom prst="rect">
            <a:avLst/>
          </a:prstGeom>
          <a:noFill/>
          <a:ln/>
        </p:spPr>
        <p:txBody>
          <a:bodyPr wrap="square" lIns="381" tIns="381" rIns="381" bIns="381" rtlCol="0" anchor="ctr">
            <a:normAutofit/>
          </a:bodyPr>
          <a:lstStyle/>
          <a:p>
            <a:pPr indent="0" marL="0">
              <a:buNone/>
            </a:pPr>
            <a:r>
              <a:rPr lang="en-US" sz="1280" b="1" dirty="0">
                <a:solidFill>
                  <a:srgbClr val="16324F"/>
                </a:solidFill>
              </a:rPr>
              <a:t>A listing had showings but no offers this week.</a:t>
            </a:r>
            <a:endParaRPr lang="en-US" sz="1280" dirty="0"/>
          </a:p>
        </p:txBody>
      </p:sp>
      <p:sp>
        <p:nvSpPr>
          <p:cNvPr id="10" name="Text 8"/>
          <p:cNvSpPr/>
          <p:nvPr/>
        </p:nvSpPr>
        <p:spPr>
          <a:xfrm>
            <a:off x="1143000" y="3730752"/>
            <a:ext cx="1371600" cy="182880"/>
          </a:xfrm>
          <a:prstGeom prst="rect">
            <a:avLst/>
          </a:prstGeom>
          <a:noFill/>
          <a:ln/>
        </p:spPr>
        <p:txBody>
          <a:bodyPr wrap="square" lIns="0" tIns="0" rIns="0" bIns="0" rtlCol="0" anchor="ctr"/>
          <a:lstStyle/>
          <a:p>
            <a:pPr indent="0" marL="0">
              <a:buNone/>
            </a:pPr>
            <a:r>
              <a:rPr lang="en-US" sz="950" b="1" dirty="0">
                <a:solidFill>
                  <a:srgbClr val="008F8F"/>
                </a:solidFill>
              </a:rPr>
              <a:t>Client context</a:t>
            </a:r>
            <a:endParaRPr lang="en-US" sz="950" dirty="0"/>
          </a:p>
        </p:txBody>
      </p:sp>
      <p:sp>
        <p:nvSpPr>
          <p:cNvPr id="11" name="Shape 9"/>
          <p:cNvSpPr/>
          <p:nvPr/>
        </p:nvSpPr>
        <p:spPr>
          <a:xfrm>
            <a:off x="4572000" y="1828800"/>
            <a:ext cx="6080760" cy="2971800"/>
          </a:xfrm>
          <a:prstGeom prst="roundRect">
            <a:avLst>
              <a:gd name="adj" fmla="val 1846"/>
            </a:avLst>
          </a:prstGeom>
          <a:solidFill>
            <a:srgbClr val="EAF7F7"/>
          </a:solidFill>
          <a:ln w="10160">
            <a:solidFill>
              <a:srgbClr val="D8E6E8"/>
            </a:solidFill>
            <a:prstDash val="solid"/>
          </a:ln>
        </p:spPr>
      </p:sp>
      <p:sp>
        <p:nvSpPr>
          <p:cNvPr id="12" name="Shape 10"/>
          <p:cNvSpPr/>
          <p:nvPr/>
        </p:nvSpPr>
        <p:spPr>
          <a:xfrm>
            <a:off x="4892040" y="2212848"/>
            <a:ext cx="5440680" cy="1600200"/>
          </a:xfrm>
          <a:prstGeom prst="roundRect">
            <a:avLst>
              <a:gd name="adj" fmla="val 6857"/>
            </a:avLst>
          </a:prstGeom>
          <a:solidFill>
            <a:srgbClr val="FFFFFF"/>
          </a:solidFill>
          <a:ln w="12700">
            <a:solidFill>
              <a:srgbClr val="CFE5E8"/>
            </a:solidFill>
            <a:prstDash val="solid"/>
          </a:ln>
        </p:spPr>
      </p:sp>
      <p:sp>
        <p:nvSpPr>
          <p:cNvPr id="13" name="Text 11"/>
          <p:cNvSpPr/>
          <p:nvPr/>
        </p:nvSpPr>
        <p:spPr>
          <a:xfrm>
            <a:off x="5166360" y="2487168"/>
            <a:ext cx="4892040" cy="1051560"/>
          </a:xfrm>
          <a:prstGeom prst="rect">
            <a:avLst/>
          </a:prstGeom>
          <a:noFill/>
          <a:ln/>
        </p:spPr>
        <p:txBody>
          <a:bodyPr wrap="square" lIns="381" tIns="381" rIns="381" bIns="381" rtlCol="0" anchor="ctr">
            <a:normAutofit/>
          </a:bodyPr>
          <a:lstStyle/>
          <a:p>
            <a:pPr indent="0" marL="0">
              <a:buNone/>
            </a:pPr>
            <a:r>
              <a:rPr lang="en-US" sz="1320" dirty="0">
                <a:solidFill>
                  <a:srgbClr val="102033"/>
                </a:solidFill>
              </a:rPr>
              <a:t>We had three showings this week and the consistent feedback was positive on condition, with some hesitation around pricing compared with recent nearby options. My recommendation is that we review the newest activity together and decide whether a small adjustment would improve our position.</a:t>
            </a:r>
            <a:endParaRPr lang="en-US" sz="1320" dirty="0"/>
          </a:p>
        </p:txBody>
      </p:sp>
      <p:sp>
        <p:nvSpPr>
          <p:cNvPr id="14" name="Text 12"/>
          <p:cNvSpPr/>
          <p:nvPr/>
        </p:nvSpPr>
        <p:spPr>
          <a:xfrm>
            <a:off x="4892040" y="4133088"/>
            <a:ext cx="2057400" cy="182880"/>
          </a:xfrm>
          <a:prstGeom prst="rect">
            <a:avLst/>
          </a:prstGeom>
          <a:noFill/>
          <a:ln/>
        </p:spPr>
        <p:txBody>
          <a:bodyPr wrap="square" lIns="0" tIns="0" rIns="0" bIns="0" rtlCol="0" anchor="ctr"/>
          <a:lstStyle/>
          <a:p>
            <a:pPr indent="0" marL="0">
              <a:buNone/>
            </a:pPr>
            <a:r>
              <a:rPr lang="en-US" sz="950" b="1" dirty="0">
                <a:solidFill>
                  <a:srgbClr val="008F8F"/>
                </a:solidFill>
              </a:rPr>
              <a:t>Agent-reviewed response</a:t>
            </a:r>
            <a:endParaRPr lang="en-US" sz="950" dirty="0"/>
          </a:p>
        </p:txBody>
      </p:sp>
      <p:sp>
        <p:nvSpPr>
          <p:cNvPr id="15" name="Shape 13"/>
          <p:cNvSpPr/>
          <p:nvPr/>
        </p:nvSpPr>
        <p:spPr>
          <a:xfrm>
            <a:off x="502920" y="6473952"/>
            <a:ext cx="11201400" cy="0"/>
          </a:xfrm>
          <a:prstGeom prst="line">
            <a:avLst/>
          </a:prstGeom>
          <a:noFill/>
          <a:ln w="9525">
            <a:solidFill>
              <a:srgbClr val="D8E6E8"/>
            </a:solidFill>
            <a:prstDash val="solid"/>
          </a:ln>
        </p:spPr>
      </p:sp>
      <p:sp>
        <p:nvSpPr>
          <p:cNvPr id="16" name="Text 14"/>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7" name="Text 15"/>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18/48</a:t>
            </a:r>
            <a:endParaRPr lang="en-US" sz="7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9F8F0"/>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9F8F0"/>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ACTIVITY</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Improve this follow-up message</a:t>
            </a:r>
            <a:endParaRPr lang="en-US" sz="2800" dirty="0"/>
          </a:p>
        </p:txBody>
      </p:sp>
      <p:sp>
        <p:nvSpPr>
          <p:cNvPr id="7" name="Shape 5"/>
          <p:cNvSpPr/>
          <p:nvPr/>
        </p:nvSpPr>
        <p:spPr>
          <a:xfrm>
            <a:off x="822960" y="1755648"/>
            <a:ext cx="5413248" cy="109728"/>
          </a:xfrm>
          <a:prstGeom prst="rect">
            <a:avLst/>
          </a:prstGeom>
          <a:solidFill>
            <a:srgbClr val="F2B84B"/>
          </a:solidFill>
          <a:ln w="12700">
            <a:solidFill>
              <a:srgbClr val="F2B84B"/>
            </a:solidFill>
            <a:prstDash val="solid"/>
          </a:ln>
        </p:spPr>
      </p:sp>
      <p:sp>
        <p:nvSpPr>
          <p:cNvPr id="8" name="Shape 6"/>
          <p:cNvSpPr/>
          <p:nvPr/>
        </p:nvSpPr>
        <p:spPr>
          <a:xfrm>
            <a:off x="868680" y="1874520"/>
            <a:ext cx="5303520" cy="2560320"/>
          </a:xfrm>
          <a:prstGeom prst="roundRect">
            <a:avLst>
              <a:gd name="adj" fmla="val 2143"/>
            </a:avLst>
          </a:prstGeom>
          <a:solidFill>
            <a:srgbClr val="FFFFFF"/>
          </a:solidFill>
          <a:ln w="10160">
            <a:solidFill>
              <a:srgbClr val="D8E6E8"/>
            </a:solidFill>
            <a:prstDash val="solid"/>
          </a:ln>
        </p:spPr>
      </p:sp>
      <p:sp>
        <p:nvSpPr>
          <p:cNvPr id="9" name="Text 7"/>
          <p:cNvSpPr/>
          <p:nvPr/>
        </p:nvSpPr>
        <p:spPr>
          <a:xfrm>
            <a:off x="1143000" y="2103120"/>
            <a:ext cx="4663440" cy="320040"/>
          </a:xfrm>
          <a:prstGeom prst="rect">
            <a:avLst/>
          </a:prstGeom>
          <a:noFill/>
          <a:ln/>
        </p:spPr>
        <p:txBody>
          <a:bodyPr wrap="square" lIns="0" tIns="0" rIns="0" bIns="0" rtlCol="0" anchor="ctr">
            <a:normAutofit/>
          </a:bodyPr>
          <a:lstStyle/>
          <a:p>
            <a:pPr indent="0" marL="0">
              <a:buNone/>
            </a:pPr>
            <a:r>
              <a:rPr lang="en-US" sz="1400" dirty="0">
                <a:solidFill>
                  <a:srgbClr val="52606D"/>
                </a:solidFill>
              </a:rPr>
              <a:t>Original message:</a:t>
            </a:r>
            <a:endParaRPr lang="en-US" sz="1400" dirty="0"/>
          </a:p>
        </p:txBody>
      </p:sp>
      <p:sp>
        <p:nvSpPr>
          <p:cNvPr id="10" name="Text 8"/>
          <p:cNvSpPr/>
          <p:nvPr/>
        </p:nvSpPr>
        <p:spPr>
          <a:xfrm>
            <a:off x="1143000" y="2578608"/>
            <a:ext cx="4663440" cy="1143000"/>
          </a:xfrm>
          <a:prstGeom prst="rect">
            <a:avLst/>
          </a:prstGeom>
          <a:noFill/>
          <a:ln/>
        </p:spPr>
        <p:txBody>
          <a:bodyPr wrap="square" lIns="381" tIns="381" rIns="381" bIns="381" rtlCol="0" anchor="ctr">
            <a:normAutofit/>
          </a:bodyPr>
          <a:lstStyle/>
          <a:p>
            <a:pPr indent="0" marL="0">
              <a:buNone/>
            </a:pPr>
            <a:r>
              <a:rPr lang="en-US" sz="1700" b="1" dirty="0">
                <a:solidFill>
                  <a:srgbClr val="16324F"/>
                </a:solidFill>
              </a:rPr>
              <a:t>Just checking in to see if you are still interested.</a:t>
            </a:r>
            <a:endParaRPr lang="en-US" sz="1700" dirty="0"/>
          </a:p>
        </p:txBody>
      </p:sp>
      <p:sp>
        <p:nvSpPr>
          <p:cNvPr id="11" name="Text 9"/>
          <p:cNvSpPr/>
          <p:nvPr/>
        </p:nvSpPr>
        <p:spPr>
          <a:xfrm>
            <a:off x="1143000" y="4005072"/>
            <a:ext cx="2194560" cy="182880"/>
          </a:xfrm>
          <a:prstGeom prst="rect">
            <a:avLst/>
          </a:prstGeom>
          <a:noFill/>
          <a:ln/>
        </p:spPr>
        <p:txBody>
          <a:bodyPr wrap="square" lIns="0" tIns="0" rIns="0" bIns="0" rtlCol="0" anchor="ctr"/>
          <a:lstStyle/>
          <a:p>
            <a:pPr indent="0" marL="0">
              <a:buNone/>
            </a:pPr>
            <a:r>
              <a:rPr lang="en-US" sz="950" b="1" dirty="0">
                <a:solidFill>
                  <a:srgbClr val="008F8F"/>
                </a:solidFill>
              </a:rPr>
              <a:t>Workshop canvas</a:t>
            </a:r>
            <a:endParaRPr lang="en-US" sz="950" dirty="0"/>
          </a:p>
        </p:txBody>
      </p:sp>
      <p:sp>
        <p:nvSpPr>
          <p:cNvPr id="12" name="Shape 10"/>
          <p:cNvSpPr/>
          <p:nvPr/>
        </p:nvSpPr>
        <p:spPr>
          <a:xfrm>
            <a:off x="6446520" y="1810512"/>
            <a:ext cx="4343400" cy="2697480"/>
          </a:xfrm>
          <a:prstGeom prst="roundRect">
            <a:avLst>
              <a:gd name="adj" fmla="val 2034"/>
            </a:avLst>
          </a:prstGeom>
          <a:solidFill>
            <a:srgbClr val="E9F8F0"/>
          </a:solidFill>
          <a:ln w="10160">
            <a:solidFill>
              <a:srgbClr val="BBDCC9"/>
            </a:solidFill>
            <a:prstDash val="solid"/>
          </a:ln>
        </p:spPr>
      </p:sp>
      <p:sp>
        <p:nvSpPr>
          <p:cNvPr id="13" name="Text 11"/>
          <p:cNvSpPr/>
          <p:nvPr/>
        </p:nvSpPr>
        <p:spPr>
          <a:xfrm>
            <a:off x="6720840" y="2148840"/>
            <a:ext cx="3657600" cy="182880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02033"/>
                </a:solidFill>
                <a:latin typeface="Aptos" pitchFamily="34" charset="0"/>
                <a:ea typeface="Aptos" pitchFamily="34" charset="-122"/>
                <a:cs typeface="Aptos" pitchFamily="34" charset="-120"/>
              </a:rPr>
              <a:t>Give the lead a reason to reply</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Ask one specific question</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Keep it under 45 words</a:t>
            </a:r>
            <a:endParaRPr lang="en-US" sz="1500" dirty="0"/>
          </a:p>
        </p:txBody>
      </p:sp>
      <p:sp>
        <p:nvSpPr>
          <p:cNvPr id="14" name="Text 12"/>
          <p:cNvSpPr/>
          <p:nvPr/>
        </p:nvSpPr>
        <p:spPr>
          <a:xfrm>
            <a:off x="9738360" y="4069080"/>
            <a:ext cx="731520" cy="201168"/>
          </a:xfrm>
          <a:prstGeom prst="rect">
            <a:avLst/>
          </a:prstGeom>
          <a:noFill/>
          <a:ln/>
        </p:spPr>
        <p:txBody>
          <a:bodyPr wrap="square" lIns="0" tIns="0" rIns="0" bIns="0" rtlCol="0" anchor="ctr"/>
          <a:lstStyle/>
          <a:p>
            <a:pPr indent="0" marL="0">
              <a:buNone/>
            </a:pPr>
            <a:r>
              <a:rPr lang="en-US" sz="950" b="1" dirty="0">
                <a:solidFill>
                  <a:srgbClr val="2E7D5B"/>
                </a:solidFill>
              </a:rPr>
              <a:t>4-6 min</a:t>
            </a:r>
            <a:endParaRPr lang="en-US" sz="950" dirty="0"/>
          </a:p>
        </p:txBody>
      </p:sp>
      <p:sp>
        <p:nvSpPr>
          <p:cNvPr id="15" name="Shape 13"/>
          <p:cNvSpPr/>
          <p:nvPr/>
        </p:nvSpPr>
        <p:spPr>
          <a:xfrm>
            <a:off x="502920" y="6473952"/>
            <a:ext cx="11201400" cy="0"/>
          </a:xfrm>
          <a:prstGeom prst="line">
            <a:avLst/>
          </a:prstGeom>
          <a:noFill/>
          <a:ln w="9525">
            <a:solidFill>
              <a:srgbClr val="D8E6E8"/>
            </a:solidFill>
            <a:prstDash val="solid"/>
          </a:ln>
        </p:spPr>
      </p:sp>
      <p:sp>
        <p:nvSpPr>
          <p:cNvPr id="16" name="Text 14"/>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7" name="Text 15"/>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19/48</a:t>
            </a:r>
            <a:endParaRPr lang="en-US" sz="7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AF7F7"/>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AF7F7"/>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PROMPTS</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Reusable communication prompts</a:t>
            </a:r>
            <a:endParaRPr lang="en-US" sz="2800" dirty="0"/>
          </a:p>
        </p:txBody>
      </p:sp>
      <p:sp>
        <p:nvSpPr>
          <p:cNvPr id="7" name="Shape 5"/>
          <p:cNvSpPr/>
          <p:nvPr/>
        </p:nvSpPr>
        <p:spPr>
          <a:xfrm>
            <a:off x="868680" y="1755648"/>
            <a:ext cx="9646920" cy="475488"/>
          </a:xfrm>
          <a:prstGeom prst="roundRect">
            <a:avLst>
              <a:gd name="adj" fmla="val 11538"/>
            </a:avLst>
          </a:prstGeom>
          <a:solidFill>
            <a:srgbClr val="EAF7F7"/>
          </a:solidFill>
          <a:ln w="10160">
            <a:solidFill>
              <a:srgbClr val="B8DDE0"/>
            </a:solidFill>
            <a:prstDash val="solid"/>
          </a:ln>
        </p:spPr>
      </p:sp>
      <p:sp>
        <p:nvSpPr>
          <p:cNvPr id="8" name="Shape 6"/>
          <p:cNvSpPr/>
          <p:nvPr/>
        </p:nvSpPr>
        <p:spPr>
          <a:xfrm>
            <a:off x="1078992" y="1810512"/>
            <a:ext cx="402336" cy="402336"/>
          </a:xfrm>
          <a:prstGeom prst="ellipse">
            <a:avLst/>
          </a:prstGeom>
          <a:solidFill>
            <a:srgbClr val="008F8F"/>
          </a:solidFill>
          <a:ln w="12700">
            <a:solidFill>
              <a:srgbClr val="008F8F"/>
            </a:solidFill>
            <a:prstDash val="solid"/>
          </a:ln>
        </p:spPr>
      </p:sp>
      <p:sp>
        <p:nvSpPr>
          <p:cNvPr id="9" name="Text 7"/>
          <p:cNvSpPr/>
          <p:nvPr/>
        </p:nvSpPr>
        <p:spPr>
          <a:xfrm>
            <a:off x="1078992" y="190195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10" name="Text 8"/>
          <p:cNvSpPr/>
          <p:nvPr/>
        </p:nvSpPr>
        <p:spPr>
          <a:xfrm>
            <a:off x="1627632" y="1828800"/>
            <a:ext cx="8458200" cy="219456"/>
          </a:xfrm>
          <a:prstGeom prst="rect">
            <a:avLst/>
          </a:prstGeom>
          <a:noFill/>
          <a:ln/>
        </p:spPr>
        <p:txBody>
          <a:bodyPr wrap="square" lIns="254" tIns="254" rIns="254" bIns="254" rtlCol="0" anchor="ctr">
            <a:normAutofit/>
          </a:bodyPr>
          <a:lstStyle/>
          <a:p>
            <a:pPr indent="0" marL="0">
              <a:buNone/>
            </a:pPr>
            <a:r>
              <a:rPr lang="en-US" sz="1260" dirty="0">
                <a:solidFill>
                  <a:srgbClr val="102033"/>
                </a:solidFill>
              </a:rPr>
              <a:t>Rewrite this text so it sounds warm, concise, and natural for a REALTOR: [draft]</a:t>
            </a:r>
            <a:endParaRPr lang="en-US" sz="1260" dirty="0"/>
          </a:p>
        </p:txBody>
      </p:sp>
      <p:sp>
        <p:nvSpPr>
          <p:cNvPr id="11" name="Shape 9"/>
          <p:cNvSpPr/>
          <p:nvPr/>
        </p:nvSpPr>
        <p:spPr>
          <a:xfrm>
            <a:off x="868680" y="2377440"/>
            <a:ext cx="9646920" cy="475488"/>
          </a:xfrm>
          <a:prstGeom prst="roundRect">
            <a:avLst>
              <a:gd name="adj" fmla="val 11538"/>
            </a:avLst>
          </a:prstGeom>
          <a:solidFill>
            <a:srgbClr val="FFFFFF"/>
          </a:solidFill>
          <a:ln w="10160">
            <a:solidFill>
              <a:srgbClr val="D8E6E8"/>
            </a:solidFill>
            <a:prstDash val="solid"/>
          </a:ln>
        </p:spPr>
      </p:sp>
      <p:sp>
        <p:nvSpPr>
          <p:cNvPr id="12" name="Shape 10"/>
          <p:cNvSpPr/>
          <p:nvPr/>
        </p:nvSpPr>
        <p:spPr>
          <a:xfrm>
            <a:off x="1078992" y="2432304"/>
            <a:ext cx="402336" cy="402336"/>
          </a:xfrm>
          <a:prstGeom prst="ellipse">
            <a:avLst/>
          </a:prstGeom>
          <a:solidFill>
            <a:srgbClr val="2F80ED"/>
          </a:solidFill>
          <a:ln w="12700">
            <a:solidFill>
              <a:srgbClr val="2F80ED"/>
            </a:solidFill>
            <a:prstDash val="solid"/>
          </a:ln>
        </p:spPr>
      </p:sp>
      <p:sp>
        <p:nvSpPr>
          <p:cNvPr id="13" name="Text 11"/>
          <p:cNvSpPr/>
          <p:nvPr/>
        </p:nvSpPr>
        <p:spPr>
          <a:xfrm>
            <a:off x="1078992" y="2523744"/>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14" name="Text 12"/>
          <p:cNvSpPr/>
          <p:nvPr/>
        </p:nvSpPr>
        <p:spPr>
          <a:xfrm>
            <a:off x="1627632" y="2450592"/>
            <a:ext cx="8458200" cy="219456"/>
          </a:xfrm>
          <a:prstGeom prst="rect">
            <a:avLst/>
          </a:prstGeom>
          <a:noFill/>
          <a:ln/>
        </p:spPr>
        <p:txBody>
          <a:bodyPr wrap="square" lIns="254" tIns="254" rIns="254" bIns="254" rtlCol="0" anchor="ctr">
            <a:normAutofit/>
          </a:bodyPr>
          <a:lstStyle/>
          <a:p>
            <a:pPr indent="0" marL="0">
              <a:buNone/>
            </a:pPr>
            <a:r>
              <a:rPr lang="en-US" sz="1260" dirty="0">
                <a:solidFill>
                  <a:srgbClr val="102033"/>
                </a:solidFill>
              </a:rPr>
              <a:t>Create a buyer follow-up email based on these call notes: [notes]. Ask one clear next-step question.</a:t>
            </a:r>
            <a:endParaRPr lang="en-US" sz="1260" dirty="0"/>
          </a:p>
        </p:txBody>
      </p:sp>
      <p:sp>
        <p:nvSpPr>
          <p:cNvPr id="15" name="Shape 13"/>
          <p:cNvSpPr/>
          <p:nvPr/>
        </p:nvSpPr>
        <p:spPr>
          <a:xfrm>
            <a:off x="868680" y="2999232"/>
            <a:ext cx="9646920" cy="475488"/>
          </a:xfrm>
          <a:prstGeom prst="roundRect">
            <a:avLst>
              <a:gd name="adj" fmla="val 11538"/>
            </a:avLst>
          </a:prstGeom>
          <a:solidFill>
            <a:srgbClr val="EAF7F7"/>
          </a:solidFill>
          <a:ln w="10160">
            <a:solidFill>
              <a:srgbClr val="B8DDE0"/>
            </a:solidFill>
            <a:prstDash val="solid"/>
          </a:ln>
        </p:spPr>
      </p:sp>
      <p:sp>
        <p:nvSpPr>
          <p:cNvPr id="16" name="Shape 14"/>
          <p:cNvSpPr/>
          <p:nvPr/>
        </p:nvSpPr>
        <p:spPr>
          <a:xfrm>
            <a:off x="1078992" y="3054096"/>
            <a:ext cx="402336" cy="402336"/>
          </a:xfrm>
          <a:prstGeom prst="ellipse">
            <a:avLst/>
          </a:prstGeom>
          <a:solidFill>
            <a:srgbClr val="F45B69"/>
          </a:solidFill>
          <a:ln w="12700">
            <a:solidFill>
              <a:srgbClr val="F45B69"/>
            </a:solidFill>
            <a:prstDash val="solid"/>
          </a:ln>
        </p:spPr>
      </p:sp>
      <p:sp>
        <p:nvSpPr>
          <p:cNvPr id="17" name="Text 15"/>
          <p:cNvSpPr/>
          <p:nvPr/>
        </p:nvSpPr>
        <p:spPr>
          <a:xfrm>
            <a:off x="1078992" y="3145536"/>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18" name="Text 16"/>
          <p:cNvSpPr/>
          <p:nvPr/>
        </p:nvSpPr>
        <p:spPr>
          <a:xfrm>
            <a:off x="1627632" y="3072384"/>
            <a:ext cx="8458200" cy="219456"/>
          </a:xfrm>
          <a:prstGeom prst="rect">
            <a:avLst/>
          </a:prstGeom>
          <a:noFill/>
          <a:ln/>
        </p:spPr>
        <p:txBody>
          <a:bodyPr wrap="square" lIns="254" tIns="254" rIns="254" bIns="254" rtlCol="0" anchor="ctr">
            <a:normAutofit/>
          </a:bodyPr>
          <a:lstStyle/>
          <a:p>
            <a:pPr indent="0" marL="0">
              <a:buNone/>
            </a:pPr>
            <a:r>
              <a:rPr lang="en-US" sz="1260" dirty="0">
                <a:solidFill>
                  <a:srgbClr val="102033"/>
                </a:solidFill>
              </a:rPr>
              <a:t>Draft a seller update after a quiet week. Be honest, professional, and solution-oriented.</a:t>
            </a:r>
            <a:endParaRPr lang="en-US" sz="1260" dirty="0"/>
          </a:p>
        </p:txBody>
      </p:sp>
      <p:sp>
        <p:nvSpPr>
          <p:cNvPr id="19" name="Shape 17"/>
          <p:cNvSpPr/>
          <p:nvPr/>
        </p:nvSpPr>
        <p:spPr>
          <a:xfrm>
            <a:off x="868680" y="3621024"/>
            <a:ext cx="9646920" cy="475488"/>
          </a:xfrm>
          <a:prstGeom prst="roundRect">
            <a:avLst>
              <a:gd name="adj" fmla="val 11538"/>
            </a:avLst>
          </a:prstGeom>
          <a:solidFill>
            <a:srgbClr val="FFFFFF"/>
          </a:solidFill>
          <a:ln w="10160">
            <a:solidFill>
              <a:srgbClr val="D8E6E8"/>
            </a:solidFill>
            <a:prstDash val="solid"/>
          </a:ln>
        </p:spPr>
      </p:sp>
      <p:sp>
        <p:nvSpPr>
          <p:cNvPr id="20" name="Shape 18"/>
          <p:cNvSpPr/>
          <p:nvPr/>
        </p:nvSpPr>
        <p:spPr>
          <a:xfrm>
            <a:off x="1078992" y="3675888"/>
            <a:ext cx="402336" cy="402336"/>
          </a:xfrm>
          <a:prstGeom prst="ellipse">
            <a:avLst/>
          </a:prstGeom>
          <a:solidFill>
            <a:srgbClr val="2E7D5B"/>
          </a:solidFill>
          <a:ln w="12700">
            <a:solidFill>
              <a:srgbClr val="2E7D5B"/>
            </a:solidFill>
            <a:prstDash val="solid"/>
          </a:ln>
        </p:spPr>
      </p:sp>
      <p:sp>
        <p:nvSpPr>
          <p:cNvPr id="21" name="Text 19"/>
          <p:cNvSpPr/>
          <p:nvPr/>
        </p:nvSpPr>
        <p:spPr>
          <a:xfrm>
            <a:off x="1078992" y="3767328"/>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22" name="Text 20"/>
          <p:cNvSpPr/>
          <p:nvPr/>
        </p:nvSpPr>
        <p:spPr>
          <a:xfrm>
            <a:off x="1627632" y="3694176"/>
            <a:ext cx="8458200" cy="219456"/>
          </a:xfrm>
          <a:prstGeom prst="rect">
            <a:avLst/>
          </a:prstGeom>
          <a:noFill/>
          <a:ln/>
        </p:spPr>
        <p:txBody>
          <a:bodyPr wrap="square" lIns="254" tIns="254" rIns="254" bIns="254" rtlCol="0" anchor="ctr">
            <a:normAutofit/>
          </a:bodyPr>
          <a:lstStyle/>
          <a:p>
            <a:pPr indent="0" marL="0">
              <a:buNone/>
            </a:pPr>
            <a:r>
              <a:rPr lang="en-US" sz="1260" dirty="0">
                <a:solidFill>
                  <a:srgbClr val="102033"/>
                </a:solidFill>
              </a:rPr>
              <a:t>Give me three tone options: concise, reassuring, and more direct.</a:t>
            </a:r>
            <a:endParaRPr lang="en-US" sz="1260" dirty="0"/>
          </a:p>
        </p:txBody>
      </p:sp>
      <p:sp>
        <p:nvSpPr>
          <p:cNvPr id="23" name="Shape 21"/>
          <p:cNvSpPr/>
          <p:nvPr/>
        </p:nvSpPr>
        <p:spPr>
          <a:xfrm>
            <a:off x="502920" y="6473952"/>
            <a:ext cx="11201400" cy="0"/>
          </a:xfrm>
          <a:prstGeom prst="line">
            <a:avLst/>
          </a:prstGeom>
          <a:noFill/>
          <a:ln w="9525">
            <a:solidFill>
              <a:srgbClr val="D8E6E8"/>
            </a:solidFill>
            <a:prstDash val="solid"/>
          </a:ln>
        </p:spPr>
      </p:sp>
      <p:sp>
        <p:nvSpPr>
          <p:cNvPr id="24" name="Text 22"/>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25" name="Text 23"/>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20/48</a:t>
            </a:r>
            <a:endParaRPr lang="en-US" sz="7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749808" y="822960"/>
            <a:ext cx="3840480" cy="256032"/>
          </a:xfrm>
          <a:prstGeom prst="rect">
            <a:avLst/>
          </a:prstGeom>
          <a:noFill/>
          <a:ln/>
        </p:spPr>
        <p:txBody>
          <a:bodyPr wrap="square" lIns="0" tIns="0" rIns="0" bIns="0" rtlCol="0" anchor="ctr"/>
          <a:lstStyle/>
          <a:p>
            <a:pPr indent="0" marL="0">
              <a:buNone/>
            </a:pPr>
            <a:r>
              <a:rPr lang="en-US" sz="1100" b="1" dirty="0">
                <a:solidFill>
                  <a:srgbClr val="F2B84B"/>
                </a:solidFill>
              </a:rPr>
              <a:t>SECTION 4</a:t>
            </a:r>
            <a:endParaRPr lang="en-US" sz="1100" dirty="0"/>
          </a:p>
        </p:txBody>
      </p:sp>
      <p:sp>
        <p:nvSpPr>
          <p:cNvPr id="3" name="Text 1"/>
          <p:cNvSpPr/>
          <p:nvPr/>
        </p:nvSpPr>
        <p:spPr>
          <a:xfrm>
            <a:off x="713232" y="1828800"/>
            <a:ext cx="9966960" cy="77724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AI for Lead Follow-Up</a:t>
            </a:r>
            <a:endParaRPr lang="en-US" sz="3400" dirty="0"/>
          </a:p>
        </p:txBody>
      </p:sp>
      <p:sp>
        <p:nvSpPr>
          <p:cNvPr id="4" name="Text 2"/>
          <p:cNvSpPr/>
          <p:nvPr/>
        </p:nvSpPr>
        <p:spPr>
          <a:xfrm>
            <a:off x="749808" y="2852928"/>
            <a:ext cx="8138160" cy="411480"/>
          </a:xfrm>
          <a:prstGeom prst="rect">
            <a:avLst/>
          </a:prstGeom>
          <a:noFill/>
          <a:ln/>
        </p:spPr>
        <p:txBody>
          <a:bodyPr wrap="square" lIns="0" tIns="0" rIns="0" bIns="0" rtlCol="0" anchor="ctr">
            <a:normAutofit/>
          </a:bodyPr>
          <a:lstStyle/>
          <a:p>
            <a:pPr indent="0" marL="0">
              <a:buNone/>
            </a:pPr>
            <a:r>
              <a:rPr lang="en-US" sz="1600" dirty="0">
                <a:solidFill>
                  <a:srgbClr val="DCEEEF"/>
                </a:solidFill>
              </a:rPr>
              <a:t>The goal is not more messages. The goal is better next steps.</a:t>
            </a:r>
            <a:endParaRPr lang="en-US" sz="1600" dirty="0"/>
          </a:p>
        </p:txBody>
      </p:sp>
      <p:sp>
        <p:nvSpPr>
          <p:cNvPr id="5" name="Shape 3"/>
          <p:cNvSpPr/>
          <p:nvPr/>
        </p:nvSpPr>
        <p:spPr>
          <a:xfrm>
            <a:off x="749808" y="3657600"/>
            <a:ext cx="1828800" cy="0"/>
          </a:xfrm>
          <a:prstGeom prst="line">
            <a:avLst/>
          </a:prstGeom>
          <a:noFill/>
          <a:ln w="50800">
            <a:solidFill>
              <a:srgbClr val="F45B69"/>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0E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0E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LEAD REALITY</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300" b="1" dirty="0">
                <a:solidFill>
                  <a:srgbClr val="102033"/>
                </a:solidFill>
                <a:latin typeface="Aptos Display" pitchFamily="34" charset="0"/>
                <a:ea typeface="Aptos Display" pitchFamily="34" charset="-122"/>
                <a:cs typeface="Aptos Display" pitchFamily="34" charset="-120"/>
              </a:rPr>
              <a:t>Most follow-up fails because it is generic, late, or stops too soon</a:t>
            </a:r>
            <a:endParaRPr lang="en-US" sz="2300" dirty="0"/>
          </a:p>
        </p:txBody>
      </p:sp>
      <p:sp>
        <p:nvSpPr>
          <p:cNvPr id="7" name="Text 5"/>
          <p:cNvSpPr/>
          <p:nvPr/>
        </p:nvSpPr>
        <p:spPr>
          <a:xfrm>
            <a:off x="868680" y="1874520"/>
            <a:ext cx="6400800" cy="3657600"/>
          </a:xfrm>
          <a:prstGeom prst="rect">
            <a:avLst/>
          </a:prstGeom>
          <a:noFill/>
          <a:ln/>
        </p:spPr>
        <p:txBody>
          <a:bodyPr wrap="square" lIns="254" tIns="254" rIns="254" bIns="254" rtlCol="0" anchor="t">
            <a:normAutofit/>
          </a:bodyPr>
          <a:lstStyle/>
          <a:p>
            <a:pPr marL="203200" indent="-203200">
              <a:buSzPct val="100000"/>
              <a:buChar char="•"/>
            </a:pPr>
            <a:r>
              <a:rPr lang="en-US" sz="1650" dirty="0">
                <a:solidFill>
                  <a:srgbClr val="102033"/>
                </a:solidFill>
                <a:latin typeface="Aptos" pitchFamily="34" charset="0"/>
                <a:ea typeface="Aptos" pitchFamily="34" charset="-122"/>
                <a:cs typeface="Aptos" pitchFamily="34" charset="-120"/>
              </a:rPr>
              <a:t>Online leads often arrive with limited context</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Speed matters, but fast and generic still feels automated</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Different lead sources need different first responses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Useful follow-up creates a reason to continue the conversation</a:t>
            </a:r>
            <a:endParaRPr lang="en-US" sz="1650" dirty="0"/>
          </a:p>
        </p:txBody>
      </p:sp>
      <p:sp>
        <p:nvSpPr>
          <p:cNvPr id="8" name="Shape 6"/>
          <p:cNvSpPr/>
          <p:nvPr/>
        </p:nvSpPr>
        <p:spPr>
          <a:xfrm>
            <a:off x="7571232" y="1828800"/>
            <a:ext cx="3246120" cy="2788920"/>
          </a:xfrm>
          <a:prstGeom prst="roundRect">
            <a:avLst>
              <a:gd name="adj" fmla="val 1967"/>
            </a:avLst>
          </a:prstGeom>
          <a:solidFill>
            <a:srgbClr val="FFF0EF"/>
          </a:solidFill>
          <a:ln w="10160">
            <a:solidFill>
              <a:srgbClr val="BFDADC"/>
            </a:solidFill>
            <a:prstDash val="solid"/>
          </a:ln>
        </p:spPr>
      </p:sp>
      <p:sp>
        <p:nvSpPr>
          <p:cNvPr id="9" name="Text 7"/>
          <p:cNvSpPr/>
          <p:nvPr/>
        </p:nvSpPr>
        <p:spPr>
          <a:xfrm>
            <a:off x="7882128" y="2148840"/>
            <a:ext cx="2606040" cy="530352"/>
          </a:xfrm>
          <a:prstGeom prst="rect">
            <a:avLst/>
          </a:prstGeom>
          <a:noFill/>
          <a:ln/>
        </p:spPr>
        <p:txBody>
          <a:bodyPr wrap="square" lIns="0" tIns="0" rIns="0" bIns="0" rtlCol="0" anchor="ctr">
            <a:normAutofit/>
          </a:bodyPr>
          <a:lstStyle/>
          <a:p>
            <a:pPr indent="0" marL="0">
              <a:buNone/>
            </a:pPr>
            <a:r>
              <a:rPr lang="en-US" sz="1750" b="1" dirty="0">
                <a:solidFill>
                  <a:srgbClr val="16324F"/>
                </a:solidFill>
              </a:rPr>
              <a:t>Useful beats frequent</a:t>
            </a:r>
            <a:endParaRPr lang="en-US" sz="1750" dirty="0"/>
          </a:p>
        </p:txBody>
      </p:sp>
      <p:sp>
        <p:nvSpPr>
          <p:cNvPr id="10" name="Text 8"/>
          <p:cNvSpPr/>
          <p:nvPr/>
        </p:nvSpPr>
        <p:spPr>
          <a:xfrm>
            <a:off x="7882128" y="2944368"/>
            <a:ext cx="2514600" cy="960120"/>
          </a:xfrm>
          <a:prstGeom prst="rect">
            <a:avLst/>
          </a:prstGeom>
          <a:noFill/>
          <a:ln/>
        </p:spPr>
        <p:txBody>
          <a:bodyPr wrap="square" lIns="508" tIns="508" rIns="508" bIns="508" rtlCol="0" anchor="ctr">
            <a:normAutofit/>
          </a:bodyPr>
          <a:lstStyle/>
          <a:p>
            <a:pPr indent="0" marL="0">
              <a:buNone/>
            </a:pPr>
            <a:r>
              <a:rPr lang="en-US" sz="1220" dirty="0">
                <a:solidFill>
                  <a:srgbClr val="102033"/>
                </a:solidFill>
              </a:rPr>
              <a:t>Better follow-up gives the lead a reason to respond and a clear next step.</a:t>
            </a:r>
            <a:endParaRPr lang="en-US" sz="1220" dirty="0"/>
          </a:p>
        </p:txBody>
      </p:sp>
      <p:sp>
        <p:nvSpPr>
          <p:cNvPr id="11" name="Shape 9"/>
          <p:cNvSpPr/>
          <p:nvPr/>
        </p:nvSpPr>
        <p:spPr>
          <a:xfrm>
            <a:off x="7882128" y="4160520"/>
            <a:ext cx="1097280" cy="0"/>
          </a:xfrm>
          <a:prstGeom prst="line">
            <a:avLst/>
          </a:prstGeom>
          <a:noFill/>
          <a:ln w="38100">
            <a:solidFill>
              <a:srgbClr val="008F8F"/>
            </a:solidFill>
            <a:prstDash val="solid"/>
          </a:ln>
        </p:spPr>
      </p:sp>
      <p:sp>
        <p:nvSpPr>
          <p:cNvPr id="12" name="Shape 10"/>
          <p:cNvSpPr/>
          <p:nvPr/>
        </p:nvSpPr>
        <p:spPr>
          <a:xfrm>
            <a:off x="7882128" y="4370832"/>
            <a:ext cx="493776" cy="493776"/>
          </a:xfrm>
          <a:prstGeom prst="roundRect">
            <a:avLst>
              <a:gd name="adj" fmla="val 14815"/>
            </a:avLst>
          </a:prstGeom>
          <a:solidFill>
            <a:srgbClr val="008F8F"/>
          </a:solidFill>
          <a:ln w="12700">
            <a:solidFill>
              <a:srgbClr val="008F8F"/>
            </a:solidFill>
            <a:prstDash val="solid"/>
          </a:ln>
        </p:spPr>
      </p:sp>
      <p:sp>
        <p:nvSpPr>
          <p:cNvPr id="13" name="Text 11"/>
          <p:cNvSpPr/>
          <p:nvPr/>
        </p:nvSpPr>
        <p:spPr>
          <a:xfrm>
            <a:off x="7927848" y="4507992"/>
            <a:ext cx="402336" cy="128016"/>
          </a:xfrm>
          <a:prstGeom prst="rect">
            <a:avLst/>
          </a:prstGeom>
          <a:noFill/>
          <a:ln/>
        </p:spPr>
        <p:txBody>
          <a:bodyPr wrap="square" lIns="0" tIns="0" rIns="0" bIns="0" rtlCol="0" anchor="ctr"/>
          <a:lstStyle/>
          <a:p>
            <a:pPr algn="ctr" indent="0" marL="0">
              <a:buNone/>
            </a:pPr>
            <a:r>
              <a:rPr lang="en-US" sz="850" b="1" dirty="0">
                <a:solidFill>
                  <a:srgbClr val="FFFFFF"/>
                </a:solidFill>
              </a:rPr>
              <a:t>AI</a:t>
            </a:r>
            <a:endParaRPr lang="en-US" sz="8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22/48</a:t>
            </a:r>
            <a:endParaRPr lang="en-US" sz="7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0F3F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0F3F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WORKFLOW</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Lead note to next-best message</a:t>
            </a:r>
            <a:endParaRPr lang="en-US" sz="2800" dirty="0"/>
          </a:p>
        </p:txBody>
      </p:sp>
      <p:sp>
        <p:nvSpPr>
          <p:cNvPr id="7" name="Shape 5"/>
          <p:cNvSpPr/>
          <p:nvPr/>
        </p:nvSpPr>
        <p:spPr>
          <a:xfrm>
            <a:off x="731520" y="2331720"/>
            <a:ext cx="402336" cy="402336"/>
          </a:xfrm>
          <a:prstGeom prst="ellipse">
            <a:avLst/>
          </a:prstGeom>
          <a:solidFill>
            <a:srgbClr val="008F8F"/>
          </a:solidFill>
          <a:ln w="12700">
            <a:solidFill>
              <a:srgbClr val="008F8F"/>
            </a:solidFill>
            <a:prstDash val="solid"/>
          </a:ln>
        </p:spPr>
      </p:sp>
      <p:sp>
        <p:nvSpPr>
          <p:cNvPr id="8" name="Text 6"/>
          <p:cNvSpPr/>
          <p:nvPr/>
        </p:nvSpPr>
        <p:spPr>
          <a:xfrm>
            <a:off x="731520" y="242316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9" name="Shape 7"/>
          <p:cNvSpPr/>
          <p:nvPr/>
        </p:nvSpPr>
        <p:spPr>
          <a:xfrm>
            <a:off x="1143000" y="2532888"/>
            <a:ext cx="1115568" cy="0"/>
          </a:xfrm>
          <a:prstGeom prst="line">
            <a:avLst/>
          </a:prstGeom>
          <a:noFill/>
          <a:ln w="17780">
            <a:solidFill>
              <a:srgbClr val="D8E6E8"/>
            </a:solidFill>
            <a:prstDash val="solid"/>
            <a:tailEnd type="triangle"/>
          </a:ln>
        </p:spPr>
      </p:sp>
      <p:sp>
        <p:nvSpPr>
          <p:cNvPr id="10" name="Text 8"/>
          <p:cNvSpPr/>
          <p:nvPr/>
        </p:nvSpPr>
        <p:spPr>
          <a:xfrm>
            <a:off x="594360" y="2971800"/>
            <a:ext cx="1417320" cy="640080"/>
          </a:xfrm>
          <a:prstGeom prst="rect">
            <a:avLst/>
          </a:prstGeom>
          <a:noFill/>
          <a:ln/>
        </p:spPr>
        <p:txBody>
          <a:bodyPr wrap="square" lIns="0" tIns="0" rIns="0" bIns="0" rtlCol="0" anchor="ctr">
            <a:normAutofit/>
          </a:bodyPr>
          <a:lstStyle/>
          <a:p>
            <a:pPr algn="ctr" indent="0" marL="0">
              <a:buNone/>
            </a:pPr>
            <a:r>
              <a:rPr lang="en-US" sz="1150" b="1" dirty="0">
                <a:solidFill>
                  <a:srgbClr val="102033"/>
                </a:solidFill>
              </a:rPr>
              <a:t>Capture source + behavior</a:t>
            </a:r>
            <a:endParaRPr lang="en-US" sz="1150" dirty="0"/>
          </a:p>
        </p:txBody>
      </p:sp>
      <p:sp>
        <p:nvSpPr>
          <p:cNvPr id="11" name="Shape 9"/>
          <p:cNvSpPr/>
          <p:nvPr/>
        </p:nvSpPr>
        <p:spPr>
          <a:xfrm>
            <a:off x="2468880" y="2496312"/>
            <a:ext cx="402336" cy="402336"/>
          </a:xfrm>
          <a:prstGeom prst="ellipse">
            <a:avLst/>
          </a:prstGeom>
          <a:solidFill>
            <a:srgbClr val="2F80ED"/>
          </a:solidFill>
          <a:ln w="12700">
            <a:solidFill>
              <a:srgbClr val="2F80ED"/>
            </a:solidFill>
            <a:prstDash val="solid"/>
          </a:ln>
        </p:spPr>
      </p:sp>
      <p:sp>
        <p:nvSpPr>
          <p:cNvPr id="12" name="Text 10"/>
          <p:cNvSpPr/>
          <p:nvPr/>
        </p:nvSpPr>
        <p:spPr>
          <a:xfrm>
            <a:off x="2468880" y="258775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13" name="Shape 11"/>
          <p:cNvSpPr/>
          <p:nvPr/>
        </p:nvSpPr>
        <p:spPr>
          <a:xfrm>
            <a:off x="2880360" y="2532888"/>
            <a:ext cx="1115568" cy="0"/>
          </a:xfrm>
          <a:prstGeom prst="line">
            <a:avLst/>
          </a:prstGeom>
          <a:noFill/>
          <a:ln w="17780">
            <a:solidFill>
              <a:srgbClr val="D8E6E8"/>
            </a:solidFill>
            <a:prstDash val="solid"/>
            <a:tailEnd type="triangle"/>
          </a:ln>
        </p:spPr>
      </p:sp>
      <p:sp>
        <p:nvSpPr>
          <p:cNvPr id="14" name="Text 12"/>
          <p:cNvSpPr/>
          <p:nvPr/>
        </p:nvSpPr>
        <p:spPr>
          <a:xfrm>
            <a:off x="2331720" y="2971800"/>
            <a:ext cx="1417320" cy="640080"/>
          </a:xfrm>
          <a:prstGeom prst="rect">
            <a:avLst/>
          </a:prstGeom>
          <a:noFill/>
          <a:ln/>
        </p:spPr>
        <p:txBody>
          <a:bodyPr wrap="square" lIns="0" tIns="0" rIns="0" bIns="0" rtlCol="0" anchor="ctr">
            <a:normAutofit/>
          </a:bodyPr>
          <a:lstStyle/>
          <a:p>
            <a:pPr algn="ctr" indent="0" marL="0">
              <a:buNone/>
            </a:pPr>
            <a:r>
              <a:rPr lang="en-US" sz="1150" b="1" dirty="0">
                <a:solidFill>
                  <a:srgbClr val="102033"/>
                </a:solidFill>
              </a:rPr>
              <a:t>Identify likely intent</a:t>
            </a:r>
            <a:endParaRPr lang="en-US" sz="1150" dirty="0"/>
          </a:p>
        </p:txBody>
      </p:sp>
      <p:sp>
        <p:nvSpPr>
          <p:cNvPr id="15" name="Shape 13"/>
          <p:cNvSpPr/>
          <p:nvPr/>
        </p:nvSpPr>
        <p:spPr>
          <a:xfrm>
            <a:off x="4206240" y="2331720"/>
            <a:ext cx="402336" cy="402336"/>
          </a:xfrm>
          <a:prstGeom prst="ellipse">
            <a:avLst/>
          </a:prstGeom>
          <a:solidFill>
            <a:srgbClr val="F45B69"/>
          </a:solidFill>
          <a:ln w="12700">
            <a:solidFill>
              <a:srgbClr val="F45B69"/>
            </a:solidFill>
            <a:prstDash val="solid"/>
          </a:ln>
        </p:spPr>
      </p:sp>
      <p:sp>
        <p:nvSpPr>
          <p:cNvPr id="16" name="Text 14"/>
          <p:cNvSpPr/>
          <p:nvPr/>
        </p:nvSpPr>
        <p:spPr>
          <a:xfrm>
            <a:off x="4206240" y="242316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17" name="Shape 15"/>
          <p:cNvSpPr/>
          <p:nvPr/>
        </p:nvSpPr>
        <p:spPr>
          <a:xfrm>
            <a:off x="4617720" y="2532888"/>
            <a:ext cx="1115568" cy="0"/>
          </a:xfrm>
          <a:prstGeom prst="line">
            <a:avLst/>
          </a:prstGeom>
          <a:noFill/>
          <a:ln w="17780">
            <a:solidFill>
              <a:srgbClr val="D8E6E8"/>
            </a:solidFill>
            <a:prstDash val="solid"/>
            <a:tailEnd type="triangle"/>
          </a:ln>
        </p:spPr>
      </p:sp>
      <p:sp>
        <p:nvSpPr>
          <p:cNvPr id="18" name="Text 16"/>
          <p:cNvSpPr/>
          <p:nvPr/>
        </p:nvSpPr>
        <p:spPr>
          <a:xfrm>
            <a:off x="4069080" y="2971800"/>
            <a:ext cx="1417320" cy="640080"/>
          </a:xfrm>
          <a:prstGeom prst="rect">
            <a:avLst/>
          </a:prstGeom>
          <a:noFill/>
          <a:ln/>
        </p:spPr>
        <p:txBody>
          <a:bodyPr wrap="square" lIns="0" tIns="0" rIns="0" bIns="0" rtlCol="0" anchor="ctr">
            <a:normAutofit/>
          </a:bodyPr>
          <a:lstStyle/>
          <a:p>
            <a:pPr algn="ctr" indent="0" marL="0">
              <a:buNone/>
            </a:pPr>
            <a:r>
              <a:rPr lang="en-US" sz="1150" b="1" dirty="0">
                <a:solidFill>
                  <a:srgbClr val="102033"/>
                </a:solidFill>
              </a:rPr>
              <a:t>Choose channel</a:t>
            </a:r>
            <a:endParaRPr lang="en-US" sz="1150" dirty="0"/>
          </a:p>
        </p:txBody>
      </p:sp>
      <p:sp>
        <p:nvSpPr>
          <p:cNvPr id="19" name="Shape 17"/>
          <p:cNvSpPr/>
          <p:nvPr/>
        </p:nvSpPr>
        <p:spPr>
          <a:xfrm>
            <a:off x="5943600" y="2496312"/>
            <a:ext cx="402336" cy="402336"/>
          </a:xfrm>
          <a:prstGeom prst="ellipse">
            <a:avLst/>
          </a:prstGeom>
          <a:solidFill>
            <a:srgbClr val="2E7D5B"/>
          </a:solidFill>
          <a:ln w="12700">
            <a:solidFill>
              <a:srgbClr val="2E7D5B"/>
            </a:solidFill>
            <a:prstDash val="solid"/>
          </a:ln>
        </p:spPr>
      </p:sp>
      <p:sp>
        <p:nvSpPr>
          <p:cNvPr id="20" name="Text 18"/>
          <p:cNvSpPr/>
          <p:nvPr/>
        </p:nvSpPr>
        <p:spPr>
          <a:xfrm>
            <a:off x="5943600" y="258775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21" name="Shape 19"/>
          <p:cNvSpPr/>
          <p:nvPr/>
        </p:nvSpPr>
        <p:spPr>
          <a:xfrm>
            <a:off x="6355080" y="2532888"/>
            <a:ext cx="1115568" cy="0"/>
          </a:xfrm>
          <a:prstGeom prst="line">
            <a:avLst/>
          </a:prstGeom>
          <a:noFill/>
          <a:ln w="17780">
            <a:solidFill>
              <a:srgbClr val="D8E6E8"/>
            </a:solidFill>
            <a:prstDash val="solid"/>
            <a:tailEnd type="triangle"/>
          </a:ln>
        </p:spPr>
      </p:sp>
      <p:sp>
        <p:nvSpPr>
          <p:cNvPr id="22" name="Text 20"/>
          <p:cNvSpPr/>
          <p:nvPr/>
        </p:nvSpPr>
        <p:spPr>
          <a:xfrm>
            <a:off x="5806440" y="2971800"/>
            <a:ext cx="1417320" cy="640080"/>
          </a:xfrm>
          <a:prstGeom prst="rect">
            <a:avLst/>
          </a:prstGeom>
          <a:noFill/>
          <a:ln/>
        </p:spPr>
        <p:txBody>
          <a:bodyPr wrap="square" lIns="0" tIns="0" rIns="0" bIns="0" rtlCol="0" anchor="ctr">
            <a:normAutofit/>
          </a:bodyPr>
          <a:lstStyle/>
          <a:p>
            <a:pPr algn="ctr" indent="0" marL="0">
              <a:buNone/>
            </a:pPr>
            <a:r>
              <a:rPr lang="en-US" sz="1150" b="1" dirty="0">
                <a:solidFill>
                  <a:srgbClr val="102033"/>
                </a:solidFill>
              </a:rPr>
              <a:t>Draft one useful message</a:t>
            </a:r>
            <a:endParaRPr lang="en-US" sz="1150" dirty="0"/>
          </a:p>
        </p:txBody>
      </p:sp>
      <p:sp>
        <p:nvSpPr>
          <p:cNvPr id="23" name="Shape 21"/>
          <p:cNvSpPr/>
          <p:nvPr/>
        </p:nvSpPr>
        <p:spPr>
          <a:xfrm>
            <a:off x="7680960" y="2331720"/>
            <a:ext cx="402336" cy="402336"/>
          </a:xfrm>
          <a:prstGeom prst="ellipse">
            <a:avLst/>
          </a:prstGeom>
          <a:solidFill>
            <a:srgbClr val="F2B84B"/>
          </a:solidFill>
          <a:ln w="12700">
            <a:solidFill>
              <a:srgbClr val="F2B84B"/>
            </a:solidFill>
            <a:prstDash val="solid"/>
          </a:ln>
        </p:spPr>
      </p:sp>
      <p:sp>
        <p:nvSpPr>
          <p:cNvPr id="24" name="Text 22"/>
          <p:cNvSpPr/>
          <p:nvPr/>
        </p:nvSpPr>
        <p:spPr>
          <a:xfrm>
            <a:off x="7680960" y="242316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5</a:t>
            </a:r>
            <a:endParaRPr lang="en-US" sz="800" dirty="0"/>
          </a:p>
        </p:txBody>
      </p:sp>
      <p:sp>
        <p:nvSpPr>
          <p:cNvPr id="25" name="Shape 23"/>
          <p:cNvSpPr/>
          <p:nvPr/>
        </p:nvSpPr>
        <p:spPr>
          <a:xfrm>
            <a:off x="8092440" y="2532888"/>
            <a:ext cx="1115568" cy="0"/>
          </a:xfrm>
          <a:prstGeom prst="line">
            <a:avLst/>
          </a:prstGeom>
          <a:noFill/>
          <a:ln w="17780">
            <a:solidFill>
              <a:srgbClr val="D8E6E8"/>
            </a:solidFill>
            <a:prstDash val="solid"/>
            <a:tailEnd type="triangle"/>
          </a:ln>
        </p:spPr>
      </p:sp>
      <p:sp>
        <p:nvSpPr>
          <p:cNvPr id="26" name="Text 24"/>
          <p:cNvSpPr/>
          <p:nvPr/>
        </p:nvSpPr>
        <p:spPr>
          <a:xfrm>
            <a:off x="7543800" y="2971800"/>
            <a:ext cx="1417320" cy="640080"/>
          </a:xfrm>
          <a:prstGeom prst="rect">
            <a:avLst/>
          </a:prstGeom>
          <a:noFill/>
          <a:ln/>
        </p:spPr>
        <p:txBody>
          <a:bodyPr wrap="square" lIns="0" tIns="0" rIns="0" bIns="0" rtlCol="0" anchor="ctr">
            <a:normAutofit/>
          </a:bodyPr>
          <a:lstStyle/>
          <a:p>
            <a:pPr algn="ctr" indent="0" marL="0">
              <a:buNone/>
            </a:pPr>
            <a:r>
              <a:rPr lang="en-US" sz="1150" b="1" dirty="0">
                <a:solidFill>
                  <a:srgbClr val="102033"/>
                </a:solidFill>
              </a:rPr>
              <a:t>Review for accuracy + tone</a:t>
            </a:r>
            <a:endParaRPr lang="en-US" sz="1150" dirty="0"/>
          </a:p>
        </p:txBody>
      </p:sp>
      <p:sp>
        <p:nvSpPr>
          <p:cNvPr id="27" name="Shape 25"/>
          <p:cNvSpPr/>
          <p:nvPr/>
        </p:nvSpPr>
        <p:spPr>
          <a:xfrm>
            <a:off x="9418320" y="2496312"/>
            <a:ext cx="402336" cy="402336"/>
          </a:xfrm>
          <a:prstGeom prst="ellipse">
            <a:avLst/>
          </a:prstGeom>
          <a:solidFill>
            <a:srgbClr val="16324F"/>
          </a:solidFill>
          <a:ln w="12700">
            <a:solidFill>
              <a:srgbClr val="16324F"/>
            </a:solidFill>
            <a:prstDash val="solid"/>
          </a:ln>
        </p:spPr>
      </p:sp>
      <p:sp>
        <p:nvSpPr>
          <p:cNvPr id="28" name="Text 26"/>
          <p:cNvSpPr/>
          <p:nvPr/>
        </p:nvSpPr>
        <p:spPr>
          <a:xfrm>
            <a:off x="9418320" y="258775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6</a:t>
            </a:r>
            <a:endParaRPr lang="en-US" sz="800" dirty="0"/>
          </a:p>
        </p:txBody>
      </p:sp>
      <p:sp>
        <p:nvSpPr>
          <p:cNvPr id="29" name="Text 27"/>
          <p:cNvSpPr/>
          <p:nvPr/>
        </p:nvSpPr>
        <p:spPr>
          <a:xfrm>
            <a:off x="9281160" y="2971800"/>
            <a:ext cx="1417320" cy="640080"/>
          </a:xfrm>
          <a:prstGeom prst="rect">
            <a:avLst/>
          </a:prstGeom>
          <a:noFill/>
          <a:ln/>
        </p:spPr>
        <p:txBody>
          <a:bodyPr wrap="square" lIns="0" tIns="0" rIns="0" bIns="0" rtlCol="0" anchor="ctr">
            <a:normAutofit/>
          </a:bodyPr>
          <a:lstStyle/>
          <a:p>
            <a:pPr algn="ctr" indent="0" marL="0">
              <a:buNone/>
            </a:pPr>
            <a:r>
              <a:rPr lang="en-US" sz="1150" b="1" dirty="0">
                <a:solidFill>
                  <a:srgbClr val="102033"/>
                </a:solidFill>
              </a:rPr>
              <a:t>Send and log next step</a:t>
            </a:r>
            <a:endParaRPr lang="en-US" sz="1150" dirty="0"/>
          </a:p>
        </p:txBody>
      </p:sp>
      <p:sp>
        <p:nvSpPr>
          <p:cNvPr id="30" name="Shape 28"/>
          <p:cNvSpPr/>
          <p:nvPr/>
        </p:nvSpPr>
        <p:spPr>
          <a:xfrm>
            <a:off x="502920" y="6473952"/>
            <a:ext cx="11201400" cy="0"/>
          </a:xfrm>
          <a:prstGeom prst="line">
            <a:avLst/>
          </a:prstGeom>
          <a:noFill/>
          <a:ln w="9525">
            <a:solidFill>
              <a:srgbClr val="D8E6E8"/>
            </a:solidFill>
            <a:prstDash val="solid"/>
          </a:ln>
        </p:spPr>
      </p:sp>
      <p:sp>
        <p:nvSpPr>
          <p:cNvPr id="31" name="Text 29"/>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32" name="Text 30"/>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23/48</a:t>
            </a:r>
            <a:endParaRPr lang="en-US" sz="7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9F8F0"/>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9F8F0"/>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SYNTHETIC LEAD</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300" b="1" dirty="0">
                <a:solidFill>
                  <a:srgbClr val="102033"/>
                </a:solidFill>
                <a:latin typeface="Aptos Display" pitchFamily="34" charset="0"/>
                <a:ea typeface="Aptos Display" pitchFamily="34" charset="-122"/>
                <a:cs typeface="Aptos Display" pitchFamily="34" charset="-120"/>
              </a:rPr>
              <a:t>Property inquiry response that does more than answer "available?"</a:t>
            </a:r>
            <a:endParaRPr lang="en-US" sz="2300" dirty="0"/>
          </a:p>
        </p:txBody>
      </p:sp>
      <p:sp>
        <p:nvSpPr>
          <p:cNvPr id="7" name="Shape 5"/>
          <p:cNvSpPr/>
          <p:nvPr/>
        </p:nvSpPr>
        <p:spPr>
          <a:xfrm>
            <a:off x="868680" y="1828800"/>
            <a:ext cx="3063240" cy="2971800"/>
          </a:xfrm>
          <a:prstGeom prst="roundRect">
            <a:avLst>
              <a:gd name="adj" fmla="val 1846"/>
            </a:avLst>
          </a:prstGeom>
          <a:solidFill>
            <a:srgbClr val="FFFFFF"/>
          </a:solidFill>
          <a:ln w="10160">
            <a:solidFill>
              <a:srgbClr val="D8E6E8"/>
            </a:solidFill>
            <a:prstDash val="solid"/>
          </a:ln>
        </p:spPr>
      </p:sp>
      <p:sp>
        <p:nvSpPr>
          <p:cNvPr id="8" name="Shape 6"/>
          <p:cNvSpPr/>
          <p:nvPr/>
        </p:nvSpPr>
        <p:spPr>
          <a:xfrm>
            <a:off x="1143000" y="2121408"/>
            <a:ext cx="2514600" cy="1051560"/>
          </a:xfrm>
          <a:prstGeom prst="roundRect">
            <a:avLst>
              <a:gd name="adj" fmla="val 10435"/>
            </a:avLst>
          </a:prstGeom>
          <a:solidFill>
            <a:srgbClr val="F0F3FF"/>
          </a:solidFill>
          <a:ln w="12700">
            <a:solidFill>
              <a:srgbClr val="D8DDF4"/>
            </a:solidFill>
            <a:prstDash val="solid"/>
          </a:ln>
        </p:spPr>
      </p:sp>
      <p:sp>
        <p:nvSpPr>
          <p:cNvPr id="9" name="Text 7"/>
          <p:cNvSpPr/>
          <p:nvPr/>
        </p:nvSpPr>
        <p:spPr>
          <a:xfrm>
            <a:off x="1325880" y="2377440"/>
            <a:ext cx="2148840" cy="502920"/>
          </a:xfrm>
          <a:prstGeom prst="rect">
            <a:avLst/>
          </a:prstGeom>
          <a:noFill/>
          <a:ln/>
        </p:spPr>
        <p:txBody>
          <a:bodyPr wrap="square" lIns="381" tIns="381" rIns="381" bIns="381" rtlCol="0" anchor="ctr">
            <a:normAutofit/>
          </a:bodyPr>
          <a:lstStyle/>
          <a:p>
            <a:pPr indent="0" marL="0">
              <a:buNone/>
            </a:pPr>
            <a:r>
              <a:rPr lang="en-US" sz="1280" b="1" dirty="0">
                <a:solidFill>
                  <a:srgbClr val="16324F"/>
                </a:solidFill>
              </a:rPr>
              <a:t>Lead asked: "Is the condo on Brickell still available?"</a:t>
            </a:r>
            <a:endParaRPr lang="en-US" sz="1280" dirty="0"/>
          </a:p>
        </p:txBody>
      </p:sp>
      <p:sp>
        <p:nvSpPr>
          <p:cNvPr id="10" name="Text 8"/>
          <p:cNvSpPr/>
          <p:nvPr/>
        </p:nvSpPr>
        <p:spPr>
          <a:xfrm>
            <a:off x="1143000" y="3730752"/>
            <a:ext cx="1371600" cy="182880"/>
          </a:xfrm>
          <a:prstGeom prst="rect">
            <a:avLst/>
          </a:prstGeom>
          <a:noFill/>
          <a:ln/>
        </p:spPr>
        <p:txBody>
          <a:bodyPr wrap="square" lIns="0" tIns="0" rIns="0" bIns="0" rtlCol="0" anchor="ctr"/>
          <a:lstStyle/>
          <a:p>
            <a:pPr indent="0" marL="0">
              <a:buNone/>
            </a:pPr>
            <a:r>
              <a:rPr lang="en-US" sz="950" b="1" dirty="0">
                <a:solidFill>
                  <a:srgbClr val="008F8F"/>
                </a:solidFill>
              </a:rPr>
              <a:t>Client context</a:t>
            </a:r>
            <a:endParaRPr lang="en-US" sz="950" dirty="0"/>
          </a:p>
        </p:txBody>
      </p:sp>
      <p:sp>
        <p:nvSpPr>
          <p:cNvPr id="11" name="Shape 9"/>
          <p:cNvSpPr/>
          <p:nvPr/>
        </p:nvSpPr>
        <p:spPr>
          <a:xfrm>
            <a:off x="4572000" y="1828800"/>
            <a:ext cx="6080760" cy="2971800"/>
          </a:xfrm>
          <a:prstGeom prst="roundRect">
            <a:avLst>
              <a:gd name="adj" fmla="val 1846"/>
            </a:avLst>
          </a:prstGeom>
          <a:solidFill>
            <a:srgbClr val="EAF7F7"/>
          </a:solidFill>
          <a:ln w="10160">
            <a:solidFill>
              <a:srgbClr val="D8E6E8"/>
            </a:solidFill>
            <a:prstDash val="solid"/>
          </a:ln>
        </p:spPr>
      </p:sp>
      <p:sp>
        <p:nvSpPr>
          <p:cNvPr id="12" name="Shape 10"/>
          <p:cNvSpPr/>
          <p:nvPr/>
        </p:nvSpPr>
        <p:spPr>
          <a:xfrm>
            <a:off x="4892040" y="2212848"/>
            <a:ext cx="5440680" cy="1600200"/>
          </a:xfrm>
          <a:prstGeom prst="roundRect">
            <a:avLst>
              <a:gd name="adj" fmla="val 6857"/>
            </a:avLst>
          </a:prstGeom>
          <a:solidFill>
            <a:srgbClr val="FFFFFF"/>
          </a:solidFill>
          <a:ln w="12700">
            <a:solidFill>
              <a:srgbClr val="CFE5E8"/>
            </a:solidFill>
            <a:prstDash val="solid"/>
          </a:ln>
        </p:spPr>
      </p:sp>
      <p:sp>
        <p:nvSpPr>
          <p:cNvPr id="13" name="Text 11"/>
          <p:cNvSpPr/>
          <p:nvPr/>
        </p:nvSpPr>
        <p:spPr>
          <a:xfrm>
            <a:off x="5166360" y="2487168"/>
            <a:ext cx="4892040" cy="1051560"/>
          </a:xfrm>
          <a:prstGeom prst="rect">
            <a:avLst/>
          </a:prstGeom>
          <a:noFill/>
          <a:ln/>
        </p:spPr>
        <p:txBody>
          <a:bodyPr wrap="square" lIns="381" tIns="381" rIns="381" bIns="381" rtlCol="0" anchor="ctr">
            <a:normAutofit/>
          </a:bodyPr>
          <a:lstStyle/>
          <a:p>
            <a:pPr indent="0" marL="0">
              <a:buNone/>
            </a:pPr>
            <a:r>
              <a:rPr lang="en-US" sz="1320" dirty="0">
                <a:solidFill>
                  <a:srgbClr val="102033"/>
                </a:solidFill>
              </a:rPr>
              <a:t>Weak: "Yes, it is available. Let me know if you want to see it."</a:t>
            </a:r>
            <a:endParaRPr lang="en-US" sz="1320" dirty="0"/>
          </a:p>
          <a:p>
            <a:pPr indent="0" marL="0">
              <a:buNone/>
            </a:pPr>
            <a:endParaRPr lang="en-US" sz="1320" dirty="0"/>
          </a:p>
          <a:p>
            <a:pPr indent="0" marL="0">
              <a:buNone/>
            </a:pPr>
            <a:r>
              <a:rPr lang="en-US" sz="1320" dirty="0">
                <a:solidFill>
                  <a:srgbClr val="102033"/>
                </a:solidFill>
              </a:rPr>
              <a:t>Better: "Yes, it appears available as of my latest check. Are you looking specifically in Brickell, or would similar buildings with strong amenities also be worth sending over?"</a:t>
            </a:r>
            <a:endParaRPr lang="en-US" sz="1320" dirty="0"/>
          </a:p>
        </p:txBody>
      </p:sp>
      <p:sp>
        <p:nvSpPr>
          <p:cNvPr id="14" name="Text 12"/>
          <p:cNvSpPr/>
          <p:nvPr/>
        </p:nvSpPr>
        <p:spPr>
          <a:xfrm>
            <a:off x="4892040" y="4133088"/>
            <a:ext cx="2057400" cy="182880"/>
          </a:xfrm>
          <a:prstGeom prst="rect">
            <a:avLst/>
          </a:prstGeom>
          <a:noFill/>
          <a:ln/>
        </p:spPr>
        <p:txBody>
          <a:bodyPr wrap="square" lIns="0" tIns="0" rIns="0" bIns="0" rtlCol="0" anchor="ctr"/>
          <a:lstStyle/>
          <a:p>
            <a:pPr indent="0" marL="0">
              <a:buNone/>
            </a:pPr>
            <a:r>
              <a:rPr lang="en-US" sz="950" b="1" dirty="0">
                <a:solidFill>
                  <a:srgbClr val="008F8F"/>
                </a:solidFill>
              </a:rPr>
              <a:t>Agent-reviewed response</a:t>
            </a:r>
            <a:endParaRPr lang="en-US" sz="950" dirty="0"/>
          </a:p>
        </p:txBody>
      </p:sp>
      <p:sp>
        <p:nvSpPr>
          <p:cNvPr id="15" name="Shape 13"/>
          <p:cNvSpPr/>
          <p:nvPr/>
        </p:nvSpPr>
        <p:spPr>
          <a:xfrm>
            <a:off x="502920" y="6473952"/>
            <a:ext cx="11201400" cy="0"/>
          </a:xfrm>
          <a:prstGeom prst="line">
            <a:avLst/>
          </a:prstGeom>
          <a:noFill/>
          <a:ln w="9525">
            <a:solidFill>
              <a:srgbClr val="D8E6E8"/>
            </a:solidFill>
            <a:prstDash val="solid"/>
          </a:ln>
        </p:spPr>
      </p:sp>
      <p:sp>
        <p:nvSpPr>
          <p:cNvPr id="16" name="Text 14"/>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7" name="Text 15"/>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24/48</a:t>
            </a:r>
            <a:endParaRPr lang="en-US" sz="7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AF7F7"/>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AF7F7"/>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ACTIVITY</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Build a first-response set</a:t>
            </a:r>
            <a:endParaRPr lang="en-US" sz="2800" dirty="0"/>
          </a:p>
        </p:txBody>
      </p:sp>
      <p:sp>
        <p:nvSpPr>
          <p:cNvPr id="7" name="Shape 5"/>
          <p:cNvSpPr/>
          <p:nvPr/>
        </p:nvSpPr>
        <p:spPr>
          <a:xfrm>
            <a:off x="822960" y="1755648"/>
            <a:ext cx="5413248" cy="109728"/>
          </a:xfrm>
          <a:prstGeom prst="rect">
            <a:avLst/>
          </a:prstGeom>
          <a:solidFill>
            <a:srgbClr val="F2B84B"/>
          </a:solidFill>
          <a:ln w="12700">
            <a:solidFill>
              <a:srgbClr val="F2B84B"/>
            </a:solidFill>
            <a:prstDash val="solid"/>
          </a:ln>
        </p:spPr>
      </p:sp>
      <p:sp>
        <p:nvSpPr>
          <p:cNvPr id="8" name="Shape 6"/>
          <p:cNvSpPr/>
          <p:nvPr/>
        </p:nvSpPr>
        <p:spPr>
          <a:xfrm>
            <a:off x="868680" y="1874520"/>
            <a:ext cx="5303520" cy="2560320"/>
          </a:xfrm>
          <a:prstGeom prst="roundRect">
            <a:avLst>
              <a:gd name="adj" fmla="val 2143"/>
            </a:avLst>
          </a:prstGeom>
          <a:solidFill>
            <a:srgbClr val="FFFFFF"/>
          </a:solidFill>
          <a:ln w="10160">
            <a:solidFill>
              <a:srgbClr val="D8E6E8"/>
            </a:solidFill>
            <a:prstDash val="solid"/>
          </a:ln>
        </p:spPr>
      </p:sp>
      <p:sp>
        <p:nvSpPr>
          <p:cNvPr id="9" name="Text 7"/>
          <p:cNvSpPr/>
          <p:nvPr/>
        </p:nvSpPr>
        <p:spPr>
          <a:xfrm>
            <a:off x="1143000" y="2103120"/>
            <a:ext cx="4663440" cy="320040"/>
          </a:xfrm>
          <a:prstGeom prst="rect">
            <a:avLst/>
          </a:prstGeom>
          <a:noFill/>
          <a:ln/>
        </p:spPr>
        <p:txBody>
          <a:bodyPr wrap="square" lIns="0" tIns="0" rIns="0" bIns="0" rtlCol="0" anchor="ctr">
            <a:normAutofit/>
          </a:bodyPr>
          <a:lstStyle/>
          <a:p>
            <a:pPr indent="0" marL="0">
              <a:buNone/>
            </a:pPr>
            <a:r>
              <a:rPr lang="en-US" sz="1400" dirty="0">
                <a:solidFill>
                  <a:srgbClr val="52606D"/>
                </a:solidFill>
              </a:rPr>
              <a:t>Synthetic lead: Online buyer asks about a 2-bedroom condo and leaves no timeline.</a:t>
            </a:r>
            <a:endParaRPr lang="en-US" sz="1400" dirty="0"/>
          </a:p>
        </p:txBody>
      </p:sp>
      <p:sp>
        <p:nvSpPr>
          <p:cNvPr id="10" name="Text 8"/>
          <p:cNvSpPr/>
          <p:nvPr/>
        </p:nvSpPr>
        <p:spPr>
          <a:xfrm>
            <a:off x="1143000" y="4005072"/>
            <a:ext cx="2194560" cy="182880"/>
          </a:xfrm>
          <a:prstGeom prst="rect">
            <a:avLst/>
          </a:prstGeom>
          <a:noFill/>
          <a:ln/>
        </p:spPr>
        <p:txBody>
          <a:bodyPr wrap="square" lIns="0" tIns="0" rIns="0" bIns="0" rtlCol="0" anchor="ctr"/>
          <a:lstStyle/>
          <a:p>
            <a:pPr indent="0" marL="0">
              <a:buNone/>
            </a:pPr>
            <a:r>
              <a:rPr lang="en-US" sz="950" b="1" dirty="0">
                <a:solidFill>
                  <a:srgbClr val="008F8F"/>
                </a:solidFill>
              </a:rPr>
              <a:t>Workshop canvas</a:t>
            </a:r>
            <a:endParaRPr lang="en-US" sz="950" dirty="0"/>
          </a:p>
        </p:txBody>
      </p:sp>
      <p:sp>
        <p:nvSpPr>
          <p:cNvPr id="11" name="Shape 9"/>
          <p:cNvSpPr/>
          <p:nvPr/>
        </p:nvSpPr>
        <p:spPr>
          <a:xfrm>
            <a:off x="6446520" y="1810512"/>
            <a:ext cx="4343400" cy="2697480"/>
          </a:xfrm>
          <a:prstGeom prst="roundRect">
            <a:avLst>
              <a:gd name="adj" fmla="val 2034"/>
            </a:avLst>
          </a:prstGeom>
          <a:solidFill>
            <a:srgbClr val="E9F8F0"/>
          </a:solidFill>
          <a:ln w="10160">
            <a:solidFill>
              <a:srgbClr val="BBDCC9"/>
            </a:solidFill>
            <a:prstDash val="solid"/>
          </a:ln>
        </p:spPr>
      </p:sp>
      <p:sp>
        <p:nvSpPr>
          <p:cNvPr id="12" name="Text 10"/>
          <p:cNvSpPr/>
          <p:nvPr/>
        </p:nvSpPr>
        <p:spPr>
          <a:xfrm>
            <a:off x="6720840" y="2148840"/>
            <a:ext cx="3657600" cy="182880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02033"/>
                </a:solidFill>
                <a:latin typeface="Aptos" pitchFamily="34" charset="0"/>
                <a:ea typeface="Aptos" pitchFamily="34" charset="-122"/>
                <a:cs typeface="Aptos" pitchFamily="34" charset="-120"/>
              </a:rPr>
              <a:t>Draft a text message</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Draft a short email</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Draft a voicemail opener</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Add one appointment-oriented next step</a:t>
            </a:r>
            <a:endParaRPr lang="en-US" sz="1500" dirty="0"/>
          </a:p>
        </p:txBody>
      </p:sp>
      <p:sp>
        <p:nvSpPr>
          <p:cNvPr id="13" name="Text 11"/>
          <p:cNvSpPr/>
          <p:nvPr/>
        </p:nvSpPr>
        <p:spPr>
          <a:xfrm>
            <a:off x="9738360" y="4069080"/>
            <a:ext cx="731520" cy="201168"/>
          </a:xfrm>
          <a:prstGeom prst="rect">
            <a:avLst/>
          </a:prstGeom>
          <a:noFill/>
          <a:ln/>
        </p:spPr>
        <p:txBody>
          <a:bodyPr wrap="square" lIns="0" tIns="0" rIns="0" bIns="0" rtlCol="0" anchor="ctr"/>
          <a:lstStyle/>
          <a:p>
            <a:pPr indent="0" marL="0">
              <a:buNone/>
            </a:pPr>
            <a:r>
              <a:rPr lang="en-US" sz="950" b="1" dirty="0">
                <a:solidFill>
                  <a:srgbClr val="2E7D5B"/>
                </a:solidFill>
              </a:rPr>
              <a:t>4-6 min</a:t>
            </a:r>
            <a:endParaRPr lang="en-US" sz="9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25/48</a:t>
            </a:r>
            <a:endParaRPr lang="en-US" sz="7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4D9"/>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4D9"/>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MEASURE</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Track whether AI is improving follow-up quality</a:t>
            </a:r>
            <a:endParaRPr lang="en-US" sz="2800" dirty="0"/>
          </a:p>
        </p:txBody>
      </p:sp>
      <p:sp>
        <p:nvSpPr>
          <p:cNvPr id="7" name="Shape 5"/>
          <p:cNvSpPr/>
          <p:nvPr/>
        </p:nvSpPr>
        <p:spPr>
          <a:xfrm>
            <a:off x="868680" y="1828800"/>
            <a:ext cx="4572000" cy="1078992"/>
          </a:xfrm>
          <a:prstGeom prst="roundRect">
            <a:avLst>
              <a:gd name="adj" fmla="val 5085"/>
            </a:avLst>
          </a:prstGeom>
          <a:solidFill>
            <a:srgbClr val="FFFFFF"/>
          </a:solidFill>
          <a:ln w="10160">
            <a:solidFill>
              <a:srgbClr val="D8E6E8"/>
            </a:solidFill>
            <a:prstDash val="solid"/>
          </a:ln>
        </p:spPr>
      </p:sp>
      <p:sp>
        <p:nvSpPr>
          <p:cNvPr id="8" name="Shape 6"/>
          <p:cNvSpPr/>
          <p:nvPr/>
        </p:nvSpPr>
        <p:spPr>
          <a:xfrm>
            <a:off x="1097280" y="2084832"/>
            <a:ext cx="402336" cy="402336"/>
          </a:xfrm>
          <a:prstGeom prst="ellipse">
            <a:avLst/>
          </a:prstGeom>
          <a:solidFill>
            <a:srgbClr val="008F8F"/>
          </a:solidFill>
          <a:ln w="12700">
            <a:solidFill>
              <a:srgbClr val="008F8F"/>
            </a:solidFill>
            <a:prstDash val="solid"/>
          </a:ln>
        </p:spPr>
      </p:sp>
      <p:sp>
        <p:nvSpPr>
          <p:cNvPr id="9" name="Text 7"/>
          <p:cNvSpPr/>
          <p:nvPr/>
        </p:nvSpPr>
        <p:spPr>
          <a:xfrm>
            <a:off x="1097280" y="217627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10" name="Text 8"/>
          <p:cNvSpPr/>
          <p:nvPr/>
        </p:nvSpPr>
        <p:spPr>
          <a:xfrm>
            <a:off x="1691640" y="2029968"/>
            <a:ext cx="3474720" cy="201168"/>
          </a:xfrm>
          <a:prstGeom prst="rect">
            <a:avLst/>
          </a:prstGeom>
          <a:noFill/>
          <a:ln/>
        </p:spPr>
        <p:txBody>
          <a:bodyPr wrap="square" lIns="0" tIns="0" rIns="0" bIns="0" rtlCol="0" anchor="ctr"/>
          <a:lstStyle/>
          <a:p>
            <a:pPr indent="0" marL="0">
              <a:buNone/>
            </a:pPr>
            <a:r>
              <a:rPr lang="en-US" sz="1450" b="1" dirty="0">
                <a:solidFill>
                  <a:srgbClr val="16324F"/>
                </a:solidFill>
              </a:rPr>
              <a:t>Response rate</a:t>
            </a:r>
            <a:endParaRPr lang="en-US" sz="1450" dirty="0"/>
          </a:p>
        </p:txBody>
      </p:sp>
      <p:sp>
        <p:nvSpPr>
          <p:cNvPr id="11" name="Text 9"/>
          <p:cNvSpPr/>
          <p:nvPr/>
        </p:nvSpPr>
        <p:spPr>
          <a:xfrm>
            <a:off x="1691640" y="2331720"/>
            <a:ext cx="3474720" cy="347472"/>
          </a:xfrm>
          <a:prstGeom prst="rect">
            <a:avLst/>
          </a:prstGeom>
          <a:noFill/>
          <a:ln/>
        </p:spPr>
        <p:txBody>
          <a:bodyPr wrap="square" lIns="0" tIns="0" rIns="0" bIns="0" rtlCol="0" anchor="ctr">
            <a:normAutofit/>
          </a:bodyPr>
          <a:lstStyle/>
          <a:p>
            <a:pPr indent="0" marL="0">
              <a:buNone/>
            </a:pPr>
            <a:r>
              <a:rPr lang="en-US" sz="1070" dirty="0">
                <a:solidFill>
                  <a:srgbClr val="52606D"/>
                </a:solidFill>
              </a:rPr>
              <a:t>Are more leads replying?</a:t>
            </a:r>
            <a:endParaRPr lang="en-US" sz="1070" dirty="0"/>
          </a:p>
        </p:txBody>
      </p:sp>
      <p:sp>
        <p:nvSpPr>
          <p:cNvPr id="12" name="Shape 10"/>
          <p:cNvSpPr/>
          <p:nvPr/>
        </p:nvSpPr>
        <p:spPr>
          <a:xfrm>
            <a:off x="6126480" y="1828800"/>
            <a:ext cx="4572000" cy="1078992"/>
          </a:xfrm>
          <a:prstGeom prst="roundRect">
            <a:avLst>
              <a:gd name="adj" fmla="val 5085"/>
            </a:avLst>
          </a:prstGeom>
          <a:solidFill>
            <a:srgbClr val="FFFFFF"/>
          </a:solidFill>
          <a:ln w="10160">
            <a:solidFill>
              <a:srgbClr val="D8E6E8"/>
            </a:solidFill>
            <a:prstDash val="solid"/>
          </a:ln>
        </p:spPr>
      </p:sp>
      <p:sp>
        <p:nvSpPr>
          <p:cNvPr id="13" name="Shape 11"/>
          <p:cNvSpPr/>
          <p:nvPr/>
        </p:nvSpPr>
        <p:spPr>
          <a:xfrm>
            <a:off x="6355080" y="2084832"/>
            <a:ext cx="402336" cy="402336"/>
          </a:xfrm>
          <a:prstGeom prst="ellipse">
            <a:avLst/>
          </a:prstGeom>
          <a:solidFill>
            <a:srgbClr val="2F80ED"/>
          </a:solidFill>
          <a:ln w="12700">
            <a:solidFill>
              <a:srgbClr val="2F80ED"/>
            </a:solidFill>
            <a:prstDash val="solid"/>
          </a:ln>
        </p:spPr>
      </p:sp>
      <p:sp>
        <p:nvSpPr>
          <p:cNvPr id="14" name="Text 12"/>
          <p:cNvSpPr/>
          <p:nvPr/>
        </p:nvSpPr>
        <p:spPr>
          <a:xfrm>
            <a:off x="6355080" y="217627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15" name="Text 13"/>
          <p:cNvSpPr/>
          <p:nvPr/>
        </p:nvSpPr>
        <p:spPr>
          <a:xfrm>
            <a:off x="6949440" y="2029968"/>
            <a:ext cx="3474720" cy="201168"/>
          </a:xfrm>
          <a:prstGeom prst="rect">
            <a:avLst/>
          </a:prstGeom>
          <a:noFill/>
          <a:ln/>
        </p:spPr>
        <p:txBody>
          <a:bodyPr wrap="square" lIns="0" tIns="0" rIns="0" bIns="0" rtlCol="0" anchor="ctr"/>
          <a:lstStyle/>
          <a:p>
            <a:pPr indent="0" marL="0">
              <a:buNone/>
            </a:pPr>
            <a:r>
              <a:rPr lang="en-US" sz="1450" b="1" dirty="0">
                <a:solidFill>
                  <a:srgbClr val="16324F"/>
                </a:solidFill>
              </a:rPr>
              <a:t>Contact rate</a:t>
            </a:r>
            <a:endParaRPr lang="en-US" sz="1450" dirty="0"/>
          </a:p>
        </p:txBody>
      </p:sp>
      <p:sp>
        <p:nvSpPr>
          <p:cNvPr id="16" name="Text 14"/>
          <p:cNvSpPr/>
          <p:nvPr/>
        </p:nvSpPr>
        <p:spPr>
          <a:xfrm>
            <a:off x="6949440" y="2331720"/>
            <a:ext cx="3474720" cy="347472"/>
          </a:xfrm>
          <a:prstGeom prst="rect">
            <a:avLst/>
          </a:prstGeom>
          <a:noFill/>
          <a:ln/>
        </p:spPr>
        <p:txBody>
          <a:bodyPr wrap="square" lIns="0" tIns="0" rIns="0" bIns="0" rtlCol="0" anchor="ctr">
            <a:normAutofit/>
          </a:bodyPr>
          <a:lstStyle/>
          <a:p>
            <a:pPr indent="0" marL="0">
              <a:buNone/>
            </a:pPr>
            <a:r>
              <a:rPr lang="en-US" sz="1070" dirty="0">
                <a:solidFill>
                  <a:srgbClr val="52606D"/>
                </a:solidFill>
              </a:rPr>
              <a:t>Are conversations starting?</a:t>
            </a:r>
            <a:endParaRPr lang="en-US" sz="1070" dirty="0"/>
          </a:p>
        </p:txBody>
      </p:sp>
      <p:sp>
        <p:nvSpPr>
          <p:cNvPr id="17" name="Shape 15"/>
          <p:cNvSpPr/>
          <p:nvPr/>
        </p:nvSpPr>
        <p:spPr>
          <a:xfrm>
            <a:off x="868680" y="3246120"/>
            <a:ext cx="4572000" cy="1078992"/>
          </a:xfrm>
          <a:prstGeom prst="roundRect">
            <a:avLst>
              <a:gd name="adj" fmla="val 5085"/>
            </a:avLst>
          </a:prstGeom>
          <a:solidFill>
            <a:srgbClr val="FFFFFF"/>
          </a:solidFill>
          <a:ln w="10160">
            <a:solidFill>
              <a:srgbClr val="D8E6E8"/>
            </a:solidFill>
            <a:prstDash val="solid"/>
          </a:ln>
        </p:spPr>
      </p:sp>
      <p:sp>
        <p:nvSpPr>
          <p:cNvPr id="18" name="Shape 16"/>
          <p:cNvSpPr/>
          <p:nvPr/>
        </p:nvSpPr>
        <p:spPr>
          <a:xfrm>
            <a:off x="1097280" y="3502152"/>
            <a:ext cx="402336" cy="402336"/>
          </a:xfrm>
          <a:prstGeom prst="ellipse">
            <a:avLst/>
          </a:prstGeom>
          <a:solidFill>
            <a:srgbClr val="F45B69"/>
          </a:solidFill>
          <a:ln w="12700">
            <a:solidFill>
              <a:srgbClr val="F45B69"/>
            </a:solidFill>
            <a:prstDash val="solid"/>
          </a:ln>
        </p:spPr>
      </p:sp>
      <p:sp>
        <p:nvSpPr>
          <p:cNvPr id="19" name="Text 17"/>
          <p:cNvSpPr/>
          <p:nvPr/>
        </p:nvSpPr>
        <p:spPr>
          <a:xfrm>
            <a:off x="1097280" y="359359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20" name="Text 18"/>
          <p:cNvSpPr/>
          <p:nvPr/>
        </p:nvSpPr>
        <p:spPr>
          <a:xfrm>
            <a:off x="1691640" y="3447288"/>
            <a:ext cx="3474720" cy="201168"/>
          </a:xfrm>
          <a:prstGeom prst="rect">
            <a:avLst/>
          </a:prstGeom>
          <a:noFill/>
          <a:ln/>
        </p:spPr>
        <p:txBody>
          <a:bodyPr wrap="square" lIns="0" tIns="0" rIns="0" bIns="0" rtlCol="0" anchor="ctr"/>
          <a:lstStyle/>
          <a:p>
            <a:pPr indent="0" marL="0">
              <a:buNone/>
            </a:pPr>
            <a:r>
              <a:rPr lang="en-US" sz="1450" b="1" dirty="0">
                <a:solidFill>
                  <a:srgbClr val="16324F"/>
                </a:solidFill>
              </a:rPr>
              <a:t>Appointment rate</a:t>
            </a:r>
            <a:endParaRPr lang="en-US" sz="1450" dirty="0"/>
          </a:p>
        </p:txBody>
      </p:sp>
      <p:sp>
        <p:nvSpPr>
          <p:cNvPr id="21" name="Text 19"/>
          <p:cNvSpPr/>
          <p:nvPr/>
        </p:nvSpPr>
        <p:spPr>
          <a:xfrm>
            <a:off x="1691640" y="3749040"/>
            <a:ext cx="3474720" cy="347472"/>
          </a:xfrm>
          <a:prstGeom prst="rect">
            <a:avLst/>
          </a:prstGeom>
          <a:noFill/>
          <a:ln/>
        </p:spPr>
        <p:txBody>
          <a:bodyPr wrap="square" lIns="0" tIns="0" rIns="0" bIns="0" rtlCol="0" anchor="ctr">
            <a:normAutofit/>
          </a:bodyPr>
          <a:lstStyle/>
          <a:p>
            <a:pPr indent="0" marL="0">
              <a:buNone/>
            </a:pPr>
            <a:r>
              <a:rPr lang="en-US" sz="1070" dirty="0">
                <a:solidFill>
                  <a:srgbClr val="52606D"/>
                </a:solidFill>
              </a:rPr>
              <a:t>Are replies becoming meetings?</a:t>
            </a:r>
            <a:endParaRPr lang="en-US" sz="1070" dirty="0"/>
          </a:p>
        </p:txBody>
      </p:sp>
      <p:sp>
        <p:nvSpPr>
          <p:cNvPr id="22" name="Shape 20"/>
          <p:cNvSpPr/>
          <p:nvPr/>
        </p:nvSpPr>
        <p:spPr>
          <a:xfrm>
            <a:off x="6126480" y="3246120"/>
            <a:ext cx="4572000" cy="1078992"/>
          </a:xfrm>
          <a:prstGeom prst="roundRect">
            <a:avLst>
              <a:gd name="adj" fmla="val 5085"/>
            </a:avLst>
          </a:prstGeom>
          <a:solidFill>
            <a:srgbClr val="FFFFFF"/>
          </a:solidFill>
          <a:ln w="10160">
            <a:solidFill>
              <a:srgbClr val="D8E6E8"/>
            </a:solidFill>
            <a:prstDash val="solid"/>
          </a:ln>
        </p:spPr>
      </p:sp>
      <p:sp>
        <p:nvSpPr>
          <p:cNvPr id="23" name="Shape 21"/>
          <p:cNvSpPr/>
          <p:nvPr/>
        </p:nvSpPr>
        <p:spPr>
          <a:xfrm>
            <a:off x="6355080" y="3502152"/>
            <a:ext cx="402336" cy="402336"/>
          </a:xfrm>
          <a:prstGeom prst="ellipse">
            <a:avLst/>
          </a:prstGeom>
          <a:solidFill>
            <a:srgbClr val="2E7D5B"/>
          </a:solidFill>
          <a:ln w="12700">
            <a:solidFill>
              <a:srgbClr val="2E7D5B"/>
            </a:solidFill>
            <a:prstDash val="solid"/>
          </a:ln>
        </p:spPr>
      </p:sp>
      <p:sp>
        <p:nvSpPr>
          <p:cNvPr id="24" name="Text 22"/>
          <p:cNvSpPr/>
          <p:nvPr/>
        </p:nvSpPr>
        <p:spPr>
          <a:xfrm>
            <a:off x="6355080" y="359359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25" name="Text 23"/>
          <p:cNvSpPr/>
          <p:nvPr/>
        </p:nvSpPr>
        <p:spPr>
          <a:xfrm>
            <a:off x="6949440" y="3447288"/>
            <a:ext cx="3474720" cy="201168"/>
          </a:xfrm>
          <a:prstGeom prst="rect">
            <a:avLst/>
          </a:prstGeom>
          <a:noFill/>
          <a:ln/>
        </p:spPr>
        <p:txBody>
          <a:bodyPr wrap="square" lIns="0" tIns="0" rIns="0" bIns="0" rtlCol="0" anchor="ctr"/>
          <a:lstStyle/>
          <a:p>
            <a:pPr indent="0" marL="0">
              <a:buNone/>
            </a:pPr>
            <a:r>
              <a:rPr lang="en-US" sz="1450" b="1" dirty="0">
                <a:solidFill>
                  <a:srgbClr val="16324F"/>
                </a:solidFill>
              </a:rPr>
              <a:t>Time to response</a:t>
            </a:r>
            <a:endParaRPr lang="en-US" sz="1450" dirty="0"/>
          </a:p>
        </p:txBody>
      </p:sp>
      <p:sp>
        <p:nvSpPr>
          <p:cNvPr id="26" name="Text 24"/>
          <p:cNvSpPr/>
          <p:nvPr/>
        </p:nvSpPr>
        <p:spPr>
          <a:xfrm>
            <a:off x="6949440" y="3749040"/>
            <a:ext cx="3474720" cy="347472"/>
          </a:xfrm>
          <a:prstGeom prst="rect">
            <a:avLst/>
          </a:prstGeom>
          <a:noFill/>
          <a:ln/>
        </p:spPr>
        <p:txBody>
          <a:bodyPr wrap="square" lIns="0" tIns="0" rIns="0" bIns="0" rtlCol="0" anchor="ctr">
            <a:normAutofit/>
          </a:bodyPr>
          <a:lstStyle/>
          <a:p>
            <a:pPr indent="0" marL="0">
              <a:buNone/>
            </a:pPr>
            <a:r>
              <a:rPr lang="en-US" sz="1070" dirty="0">
                <a:solidFill>
                  <a:srgbClr val="52606D"/>
                </a:solidFill>
              </a:rPr>
              <a:t>Are first touches faster?</a:t>
            </a:r>
            <a:endParaRPr lang="en-US" sz="1070" dirty="0"/>
          </a:p>
        </p:txBody>
      </p:sp>
      <p:sp>
        <p:nvSpPr>
          <p:cNvPr id="27" name="Shape 25"/>
          <p:cNvSpPr/>
          <p:nvPr/>
        </p:nvSpPr>
        <p:spPr>
          <a:xfrm>
            <a:off x="502920" y="6473952"/>
            <a:ext cx="11201400" cy="0"/>
          </a:xfrm>
          <a:prstGeom prst="line">
            <a:avLst/>
          </a:prstGeom>
          <a:noFill/>
          <a:ln w="9525">
            <a:solidFill>
              <a:srgbClr val="D8E6E8"/>
            </a:solidFill>
            <a:prstDash val="solid"/>
          </a:ln>
        </p:spPr>
      </p:sp>
      <p:sp>
        <p:nvSpPr>
          <p:cNvPr id="28" name="Text 26"/>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29" name="Text 27"/>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26/48</a:t>
            </a:r>
            <a:endParaRPr lang="en-US" sz="7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749808" y="822960"/>
            <a:ext cx="3840480" cy="256032"/>
          </a:xfrm>
          <a:prstGeom prst="rect">
            <a:avLst/>
          </a:prstGeom>
          <a:noFill/>
          <a:ln/>
        </p:spPr>
        <p:txBody>
          <a:bodyPr wrap="square" lIns="0" tIns="0" rIns="0" bIns="0" rtlCol="0" anchor="ctr"/>
          <a:lstStyle/>
          <a:p>
            <a:pPr indent="0" marL="0">
              <a:buNone/>
            </a:pPr>
            <a:r>
              <a:rPr lang="en-US" sz="1100" b="1" dirty="0">
                <a:solidFill>
                  <a:srgbClr val="F2B84B"/>
                </a:solidFill>
              </a:rPr>
              <a:t>SECTION 5</a:t>
            </a:r>
            <a:endParaRPr lang="en-US" sz="1100" dirty="0"/>
          </a:p>
        </p:txBody>
      </p:sp>
      <p:sp>
        <p:nvSpPr>
          <p:cNvPr id="3" name="Text 1"/>
          <p:cNvSpPr/>
          <p:nvPr/>
        </p:nvSpPr>
        <p:spPr>
          <a:xfrm>
            <a:off x="713232" y="1828800"/>
            <a:ext cx="9966960" cy="77724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AI for Listings, Sellers, and Marketing</a:t>
            </a:r>
            <a:endParaRPr lang="en-US" sz="3400" dirty="0"/>
          </a:p>
        </p:txBody>
      </p:sp>
      <p:sp>
        <p:nvSpPr>
          <p:cNvPr id="4" name="Text 2"/>
          <p:cNvSpPr/>
          <p:nvPr/>
        </p:nvSpPr>
        <p:spPr>
          <a:xfrm>
            <a:off x="749808" y="2852928"/>
            <a:ext cx="8138160" cy="411480"/>
          </a:xfrm>
          <a:prstGeom prst="rect">
            <a:avLst/>
          </a:prstGeom>
          <a:noFill/>
          <a:ln/>
        </p:spPr>
        <p:txBody>
          <a:bodyPr wrap="square" lIns="0" tIns="0" rIns="0" bIns="0" rtlCol="0" anchor="ctr">
            <a:normAutofit/>
          </a:bodyPr>
          <a:lstStyle/>
          <a:p>
            <a:pPr indent="0" marL="0">
              <a:buNone/>
            </a:pPr>
            <a:r>
              <a:rPr lang="en-US" sz="1600" dirty="0">
                <a:solidFill>
                  <a:srgbClr val="DCEEEF"/>
                </a:solidFill>
              </a:rPr>
              <a:t>Facts first. Polish second. Human review always.</a:t>
            </a:r>
            <a:endParaRPr lang="en-US" sz="1600" dirty="0"/>
          </a:p>
        </p:txBody>
      </p:sp>
      <p:sp>
        <p:nvSpPr>
          <p:cNvPr id="5" name="Shape 3"/>
          <p:cNvSpPr/>
          <p:nvPr/>
        </p:nvSpPr>
        <p:spPr>
          <a:xfrm>
            <a:off x="749808" y="3657600"/>
            <a:ext cx="1828800" cy="0"/>
          </a:xfrm>
          <a:prstGeom prst="line">
            <a:avLst/>
          </a:prstGeom>
          <a:noFill/>
          <a:ln w="50800">
            <a:solidFill>
              <a:srgbClr val="F45B69"/>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0F3F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0F3F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LISTING PREP</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AI is useful when you feed it verified property facts</a:t>
            </a:r>
            <a:endParaRPr lang="en-US" sz="2800" dirty="0"/>
          </a:p>
        </p:txBody>
      </p:sp>
      <p:sp>
        <p:nvSpPr>
          <p:cNvPr id="7" name="Text 5"/>
          <p:cNvSpPr/>
          <p:nvPr/>
        </p:nvSpPr>
        <p:spPr>
          <a:xfrm>
            <a:off x="868680" y="1874520"/>
            <a:ext cx="6400800" cy="3657600"/>
          </a:xfrm>
          <a:prstGeom prst="rect">
            <a:avLst/>
          </a:prstGeom>
          <a:noFill/>
          <a:ln/>
        </p:spPr>
        <p:txBody>
          <a:bodyPr wrap="square" lIns="254" tIns="254" rIns="254" bIns="254" rtlCol="0" anchor="t">
            <a:normAutofit/>
          </a:bodyPr>
          <a:lstStyle/>
          <a:p>
            <a:pPr marL="203200" indent="-203200">
              <a:buSzPct val="100000"/>
              <a:buChar char="•"/>
            </a:pPr>
            <a:r>
              <a:rPr lang="en-US" sz="1650" dirty="0">
                <a:solidFill>
                  <a:srgbClr val="102033"/>
                </a:solidFill>
                <a:latin typeface="Aptos" pitchFamily="34" charset="0"/>
                <a:ea typeface="Aptos" pitchFamily="34" charset="-122"/>
                <a:cs typeface="Aptos" pitchFamily="34" charset="-120"/>
              </a:rPr>
              <a:t>Property features and improvements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Showing feedback and buyer questions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Seller goals and timing</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Factual neighborhood context</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Desired tone and format</a:t>
            </a:r>
            <a:endParaRPr lang="en-US" sz="1650" dirty="0"/>
          </a:p>
        </p:txBody>
      </p:sp>
      <p:sp>
        <p:nvSpPr>
          <p:cNvPr id="8" name="Shape 6"/>
          <p:cNvSpPr/>
          <p:nvPr/>
        </p:nvSpPr>
        <p:spPr>
          <a:xfrm>
            <a:off x="7571232" y="1828800"/>
            <a:ext cx="3246120" cy="2788920"/>
          </a:xfrm>
          <a:prstGeom prst="roundRect">
            <a:avLst>
              <a:gd name="adj" fmla="val 1967"/>
            </a:avLst>
          </a:prstGeom>
          <a:solidFill>
            <a:srgbClr val="F0F3FF"/>
          </a:solidFill>
          <a:ln w="10160">
            <a:solidFill>
              <a:srgbClr val="BFDADC"/>
            </a:solidFill>
            <a:prstDash val="solid"/>
          </a:ln>
        </p:spPr>
      </p:sp>
      <p:sp>
        <p:nvSpPr>
          <p:cNvPr id="9" name="Text 7"/>
          <p:cNvSpPr/>
          <p:nvPr/>
        </p:nvSpPr>
        <p:spPr>
          <a:xfrm>
            <a:off x="7882128" y="2148840"/>
            <a:ext cx="2606040" cy="530352"/>
          </a:xfrm>
          <a:prstGeom prst="rect">
            <a:avLst/>
          </a:prstGeom>
          <a:noFill/>
          <a:ln/>
        </p:spPr>
        <p:txBody>
          <a:bodyPr wrap="square" lIns="0" tIns="0" rIns="0" bIns="0" rtlCol="0" anchor="ctr">
            <a:normAutofit/>
          </a:bodyPr>
          <a:lstStyle/>
          <a:p>
            <a:pPr indent="0" marL="0">
              <a:buNone/>
            </a:pPr>
            <a:r>
              <a:rPr lang="en-US" sz="1750" b="1" dirty="0">
                <a:solidFill>
                  <a:srgbClr val="16324F"/>
                </a:solidFill>
              </a:rPr>
              <a:t>Facts first</a:t>
            </a:r>
            <a:endParaRPr lang="en-US" sz="1750" dirty="0"/>
          </a:p>
        </p:txBody>
      </p:sp>
      <p:sp>
        <p:nvSpPr>
          <p:cNvPr id="10" name="Text 8"/>
          <p:cNvSpPr/>
          <p:nvPr/>
        </p:nvSpPr>
        <p:spPr>
          <a:xfrm>
            <a:off x="7882128" y="2944368"/>
            <a:ext cx="2514600" cy="960120"/>
          </a:xfrm>
          <a:prstGeom prst="rect">
            <a:avLst/>
          </a:prstGeom>
          <a:noFill/>
          <a:ln/>
        </p:spPr>
        <p:txBody>
          <a:bodyPr wrap="square" lIns="508" tIns="508" rIns="508" bIns="508" rtlCol="0" anchor="ctr">
            <a:normAutofit/>
          </a:bodyPr>
          <a:lstStyle/>
          <a:p>
            <a:pPr indent="0" marL="0">
              <a:buNone/>
            </a:pPr>
            <a:r>
              <a:rPr lang="en-US" sz="1220" dirty="0">
                <a:solidFill>
                  <a:srgbClr val="102033"/>
                </a:solidFill>
              </a:rPr>
              <a:t>Feed AI verified property facts. Do not ask it to invent listing details.</a:t>
            </a:r>
            <a:endParaRPr lang="en-US" sz="1220" dirty="0"/>
          </a:p>
        </p:txBody>
      </p:sp>
      <p:sp>
        <p:nvSpPr>
          <p:cNvPr id="11" name="Shape 9"/>
          <p:cNvSpPr/>
          <p:nvPr/>
        </p:nvSpPr>
        <p:spPr>
          <a:xfrm>
            <a:off x="7882128" y="4160520"/>
            <a:ext cx="1097280" cy="0"/>
          </a:xfrm>
          <a:prstGeom prst="line">
            <a:avLst/>
          </a:prstGeom>
          <a:noFill/>
          <a:ln w="38100">
            <a:solidFill>
              <a:srgbClr val="008F8F"/>
            </a:solidFill>
            <a:prstDash val="solid"/>
          </a:ln>
        </p:spPr>
      </p:sp>
      <p:sp>
        <p:nvSpPr>
          <p:cNvPr id="12" name="Shape 10"/>
          <p:cNvSpPr/>
          <p:nvPr/>
        </p:nvSpPr>
        <p:spPr>
          <a:xfrm>
            <a:off x="7882128" y="4370832"/>
            <a:ext cx="493776" cy="493776"/>
          </a:xfrm>
          <a:prstGeom prst="roundRect">
            <a:avLst>
              <a:gd name="adj" fmla="val 14815"/>
            </a:avLst>
          </a:prstGeom>
          <a:solidFill>
            <a:srgbClr val="008F8F"/>
          </a:solidFill>
          <a:ln w="12700">
            <a:solidFill>
              <a:srgbClr val="008F8F"/>
            </a:solidFill>
            <a:prstDash val="solid"/>
          </a:ln>
        </p:spPr>
      </p:sp>
      <p:sp>
        <p:nvSpPr>
          <p:cNvPr id="13" name="Text 11"/>
          <p:cNvSpPr/>
          <p:nvPr/>
        </p:nvSpPr>
        <p:spPr>
          <a:xfrm>
            <a:off x="7927848" y="4507992"/>
            <a:ext cx="402336" cy="128016"/>
          </a:xfrm>
          <a:prstGeom prst="rect">
            <a:avLst/>
          </a:prstGeom>
          <a:noFill/>
          <a:ln/>
        </p:spPr>
        <p:txBody>
          <a:bodyPr wrap="square" lIns="0" tIns="0" rIns="0" bIns="0" rtlCol="0" anchor="ctr"/>
          <a:lstStyle/>
          <a:p>
            <a:pPr algn="ctr" indent="0" marL="0">
              <a:buNone/>
            </a:pPr>
            <a:r>
              <a:rPr lang="en-US" sz="850" b="1" dirty="0">
                <a:solidFill>
                  <a:srgbClr val="FFFFFF"/>
                </a:solidFill>
              </a:rPr>
              <a:t>AI</a:t>
            </a:r>
            <a:endParaRPr lang="en-US" sz="8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28/48</a:t>
            </a:r>
            <a:endParaRPr lang="en-US" sz="7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9F8F0"/>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9F8F0"/>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LISTING COPY</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From bullet points to polished marketing copy</a:t>
            </a:r>
            <a:endParaRPr lang="en-US" sz="2800" dirty="0"/>
          </a:p>
        </p:txBody>
      </p:sp>
      <p:sp>
        <p:nvSpPr>
          <p:cNvPr id="7" name="Shape 5"/>
          <p:cNvSpPr/>
          <p:nvPr/>
        </p:nvSpPr>
        <p:spPr>
          <a:xfrm>
            <a:off x="868680" y="1828800"/>
            <a:ext cx="4663440" cy="3108960"/>
          </a:xfrm>
          <a:prstGeom prst="roundRect">
            <a:avLst>
              <a:gd name="adj" fmla="val 1765"/>
            </a:avLst>
          </a:prstGeom>
          <a:solidFill>
            <a:srgbClr val="FFF0EF"/>
          </a:solidFill>
          <a:ln w="10160">
            <a:solidFill>
              <a:srgbClr val="D8E6E8"/>
            </a:solidFill>
            <a:prstDash val="solid"/>
          </a:ln>
        </p:spPr>
      </p:sp>
      <p:sp>
        <p:nvSpPr>
          <p:cNvPr id="8" name="Text 6"/>
          <p:cNvSpPr/>
          <p:nvPr/>
        </p:nvSpPr>
        <p:spPr>
          <a:xfrm>
            <a:off x="1124712" y="2084832"/>
            <a:ext cx="1371600" cy="201168"/>
          </a:xfrm>
          <a:prstGeom prst="rect">
            <a:avLst/>
          </a:prstGeom>
          <a:noFill/>
          <a:ln/>
        </p:spPr>
        <p:txBody>
          <a:bodyPr wrap="square" lIns="0" tIns="0" rIns="0" bIns="0" rtlCol="0" anchor="ctr"/>
          <a:lstStyle/>
          <a:p>
            <a:pPr indent="0" marL="0">
              <a:buNone/>
            </a:pPr>
            <a:r>
              <a:rPr lang="en-US" sz="1000" b="1" dirty="0">
                <a:solidFill>
                  <a:srgbClr val="F45B69"/>
                </a:solidFill>
              </a:rPr>
              <a:t>Before</a:t>
            </a:r>
            <a:endParaRPr lang="en-US" sz="1000" dirty="0"/>
          </a:p>
        </p:txBody>
      </p:sp>
      <p:sp>
        <p:nvSpPr>
          <p:cNvPr id="9" name="Text 7"/>
          <p:cNvSpPr/>
          <p:nvPr/>
        </p:nvSpPr>
        <p:spPr>
          <a:xfrm>
            <a:off x="1143000" y="2514600"/>
            <a:ext cx="4069080" cy="1828800"/>
          </a:xfrm>
          <a:prstGeom prst="rect">
            <a:avLst/>
          </a:prstGeom>
          <a:noFill/>
          <a:ln/>
        </p:spPr>
        <p:txBody>
          <a:bodyPr wrap="square" lIns="381" tIns="381" rIns="381" bIns="381" rtlCol="0" anchor="ctr">
            <a:normAutofit/>
          </a:bodyPr>
          <a:lstStyle/>
          <a:p>
            <a:pPr indent="0" marL="0">
              <a:buNone/>
            </a:pPr>
            <a:r>
              <a:rPr lang="en-US" sz="1340" dirty="0">
                <a:solidFill>
                  <a:srgbClr val="102033"/>
                </a:solidFill>
              </a:rPr>
              <a:t>3 bed / 2 bath</a:t>
            </a:r>
            <a:endParaRPr lang="en-US" sz="1340" dirty="0"/>
          </a:p>
          <a:p>
            <a:pPr indent="0" marL="0">
              <a:buNone/>
            </a:pPr>
            <a:r>
              <a:rPr lang="en-US" sz="1340" dirty="0">
                <a:solidFill>
                  <a:srgbClr val="102033"/>
                </a:solidFill>
              </a:rPr>
              <a:t>Updated kitchen</a:t>
            </a:r>
            <a:endParaRPr lang="en-US" sz="1340" dirty="0"/>
          </a:p>
          <a:p>
            <a:pPr indent="0" marL="0">
              <a:buNone/>
            </a:pPr>
            <a:r>
              <a:rPr lang="en-US" sz="1340" dirty="0">
                <a:solidFill>
                  <a:srgbClr val="102033"/>
                </a:solidFill>
              </a:rPr>
              <a:t>Covered patio</a:t>
            </a:r>
            <a:endParaRPr lang="en-US" sz="1340" dirty="0"/>
          </a:p>
          <a:p>
            <a:pPr indent="0" marL="0">
              <a:buNone/>
            </a:pPr>
            <a:r>
              <a:rPr lang="en-US" sz="1340" dirty="0">
                <a:solidFill>
                  <a:srgbClr val="102033"/>
                </a:solidFill>
              </a:rPr>
              <a:t>2-car garage</a:t>
            </a:r>
            <a:endParaRPr lang="en-US" sz="1340" dirty="0"/>
          </a:p>
          <a:p>
            <a:pPr indent="0" marL="0">
              <a:buNone/>
            </a:pPr>
            <a:r>
              <a:rPr lang="en-US" sz="1340" dirty="0">
                <a:solidFill>
                  <a:srgbClr val="102033"/>
                </a:solidFill>
              </a:rPr>
              <a:t>Close to dining and parks</a:t>
            </a:r>
            <a:endParaRPr lang="en-US" sz="1340" dirty="0"/>
          </a:p>
        </p:txBody>
      </p:sp>
      <p:sp>
        <p:nvSpPr>
          <p:cNvPr id="10" name="Shape 8"/>
          <p:cNvSpPr/>
          <p:nvPr/>
        </p:nvSpPr>
        <p:spPr>
          <a:xfrm>
            <a:off x="6080760" y="1828800"/>
            <a:ext cx="4663440" cy="3108960"/>
          </a:xfrm>
          <a:prstGeom prst="roundRect">
            <a:avLst>
              <a:gd name="adj" fmla="val 1765"/>
            </a:avLst>
          </a:prstGeom>
          <a:solidFill>
            <a:srgbClr val="EAF7F7"/>
          </a:solidFill>
          <a:ln w="10160">
            <a:solidFill>
              <a:srgbClr val="D8E6E8"/>
            </a:solidFill>
            <a:prstDash val="solid"/>
          </a:ln>
        </p:spPr>
      </p:sp>
      <p:sp>
        <p:nvSpPr>
          <p:cNvPr id="11" name="Text 9"/>
          <p:cNvSpPr/>
          <p:nvPr/>
        </p:nvSpPr>
        <p:spPr>
          <a:xfrm>
            <a:off x="6336792" y="2084832"/>
            <a:ext cx="1371600" cy="201168"/>
          </a:xfrm>
          <a:prstGeom prst="rect">
            <a:avLst/>
          </a:prstGeom>
          <a:noFill/>
          <a:ln/>
        </p:spPr>
        <p:txBody>
          <a:bodyPr wrap="square" lIns="0" tIns="0" rIns="0" bIns="0" rtlCol="0" anchor="ctr"/>
          <a:lstStyle/>
          <a:p>
            <a:pPr indent="0" marL="0">
              <a:buNone/>
            </a:pPr>
            <a:r>
              <a:rPr lang="en-US" sz="1000" b="1" dirty="0">
                <a:solidFill>
                  <a:srgbClr val="008F8F"/>
                </a:solidFill>
              </a:rPr>
              <a:t>After</a:t>
            </a:r>
            <a:endParaRPr lang="en-US" sz="1000" dirty="0"/>
          </a:p>
        </p:txBody>
      </p:sp>
      <p:sp>
        <p:nvSpPr>
          <p:cNvPr id="12" name="Text 10"/>
          <p:cNvSpPr/>
          <p:nvPr/>
        </p:nvSpPr>
        <p:spPr>
          <a:xfrm>
            <a:off x="6355080" y="2514600"/>
            <a:ext cx="4069080" cy="1828800"/>
          </a:xfrm>
          <a:prstGeom prst="rect">
            <a:avLst/>
          </a:prstGeom>
          <a:noFill/>
          <a:ln/>
        </p:spPr>
        <p:txBody>
          <a:bodyPr wrap="square" lIns="381" tIns="381" rIns="381" bIns="381" rtlCol="0" anchor="ctr">
            <a:normAutofit/>
          </a:bodyPr>
          <a:lstStyle/>
          <a:p>
            <a:pPr indent="0" marL="0">
              <a:buNone/>
            </a:pPr>
            <a:r>
              <a:rPr lang="en-US" sz="1340" dirty="0">
                <a:solidFill>
                  <a:srgbClr val="102033"/>
                </a:solidFill>
              </a:rPr>
              <a:t>This 3-bedroom, 2-bath home offers an updated kitchen, practical everyday layout, covered patio space, and a 2-car garage. The location provides convenient access to nearby dining, parks, and local amenities while keeping the description focused on verified property features.</a:t>
            </a:r>
            <a:endParaRPr lang="en-US" sz="1340" dirty="0"/>
          </a:p>
        </p:txBody>
      </p:sp>
      <p:sp>
        <p:nvSpPr>
          <p:cNvPr id="13" name="Shape 11"/>
          <p:cNvSpPr/>
          <p:nvPr/>
        </p:nvSpPr>
        <p:spPr>
          <a:xfrm>
            <a:off x="502920" y="6473952"/>
            <a:ext cx="11201400" cy="0"/>
          </a:xfrm>
          <a:prstGeom prst="line">
            <a:avLst/>
          </a:prstGeom>
          <a:noFill/>
          <a:ln w="9525">
            <a:solidFill>
              <a:srgbClr val="D8E6E8"/>
            </a:solidFill>
            <a:prstDash val="solid"/>
          </a:ln>
        </p:spPr>
      </p:sp>
      <p:sp>
        <p:nvSpPr>
          <p:cNvPr id="14" name="Text 12"/>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5" name="Text 13"/>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29/48</a:t>
            </a:r>
            <a:endParaRPr lang="en-US" sz="7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AF7F7"/>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AF7F7"/>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MULTI-USE</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One verified fact set can become multiple assets</a:t>
            </a:r>
            <a:endParaRPr lang="en-US" sz="2800" dirty="0"/>
          </a:p>
        </p:txBody>
      </p:sp>
      <p:sp>
        <p:nvSpPr>
          <p:cNvPr id="7" name="Shape 5"/>
          <p:cNvSpPr/>
          <p:nvPr/>
        </p:nvSpPr>
        <p:spPr>
          <a:xfrm>
            <a:off x="777240" y="1783080"/>
            <a:ext cx="3154680" cy="914400"/>
          </a:xfrm>
          <a:prstGeom prst="roundRect">
            <a:avLst>
              <a:gd name="adj" fmla="val 6000"/>
            </a:avLst>
          </a:prstGeom>
          <a:solidFill>
            <a:srgbClr val="FFFFFF"/>
          </a:solidFill>
          <a:ln w="10160">
            <a:solidFill>
              <a:srgbClr val="D8E6E8"/>
            </a:solidFill>
            <a:prstDash val="solid"/>
          </a:ln>
        </p:spPr>
      </p:sp>
      <p:sp>
        <p:nvSpPr>
          <p:cNvPr id="8" name="Text 6"/>
          <p:cNvSpPr/>
          <p:nvPr/>
        </p:nvSpPr>
        <p:spPr>
          <a:xfrm>
            <a:off x="1005840" y="1947672"/>
            <a:ext cx="2743200" cy="182880"/>
          </a:xfrm>
          <a:prstGeom prst="rect">
            <a:avLst/>
          </a:prstGeom>
          <a:noFill/>
          <a:ln/>
        </p:spPr>
        <p:txBody>
          <a:bodyPr wrap="square" lIns="0" tIns="0" rIns="0" bIns="0" rtlCol="0" anchor="ctr"/>
          <a:lstStyle/>
          <a:p>
            <a:pPr indent="0" marL="0">
              <a:buNone/>
            </a:pPr>
            <a:r>
              <a:rPr lang="en-US" sz="1320" b="1" dirty="0">
                <a:solidFill>
                  <a:srgbClr val="16324F"/>
                </a:solidFill>
              </a:rPr>
              <a:t>Listing description</a:t>
            </a:r>
            <a:endParaRPr lang="en-US" sz="1320" dirty="0"/>
          </a:p>
        </p:txBody>
      </p:sp>
      <p:sp>
        <p:nvSpPr>
          <p:cNvPr id="9" name="Text 7"/>
          <p:cNvSpPr/>
          <p:nvPr/>
        </p:nvSpPr>
        <p:spPr>
          <a:xfrm>
            <a:off x="1005840" y="2267712"/>
            <a:ext cx="2743200" cy="182880"/>
          </a:xfrm>
          <a:prstGeom prst="rect">
            <a:avLst/>
          </a:prstGeom>
          <a:noFill/>
          <a:ln/>
        </p:spPr>
        <p:txBody>
          <a:bodyPr wrap="square" lIns="0" tIns="0" rIns="0" bIns="0" rtlCol="0" anchor="ctr"/>
          <a:lstStyle/>
          <a:p>
            <a:pPr indent="0" marL="0">
              <a:buNone/>
            </a:pPr>
            <a:r>
              <a:rPr lang="en-US" sz="1050" dirty="0">
                <a:solidFill>
                  <a:srgbClr val="52606D"/>
                </a:solidFill>
              </a:rPr>
              <a:t>Polished narrative</a:t>
            </a:r>
            <a:endParaRPr lang="en-US" sz="1050" dirty="0"/>
          </a:p>
        </p:txBody>
      </p:sp>
      <p:sp>
        <p:nvSpPr>
          <p:cNvPr id="10" name="Shape 8"/>
          <p:cNvSpPr/>
          <p:nvPr/>
        </p:nvSpPr>
        <p:spPr>
          <a:xfrm>
            <a:off x="4389120" y="1783080"/>
            <a:ext cx="3154680" cy="914400"/>
          </a:xfrm>
          <a:prstGeom prst="roundRect">
            <a:avLst>
              <a:gd name="adj" fmla="val 6000"/>
            </a:avLst>
          </a:prstGeom>
          <a:solidFill>
            <a:srgbClr val="FFFFFF"/>
          </a:solidFill>
          <a:ln w="10160">
            <a:solidFill>
              <a:srgbClr val="D8E6E8"/>
            </a:solidFill>
            <a:prstDash val="solid"/>
          </a:ln>
        </p:spPr>
      </p:sp>
      <p:sp>
        <p:nvSpPr>
          <p:cNvPr id="11" name="Text 9"/>
          <p:cNvSpPr/>
          <p:nvPr/>
        </p:nvSpPr>
        <p:spPr>
          <a:xfrm>
            <a:off x="4617720" y="1947672"/>
            <a:ext cx="2743200" cy="182880"/>
          </a:xfrm>
          <a:prstGeom prst="rect">
            <a:avLst/>
          </a:prstGeom>
          <a:noFill/>
          <a:ln/>
        </p:spPr>
        <p:txBody>
          <a:bodyPr wrap="square" lIns="0" tIns="0" rIns="0" bIns="0" rtlCol="0" anchor="ctr"/>
          <a:lstStyle/>
          <a:p>
            <a:pPr indent="0" marL="0">
              <a:buNone/>
            </a:pPr>
            <a:r>
              <a:rPr lang="en-US" sz="1320" b="1" dirty="0">
                <a:solidFill>
                  <a:srgbClr val="16324F"/>
                </a:solidFill>
              </a:rPr>
              <a:t>Open house invite</a:t>
            </a:r>
            <a:endParaRPr lang="en-US" sz="1320" dirty="0"/>
          </a:p>
        </p:txBody>
      </p:sp>
      <p:sp>
        <p:nvSpPr>
          <p:cNvPr id="12" name="Text 10"/>
          <p:cNvSpPr/>
          <p:nvPr/>
        </p:nvSpPr>
        <p:spPr>
          <a:xfrm>
            <a:off x="4617720" y="2267712"/>
            <a:ext cx="2743200" cy="182880"/>
          </a:xfrm>
          <a:prstGeom prst="rect">
            <a:avLst/>
          </a:prstGeom>
          <a:noFill/>
          <a:ln/>
        </p:spPr>
        <p:txBody>
          <a:bodyPr wrap="square" lIns="0" tIns="0" rIns="0" bIns="0" rtlCol="0" anchor="ctr"/>
          <a:lstStyle/>
          <a:p>
            <a:pPr indent="0" marL="0">
              <a:buNone/>
            </a:pPr>
            <a:r>
              <a:rPr lang="en-US" sz="1050" dirty="0">
                <a:solidFill>
                  <a:srgbClr val="52606D"/>
                </a:solidFill>
              </a:rPr>
              <a:t>Short event copy</a:t>
            </a:r>
            <a:endParaRPr lang="en-US" sz="1050" dirty="0"/>
          </a:p>
        </p:txBody>
      </p:sp>
      <p:sp>
        <p:nvSpPr>
          <p:cNvPr id="13" name="Shape 11"/>
          <p:cNvSpPr/>
          <p:nvPr/>
        </p:nvSpPr>
        <p:spPr>
          <a:xfrm>
            <a:off x="8001000" y="1783080"/>
            <a:ext cx="3154680" cy="914400"/>
          </a:xfrm>
          <a:prstGeom prst="roundRect">
            <a:avLst>
              <a:gd name="adj" fmla="val 6000"/>
            </a:avLst>
          </a:prstGeom>
          <a:solidFill>
            <a:srgbClr val="FFFFFF"/>
          </a:solidFill>
          <a:ln w="10160">
            <a:solidFill>
              <a:srgbClr val="D8E6E8"/>
            </a:solidFill>
            <a:prstDash val="solid"/>
          </a:ln>
        </p:spPr>
      </p:sp>
      <p:sp>
        <p:nvSpPr>
          <p:cNvPr id="14" name="Text 12"/>
          <p:cNvSpPr/>
          <p:nvPr/>
        </p:nvSpPr>
        <p:spPr>
          <a:xfrm>
            <a:off x="8229600" y="1947672"/>
            <a:ext cx="2743200" cy="182880"/>
          </a:xfrm>
          <a:prstGeom prst="rect">
            <a:avLst/>
          </a:prstGeom>
          <a:noFill/>
          <a:ln/>
        </p:spPr>
        <p:txBody>
          <a:bodyPr wrap="square" lIns="0" tIns="0" rIns="0" bIns="0" rtlCol="0" anchor="ctr"/>
          <a:lstStyle/>
          <a:p>
            <a:pPr indent="0" marL="0">
              <a:buNone/>
            </a:pPr>
            <a:r>
              <a:rPr lang="en-US" sz="1320" b="1" dirty="0">
                <a:solidFill>
                  <a:srgbClr val="16324F"/>
                </a:solidFill>
              </a:rPr>
              <a:t>Seller update</a:t>
            </a:r>
            <a:endParaRPr lang="en-US" sz="1320" dirty="0"/>
          </a:p>
        </p:txBody>
      </p:sp>
      <p:sp>
        <p:nvSpPr>
          <p:cNvPr id="15" name="Text 13"/>
          <p:cNvSpPr/>
          <p:nvPr/>
        </p:nvSpPr>
        <p:spPr>
          <a:xfrm>
            <a:off x="8229600" y="2267712"/>
            <a:ext cx="2743200" cy="182880"/>
          </a:xfrm>
          <a:prstGeom prst="rect">
            <a:avLst/>
          </a:prstGeom>
          <a:noFill/>
          <a:ln/>
        </p:spPr>
        <p:txBody>
          <a:bodyPr wrap="square" lIns="0" tIns="0" rIns="0" bIns="0" rtlCol="0" anchor="ctr"/>
          <a:lstStyle/>
          <a:p>
            <a:pPr indent="0" marL="0">
              <a:buNone/>
            </a:pPr>
            <a:r>
              <a:rPr lang="en-US" sz="1050" dirty="0">
                <a:solidFill>
                  <a:srgbClr val="52606D"/>
                </a:solidFill>
              </a:rPr>
              <a:t>Activity summary</a:t>
            </a:r>
            <a:endParaRPr lang="en-US" sz="1050" dirty="0"/>
          </a:p>
        </p:txBody>
      </p:sp>
      <p:sp>
        <p:nvSpPr>
          <p:cNvPr id="16" name="Shape 14"/>
          <p:cNvSpPr/>
          <p:nvPr/>
        </p:nvSpPr>
        <p:spPr>
          <a:xfrm>
            <a:off x="777240" y="3136392"/>
            <a:ext cx="3154680" cy="914400"/>
          </a:xfrm>
          <a:prstGeom prst="roundRect">
            <a:avLst>
              <a:gd name="adj" fmla="val 6000"/>
            </a:avLst>
          </a:prstGeom>
          <a:solidFill>
            <a:srgbClr val="FFFFFF"/>
          </a:solidFill>
          <a:ln w="10160">
            <a:solidFill>
              <a:srgbClr val="D8E6E8"/>
            </a:solidFill>
            <a:prstDash val="solid"/>
          </a:ln>
        </p:spPr>
      </p:sp>
      <p:sp>
        <p:nvSpPr>
          <p:cNvPr id="17" name="Text 15"/>
          <p:cNvSpPr/>
          <p:nvPr/>
        </p:nvSpPr>
        <p:spPr>
          <a:xfrm>
            <a:off x="1005840" y="3300984"/>
            <a:ext cx="2743200" cy="182880"/>
          </a:xfrm>
          <a:prstGeom prst="rect">
            <a:avLst/>
          </a:prstGeom>
          <a:noFill/>
          <a:ln/>
        </p:spPr>
        <p:txBody>
          <a:bodyPr wrap="square" lIns="0" tIns="0" rIns="0" bIns="0" rtlCol="0" anchor="ctr"/>
          <a:lstStyle/>
          <a:p>
            <a:pPr indent="0" marL="0">
              <a:buNone/>
            </a:pPr>
            <a:r>
              <a:rPr lang="en-US" sz="1320" b="1" dirty="0">
                <a:solidFill>
                  <a:srgbClr val="16324F"/>
                </a:solidFill>
              </a:rPr>
              <a:t>Social post</a:t>
            </a:r>
            <a:endParaRPr lang="en-US" sz="1320" dirty="0"/>
          </a:p>
        </p:txBody>
      </p:sp>
      <p:sp>
        <p:nvSpPr>
          <p:cNvPr id="18" name="Text 16"/>
          <p:cNvSpPr/>
          <p:nvPr/>
        </p:nvSpPr>
        <p:spPr>
          <a:xfrm>
            <a:off x="1005840" y="3621024"/>
            <a:ext cx="2743200" cy="182880"/>
          </a:xfrm>
          <a:prstGeom prst="rect">
            <a:avLst/>
          </a:prstGeom>
          <a:noFill/>
          <a:ln/>
        </p:spPr>
        <p:txBody>
          <a:bodyPr wrap="square" lIns="0" tIns="0" rIns="0" bIns="0" rtlCol="0" anchor="ctr"/>
          <a:lstStyle/>
          <a:p>
            <a:pPr indent="0" marL="0">
              <a:buNone/>
            </a:pPr>
            <a:r>
              <a:rPr lang="en-US" sz="1050" dirty="0">
                <a:solidFill>
                  <a:srgbClr val="52606D"/>
                </a:solidFill>
              </a:rPr>
              <a:t>Caption + hook</a:t>
            </a:r>
            <a:endParaRPr lang="en-US" sz="1050" dirty="0"/>
          </a:p>
        </p:txBody>
      </p:sp>
      <p:sp>
        <p:nvSpPr>
          <p:cNvPr id="19" name="Shape 17"/>
          <p:cNvSpPr/>
          <p:nvPr/>
        </p:nvSpPr>
        <p:spPr>
          <a:xfrm>
            <a:off x="4389120" y="3136392"/>
            <a:ext cx="3154680" cy="914400"/>
          </a:xfrm>
          <a:prstGeom prst="roundRect">
            <a:avLst>
              <a:gd name="adj" fmla="val 6000"/>
            </a:avLst>
          </a:prstGeom>
          <a:solidFill>
            <a:srgbClr val="FFFFFF"/>
          </a:solidFill>
          <a:ln w="10160">
            <a:solidFill>
              <a:srgbClr val="D8E6E8"/>
            </a:solidFill>
            <a:prstDash val="solid"/>
          </a:ln>
        </p:spPr>
      </p:sp>
      <p:sp>
        <p:nvSpPr>
          <p:cNvPr id="20" name="Text 18"/>
          <p:cNvSpPr/>
          <p:nvPr/>
        </p:nvSpPr>
        <p:spPr>
          <a:xfrm>
            <a:off x="4617720" y="3300984"/>
            <a:ext cx="2743200" cy="182880"/>
          </a:xfrm>
          <a:prstGeom prst="rect">
            <a:avLst/>
          </a:prstGeom>
          <a:noFill/>
          <a:ln/>
        </p:spPr>
        <p:txBody>
          <a:bodyPr wrap="square" lIns="0" tIns="0" rIns="0" bIns="0" rtlCol="0" anchor="ctr"/>
          <a:lstStyle/>
          <a:p>
            <a:pPr indent="0" marL="0">
              <a:buNone/>
            </a:pPr>
            <a:r>
              <a:rPr lang="en-US" sz="1320" b="1" dirty="0">
                <a:solidFill>
                  <a:srgbClr val="16324F"/>
                </a:solidFill>
              </a:rPr>
              <a:t>Video script</a:t>
            </a:r>
            <a:endParaRPr lang="en-US" sz="1320" dirty="0"/>
          </a:p>
        </p:txBody>
      </p:sp>
      <p:sp>
        <p:nvSpPr>
          <p:cNvPr id="21" name="Text 19"/>
          <p:cNvSpPr/>
          <p:nvPr/>
        </p:nvSpPr>
        <p:spPr>
          <a:xfrm>
            <a:off x="4617720" y="3621024"/>
            <a:ext cx="2743200" cy="182880"/>
          </a:xfrm>
          <a:prstGeom prst="rect">
            <a:avLst/>
          </a:prstGeom>
          <a:noFill/>
          <a:ln/>
        </p:spPr>
        <p:txBody>
          <a:bodyPr wrap="square" lIns="0" tIns="0" rIns="0" bIns="0" rtlCol="0" anchor="ctr"/>
          <a:lstStyle/>
          <a:p>
            <a:pPr indent="0" marL="0">
              <a:buNone/>
            </a:pPr>
            <a:r>
              <a:rPr lang="en-US" sz="1050" dirty="0">
                <a:solidFill>
                  <a:srgbClr val="52606D"/>
                </a:solidFill>
              </a:rPr>
              <a:t>30-second talking points</a:t>
            </a:r>
            <a:endParaRPr lang="en-US" sz="1050" dirty="0"/>
          </a:p>
        </p:txBody>
      </p:sp>
      <p:sp>
        <p:nvSpPr>
          <p:cNvPr id="22" name="Shape 20"/>
          <p:cNvSpPr/>
          <p:nvPr/>
        </p:nvSpPr>
        <p:spPr>
          <a:xfrm>
            <a:off x="8001000" y="3136392"/>
            <a:ext cx="3154680" cy="914400"/>
          </a:xfrm>
          <a:prstGeom prst="roundRect">
            <a:avLst>
              <a:gd name="adj" fmla="val 6000"/>
            </a:avLst>
          </a:prstGeom>
          <a:solidFill>
            <a:srgbClr val="FFFFFF"/>
          </a:solidFill>
          <a:ln w="10160">
            <a:solidFill>
              <a:srgbClr val="D8E6E8"/>
            </a:solidFill>
            <a:prstDash val="solid"/>
          </a:ln>
        </p:spPr>
      </p:sp>
      <p:sp>
        <p:nvSpPr>
          <p:cNvPr id="23" name="Text 21"/>
          <p:cNvSpPr/>
          <p:nvPr/>
        </p:nvSpPr>
        <p:spPr>
          <a:xfrm>
            <a:off x="8229600" y="3300984"/>
            <a:ext cx="2743200" cy="182880"/>
          </a:xfrm>
          <a:prstGeom prst="rect">
            <a:avLst/>
          </a:prstGeom>
          <a:noFill/>
          <a:ln/>
        </p:spPr>
        <p:txBody>
          <a:bodyPr wrap="square" lIns="0" tIns="0" rIns="0" bIns="0" rtlCol="0" anchor="ctr"/>
          <a:lstStyle/>
          <a:p>
            <a:pPr indent="0" marL="0">
              <a:buNone/>
            </a:pPr>
            <a:r>
              <a:rPr lang="en-US" sz="1320" b="1" dirty="0">
                <a:solidFill>
                  <a:srgbClr val="16324F"/>
                </a:solidFill>
              </a:rPr>
              <a:t>Newsletter blurb</a:t>
            </a:r>
            <a:endParaRPr lang="en-US" sz="1320" dirty="0"/>
          </a:p>
        </p:txBody>
      </p:sp>
      <p:sp>
        <p:nvSpPr>
          <p:cNvPr id="24" name="Text 22"/>
          <p:cNvSpPr/>
          <p:nvPr/>
        </p:nvSpPr>
        <p:spPr>
          <a:xfrm>
            <a:off x="8229600" y="3621024"/>
            <a:ext cx="2743200" cy="182880"/>
          </a:xfrm>
          <a:prstGeom prst="rect">
            <a:avLst/>
          </a:prstGeom>
          <a:noFill/>
          <a:ln/>
        </p:spPr>
        <p:txBody>
          <a:bodyPr wrap="square" lIns="0" tIns="0" rIns="0" bIns="0" rtlCol="0" anchor="ctr"/>
          <a:lstStyle/>
          <a:p>
            <a:pPr indent="0" marL="0">
              <a:buNone/>
            </a:pPr>
            <a:r>
              <a:rPr lang="en-US" sz="1050" dirty="0">
                <a:solidFill>
                  <a:srgbClr val="52606D"/>
                </a:solidFill>
              </a:rPr>
              <a:t>Market-facing note</a:t>
            </a:r>
            <a:endParaRPr lang="en-US" sz="1050" dirty="0"/>
          </a:p>
        </p:txBody>
      </p:sp>
      <p:sp>
        <p:nvSpPr>
          <p:cNvPr id="25" name="Shape 23"/>
          <p:cNvSpPr/>
          <p:nvPr/>
        </p:nvSpPr>
        <p:spPr>
          <a:xfrm>
            <a:off x="502920" y="6473952"/>
            <a:ext cx="11201400" cy="0"/>
          </a:xfrm>
          <a:prstGeom prst="line">
            <a:avLst/>
          </a:prstGeom>
          <a:noFill/>
          <a:ln w="9525">
            <a:solidFill>
              <a:srgbClr val="D8E6E8"/>
            </a:solidFill>
            <a:prstDash val="solid"/>
          </a:ln>
        </p:spPr>
      </p:sp>
      <p:sp>
        <p:nvSpPr>
          <p:cNvPr id="26" name="Text 24"/>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27" name="Text 25"/>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30/48</a:t>
            </a:r>
            <a:endParaRPr lang="en-US" sz="7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4D9"/>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4D9"/>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ACTIVITY</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Create three versions from one property fact set</a:t>
            </a:r>
            <a:endParaRPr lang="en-US" sz="2800" dirty="0"/>
          </a:p>
        </p:txBody>
      </p:sp>
      <p:sp>
        <p:nvSpPr>
          <p:cNvPr id="7" name="Shape 5"/>
          <p:cNvSpPr/>
          <p:nvPr/>
        </p:nvSpPr>
        <p:spPr>
          <a:xfrm>
            <a:off x="822960" y="1755648"/>
            <a:ext cx="5413248" cy="109728"/>
          </a:xfrm>
          <a:prstGeom prst="rect">
            <a:avLst/>
          </a:prstGeom>
          <a:solidFill>
            <a:srgbClr val="F2B84B"/>
          </a:solidFill>
          <a:ln w="12700">
            <a:solidFill>
              <a:srgbClr val="F2B84B"/>
            </a:solidFill>
            <a:prstDash val="solid"/>
          </a:ln>
        </p:spPr>
      </p:sp>
      <p:sp>
        <p:nvSpPr>
          <p:cNvPr id="8" name="Shape 6"/>
          <p:cNvSpPr/>
          <p:nvPr/>
        </p:nvSpPr>
        <p:spPr>
          <a:xfrm>
            <a:off x="868680" y="1874520"/>
            <a:ext cx="5303520" cy="2560320"/>
          </a:xfrm>
          <a:prstGeom prst="roundRect">
            <a:avLst>
              <a:gd name="adj" fmla="val 2143"/>
            </a:avLst>
          </a:prstGeom>
          <a:solidFill>
            <a:srgbClr val="FFFFFF"/>
          </a:solidFill>
          <a:ln w="10160">
            <a:solidFill>
              <a:srgbClr val="D8E6E8"/>
            </a:solidFill>
            <a:prstDash val="solid"/>
          </a:ln>
        </p:spPr>
      </p:sp>
      <p:sp>
        <p:nvSpPr>
          <p:cNvPr id="9" name="Text 7"/>
          <p:cNvSpPr/>
          <p:nvPr/>
        </p:nvSpPr>
        <p:spPr>
          <a:xfrm>
            <a:off x="1143000" y="2103120"/>
            <a:ext cx="4663440" cy="320040"/>
          </a:xfrm>
          <a:prstGeom prst="rect">
            <a:avLst/>
          </a:prstGeom>
          <a:noFill/>
          <a:ln/>
        </p:spPr>
        <p:txBody>
          <a:bodyPr wrap="square" lIns="0" tIns="0" rIns="0" bIns="0" rtlCol="0" anchor="ctr">
            <a:normAutofit/>
          </a:bodyPr>
          <a:lstStyle/>
          <a:p>
            <a:pPr indent="0" marL="0">
              <a:buNone/>
            </a:pPr>
            <a:r>
              <a:rPr lang="en-US" sz="1400" dirty="0">
                <a:solidFill>
                  <a:srgbClr val="52606D"/>
                </a:solidFill>
              </a:rPr>
              <a:t>Use only verified facts. Do not invent features.</a:t>
            </a:r>
            <a:endParaRPr lang="en-US" sz="1400" dirty="0"/>
          </a:p>
        </p:txBody>
      </p:sp>
      <p:sp>
        <p:nvSpPr>
          <p:cNvPr id="10" name="Text 8"/>
          <p:cNvSpPr/>
          <p:nvPr/>
        </p:nvSpPr>
        <p:spPr>
          <a:xfrm>
            <a:off x="1143000" y="4005072"/>
            <a:ext cx="2194560" cy="182880"/>
          </a:xfrm>
          <a:prstGeom prst="rect">
            <a:avLst/>
          </a:prstGeom>
          <a:noFill/>
          <a:ln/>
        </p:spPr>
        <p:txBody>
          <a:bodyPr wrap="square" lIns="0" tIns="0" rIns="0" bIns="0" rtlCol="0" anchor="ctr"/>
          <a:lstStyle/>
          <a:p>
            <a:pPr indent="0" marL="0">
              <a:buNone/>
            </a:pPr>
            <a:r>
              <a:rPr lang="en-US" sz="950" b="1" dirty="0">
                <a:solidFill>
                  <a:srgbClr val="008F8F"/>
                </a:solidFill>
              </a:rPr>
              <a:t>Workshop canvas</a:t>
            </a:r>
            <a:endParaRPr lang="en-US" sz="950" dirty="0"/>
          </a:p>
        </p:txBody>
      </p:sp>
      <p:sp>
        <p:nvSpPr>
          <p:cNvPr id="11" name="Shape 9"/>
          <p:cNvSpPr/>
          <p:nvPr/>
        </p:nvSpPr>
        <p:spPr>
          <a:xfrm>
            <a:off x="6446520" y="1810512"/>
            <a:ext cx="4343400" cy="2697480"/>
          </a:xfrm>
          <a:prstGeom prst="roundRect">
            <a:avLst>
              <a:gd name="adj" fmla="val 2034"/>
            </a:avLst>
          </a:prstGeom>
          <a:solidFill>
            <a:srgbClr val="E9F8F0"/>
          </a:solidFill>
          <a:ln w="10160">
            <a:solidFill>
              <a:srgbClr val="BBDCC9"/>
            </a:solidFill>
            <a:prstDash val="solid"/>
          </a:ln>
        </p:spPr>
      </p:sp>
      <p:sp>
        <p:nvSpPr>
          <p:cNvPr id="12" name="Text 10"/>
          <p:cNvSpPr/>
          <p:nvPr/>
        </p:nvSpPr>
        <p:spPr>
          <a:xfrm>
            <a:off x="6720840" y="2148840"/>
            <a:ext cx="3657600" cy="182880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02033"/>
                </a:solidFill>
                <a:latin typeface="Aptos" pitchFamily="34" charset="0"/>
                <a:ea typeface="Aptos" pitchFamily="34" charset="-122"/>
                <a:cs typeface="Aptos" pitchFamily="34" charset="-120"/>
              </a:rPr>
              <a:t>One listing paragraph</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One 35-word social caption</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One open house invite</a:t>
            </a:r>
            <a:endParaRPr lang="en-US" sz="1500" dirty="0"/>
          </a:p>
        </p:txBody>
      </p:sp>
      <p:sp>
        <p:nvSpPr>
          <p:cNvPr id="13" name="Text 11"/>
          <p:cNvSpPr/>
          <p:nvPr/>
        </p:nvSpPr>
        <p:spPr>
          <a:xfrm>
            <a:off x="9738360" y="4069080"/>
            <a:ext cx="731520" cy="201168"/>
          </a:xfrm>
          <a:prstGeom prst="rect">
            <a:avLst/>
          </a:prstGeom>
          <a:noFill/>
          <a:ln/>
        </p:spPr>
        <p:txBody>
          <a:bodyPr wrap="square" lIns="0" tIns="0" rIns="0" bIns="0" rtlCol="0" anchor="ctr"/>
          <a:lstStyle/>
          <a:p>
            <a:pPr indent="0" marL="0">
              <a:buNone/>
            </a:pPr>
            <a:r>
              <a:rPr lang="en-US" sz="950" b="1" dirty="0">
                <a:solidFill>
                  <a:srgbClr val="2E7D5B"/>
                </a:solidFill>
              </a:rPr>
              <a:t>4-6 min</a:t>
            </a:r>
            <a:endParaRPr lang="en-US" sz="9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31/48</a:t>
            </a:r>
            <a:endParaRPr lang="en-US" sz="72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749808" y="822960"/>
            <a:ext cx="3840480" cy="256032"/>
          </a:xfrm>
          <a:prstGeom prst="rect">
            <a:avLst/>
          </a:prstGeom>
          <a:noFill/>
          <a:ln/>
        </p:spPr>
        <p:txBody>
          <a:bodyPr wrap="square" lIns="0" tIns="0" rIns="0" bIns="0" rtlCol="0" anchor="ctr"/>
          <a:lstStyle/>
          <a:p>
            <a:pPr indent="0" marL="0">
              <a:buNone/>
            </a:pPr>
            <a:r>
              <a:rPr lang="en-US" sz="1100" b="1" dirty="0">
                <a:solidFill>
                  <a:srgbClr val="F2B84B"/>
                </a:solidFill>
              </a:rPr>
              <a:t>SECTION 6</a:t>
            </a:r>
            <a:endParaRPr lang="en-US" sz="1100" dirty="0"/>
          </a:p>
        </p:txBody>
      </p:sp>
      <p:sp>
        <p:nvSpPr>
          <p:cNvPr id="3" name="Text 1"/>
          <p:cNvSpPr/>
          <p:nvPr/>
        </p:nvSpPr>
        <p:spPr>
          <a:xfrm>
            <a:off x="713232" y="1828800"/>
            <a:ext cx="9966960" cy="77724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AI for Appointment Prep and Objection Practice</a:t>
            </a:r>
            <a:endParaRPr lang="en-US" sz="3400" dirty="0"/>
          </a:p>
        </p:txBody>
      </p:sp>
      <p:sp>
        <p:nvSpPr>
          <p:cNvPr id="4" name="Text 2"/>
          <p:cNvSpPr/>
          <p:nvPr/>
        </p:nvSpPr>
        <p:spPr>
          <a:xfrm>
            <a:off x="749808" y="2852928"/>
            <a:ext cx="8138160" cy="411480"/>
          </a:xfrm>
          <a:prstGeom prst="rect">
            <a:avLst/>
          </a:prstGeom>
          <a:noFill/>
          <a:ln/>
        </p:spPr>
        <p:txBody>
          <a:bodyPr wrap="square" lIns="0" tIns="0" rIns="0" bIns="0" rtlCol="0" anchor="ctr">
            <a:normAutofit/>
          </a:bodyPr>
          <a:lstStyle/>
          <a:p>
            <a:pPr indent="0" marL="0">
              <a:buNone/>
            </a:pPr>
            <a:r>
              <a:rPr lang="en-US" sz="1600" dirty="0">
                <a:solidFill>
                  <a:srgbClr val="DCEEEF"/>
                </a:solidFill>
              </a:rPr>
              <a:t>Practice the conversation before the client conversation.</a:t>
            </a:r>
            <a:endParaRPr lang="en-US" sz="1600" dirty="0"/>
          </a:p>
        </p:txBody>
      </p:sp>
      <p:sp>
        <p:nvSpPr>
          <p:cNvPr id="5" name="Shape 3"/>
          <p:cNvSpPr/>
          <p:nvPr/>
        </p:nvSpPr>
        <p:spPr>
          <a:xfrm>
            <a:off x="749808" y="3657600"/>
            <a:ext cx="1828800" cy="0"/>
          </a:xfrm>
          <a:prstGeom prst="line">
            <a:avLst/>
          </a:prstGeom>
          <a:noFill/>
          <a:ln w="50800">
            <a:solidFill>
              <a:srgbClr val="F45B69"/>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0F3F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0F3F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PREP</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AI helps you rehearse, organize, and simplify</a:t>
            </a:r>
            <a:endParaRPr lang="en-US" sz="2800" dirty="0"/>
          </a:p>
        </p:txBody>
      </p:sp>
      <p:sp>
        <p:nvSpPr>
          <p:cNvPr id="7" name="Text 5"/>
          <p:cNvSpPr/>
          <p:nvPr/>
        </p:nvSpPr>
        <p:spPr>
          <a:xfrm>
            <a:off x="868680" y="1874520"/>
            <a:ext cx="6400800" cy="3657600"/>
          </a:xfrm>
          <a:prstGeom prst="rect">
            <a:avLst/>
          </a:prstGeom>
          <a:noFill/>
          <a:ln/>
        </p:spPr>
        <p:txBody>
          <a:bodyPr wrap="square" lIns="254" tIns="254" rIns="254" bIns="254" rtlCol="0" anchor="t">
            <a:normAutofit/>
          </a:bodyPr>
          <a:lstStyle/>
          <a:p>
            <a:pPr marL="203200" indent="-203200">
              <a:buSzPct val="100000"/>
              <a:buChar char="•"/>
            </a:pPr>
            <a:r>
              <a:rPr lang="en-US" sz="1650" dirty="0">
                <a:solidFill>
                  <a:srgbClr val="102033"/>
                </a:solidFill>
                <a:latin typeface="Aptos" pitchFamily="34" charset="0"/>
                <a:ea typeface="Aptos" pitchFamily="34" charset="-122"/>
                <a:cs typeface="Aptos" pitchFamily="34" charset="-120"/>
              </a:rPr>
              <a:t>Build buyer consultation and listing appointment agendas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Create discovery questions from client context</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Practice common objections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Explain market conditions in plain language</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Prepare follow-up after the appointment</a:t>
            </a:r>
            <a:endParaRPr lang="en-US" sz="1650" dirty="0"/>
          </a:p>
        </p:txBody>
      </p:sp>
      <p:sp>
        <p:nvSpPr>
          <p:cNvPr id="8" name="Shape 6"/>
          <p:cNvSpPr/>
          <p:nvPr/>
        </p:nvSpPr>
        <p:spPr>
          <a:xfrm>
            <a:off x="7571232" y="1828800"/>
            <a:ext cx="3246120" cy="2788920"/>
          </a:xfrm>
          <a:prstGeom prst="roundRect">
            <a:avLst>
              <a:gd name="adj" fmla="val 1967"/>
            </a:avLst>
          </a:prstGeom>
          <a:solidFill>
            <a:srgbClr val="F0F3FF"/>
          </a:solidFill>
          <a:ln w="10160">
            <a:solidFill>
              <a:srgbClr val="BFDADC"/>
            </a:solidFill>
            <a:prstDash val="solid"/>
          </a:ln>
        </p:spPr>
      </p:sp>
      <p:sp>
        <p:nvSpPr>
          <p:cNvPr id="9" name="Text 7"/>
          <p:cNvSpPr/>
          <p:nvPr/>
        </p:nvSpPr>
        <p:spPr>
          <a:xfrm>
            <a:off x="7882128" y="2148840"/>
            <a:ext cx="2606040" cy="530352"/>
          </a:xfrm>
          <a:prstGeom prst="rect">
            <a:avLst/>
          </a:prstGeom>
          <a:noFill/>
          <a:ln/>
        </p:spPr>
        <p:txBody>
          <a:bodyPr wrap="square" lIns="0" tIns="0" rIns="0" bIns="0" rtlCol="0" anchor="ctr">
            <a:normAutofit/>
          </a:bodyPr>
          <a:lstStyle/>
          <a:p>
            <a:pPr indent="0" marL="0">
              <a:buNone/>
            </a:pPr>
            <a:r>
              <a:rPr lang="en-US" sz="1750" b="1" dirty="0">
                <a:solidFill>
                  <a:srgbClr val="16324F"/>
                </a:solidFill>
              </a:rPr>
              <a:t>Practice before pressure</a:t>
            </a:r>
            <a:endParaRPr lang="en-US" sz="1750" dirty="0"/>
          </a:p>
        </p:txBody>
      </p:sp>
      <p:sp>
        <p:nvSpPr>
          <p:cNvPr id="10" name="Text 8"/>
          <p:cNvSpPr/>
          <p:nvPr/>
        </p:nvSpPr>
        <p:spPr>
          <a:xfrm>
            <a:off x="7882128" y="2944368"/>
            <a:ext cx="2514600" cy="960120"/>
          </a:xfrm>
          <a:prstGeom prst="rect">
            <a:avLst/>
          </a:prstGeom>
          <a:noFill/>
          <a:ln/>
        </p:spPr>
        <p:txBody>
          <a:bodyPr wrap="square" lIns="508" tIns="508" rIns="508" bIns="508" rtlCol="0" anchor="ctr">
            <a:normAutofit/>
          </a:bodyPr>
          <a:lstStyle/>
          <a:p>
            <a:pPr indent="0" marL="0">
              <a:buNone/>
            </a:pPr>
            <a:r>
              <a:rPr lang="en-US" sz="1220" dirty="0">
                <a:solidFill>
                  <a:srgbClr val="102033"/>
                </a:solidFill>
              </a:rPr>
              <a:t>Role-play makes client conversations clearer and less reactive.</a:t>
            </a:r>
            <a:endParaRPr lang="en-US" sz="1220" dirty="0"/>
          </a:p>
        </p:txBody>
      </p:sp>
      <p:sp>
        <p:nvSpPr>
          <p:cNvPr id="11" name="Shape 9"/>
          <p:cNvSpPr/>
          <p:nvPr/>
        </p:nvSpPr>
        <p:spPr>
          <a:xfrm>
            <a:off x="7882128" y="4160520"/>
            <a:ext cx="1097280" cy="0"/>
          </a:xfrm>
          <a:prstGeom prst="line">
            <a:avLst/>
          </a:prstGeom>
          <a:noFill/>
          <a:ln w="38100">
            <a:solidFill>
              <a:srgbClr val="008F8F"/>
            </a:solidFill>
            <a:prstDash val="solid"/>
          </a:ln>
        </p:spPr>
      </p:sp>
      <p:sp>
        <p:nvSpPr>
          <p:cNvPr id="12" name="Shape 10"/>
          <p:cNvSpPr/>
          <p:nvPr/>
        </p:nvSpPr>
        <p:spPr>
          <a:xfrm>
            <a:off x="7882128" y="4370832"/>
            <a:ext cx="493776" cy="493776"/>
          </a:xfrm>
          <a:prstGeom prst="roundRect">
            <a:avLst>
              <a:gd name="adj" fmla="val 14815"/>
            </a:avLst>
          </a:prstGeom>
          <a:solidFill>
            <a:srgbClr val="008F8F"/>
          </a:solidFill>
          <a:ln w="12700">
            <a:solidFill>
              <a:srgbClr val="008F8F"/>
            </a:solidFill>
            <a:prstDash val="solid"/>
          </a:ln>
        </p:spPr>
      </p:sp>
      <p:sp>
        <p:nvSpPr>
          <p:cNvPr id="13" name="Text 11"/>
          <p:cNvSpPr/>
          <p:nvPr/>
        </p:nvSpPr>
        <p:spPr>
          <a:xfrm>
            <a:off x="7927848" y="4507992"/>
            <a:ext cx="402336" cy="128016"/>
          </a:xfrm>
          <a:prstGeom prst="rect">
            <a:avLst/>
          </a:prstGeom>
          <a:noFill/>
          <a:ln/>
        </p:spPr>
        <p:txBody>
          <a:bodyPr wrap="square" lIns="0" tIns="0" rIns="0" bIns="0" rtlCol="0" anchor="ctr"/>
          <a:lstStyle/>
          <a:p>
            <a:pPr algn="ctr" indent="0" marL="0">
              <a:buNone/>
            </a:pPr>
            <a:r>
              <a:rPr lang="en-US" sz="850" b="1" dirty="0">
                <a:solidFill>
                  <a:srgbClr val="FFFFFF"/>
                </a:solidFill>
              </a:rPr>
              <a:t>AI</a:t>
            </a:r>
            <a:endParaRPr lang="en-US" sz="8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33/48</a:t>
            </a:r>
            <a:endParaRPr lang="en-US" sz="7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9F8F0"/>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9F8F0"/>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ROLE-PLAY</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Seller wants to overprice</a:t>
            </a:r>
            <a:endParaRPr lang="en-US" sz="2800" dirty="0"/>
          </a:p>
        </p:txBody>
      </p:sp>
      <p:sp>
        <p:nvSpPr>
          <p:cNvPr id="7" name="Shape 5"/>
          <p:cNvSpPr/>
          <p:nvPr/>
        </p:nvSpPr>
        <p:spPr>
          <a:xfrm>
            <a:off x="914400" y="1828800"/>
            <a:ext cx="9601200" cy="2331720"/>
          </a:xfrm>
          <a:prstGeom prst="roundRect">
            <a:avLst>
              <a:gd name="adj" fmla="val 2353"/>
            </a:avLst>
          </a:prstGeom>
          <a:solidFill>
            <a:srgbClr val="0D1B2A"/>
          </a:solidFill>
          <a:ln w="10160">
            <a:solidFill>
              <a:srgbClr val="0D1B2A"/>
            </a:solidFill>
            <a:prstDash val="solid"/>
          </a:ln>
        </p:spPr>
      </p:sp>
      <p:sp>
        <p:nvSpPr>
          <p:cNvPr id="8" name="Shape 6"/>
          <p:cNvSpPr/>
          <p:nvPr/>
        </p:nvSpPr>
        <p:spPr>
          <a:xfrm>
            <a:off x="8458200" y="1600200"/>
            <a:ext cx="1920240" cy="1920240"/>
          </a:xfrm>
          <a:prstGeom prst="arc">
            <a:avLst/>
          </a:prstGeom>
          <a:solidFill>
            <a:srgbClr val="0D1B2A">
              <a:alpha val="0"/>
            </a:srgbClr>
          </a:solidFill>
          <a:ln w="25400">
            <a:solidFill>
              <a:srgbClr val="008F8F"/>
            </a:solidFill>
            <a:prstDash val="solid"/>
          </a:ln>
        </p:spPr>
      </p:sp>
      <p:sp>
        <p:nvSpPr>
          <p:cNvPr id="9" name="Text 7"/>
          <p:cNvSpPr/>
          <p:nvPr/>
        </p:nvSpPr>
        <p:spPr>
          <a:xfrm>
            <a:off x="1325880" y="2194560"/>
            <a:ext cx="8229600" cy="1234440"/>
          </a:xfrm>
          <a:prstGeom prst="rect">
            <a:avLst/>
          </a:prstGeom>
          <a:noFill/>
          <a:ln/>
        </p:spPr>
        <p:txBody>
          <a:bodyPr wrap="square" lIns="381" tIns="381" rIns="381" bIns="381" rtlCol="0" anchor="ctr">
            <a:normAutofit/>
          </a:bodyPr>
          <a:lstStyle/>
          <a:p>
            <a:pPr indent="0" marL="0">
              <a:buNone/>
            </a:pPr>
            <a:r>
              <a:rPr lang="en-US" sz="1800" i="1" dirty="0">
                <a:solidFill>
                  <a:srgbClr val="FFFFFF"/>
                </a:solidFill>
              </a:rPr>
              <a:t>"Role-play as a seller who believes their home is worth more than recent comparable sales. Push back realistically. After each of my responses, tell me what was clear, what sounded defensive, and what I should try next."</a:t>
            </a:r>
            <a:endParaRPr lang="en-US" sz="1800" dirty="0"/>
          </a:p>
        </p:txBody>
      </p:sp>
      <p:sp>
        <p:nvSpPr>
          <p:cNvPr id="10" name="Shape 8"/>
          <p:cNvSpPr/>
          <p:nvPr/>
        </p:nvSpPr>
        <p:spPr>
          <a:xfrm>
            <a:off x="502920" y="6473952"/>
            <a:ext cx="11201400" cy="0"/>
          </a:xfrm>
          <a:prstGeom prst="line">
            <a:avLst/>
          </a:prstGeom>
          <a:noFill/>
          <a:ln w="9525">
            <a:solidFill>
              <a:srgbClr val="D8E6E8"/>
            </a:solidFill>
            <a:prstDash val="solid"/>
          </a:ln>
        </p:spPr>
      </p:sp>
      <p:sp>
        <p:nvSpPr>
          <p:cNvPr id="11" name="Text 9"/>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2" name="Text 10"/>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34/48</a:t>
            </a:r>
            <a:endParaRPr lang="en-US" sz="7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AF7F7"/>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AF7F7"/>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ROLE-PLAY</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Buyer wants to wait for rates to drop</a:t>
            </a:r>
            <a:endParaRPr lang="en-US" sz="2800" dirty="0"/>
          </a:p>
        </p:txBody>
      </p:sp>
      <p:sp>
        <p:nvSpPr>
          <p:cNvPr id="7" name="Shape 5"/>
          <p:cNvSpPr/>
          <p:nvPr/>
        </p:nvSpPr>
        <p:spPr>
          <a:xfrm>
            <a:off x="914400" y="1828800"/>
            <a:ext cx="9601200" cy="2331720"/>
          </a:xfrm>
          <a:prstGeom prst="roundRect">
            <a:avLst>
              <a:gd name="adj" fmla="val 2353"/>
            </a:avLst>
          </a:prstGeom>
          <a:solidFill>
            <a:srgbClr val="0D1B2A"/>
          </a:solidFill>
          <a:ln w="10160">
            <a:solidFill>
              <a:srgbClr val="0D1B2A"/>
            </a:solidFill>
            <a:prstDash val="solid"/>
          </a:ln>
        </p:spPr>
      </p:sp>
      <p:sp>
        <p:nvSpPr>
          <p:cNvPr id="8" name="Shape 6"/>
          <p:cNvSpPr/>
          <p:nvPr/>
        </p:nvSpPr>
        <p:spPr>
          <a:xfrm>
            <a:off x="8458200" y="1600200"/>
            <a:ext cx="1920240" cy="1920240"/>
          </a:xfrm>
          <a:prstGeom prst="arc">
            <a:avLst/>
          </a:prstGeom>
          <a:solidFill>
            <a:srgbClr val="0D1B2A">
              <a:alpha val="0"/>
            </a:srgbClr>
          </a:solidFill>
          <a:ln w="25400">
            <a:solidFill>
              <a:srgbClr val="008F8F"/>
            </a:solidFill>
            <a:prstDash val="solid"/>
          </a:ln>
        </p:spPr>
      </p:sp>
      <p:sp>
        <p:nvSpPr>
          <p:cNvPr id="9" name="Text 7"/>
          <p:cNvSpPr/>
          <p:nvPr/>
        </p:nvSpPr>
        <p:spPr>
          <a:xfrm>
            <a:off x="1325880" y="2194560"/>
            <a:ext cx="8229600" cy="1234440"/>
          </a:xfrm>
          <a:prstGeom prst="rect">
            <a:avLst/>
          </a:prstGeom>
          <a:noFill/>
          <a:ln/>
        </p:spPr>
        <p:txBody>
          <a:bodyPr wrap="square" lIns="381" tIns="381" rIns="381" bIns="381" rtlCol="0" anchor="ctr">
            <a:normAutofit/>
          </a:bodyPr>
          <a:lstStyle/>
          <a:p>
            <a:pPr indent="0" marL="0">
              <a:buNone/>
            </a:pPr>
            <a:r>
              <a:rPr lang="en-US" sz="1800" i="1" dirty="0">
                <a:solidFill>
                  <a:srgbClr val="FFFFFF"/>
                </a:solidFill>
              </a:rPr>
              <a:t>"Act as a cautious buyer who wants to wait for rates to drop. Help me practice a conversation that is educational, not pushy. Challenge any claims that sound too certain."</a:t>
            </a:r>
            <a:endParaRPr lang="en-US" sz="1800" dirty="0"/>
          </a:p>
        </p:txBody>
      </p:sp>
      <p:sp>
        <p:nvSpPr>
          <p:cNvPr id="10" name="Shape 8"/>
          <p:cNvSpPr/>
          <p:nvPr/>
        </p:nvSpPr>
        <p:spPr>
          <a:xfrm>
            <a:off x="502920" y="6473952"/>
            <a:ext cx="11201400" cy="0"/>
          </a:xfrm>
          <a:prstGeom prst="line">
            <a:avLst/>
          </a:prstGeom>
          <a:noFill/>
          <a:ln w="9525">
            <a:solidFill>
              <a:srgbClr val="D8E6E8"/>
            </a:solidFill>
            <a:prstDash val="solid"/>
          </a:ln>
        </p:spPr>
      </p:sp>
      <p:sp>
        <p:nvSpPr>
          <p:cNvPr id="11" name="Text 9"/>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2" name="Text 10"/>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35/48</a:t>
            </a:r>
            <a:endParaRPr lang="en-US" sz="7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4D9"/>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4D9"/>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ACTIVITY</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Create an appointment prep brief</a:t>
            </a:r>
            <a:endParaRPr lang="en-US" sz="2800" dirty="0"/>
          </a:p>
        </p:txBody>
      </p:sp>
      <p:sp>
        <p:nvSpPr>
          <p:cNvPr id="7" name="Shape 5"/>
          <p:cNvSpPr/>
          <p:nvPr/>
        </p:nvSpPr>
        <p:spPr>
          <a:xfrm>
            <a:off x="822960" y="1755648"/>
            <a:ext cx="5413248" cy="109728"/>
          </a:xfrm>
          <a:prstGeom prst="rect">
            <a:avLst/>
          </a:prstGeom>
          <a:solidFill>
            <a:srgbClr val="F2B84B"/>
          </a:solidFill>
          <a:ln w="12700">
            <a:solidFill>
              <a:srgbClr val="F2B84B"/>
            </a:solidFill>
            <a:prstDash val="solid"/>
          </a:ln>
        </p:spPr>
      </p:sp>
      <p:sp>
        <p:nvSpPr>
          <p:cNvPr id="8" name="Shape 6"/>
          <p:cNvSpPr/>
          <p:nvPr/>
        </p:nvSpPr>
        <p:spPr>
          <a:xfrm>
            <a:off x="868680" y="1874520"/>
            <a:ext cx="5303520" cy="2560320"/>
          </a:xfrm>
          <a:prstGeom prst="roundRect">
            <a:avLst>
              <a:gd name="adj" fmla="val 2143"/>
            </a:avLst>
          </a:prstGeom>
          <a:solidFill>
            <a:srgbClr val="FFFFFF"/>
          </a:solidFill>
          <a:ln w="10160">
            <a:solidFill>
              <a:srgbClr val="D8E6E8"/>
            </a:solidFill>
            <a:prstDash val="solid"/>
          </a:ln>
        </p:spPr>
      </p:sp>
      <p:sp>
        <p:nvSpPr>
          <p:cNvPr id="9" name="Text 7"/>
          <p:cNvSpPr/>
          <p:nvPr/>
        </p:nvSpPr>
        <p:spPr>
          <a:xfrm>
            <a:off x="1143000" y="2103120"/>
            <a:ext cx="4663440" cy="320040"/>
          </a:xfrm>
          <a:prstGeom prst="rect">
            <a:avLst/>
          </a:prstGeom>
          <a:noFill/>
          <a:ln/>
        </p:spPr>
        <p:txBody>
          <a:bodyPr wrap="square" lIns="0" tIns="0" rIns="0" bIns="0" rtlCol="0" anchor="ctr">
            <a:normAutofit/>
          </a:bodyPr>
          <a:lstStyle/>
          <a:p>
            <a:pPr indent="0" marL="0">
              <a:buNone/>
            </a:pPr>
            <a:r>
              <a:rPr lang="en-US" sz="1400" dirty="0">
                <a:solidFill>
                  <a:srgbClr val="52606D"/>
                </a:solidFill>
              </a:rPr>
              <a:t>Choose buyer consultation or listing appointment.</a:t>
            </a:r>
            <a:endParaRPr lang="en-US" sz="1400" dirty="0"/>
          </a:p>
        </p:txBody>
      </p:sp>
      <p:sp>
        <p:nvSpPr>
          <p:cNvPr id="10" name="Text 8"/>
          <p:cNvSpPr/>
          <p:nvPr/>
        </p:nvSpPr>
        <p:spPr>
          <a:xfrm>
            <a:off x="1143000" y="4005072"/>
            <a:ext cx="2194560" cy="182880"/>
          </a:xfrm>
          <a:prstGeom prst="rect">
            <a:avLst/>
          </a:prstGeom>
          <a:noFill/>
          <a:ln/>
        </p:spPr>
        <p:txBody>
          <a:bodyPr wrap="square" lIns="0" tIns="0" rIns="0" bIns="0" rtlCol="0" anchor="ctr"/>
          <a:lstStyle/>
          <a:p>
            <a:pPr indent="0" marL="0">
              <a:buNone/>
            </a:pPr>
            <a:r>
              <a:rPr lang="en-US" sz="950" b="1" dirty="0">
                <a:solidFill>
                  <a:srgbClr val="008F8F"/>
                </a:solidFill>
              </a:rPr>
              <a:t>Workshop canvas</a:t>
            </a:r>
            <a:endParaRPr lang="en-US" sz="950" dirty="0"/>
          </a:p>
        </p:txBody>
      </p:sp>
      <p:sp>
        <p:nvSpPr>
          <p:cNvPr id="11" name="Shape 9"/>
          <p:cNvSpPr/>
          <p:nvPr/>
        </p:nvSpPr>
        <p:spPr>
          <a:xfrm>
            <a:off x="6446520" y="1810512"/>
            <a:ext cx="4343400" cy="2697480"/>
          </a:xfrm>
          <a:prstGeom prst="roundRect">
            <a:avLst>
              <a:gd name="adj" fmla="val 2034"/>
            </a:avLst>
          </a:prstGeom>
          <a:solidFill>
            <a:srgbClr val="E9F8F0"/>
          </a:solidFill>
          <a:ln w="10160">
            <a:solidFill>
              <a:srgbClr val="BBDCC9"/>
            </a:solidFill>
            <a:prstDash val="solid"/>
          </a:ln>
        </p:spPr>
      </p:sp>
      <p:sp>
        <p:nvSpPr>
          <p:cNvPr id="12" name="Text 10"/>
          <p:cNvSpPr/>
          <p:nvPr/>
        </p:nvSpPr>
        <p:spPr>
          <a:xfrm>
            <a:off x="6720840" y="2148840"/>
            <a:ext cx="3657600" cy="182880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02033"/>
                </a:solidFill>
                <a:latin typeface="Aptos" pitchFamily="34" charset="0"/>
                <a:ea typeface="Aptos" pitchFamily="34" charset="-122"/>
                <a:cs typeface="Aptos" pitchFamily="34" charset="-120"/>
              </a:rPr>
              <a:t>Draft a 5-part agenda</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Add 5 discovery questions</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Add 3 likely objections</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Draft a follow-up email template</a:t>
            </a:r>
            <a:endParaRPr lang="en-US" sz="1500" dirty="0"/>
          </a:p>
        </p:txBody>
      </p:sp>
      <p:sp>
        <p:nvSpPr>
          <p:cNvPr id="13" name="Text 11"/>
          <p:cNvSpPr/>
          <p:nvPr/>
        </p:nvSpPr>
        <p:spPr>
          <a:xfrm>
            <a:off x="9738360" y="4069080"/>
            <a:ext cx="731520" cy="201168"/>
          </a:xfrm>
          <a:prstGeom prst="rect">
            <a:avLst/>
          </a:prstGeom>
          <a:noFill/>
          <a:ln/>
        </p:spPr>
        <p:txBody>
          <a:bodyPr wrap="square" lIns="0" tIns="0" rIns="0" bIns="0" rtlCol="0" anchor="ctr"/>
          <a:lstStyle/>
          <a:p>
            <a:pPr indent="0" marL="0">
              <a:buNone/>
            </a:pPr>
            <a:r>
              <a:rPr lang="en-US" sz="950" b="1" dirty="0">
                <a:solidFill>
                  <a:srgbClr val="2E7D5B"/>
                </a:solidFill>
              </a:rPr>
              <a:t>4-6 min</a:t>
            </a:r>
            <a:endParaRPr lang="en-US" sz="9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36/48</a:t>
            </a:r>
            <a:endParaRPr lang="en-US" sz="72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749808" y="822960"/>
            <a:ext cx="3840480" cy="256032"/>
          </a:xfrm>
          <a:prstGeom prst="rect">
            <a:avLst/>
          </a:prstGeom>
          <a:noFill/>
          <a:ln/>
        </p:spPr>
        <p:txBody>
          <a:bodyPr wrap="square" lIns="0" tIns="0" rIns="0" bIns="0" rtlCol="0" anchor="ctr"/>
          <a:lstStyle/>
          <a:p>
            <a:pPr indent="0" marL="0">
              <a:buNone/>
            </a:pPr>
            <a:r>
              <a:rPr lang="en-US" sz="1100" b="1" dirty="0">
                <a:solidFill>
                  <a:srgbClr val="F2B84B"/>
                </a:solidFill>
              </a:rPr>
              <a:t>SECTION 7</a:t>
            </a:r>
            <a:endParaRPr lang="en-US" sz="1100" dirty="0"/>
          </a:p>
        </p:txBody>
      </p:sp>
      <p:sp>
        <p:nvSpPr>
          <p:cNvPr id="3" name="Text 1"/>
          <p:cNvSpPr/>
          <p:nvPr/>
        </p:nvSpPr>
        <p:spPr>
          <a:xfrm>
            <a:off x="713232" y="1828800"/>
            <a:ext cx="9966960" cy="77724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Daily AI Workflow and Professional Guardrails</a:t>
            </a:r>
            <a:endParaRPr lang="en-US" sz="3400" dirty="0"/>
          </a:p>
        </p:txBody>
      </p:sp>
      <p:sp>
        <p:nvSpPr>
          <p:cNvPr id="4" name="Text 2"/>
          <p:cNvSpPr/>
          <p:nvPr/>
        </p:nvSpPr>
        <p:spPr>
          <a:xfrm>
            <a:off x="749808" y="2852928"/>
            <a:ext cx="8138160" cy="411480"/>
          </a:xfrm>
          <a:prstGeom prst="rect">
            <a:avLst/>
          </a:prstGeom>
          <a:noFill/>
          <a:ln/>
        </p:spPr>
        <p:txBody>
          <a:bodyPr wrap="square" lIns="0" tIns="0" rIns="0" bIns="0" rtlCol="0" anchor="ctr">
            <a:normAutofit/>
          </a:bodyPr>
          <a:lstStyle/>
          <a:p>
            <a:pPr indent="0" marL="0">
              <a:buNone/>
            </a:pPr>
            <a:r>
              <a:rPr lang="en-US" sz="1600" dirty="0">
                <a:solidFill>
                  <a:srgbClr val="DCEEEF"/>
                </a:solidFill>
              </a:rPr>
              <a:t>Attach AI to the day, not to a vague intention.</a:t>
            </a:r>
            <a:endParaRPr lang="en-US" sz="1600" dirty="0"/>
          </a:p>
        </p:txBody>
      </p:sp>
      <p:sp>
        <p:nvSpPr>
          <p:cNvPr id="5" name="Shape 3"/>
          <p:cNvSpPr/>
          <p:nvPr/>
        </p:nvSpPr>
        <p:spPr>
          <a:xfrm>
            <a:off x="749808" y="3657600"/>
            <a:ext cx="1828800" cy="0"/>
          </a:xfrm>
          <a:prstGeom prst="line">
            <a:avLst/>
          </a:prstGeom>
          <a:noFill/>
          <a:ln w="50800">
            <a:solidFill>
              <a:srgbClr val="F45B69"/>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0F3F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0F3F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DAILY RHYTHM</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A simple daily AI workflow</a:t>
            </a:r>
            <a:endParaRPr lang="en-US" sz="2800" dirty="0"/>
          </a:p>
        </p:txBody>
      </p:sp>
      <p:sp>
        <p:nvSpPr>
          <p:cNvPr id="7" name="Shape 5"/>
          <p:cNvSpPr/>
          <p:nvPr/>
        </p:nvSpPr>
        <p:spPr>
          <a:xfrm>
            <a:off x="868680" y="1920240"/>
            <a:ext cx="2148840" cy="2377440"/>
          </a:xfrm>
          <a:prstGeom prst="roundRect">
            <a:avLst>
              <a:gd name="adj" fmla="val 2553"/>
            </a:avLst>
          </a:prstGeom>
          <a:solidFill>
            <a:srgbClr val="EAF7F7"/>
          </a:solidFill>
          <a:ln w="10160">
            <a:solidFill>
              <a:srgbClr val="D8E6E8"/>
            </a:solidFill>
            <a:prstDash val="solid"/>
          </a:ln>
        </p:spPr>
      </p:sp>
      <p:sp>
        <p:nvSpPr>
          <p:cNvPr id="8" name="Shape 6"/>
          <p:cNvSpPr/>
          <p:nvPr/>
        </p:nvSpPr>
        <p:spPr>
          <a:xfrm>
            <a:off x="1097280" y="2194560"/>
            <a:ext cx="402336" cy="402336"/>
          </a:xfrm>
          <a:prstGeom prst="ellipse">
            <a:avLst/>
          </a:prstGeom>
          <a:solidFill>
            <a:srgbClr val="008F8F"/>
          </a:solidFill>
          <a:ln w="12700">
            <a:solidFill>
              <a:srgbClr val="008F8F"/>
            </a:solidFill>
            <a:prstDash val="solid"/>
          </a:ln>
        </p:spPr>
      </p:sp>
      <p:sp>
        <p:nvSpPr>
          <p:cNvPr id="9" name="Text 7"/>
          <p:cNvSpPr/>
          <p:nvPr/>
        </p:nvSpPr>
        <p:spPr>
          <a:xfrm>
            <a:off x="1097280" y="228600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10" name="Text 8"/>
          <p:cNvSpPr/>
          <p:nvPr/>
        </p:nvSpPr>
        <p:spPr>
          <a:xfrm>
            <a:off x="1097280" y="2880360"/>
            <a:ext cx="1691640" cy="256032"/>
          </a:xfrm>
          <a:prstGeom prst="rect">
            <a:avLst/>
          </a:prstGeom>
          <a:noFill/>
          <a:ln/>
        </p:spPr>
        <p:txBody>
          <a:bodyPr wrap="square" lIns="0" tIns="0" rIns="0" bIns="0" rtlCol="0" anchor="ctr"/>
          <a:lstStyle/>
          <a:p>
            <a:pPr indent="0" marL="0">
              <a:buNone/>
            </a:pPr>
            <a:r>
              <a:rPr lang="en-US" sz="1600" b="1" dirty="0">
                <a:solidFill>
                  <a:srgbClr val="16324F"/>
                </a:solidFill>
              </a:rPr>
              <a:t>Morning</a:t>
            </a:r>
            <a:endParaRPr lang="en-US" sz="1600" dirty="0"/>
          </a:p>
        </p:txBody>
      </p:sp>
      <p:sp>
        <p:nvSpPr>
          <p:cNvPr id="11" name="Text 9"/>
          <p:cNvSpPr/>
          <p:nvPr/>
        </p:nvSpPr>
        <p:spPr>
          <a:xfrm>
            <a:off x="1097280" y="3291840"/>
            <a:ext cx="1691640" cy="502920"/>
          </a:xfrm>
          <a:prstGeom prst="rect">
            <a:avLst/>
          </a:prstGeom>
          <a:noFill/>
          <a:ln/>
        </p:spPr>
        <p:txBody>
          <a:bodyPr wrap="square" lIns="0" tIns="0" rIns="0" bIns="0" rtlCol="0" anchor="ctr">
            <a:normAutofit/>
          </a:bodyPr>
          <a:lstStyle/>
          <a:p>
            <a:pPr indent="0" marL="0">
              <a:buNone/>
            </a:pPr>
            <a:r>
              <a:rPr lang="en-US" sz="1150" dirty="0">
                <a:solidFill>
                  <a:srgbClr val="52606D"/>
                </a:solidFill>
              </a:rPr>
              <a:t>Prioritize tasks and prepare calls</a:t>
            </a:r>
            <a:endParaRPr lang="en-US" sz="1150" dirty="0"/>
          </a:p>
        </p:txBody>
      </p:sp>
      <p:sp>
        <p:nvSpPr>
          <p:cNvPr id="12" name="Shape 10"/>
          <p:cNvSpPr/>
          <p:nvPr/>
        </p:nvSpPr>
        <p:spPr>
          <a:xfrm>
            <a:off x="3474720" y="1920240"/>
            <a:ext cx="2148840" cy="2377440"/>
          </a:xfrm>
          <a:prstGeom prst="roundRect">
            <a:avLst>
              <a:gd name="adj" fmla="val 2553"/>
            </a:avLst>
          </a:prstGeom>
          <a:solidFill>
            <a:srgbClr val="FFFFFF"/>
          </a:solidFill>
          <a:ln w="10160">
            <a:solidFill>
              <a:srgbClr val="D8E6E8"/>
            </a:solidFill>
            <a:prstDash val="solid"/>
          </a:ln>
        </p:spPr>
      </p:sp>
      <p:sp>
        <p:nvSpPr>
          <p:cNvPr id="13" name="Shape 11"/>
          <p:cNvSpPr/>
          <p:nvPr/>
        </p:nvSpPr>
        <p:spPr>
          <a:xfrm>
            <a:off x="3703320" y="2194560"/>
            <a:ext cx="402336" cy="402336"/>
          </a:xfrm>
          <a:prstGeom prst="ellipse">
            <a:avLst/>
          </a:prstGeom>
          <a:solidFill>
            <a:srgbClr val="2F80ED"/>
          </a:solidFill>
          <a:ln w="12700">
            <a:solidFill>
              <a:srgbClr val="2F80ED"/>
            </a:solidFill>
            <a:prstDash val="solid"/>
          </a:ln>
        </p:spPr>
      </p:sp>
      <p:sp>
        <p:nvSpPr>
          <p:cNvPr id="14" name="Text 12"/>
          <p:cNvSpPr/>
          <p:nvPr/>
        </p:nvSpPr>
        <p:spPr>
          <a:xfrm>
            <a:off x="3703320" y="228600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15" name="Text 13"/>
          <p:cNvSpPr/>
          <p:nvPr/>
        </p:nvSpPr>
        <p:spPr>
          <a:xfrm>
            <a:off x="3703320" y="2880360"/>
            <a:ext cx="1691640" cy="256032"/>
          </a:xfrm>
          <a:prstGeom prst="rect">
            <a:avLst/>
          </a:prstGeom>
          <a:noFill/>
          <a:ln/>
        </p:spPr>
        <p:txBody>
          <a:bodyPr wrap="square" lIns="0" tIns="0" rIns="0" bIns="0" rtlCol="0" anchor="ctr"/>
          <a:lstStyle/>
          <a:p>
            <a:pPr indent="0" marL="0">
              <a:buNone/>
            </a:pPr>
            <a:r>
              <a:rPr lang="en-US" sz="1600" b="1" dirty="0">
                <a:solidFill>
                  <a:srgbClr val="16324F"/>
                </a:solidFill>
              </a:rPr>
              <a:t>Midday</a:t>
            </a:r>
            <a:endParaRPr lang="en-US" sz="1600" dirty="0"/>
          </a:p>
        </p:txBody>
      </p:sp>
      <p:sp>
        <p:nvSpPr>
          <p:cNvPr id="16" name="Text 14"/>
          <p:cNvSpPr/>
          <p:nvPr/>
        </p:nvSpPr>
        <p:spPr>
          <a:xfrm>
            <a:off x="3703320" y="3291840"/>
            <a:ext cx="1691640" cy="502920"/>
          </a:xfrm>
          <a:prstGeom prst="rect">
            <a:avLst/>
          </a:prstGeom>
          <a:noFill/>
          <a:ln/>
        </p:spPr>
        <p:txBody>
          <a:bodyPr wrap="square" lIns="0" tIns="0" rIns="0" bIns="0" rtlCol="0" anchor="ctr">
            <a:normAutofit/>
          </a:bodyPr>
          <a:lstStyle/>
          <a:p>
            <a:pPr indent="0" marL="0">
              <a:buNone/>
            </a:pPr>
            <a:r>
              <a:rPr lang="en-US" sz="1150" dirty="0">
                <a:solidFill>
                  <a:srgbClr val="52606D"/>
                </a:solidFill>
              </a:rPr>
              <a:t>Draft follow-up and client updates</a:t>
            </a:r>
            <a:endParaRPr lang="en-US" sz="1150" dirty="0"/>
          </a:p>
        </p:txBody>
      </p:sp>
      <p:sp>
        <p:nvSpPr>
          <p:cNvPr id="17" name="Shape 15"/>
          <p:cNvSpPr/>
          <p:nvPr/>
        </p:nvSpPr>
        <p:spPr>
          <a:xfrm>
            <a:off x="6080760" y="1920240"/>
            <a:ext cx="2148840" cy="2377440"/>
          </a:xfrm>
          <a:prstGeom prst="roundRect">
            <a:avLst>
              <a:gd name="adj" fmla="val 2553"/>
            </a:avLst>
          </a:prstGeom>
          <a:solidFill>
            <a:srgbClr val="FFF4D9"/>
          </a:solidFill>
          <a:ln w="10160">
            <a:solidFill>
              <a:srgbClr val="D8E6E8"/>
            </a:solidFill>
            <a:prstDash val="solid"/>
          </a:ln>
        </p:spPr>
      </p:sp>
      <p:sp>
        <p:nvSpPr>
          <p:cNvPr id="18" name="Shape 16"/>
          <p:cNvSpPr/>
          <p:nvPr/>
        </p:nvSpPr>
        <p:spPr>
          <a:xfrm>
            <a:off x="6309360" y="2194560"/>
            <a:ext cx="402336" cy="402336"/>
          </a:xfrm>
          <a:prstGeom prst="ellipse">
            <a:avLst/>
          </a:prstGeom>
          <a:solidFill>
            <a:srgbClr val="F2B84B"/>
          </a:solidFill>
          <a:ln w="12700">
            <a:solidFill>
              <a:srgbClr val="F2B84B"/>
            </a:solidFill>
            <a:prstDash val="solid"/>
          </a:ln>
        </p:spPr>
      </p:sp>
      <p:sp>
        <p:nvSpPr>
          <p:cNvPr id="19" name="Text 17"/>
          <p:cNvSpPr/>
          <p:nvPr/>
        </p:nvSpPr>
        <p:spPr>
          <a:xfrm>
            <a:off x="6309360" y="228600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20" name="Text 18"/>
          <p:cNvSpPr/>
          <p:nvPr/>
        </p:nvSpPr>
        <p:spPr>
          <a:xfrm>
            <a:off x="6309360" y="2880360"/>
            <a:ext cx="1691640" cy="256032"/>
          </a:xfrm>
          <a:prstGeom prst="rect">
            <a:avLst/>
          </a:prstGeom>
          <a:noFill/>
          <a:ln/>
        </p:spPr>
        <p:txBody>
          <a:bodyPr wrap="square" lIns="0" tIns="0" rIns="0" bIns="0" rtlCol="0" anchor="ctr"/>
          <a:lstStyle/>
          <a:p>
            <a:pPr indent="0" marL="0">
              <a:buNone/>
            </a:pPr>
            <a:r>
              <a:rPr lang="en-US" sz="1600" b="1" dirty="0">
                <a:solidFill>
                  <a:srgbClr val="16324F"/>
                </a:solidFill>
              </a:rPr>
              <a:t>Afternoon</a:t>
            </a:r>
            <a:endParaRPr lang="en-US" sz="1600" dirty="0"/>
          </a:p>
        </p:txBody>
      </p:sp>
      <p:sp>
        <p:nvSpPr>
          <p:cNvPr id="21" name="Text 19"/>
          <p:cNvSpPr/>
          <p:nvPr/>
        </p:nvSpPr>
        <p:spPr>
          <a:xfrm>
            <a:off x="6309360" y="3291840"/>
            <a:ext cx="1691640" cy="502920"/>
          </a:xfrm>
          <a:prstGeom prst="rect">
            <a:avLst/>
          </a:prstGeom>
          <a:noFill/>
          <a:ln/>
        </p:spPr>
        <p:txBody>
          <a:bodyPr wrap="square" lIns="0" tIns="0" rIns="0" bIns="0" rtlCol="0" anchor="ctr">
            <a:normAutofit/>
          </a:bodyPr>
          <a:lstStyle/>
          <a:p>
            <a:pPr indent="0" marL="0">
              <a:buNone/>
            </a:pPr>
            <a:r>
              <a:rPr lang="en-US" sz="1150" dirty="0">
                <a:solidFill>
                  <a:srgbClr val="52606D"/>
                </a:solidFill>
              </a:rPr>
              <a:t>Create listing/content drafts</a:t>
            </a:r>
            <a:endParaRPr lang="en-US" sz="1150" dirty="0"/>
          </a:p>
        </p:txBody>
      </p:sp>
      <p:sp>
        <p:nvSpPr>
          <p:cNvPr id="22" name="Shape 20"/>
          <p:cNvSpPr/>
          <p:nvPr/>
        </p:nvSpPr>
        <p:spPr>
          <a:xfrm>
            <a:off x="8686800" y="1920240"/>
            <a:ext cx="2148840" cy="2377440"/>
          </a:xfrm>
          <a:prstGeom prst="roundRect">
            <a:avLst>
              <a:gd name="adj" fmla="val 2553"/>
            </a:avLst>
          </a:prstGeom>
          <a:solidFill>
            <a:srgbClr val="FFFFFF"/>
          </a:solidFill>
          <a:ln w="10160">
            <a:solidFill>
              <a:srgbClr val="D8E6E8"/>
            </a:solidFill>
            <a:prstDash val="solid"/>
          </a:ln>
        </p:spPr>
      </p:sp>
      <p:sp>
        <p:nvSpPr>
          <p:cNvPr id="23" name="Shape 21"/>
          <p:cNvSpPr/>
          <p:nvPr/>
        </p:nvSpPr>
        <p:spPr>
          <a:xfrm>
            <a:off x="8915400" y="2194560"/>
            <a:ext cx="402336" cy="402336"/>
          </a:xfrm>
          <a:prstGeom prst="ellipse">
            <a:avLst/>
          </a:prstGeom>
          <a:solidFill>
            <a:srgbClr val="2E7D5B"/>
          </a:solidFill>
          <a:ln w="12700">
            <a:solidFill>
              <a:srgbClr val="2E7D5B"/>
            </a:solidFill>
            <a:prstDash val="solid"/>
          </a:ln>
        </p:spPr>
      </p:sp>
      <p:sp>
        <p:nvSpPr>
          <p:cNvPr id="24" name="Text 22"/>
          <p:cNvSpPr/>
          <p:nvPr/>
        </p:nvSpPr>
        <p:spPr>
          <a:xfrm>
            <a:off x="8915400" y="228600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25" name="Text 23"/>
          <p:cNvSpPr/>
          <p:nvPr/>
        </p:nvSpPr>
        <p:spPr>
          <a:xfrm>
            <a:off x="8915400" y="2880360"/>
            <a:ext cx="1691640" cy="256032"/>
          </a:xfrm>
          <a:prstGeom prst="rect">
            <a:avLst/>
          </a:prstGeom>
          <a:noFill/>
          <a:ln/>
        </p:spPr>
        <p:txBody>
          <a:bodyPr wrap="square" lIns="0" tIns="0" rIns="0" bIns="0" rtlCol="0" anchor="ctr"/>
          <a:lstStyle/>
          <a:p>
            <a:pPr indent="0" marL="0">
              <a:buNone/>
            </a:pPr>
            <a:r>
              <a:rPr lang="en-US" sz="1600" b="1" dirty="0">
                <a:solidFill>
                  <a:srgbClr val="16324F"/>
                </a:solidFill>
              </a:rPr>
              <a:t>End of day</a:t>
            </a:r>
            <a:endParaRPr lang="en-US" sz="1600" dirty="0"/>
          </a:p>
        </p:txBody>
      </p:sp>
      <p:sp>
        <p:nvSpPr>
          <p:cNvPr id="26" name="Text 24"/>
          <p:cNvSpPr/>
          <p:nvPr/>
        </p:nvSpPr>
        <p:spPr>
          <a:xfrm>
            <a:off x="8915400" y="3291840"/>
            <a:ext cx="1691640" cy="502920"/>
          </a:xfrm>
          <a:prstGeom prst="rect">
            <a:avLst/>
          </a:prstGeom>
          <a:noFill/>
          <a:ln/>
        </p:spPr>
        <p:txBody>
          <a:bodyPr wrap="square" lIns="0" tIns="0" rIns="0" bIns="0" rtlCol="0" anchor="ctr">
            <a:normAutofit/>
          </a:bodyPr>
          <a:lstStyle/>
          <a:p>
            <a:pPr indent="0" marL="0">
              <a:buNone/>
            </a:pPr>
            <a:r>
              <a:rPr lang="en-US" sz="1150" dirty="0">
                <a:solidFill>
                  <a:srgbClr val="52606D"/>
                </a:solidFill>
              </a:rPr>
              <a:t>Summarize notes and next steps</a:t>
            </a:r>
            <a:endParaRPr lang="en-US" sz="1150" dirty="0"/>
          </a:p>
        </p:txBody>
      </p:sp>
      <p:sp>
        <p:nvSpPr>
          <p:cNvPr id="27" name="Shape 25"/>
          <p:cNvSpPr/>
          <p:nvPr/>
        </p:nvSpPr>
        <p:spPr>
          <a:xfrm>
            <a:off x="502920" y="6473952"/>
            <a:ext cx="11201400" cy="0"/>
          </a:xfrm>
          <a:prstGeom prst="line">
            <a:avLst/>
          </a:prstGeom>
          <a:noFill/>
          <a:ln w="9525">
            <a:solidFill>
              <a:srgbClr val="D8E6E8"/>
            </a:solidFill>
            <a:prstDash val="solid"/>
          </a:ln>
        </p:spPr>
      </p:sp>
      <p:sp>
        <p:nvSpPr>
          <p:cNvPr id="28" name="Text 26"/>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29" name="Text 27"/>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38/48</a:t>
            </a:r>
            <a:endParaRPr lang="en-US" sz="72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9F8F0"/>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9F8F0"/>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GUARDRAILS</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Responsible AI use in a real estate business</a:t>
            </a:r>
            <a:endParaRPr lang="en-US" sz="2800" dirty="0"/>
          </a:p>
        </p:txBody>
      </p:sp>
      <p:sp>
        <p:nvSpPr>
          <p:cNvPr id="7" name="Text 5"/>
          <p:cNvSpPr/>
          <p:nvPr/>
        </p:nvSpPr>
        <p:spPr>
          <a:xfrm>
            <a:off x="868680" y="1874520"/>
            <a:ext cx="6400800" cy="3657600"/>
          </a:xfrm>
          <a:prstGeom prst="rect">
            <a:avLst/>
          </a:prstGeom>
          <a:noFill/>
          <a:ln/>
        </p:spPr>
        <p:txBody>
          <a:bodyPr wrap="square" lIns="254" tIns="254" rIns="254" bIns="254" rtlCol="0" anchor="t">
            <a:normAutofit/>
          </a:bodyPr>
          <a:lstStyle/>
          <a:p>
            <a:pPr marL="203200" indent="-203200">
              <a:buSzPct val="100000"/>
              <a:buChar char="•"/>
            </a:pPr>
            <a:r>
              <a:rPr lang="en-US" sz="1650" dirty="0">
                <a:solidFill>
                  <a:srgbClr val="102033"/>
                </a:solidFill>
                <a:latin typeface="Aptos" pitchFamily="34" charset="0"/>
                <a:ea typeface="Aptos" pitchFamily="34" charset="-122"/>
                <a:cs typeface="Aptos" pitchFamily="34" charset="-120"/>
              </a:rPr>
              <a:t>Protect private client information</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Do not paste confidential data without authorization and safeguards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Review all output before use</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Follow brokerage policies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Comply with Fair Housing requirements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Verify facts, MLS data, legal claims, and financial claims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Avoid discriminatory targeting or language</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Use AI to support professional judgment, not replace it</a:t>
            </a:r>
            <a:endParaRPr lang="en-US" sz="1650" dirty="0"/>
          </a:p>
        </p:txBody>
      </p:sp>
      <p:sp>
        <p:nvSpPr>
          <p:cNvPr id="8" name="Shape 6"/>
          <p:cNvSpPr/>
          <p:nvPr/>
        </p:nvSpPr>
        <p:spPr>
          <a:xfrm>
            <a:off x="7571232" y="1828800"/>
            <a:ext cx="3246120" cy="2788920"/>
          </a:xfrm>
          <a:prstGeom prst="roundRect">
            <a:avLst>
              <a:gd name="adj" fmla="val 1967"/>
            </a:avLst>
          </a:prstGeom>
          <a:solidFill>
            <a:srgbClr val="E9F8F0"/>
          </a:solidFill>
          <a:ln w="10160">
            <a:solidFill>
              <a:srgbClr val="BFDADC"/>
            </a:solidFill>
            <a:prstDash val="solid"/>
          </a:ln>
        </p:spPr>
      </p:sp>
      <p:sp>
        <p:nvSpPr>
          <p:cNvPr id="9" name="Text 7"/>
          <p:cNvSpPr/>
          <p:nvPr/>
        </p:nvSpPr>
        <p:spPr>
          <a:xfrm>
            <a:off x="7882128" y="2148840"/>
            <a:ext cx="2606040" cy="530352"/>
          </a:xfrm>
          <a:prstGeom prst="rect">
            <a:avLst/>
          </a:prstGeom>
          <a:noFill/>
          <a:ln/>
        </p:spPr>
        <p:txBody>
          <a:bodyPr wrap="square" lIns="0" tIns="0" rIns="0" bIns="0" rtlCol="0" anchor="ctr">
            <a:normAutofit/>
          </a:bodyPr>
          <a:lstStyle/>
          <a:p>
            <a:pPr indent="0" marL="0">
              <a:buNone/>
            </a:pPr>
            <a:r>
              <a:rPr lang="en-US" sz="1750" b="1" dirty="0">
                <a:solidFill>
                  <a:srgbClr val="16324F"/>
                </a:solidFill>
              </a:rPr>
              <a:t>Review before use</a:t>
            </a:r>
            <a:endParaRPr lang="en-US" sz="1750" dirty="0"/>
          </a:p>
        </p:txBody>
      </p:sp>
      <p:sp>
        <p:nvSpPr>
          <p:cNvPr id="10" name="Text 8"/>
          <p:cNvSpPr/>
          <p:nvPr/>
        </p:nvSpPr>
        <p:spPr>
          <a:xfrm>
            <a:off x="7882128" y="2944368"/>
            <a:ext cx="2514600" cy="960120"/>
          </a:xfrm>
          <a:prstGeom prst="rect">
            <a:avLst/>
          </a:prstGeom>
          <a:noFill/>
          <a:ln/>
        </p:spPr>
        <p:txBody>
          <a:bodyPr wrap="square" lIns="508" tIns="508" rIns="508" bIns="508" rtlCol="0" anchor="ctr">
            <a:normAutofit/>
          </a:bodyPr>
          <a:lstStyle/>
          <a:p>
            <a:pPr indent="0" marL="0">
              <a:buNone/>
            </a:pPr>
            <a:r>
              <a:rPr lang="en-US" sz="1220" dirty="0">
                <a:solidFill>
                  <a:srgbClr val="102033"/>
                </a:solidFill>
              </a:rPr>
              <a:t>Private data, brokerage policy, MLS rules, advertising, and Fair Housing still apply.</a:t>
            </a:r>
            <a:endParaRPr lang="en-US" sz="1220" dirty="0"/>
          </a:p>
        </p:txBody>
      </p:sp>
      <p:sp>
        <p:nvSpPr>
          <p:cNvPr id="11" name="Shape 9"/>
          <p:cNvSpPr/>
          <p:nvPr/>
        </p:nvSpPr>
        <p:spPr>
          <a:xfrm>
            <a:off x="7882128" y="4160520"/>
            <a:ext cx="1097280" cy="0"/>
          </a:xfrm>
          <a:prstGeom prst="line">
            <a:avLst/>
          </a:prstGeom>
          <a:noFill/>
          <a:ln w="38100">
            <a:solidFill>
              <a:srgbClr val="008F8F"/>
            </a:solidFill>
            <a:prstDash val="solid"/>
          </a:ln>
        </p:spPr>
      </p:sp>
      <p:sp>
        <p:nvSpPr>
          <p:cNvPr id="12" name="Shape 10"/>
          <p:cNvSpPr/>
          <p:nvPr/>
        </p:nvSpPr>
        <p:spPr>
          <a:xfrm>
            <a:off x="7882128" y="4370832"/>
            <a:ext cx="493776" cy="493776"/>
          </a:xfrm>
          <a:prstGeom prst="roundRect">
            <a:avLst>
              <a:gd name="adj" fmla="val 14815"/>
            </a:avLst>
          </a:prstGeom>
          <a:solidFill>
            <a:srgbClr val="008F8F"/>
          </a:solidFill>
          <a:ln w="12700">
            <a:solidFill>
              <a:srgbClr val="008F8F"/>
            </a:solidFill>
            <a:prstDash val="solid"/>
          </a:ln>
        </p:spPr>
      </p:sp>
      <p:sp>
        <p:nvSpPr>
          <p:cNvPr id="13" name="Text 11"/>
          <p:cNvSpPr/>
          <p:nvPr/>
        </p:nvSpPr>
        <p:spPr>
          <a:xfrm>
            <a:off x="7927848" y="4507992"/>
            <a:ext cx="402336" cy="128016"/>
          </a:xfrm>
          <a:prstGeom prst="rect">
            <a:avLst/>
          </a:prstGeom>
          <a:noFill/>
          <a:ln/>
        </p:spPr>
        <p:txBody>
          <a:bodyPr wrap="square" lIns="0" tIns="0" rIns="0" bIns="0" rtlCol="0" anchor="ctr"/>
          <a:lstStyle/>
          <a:p>
            <a:pPr algn="ctr" indent="0" marL="0">
              <a:buNone/>
            </a:pPr>
            <a:r>
              <a:rPr lang="en-US" sz="850" b="1" dirty="0">
                <a:solidFill>
                  <a:srgbClr val="FFFFFF"/>
                </a:solidFill>
              </a:rPr>
              <a:t>AI</a:t>
            </a:r>
            <a:endParaRPr lang="en-US" sz="8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39/48</a:t>
            </a:r>
            <a:endParaRPr lang="en-US" sz="7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AF7F7"/>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AF7F7"/>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BROKERAGE + MLS</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When in doubt, slow down and verify</a:t>
            </a:r>
            <a:endParaRPr lang="en-US" sz="2800" dirty="0"/>
          </a:p>
        </p:txBody>
      </p:sp>
      <p:sp>
        <p:nvSpPr>
          <p:cNvPr id="7" name="Shape 5"/>
          <p:cNvSpPr/>
          <p:nvPr/>
        </p:nvSpPr>
        <p:spPr>
          <a:xfrm>
            <a:off x="868680" y="1783080"/>
            <a:ext cx="9601200" cy="603504"/>
          </a:xfrm>
          <a:prstGeom prst="roundRect">
            <a:avLst>
              <a:gd name="adj" fmla="val 9091"/>
            </a:avLst>
          </a:prstGeom>
          <a:solidFill>
            <a:srgbClr val="FFFFFF"/>
          </a:solidFill>
          <a:ln w="10160">
            <a:solidFill>
              <a:srgbClr val="D8E6E8"/>
            </a:solidFill>
            <a:prstDash val="solid"/>
          </a:ln>
        </p:spPr>
      </p:sp>
      <p:sp>
        <p:nvSpPr>
          <p:cNvPr id="8" name="Text 6"/>
          <p:cNvSpPr/>
          <p:nvPr/>
        </p:nvSpPr>
        <p:spPr>
          <a:xfrm>
            <a:off x="1115568" y="1947672"/>
            <a:ext cx="2011680" cy="164592"/>
          </a:xfrm>
          <a:prstGeom prst="rect">
            <a:avLst/>
          </a:prstGeom>
          <a:noFill/>
          <a:ln/>
        </p:spPr>
        <p:txBody>
          <a:bodyPr wrap="square" lIns="0" tIns="0" rIns="0" bIns="0" rtlCol="0" anchor="ctr">
            <a:normAutofit/>
          </a:bodyPr>
          <a:lstStyle/>
          <a:p>
            <a:pPr indent="0" marL="0">
              <a:buNone/>
            </a:pPr>
            <a:r>
              <a:rPr lang="en-US" sz="1030" b="1" dirty="0">
                <a:solidFill>
                  <a:srgbClr val="008F8F"/>
                </a:solidFill>
              </a:rPr>
              <a:t>Private data</a:t>
            </a:r>
            <a:endParaRPr lang="en-US" sz="1030" dirty="0"/>
          </a:p>
        </p:txBody>
      </p:sp>
      <p:sp>
        <p:nvSpPr>
          <p:cNvPr id="9" name="Text 7"/>
          <p:cNvSpPr/>
          <p:nvPr/>
        </p:nvSpPr>
        <p:spPr>
          <a:xfrm>
            <a:off x="3310128" y="1911096"/>
            <a:ext cx="6629400" cy="219456"/>
          </a:xfrm>
          <a:prstGeom prst="rect">
            <a:avLst/>
          </a:prstGeom>
          <a:noFill/>
          <a:ln/>
        </p:spPr>
        <p:txBody>
          <a:bodyPr wrap="square" lIns="0" tIns="0" rIns="0" bIns="0" rtlCol="0" anchor="ctr">
            <a:normAutofit/>
          </a:bodyPr>
          <a:lstStyle/>
          <a:p>
            <a:pPr indent="0" marL="0">
              <a:buNone/>
            </a:pPr>
            <a:r>
              <a:rPr lang="en-US" sz="1130" dirty="0">
                <a:solidFill>
                  <a:srgbClr val="102033"/>
                </a:solidFill>
              </a:rPr>
              <a:t>Remove names, contact info, financial details, and sensitive context before using public tools.</a:t>
            </a:r>
            <a:endParaRPr lang="en-US" sz="1130" dirty="0"/>
          </a:p>
        </p:txBody>
      </p:sp>
      <p:sp>
        <p:nvSpPr>
          <p:cNvPr id="10" name="Shape 8"/>
          <p:cNvSpPr/>
          <p:nvPr/>
        </p:nvSpPr>
        <p:spPr>
          <a:xfrm>
            <a:off x="868680" y="2624328"/>
            <a:ext cx="9601200" cy="603504"/>
          </a:xfrm>
          <a:prstGeom prst="roundRect">
            <a:avLst>
              <a:gd name="adj" fmla="val 9091"/>
            </a:avLst>
          </a:prstGeom>
          <a:solidFill>
            <a:srgbClr val="FFFFFF"/>
          </a:solidFill>
          <a:ln w="10160">
            <a:solidFill>
              <a:srgbClr val="D8E6E8"/>
            </a:solidFill>
            <a:prstDash val="solid"/>
          </a:ln>
        </p:spPr>
      </p:sp>
      <p:sp>
        <p:nvSpPr>
          <p:cNvPr id="11" name="Text 9"/>
          <p:cNvSpPr/>
          <p:nvPr/>
        </p:nvSpPr>
        <p:spPr>
          <a:xfrm>
            <a:off x="1115568" y="2788920"/>
            <a:ext cx="2011680" cy="164592"/>
          </a:xfrm>
          <a:prstGeom prst="rect">
            <a:avLst/>
          </a:prstGeom>
          <a:noFill/>
          <a:ln/>
        </p:spPr>
        <p:txBody>
          <a:bodyPr wrap="square" lIns="0" tIns="0" rIns="0" bIns="0" rtlCol="0" anchor="ctr">
            <a:normAutofit/>
          </a:bodyPr>
          <a:lstStyle/>
          <a:p>
            <a:pPr indent="0" marL="0">
              <a:buNone/>
            </a:pPr>
            <a:r>
              <a:rPr lang="en-US" sz="1030" b="1" dirty="0">
                <a:solidFill>
                  <a:srgbClr val="008F8F"/>
                </a:solidFill>
              </a:rPr>
              <a:t>Advertising</a:t>
            </a:r>
            <a:endParaRPr lang="en-US" sz="1030" dirty="0"/>
          </a:p>
        </p:txBody>
      </p:sp>
      <p:sp>
        <p:nvSpPr>
          <p:cNvPr id="12" name="Text 10"/>
          <p:cNvSpPr/>
          <p:nvPr/>
        </p:nvSpPr>
        <p:spPr>
          <a:xfrm>
            <a:off x="3310128" y="2752344"/>
            <a:ext cx="6629400" cy="219456"/>
          </a:xfrm>
          <a:prstGeom prst="rect">
            <a:avLst/>
          </a:prstGeom>
          <a:noFill/>
          <a:ln/>
        </p:spPr>
        <p:txBody>
          <a:bodyPr wrap="square" lIns="0" tIns="0" rIns="0" bIns="0" rtlCol="0" anchor="ctr">
            <a:normAutofit/>
          </a:bodyPr>
          <a:lstStyle/>
          <a:p>
            <a:pPr indent="0" marL="0">
              <a:buNone/>
            </a:pPr>
            <a:r>
              <a:rPr lang="en-US" sz="1130" dirty="0">
                <a:solidFill>
                  <a:srgbClr val="102033"/>
                </a:solidFill>
              </a:rPr>
              <a:t>Review claims, disclosures, brokerage rules, and platform requirements.</a:t>
            </a:r>
            <a:endParaRPr lang="en-US" sz="1130" dirty="0"/>
          </a:p>
        </p:txBody>
      </p:sp>
      <p:sp>
        <p:nvSpPr>
          <p:cNvPr id="13" name="Shape 11"/>
          <p:cNvSpPr/>
          <p:nvPr/>
        </p:nvSpPr>
        <p:spPr>
          <a:xfrm>
            <a:off x="868680" y="3465576"/>
            <a:ext cx="9601200" cy="603504"/>
          </a:xfrm>
          <a:prstGeom prst="roundRect">
            <a:avLst>
              <a:gd name="adj" fmla="val 9091"/>
            </a:avLst>
          </a:prstGeom>
          <a:solidFill>
            <a:srgbClr val="FFFFFF"/>
          </a:solidFill>
          <a:ln w="10160">
            <a:solidFill>
              <a:srgbClr val="D8E6E8"/>
            </a:solidFill>
            <a:prstDash val="solid"/>
          </a:ln>
        </p:spPr>
      </p:sp>
      <p:sp>
        <p:nvSpPr>
          <p:cNvPr id="14" name="Text 12"/>
          <p:cNvSpPr/>
          <p:nvPr/>
        </p:nvSpPr>
        <p:spPr>
          <a:xfrm>
            <a:off x="1115568" y="3630168"/>
            <a:ext cx="2011680" cy="164592"/>
          </a:xfrm>
          <a:prstGeom prst="rect">
            <a:avLst/>
          </a:prstGeom>
          <a:noFill/>
          <a:ln/>
        </p:spPr>
        <p:txBody>
          <a:bodyPr wrap="square" lIns="0" tIns="0" rIns="0" bIns="0" rtlCol="0" anchor="ctr">
            <a:normAutofit/>
          </a:bodyPr>
          <a:lstStyle/>
          <a:p>
            <a:pPr indent="0" marL="0">
              <a:buNone/>
            </a:pPr>
            <a:r>
              <a:rPr lang="en-US" sz="1030" b="1" dirty="0">
                <a:solidFill>
                  <a:srgbClr val="008F8F"/>
                </a:solidFill>
              </a:rPr>
              <a:t>MLS</a:t>
            </a:r>
            <a:endParaRPr lang="en-US" sz="1030" dirty="0"/>
          </a:p>
        </p:txBody>
      </p:sp>
      <p:sp>
        <p:nvSpPr>
          <p:cNvPr id="15" name="Text 13"/>
          <p:cNvSpPr/>
          <p:nvPr/>
        </p:nvSpPr>
        <p:spPr>
          <a:xfrm>
            <a:off x="3310128" y="3593592"/>
            <a:ext cx="6629400" cy="219456"/>
          </a:xfrm>
          <a:prstGeom prst="rect">
            <a:avLst/>
          </a:prstGeom>
          <a:noFill/>
          <a:ln/>
        </p:spPr>
        <p:txBody>
          <a:bodyPr wrap="square" lIns="0" tIns="0" rIns="0" bIns="0" rtlCol="0" anchor="ctr">
            <a:normAutofit/>
          </a:bodyPr>
          <a:lstStyle/>
          <a:p>
            <a:pPr indent="0" marL="0">
              <a:buNone/>
            </a:pPr>
            <a:r>
              <a:rPr lang="en-US" sz="1130" dirty="0">
                <a:solidFill>
                  <a:srgbClr val="102033"/>
                </a:solidFill>
              </a:rPr>
              <a:t>Follow MLS rules for listing data, remarks, photos, and public display.</a:t>
            </a:r>
            <a:endParaRPr lang="en-US" sz="1130" dirty="0"/>
          </a:p>
        </p:txBody>
      </p:sp>
      <p:sp>
        <p:nvSpPr>
          <p:cNvPr id="16" name="Shape 14"/>
          <p:cNvSpPr/>
          <p:nvPr/>
        </p:nvSpPr>
        <p:spPr>
          <a:xfrm>
            <a:off x="868680" y="4306824"/>
            <a:ext cx="9601200" cy="603504"/>
          </a:xfrm>
          <a:prstGeom prst="roundRect">
            <a:avLst>
              <a:gd name="adj" fmla="val 9091"/>
            </a:avLst>
          </a:prstGeom>
          <a:solidFill>
            <a:srgbClr val="FFFFFF"/>
          </a:solidFill>
          <a:ln w="10160">
            <a:solidFill>
              <a:srgbClr val="D8E6E8"/>
            </a:solidFill>
            <a:prstDash val="solid"/>
          </a:ln>
        </p:spPr>
      </p:sp>
      <p:sp>
        <p:nvSpPr>
          <p:cNvPr id="17" name="Text 15"/>
          <p:cNvSpPr/>
          <p:nvPr/>
        </p:nvSpPr>
        <p:spPr>
          <a:xfrm>
            <a:off x="1115568" y="4471416"/>
            <a:ext cx="2011680" cy="164592"/>
          </a:xfrm>
          <a:prstGeom prst="rect">
            <a:avLst/>
          </a:prstGeom>
          <a:noFill/>
          <a:ln/>
        </p:spPr>
        <p:txBody>
          <a:bodyPr wrap="square" lIns="0" tIns="0" rIns="0" bIns="0" rtlCol="0" anchor="ctr">
            <a:normAutofit/>
          </a:bodyPr>
          <a:lstStyle/>
          <a:p>
            <a:pPr indent="0" marL="0">
              <a:buNone/>
            </a:pPr>
            <a:r>
              <a:rPr lang="en-US" sz="1030" b="1" dirty="0">
                <a:solidFill>
                  <a:srgbClr val="008F8F"/>
                </a:solidFill>
              </a:rPr>
              <a:t>Consumer communication</a:t>
            </a:r>
            <a:endParaRPr lang="en-US" sz="1030" dirty="0"/>
          </a:p>
        </p:txBody>
      </p:sp>
      <p:sp>
        <p:nvSpPr>
          <p:cNvPr id="18" name="Text 16"/>
          <p:cNvSpPr/>
          <p:nvPr/>
        </p:nvSpPr>
        <p:spPr>
          <a:xfrm>
            <a:off x="3310128" y="4434840"/>
            <a:ext cx="6629400" cy="219456"/>
          </a:xfrm>
          <a:prstGeom prst="rect">
            <a:avLst/>
          </a:prstGeom>
          <a:noFill/>
          <a:ln/>
        </p:spPr>
        <p:txBody>
          <a:bodyPr wrap="square" lIns="0" tIns="0" rIns="0" bIns="0" rtlCol="0" anchor="ctr">
            <a:normAutofit/>
          </a:bodyPr>
          <a:lstStyle/>
          <a:p>
            <a:pPr indent="0" marL="0">
              <a:buNone/>
            </a:pPr>
            <a:r>
              <a:rPr lang="en-US" sz="1130" dirty="0">
                <a:solidFill>
                  <a:srgbClr val="102033"/>
                </a:solidFill>
              </a:rPr>
              <a:t>Keep records, respect opt-outs, and do not automate beyond policy.</a:t>
            </a:r>
            <a:endParaRPr lang="en-US" sz="1130" dirty="0"/>
          </a:p>
        </p:txBody>
      </p:sp>
      <p:sp>
        <p:nvSpPr>
          <p:cNvPr id="19" name="Shape 17"/>
          <p:cNvSpPr/>
          <p:nvPr/>
        </p:nvSpPr>
        <p:spPr>
          <a:xfrm>
            <a:off x="502920" y="6473952"/>
            <a:ext cx="11201400" cy="0"/>
          </a:xfrm>
          <a:prstGeom prst="line">
            <a:avLst/>
          </a:prstGeom>
          <a:noFill/>
          <a:ln w="9525">
            <a:solidFill>
              <a:srgbClr val="D8E6E8"/>
            </a:solidFill>
            <a:prstDash val="solid"/>
          </a:ln>
        </p:spPr>
      </p:sp>
      <p:sp>
        <p:nvSpPr>
          <p:cNvPr id="20" name="Text 18"/>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21" name="Text 19"/>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40/48</a:t>
            </a:r>
            <a:endParaRPr lang="en-US" sz="72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4D9"/>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4D9"/>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ACTIVITY</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Build your daily AI workflow</a:t>
            </a:r>
            <a:endParaRPr lang="en-US" sz="2800" dirty="0"/>
          </a:p>
        </p:txBody>
      </p:sp>
      <p:sp>
        <p:nvSpPr>
          <p:cNvPr id="7" name="Shape 5"/>
          <p:cNvSpPr/>
          <p:nvPr/>
        </p:nvSpPr>
        <p:spPr>
          <a:xfrm>
            <a:off x="822960" y="1755648"/>
            <a:ext cx="5413248" cy="109728"/>
          </a:xfrm>
          <a:prstGeom prst="rect">
            <a:avLst/>
          </a:prstGeom>
          <a:solidFill>
            <a:srgbClr val="F2B84B"/>
          </a:solidFill>
          <a:ln w="12700">
            <a:solidFill>
              <a:srgbClr val="F2B84B"/>
            </a:solidFill>
            <a:prstDash val="solid"/>
          </a:ln>
        </p:spPr>
      </p:sp>
      <p:sp>
        <p:nvSpPr>
          <p:cNvPr id="8" name="Shape 6"/>
          <p:cNvSpPr/>
          <p:nvPr/>
        </p:nvSpPr>
        <p:spPr>
          <a:xfrm>
            <a:off x="868680" y="1874520"/>
            <a:ext cx="5303520" cy="2560320"/>
          </a:xfrm>
          <a:prstGeom prst="roundRect">
            <a:avLst>
              <a:gd name="adj" fmla="val 2143"/>
            </a:avLst>
          </a:prstGeom>
          <a:solidFill>
            <a:srgbClr val="FFFFFF"/>
          </a:solidFill>
          <a:ln w="10160">
            <a:solidFill>
              <a:srgbClr val="D8E6E8"/>
            </a:solidFill>
            <a:prstDash val="solid"/>
          </a:ln>
        </p:spPr>
      </p:sp>
      <p:sp>
        <p:nvSpPr>
          <p:cNvPr id="9" name="Text 7"/>
          <p:cNvSpPr/>
          <p:nvPr/>
        </p:nvSpPr>
        <p:spPr>
          <a:xfrm>
            <a:off x="1143000" y="2103120"/>
            <a:ext cx="4663440" cy="320040"/>
          </a:xfrm>
          <a:prstGeom prst="rect">
            <a:avLst/>
          </a:prstGeom>
          <a:noFill/>
          <a:ln/>
        </p:spPr>
        <p:txBody>
          <a:bodyPr wrap="square" lIns="0" tIns="0" rIns="0" bIns="0" rtlCol="0" anchor="ctr">
            <a:normAutofit/>
          </a:bodyPr>
          <a:lstStyle/>
          <a:p>
            <a:pPr indent="0" marL="0">
              <a:buNone/>
            </a:pPr>
            <a:r>
              <a:rPr lang="en-US" sz="1400" dirty="0">
                <a:solidFill>
                  <a:srgbClr val="52606D"/>
                </a:solidFill>
              </a:rPr>
              <a:t>Pick one task in each part of the day.</a:t>
            </a:r>
            <a:endParaRPr lang="en-US" sz="1400" dirty="0"/>
          </a:p>
        </p:txBody>
      </p:sp>
      <p:sp>
        <p:nvSpPr>
          <p:cNvPr id="10" name="Text 8"/>
          <p:cNvSpPr/>
          <p:nvPr/>
        </p:nvSpPr>
        <p:spPr>
          <a:xfrm>
            <a:off x="1143000" y="4005072"/>
            <a:ext cx="2194560" cy="182880"/>
          </a:xfrm>
          <a:prstGeom prst="rect">
            <a:avLst/>
          </a:prstGeom>
          <a:noFill/>
          <a:ln/>
        </p:spPr>
        <p:txBody>
          <a:bodyPr wrap="square" lIns="0" tIns="0" rIns="0" bIns="0" rtlCol="0" anchor="ctr"/>
          <a:lstStyle/>
          <a:p>
            <a:pPr indent="0" marL="0">
              <a:buNone/>
            </a:pPr>
            <a:r>
              <a:rPr lang="en-US" sz="950" b="1" dirty="0">
                <a:solidFill>
                  <a:srgbClr val="008F8F"/>
                </a:solidFill>
              </a:rPr>
              <a:t>Workshop canvas</a:t>
            </a:r>
            <a:endParaRPr lang="en-US" sz="950" dirty="0"/>
          </a:p>
        </p:txBody>
      </p:sp>
      <p:sp>
        <p:nvSpPr>
          <p:cNvPr id="11" name="Shape 9"/>
          <p:cNvSpPr/>
          <p:nvPr/>
        </p:nvSpPr>
        <p:spPr>
          <a:xfrm>
            <a:off x="6446520" y="1810512"/>
            <a:ext cx="4343400" cy="2697480"/>
          </a:xfrm>
          <a:prstGeom prst="roundRect">
            <a:avLst>
              <a:gd name="adj" fmla="val 2034"/>
            </a:avLst>
          </a:prstGeom>
          <a:solidFill>
            <a:srgbClr val="E9F8F0"/>
          </a:solidFill>
          <a:ln w="10160">
            <a:solidFill>
              <a:srgbClr val="BBDCC9"/>
            </a:solidFill>
            <a:prstDash val="solid"/>
          </a:ln>
        </p:spPr>
      </p:sp>
      <p:sp>
        <p:nvSpPr>
          <p:cNvPr id="12" name="Text 10"/>
          <p:cNvSpPr/>
          <p:nvPr/>
        </p:nvSpPr>
        <p:spPr>
          <a:xfrm>
            <a:off x="6720840" y="2148840"/>
            <a:ext cx="3657600" cy="1828800"/>
          </a:xfrm>
          <a:prstGeom prst="rect">
            <a:avLst/>
          </a:prstGeom>
          <a:noFill/>
          <a:ln/>
        </p:spPr>
        <p:txBody>
          <a:bodyPr wrap="square" lIns="254" tIns="254" rIns="254" bIns="254" rtlCol="0" anchor="t">
            <a:normAutofit/>
          </a:bodyPr>
          <a:lstStyle/>
          <a:p>
            <a:pPr marL="203200" indent="-203200">
              <a:buSzPct val="100000"/>
              <a:buChar char="•"/>
            </a:pPr>
            <a:r>
              <a:rPr lang="en-US" sz="1500" dirty="0">
                <a:solidFill>
                  <a:srgbClr val="102033"/>
                </a:solidFill>
                <a:latin typeface="Aptos" pitchFamily="34" charset="0"/>
                <a:ea typeface="Aptos" pitchFamily="34" charset="-122"/>
                <a:cs typeface="Aptos" pitchFamily="34" charset="-120"/>
              </a:rPr>
              <a:t>Morning task</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Midday follow-up task</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Afternoon marketing/client update task</a:t>
            </a:r>
            <a:endParaRPr lang="en-US" sz="1500" dirty="0"/>
          </a:p>
          <a:p>
            <a:pPr marL="203200" indent="-203200">
              <a:buSzPct val="100000"/>
              <a:buChar char="•"/>
            </a:pPr>
            <a:r>
              <a:rPr lang="en-US" sz="1500" dirty="0">
                <a:solidFill>
                  <a:srgbClr val="102033"/>
                </a:solidFill>
                <a:latin typeface="Aptos" pitchFamily="34" charset="0"/>
                <a:ea typeface="Aptos" pitchFamily="34" charset="-122"/>
                <a:cs typeface="Aptos" pitchFamily="34" charset="-120"/>
              </a:rPr>
              <a:t>End-of-day CRM or notes task</a:t>
            </a:r>
            <a:endParaRPr lang="en-US" sz="1500" dirty="0"/>
          </a:p>
        </p:txBody>
      </p:sp>
      <p:sp>
        <p:nvSpPr>
          <p:cNvPr id="13" name="Text 11"/>
          <p:cNvSpPr/>
          <p:nvPr/>
        </p:nvSpPr>
        <p:spPr>
          <a:xfrm>
            <a:off x="9738360" y="4069080"/>
            <a:ext cx="731520" cy="201168"/>
          </a:xfrm>
          <a:prstGeom prst="rect">
            <a:avLst/>
          </a:prstGeom>
          <a:noFill/>
          <a:ln/>
        </p:spPr>
        <p:txBody>
          <a:bodyPr wrap="square" lIns="0" tIns="0" rIns="0" bIns="0" rtlCol="0" anchor="ctr"/>
          <a:lstStyle/>
          <a:p>
            <a:pPr indent="0" marL="0">
              <a:buNone/>
            </a:pPr>
            <a:r>
              <a:rPr lang="en-US" sz="950" b="1" dirty="0">
                <a:solidFill>
                  <a:srgbClr val="2E7D5B"/>
                </a:solidFill>
              </a:rPr>
              <a:t>4-6 min</a:t>
            </a:r>
            <a:endParaRPr lang="en-US" sz="9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41/48</a:t>
            </a:r>
            <a:endParaRPr lang="en-US" sz="72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749808" y="822960"/>
            <a:ext cx="3840480" cy="256032"/>
          </a:xfrm>
          <a:prstGeom prst="rect">
            <a:avLst/>
          </a:prstGeom>
          <a:noFill/>
          <a:ln/>
        </p:spPr>
        <p:txBody>
          <a:bodyPr wrap="square" lIns="0" tIns="0" rIns="0" bIns="0" rtlCol="0" anchor="ctr"/>
          <a:lstStyle/>
          <a:p>
            <a:pPr indent="0" marL="0">
              <a:buNone/>
            </a:pPr>
            <a:r>
              <a:rPr lang="en-US" sz="1100" b="1" dirty="0">
                <a:solidFill>
                  <a:srgbClr val="F2B84B"/>
                </a:solidFill>
              </a:rPr>
              <a:t>SECTION 8</a:t>
            </a:r>
            <a:endParaRPr lang="en-US" sz="1100" dirty="0"/>
          </a:p>
        </p:txBody>
      </p:sp>
      <p:sp>
        <p:nvSpPr>
          <p:cNvPr id="3" name="Text 1"/>
          <p:cNvSpPr/>
          <p:nvPr/>
        </p:nvSpPr>
        <p:spPr>
          <a:xfrm>
            <a:off x="713232" y="1828800"/>
            <a:ext cx="9966960" cy="77724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Wrap-Up and Starter Prompt Practice</a:t>
            </a:r>
            <a:endParaRPr lang="en-US" sz="3400" dirty="0"/>
          </a:p>
        </p:txBody>
      </p:sp>
      <p:sp>
        <p:nvSpPr>
          <p:cNvPr id="4" name="Text 2"/>
          <p:cNvSpPr/>
          <p:nvPr/>
        </p:nvSpPr>
        <p:spPr>
          <a:xfrm>
            <a:off x="749808" y="2852928"/>
            <a:ext cx="8138160" cy="411480"/>
          </a:xfrm>
          <a:prstGeom prst="rect">
            <a:avLst/>
          </a:prstGeom>
          <a:noFill/>
          <a:ln/>
        </p:spPr>
        <p:txBody>
          <a:bodyPr wrap="square" lIns="0" tIns="0" rIns="0" bIns="0" rtlCol="0" anchor="ctr">
            <a:normAutofit/>
          </a:bodyPr>
          <a:lstStyle/>
          <a:p>
            <a:pPr indent="0" marL="0">
              <a:buNone/>
            </a:pPr>
            <a:r>
              <a:rPr lang="en-US" sz="1600" dirty="0">
                <a:solidFill>
                  <a:srgbClr val="DCEEEF"/>
                </a:solidFill>
              </a:rPr>
              <a:t>Leave with one repeatable workflow and a small prompt library.</a:t>
            </a:r>
            <a:endParaRPr lang="en-US" sz="1600" dirty="0"/>
          </a:p>
        </p:txBody>
      </p:sp>
      <p:sp>
        <p:nvSpPr>
          <p:cNvPr id="5" name="Shape 3"/>
          <p:cNvSpPr/>
          <p:nvPr/>
        </p:nvSpPr>
        <p:spPr>
          <a:xfrm>
            <a:off x="749808" y="3657600"/>
            <a:ext cx="1828800" cy="0"/>
          </a:xfrm>
          <a:prstGeom prst="line">
            <a:avLst/>
          </a:prstGeom>
          <a:noFill/>
          <a:ln w="50800">
            <a:solidFill>
              <a:srgbClr val="F45B69"/>
            </a:solidFill>
            <a:prstDash val="soli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0F3F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0F3F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STARTER LIBRARY</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Five prompts to save before you leave</a:t>
            </a:r>
            <a:endParaRPr lang="en-US" sz="2800" dirty="0"/>
          </a:p>
        </p:txBody>
      </p:sp>
      <p:sp>
        <p:nvSpPr>
          <p:cNvPr id="7" name="Shape 5"/>
          <p:cNvSpPr/>
          <p:nvPr/>
        </p:nvSpPr>
        <p:spPr>
          <a:xfrm>
            <a:off x="868680" y="1755648"/>
            <a:ext cx="9646920" cy="475488"/>
          </a:xfrm>
          <a:prstGeom prst="roundRect">
            <a:avLst>
              <a:gd name="adj" fmla="val 11538"/>
            </a:avLst>
          </a:prstGeom>
          <a:solidFill>
            <a:srgbClr val="EAF7F7"/>
          </a:solidFill>
          <a:ln w="10160">
            <a:solidFill>
              <a:srgbClr val="B8DDE0"/>
            </a:solidFill>
            <a:prstDash val="solid"/>
          </a:ln>
        </p:spPr>
      </p:sp>
      <p:sp>
        <p:nvSpPr>
          <p:cNvPr id="8" name="Shape 6"/>
          <p:cNvSpPr/>
          <p:nvPr/>
        </p:nvSpPr>
        <p:spPr>
          <a:xfrm>
            <a:off x="1078992" y="1810512"/>
            <a:ext cx="402336" cy="402336"/>
          </a:xfrm>
          <a:prstGeom prst="ellipse">
            <a:avLst/>
          </a:prstGeom>
          <a:solidFill>
            <a:srgbClr val="008F8F"/>
          </a:solidFill>
          <a:ln w="12700">
            <a:solidFill>
              <a:srgbClr val="008F8F"/>
            </a:solidFill>
            <a:prstDash val="solid"/>
          </a:ln>
        </p:spPr>
      </p:sp>
      <p:sp>
        <p:nvSpPr>
          <p:cNvPr id="9" name="Text 7"/>
          <p:cNvSpPr/>
          <p:nvPr/>
        </p:nvSpPr>
        <p:spPr>
          <a:xfrm>
            <a:off x="1078992" y="190195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10" name="Text 8"/>
          <p:cNvSpPr/>
          <p:nvPr/>
        </p:nvSpPr>
        <p:spPr>
          <a:xfrm>
            <a:off x="1627632" y="1828800"/>
            <a:ext cx="8458200" cy="219456"/>
          </a:xfrm>
          <a:prstGeom prst="rect">
            <a:avLst/>
          </a:prstGeom>
          <a:noFill/>
          <a:ln/>
        </p:spPr>
        <p:txBody>
          <a:bodyPr wrap="square" lIns="254" tIns="254" rIns="254" bIns="254" rtlCol="0" anchor="ctr">
            <a:normAutofit/>
          </a:bodyPr>
          <a:lstStyle/>
          <a:p>
            <a:pPr indent="0" marL="0">
              <a:buNone/>
            </a:pPr>
            <a:r>
              <a:rPr lang="en-US" sz="1260" dirty="0">
                <a:solidFill>
                  <a:srgbClr val="102033"/>
                </a:solidFill>
              </a:rPr>
              <a:t>Draft a client message from these notes: [notes]. Make it concise, warm, and specific.</a:t>
            </a:r>
            <a:endParaRPr lang="en-US" sz="1260" dirty="0"/>
          </a:p>
        </p:txBody>
      </p:sp>
      <p:sp>
        <p:nvSpPr>
          <p:cNvPr id="11" name="Shape 9"/>
          <p:cNvSpPr/>
          <p:nvPr/>
        </p:nvSpPr>
        <p:spPr>
          <a:xfrm>
            <a:off x="868680" y="2377440"/>
            <a:ext cx="9646920" cy="475488"/>
          </a:xfrm>
          <a:prstGeom prst="roundRect">
            <a:avLst>
              <a:gd name="adj" fmla="val 11538"/>
            </a:avLst>
          </a:prstGeom>
          <a:solidFill>
            <a:srgbClr val="FFFFFF"/>
          </a:solidFill>
          <a:ln w="10160">
            <a:solidFill>
              <a:srgbClr val="D8E6E8"/>
            </a:solidFill>
            <a:prstDash val="solid"/>
          </a:ln>
        </p:spPr>
      </p:sp>
      <p:sp>
        <p:nvSpPr>
          <p:cNvPr id="12" name="Shape 10"/>
          <p:cNvSpPr/>
          <p:nvPr/>
        </p:nvSpPr>
        <p:spPr>
          <a:xfrm>
            <a:off x="1078992" y="2432304"/>
            <a:ext cx="402336" cy="402336"/>
          </a:xfrm>
          <a:prstGeom prst="ellipse">
            <a:avLst/>
          </a:prstGeom>
          <a:solidFill>
            <a:srgbClr val="2F80ED"/>
          </a:solidFill>
          <a:ln w="12700">
            <a:solidFill>
              <a:srgbClr val="2F80ED"/>
            </a:solidFill>
            <a:prstDash val="solid"/>
          </a:ln>
        </p:spPr>
      </p:sp>
      <p:sp>
        <p:nvSpPr>
          <p:cNvPr id="13" name="Text 11"/>
          <p:cNvSpPr/>
          <p:nvPr/>
        </p:nvSpPr>
        <p:spPr>
          <a:xfrm>
            <a:off x="1078992" y="2523744"/>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14" name="Text 12"/>
          <p:cNvSpPr/>
          <p:nvPr/>
        </p:nvSpPr>
        <p:spPr>
          <a:xfrm>
            <a:off x="1627632" y="2450592"/>
            <a:ext cx="8458200" cy="219456"/>
          </a:xfrm>
          <a:prstGeom prst="rect">
            <a:avLst/>
          </a:prstGeom>
          <a:noFill/>
          <a:ln/>
        </p:spPr>
        <p:txBody>
          <a:bodyPr wrap="square" lIns="254" tIns="254" rIns="254" bIns="254" rtlCol="0" anchor="ctr">
            <a:normAutofit/>
          </a:bodyPr>
          <a:lstStyle/>
          <a:p>
            <a:pPr indent="0" marL="0">
              <a:buNone/>
            </a:pPr>
            <a:r>
              <a:rPr lang="en-US" sz="1260" dirty="0">
                <a:solidFill>
                  <a:srgbClr val="102033"/>
                </a:solidFill>
              </a:rPr>
              <a:t>Create three versions of this follow-up: text, email, and voicemail.</a:t>
            </a:r>
            <a:endParaRPr lang="en-US" sz="1260" dirty="0"/>
          </a:p>
        </p:txBody>
      </p:sp>
      <p:sp>
        <p:nvSpPr>
          <p:cNvPr id="15" name="Shape 13"/>
          <p:cNvSpPr/>
          <p:nvPr/>
        </p:nvSpPr>
        <p:spPr>
          <a:xfrm>
            <a:off x="868680" y="2999232"/>
            <a:ext cx="9646920" cy="475488"/>
          </a:xfrm>
          <a:prstGeom prst="roundRect">
            <a:avLst>
              <a:gd name="adj" fmla="val 11538"/>
            </a:avLst>
          </a:prstGeom>
          <a:solidFill>
            <a:srgbClr val="EAF7F7"/>
          </a:solidFill>
          <a:ln w="10160">
            <a:solidFill>
              <a:srgbClr val="B8DDE0"/>
            </a:solidFill>
            <a:prstDash val="solid"/>
          </a:ln>
        </p:spPr>
      </p:sp>
      <p:sp>
        <p:nvSpPr>
          <p:cNvPr id="16" name="Shape 14"/>
          <p:cNvSpPr/>
          <p:nvPr/>
        </p:nvSpPr>
        <p:spPr>
          <a:xfrm>
            <a:off x="1078992" y="3054096"/>
            <a:ext cx="402336" cy="402336"/>
          </a:xfrm>
          <a:prstGeom prst="ellipse">
            <a:avLst/>
          </a:prstGeom>
          <a:solidFill>
            <a:srgbClr val="F45B69"/>
          </a:solidFill>
          <a:ln w="12700">
            <a:solidFill>
              <a:srgbClr val="F45B69"/>
            </a:solidFill>
            <a:prstDash val="solid"/>
          </a:ln>
        </p:spPr>
      </p:sp>
      <p:sp>
        <p:nvSpPr>
          <p:cNvPr id="17" name="Text 15"/>
          <p:cNvSpPr/>
          <p:nvPr/>
        </p:nvSpPr>
        <p:spPr>
          <a:xfrm>
            <a:off x="1078992" y="3145536"/>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18" name="Text 16"/>
          <p:cNvSpPr/>
          <p:nvPr/>
        </p:nvSpPr>
        <p:spPr>
          <a:xfrm>
            <a:off x="1627632" y="3072384"/>
            <a:ext cx="8458200" cy="219456"/>
          </a:xfrm>
          <a:prstGeom prst="rect">
            <a:avLst/>
          </a:prstGeom>
          <a:noFill/>
          <a:ln/>
        </p:spPr>
        <p:txBody>
          <a:bodyPr wrap="square" lIns="254" tIns="254" rIns="254" bIns="254" rtlCol="0" anchor="ctr">
            <a:normAutofit/>
          </a:bodyPr>
          <a:lstStyle/>
          <a:p>
            <a:pPr indent="0" marL="0">
              <a:buNone/>
            </a:pPr>
            <a:r>
              <a:rPr lang="en-US" sz="1260" dirty="0">
                <a:solidFill>
                  <a:srgbClr val="102033"/>
                </a:solidFill>
              </a:rPr>
              <a:t>Review this message for accuracy, Fair Housing risk, and claims I should verify.</a:t>
            </a:r>
            <a:endParaRPr lang="en-US" sz="1260" dirty="0"/>
          </a:p>
        </p:txBody>
      </p:sp>
      <p:sp>
        <p:nvSpPr>
          <p:cNvPr id="19" name="Shape 17"/>
          <p:cNvSpPr/>
          <p:nvPr/>
        </p:nvSpPr>
        <p:spPr>
          <a:xfrm>
            <a:off x="868680" y="3621024"/>
            <a:ext cx="9646920" cy="475488"/>
          </a:xfrm>
          <a:prstGeom prst="roundRect">
            <a:avLst>
              <a:gd name="adj" fmla="val 11538"/>
            </a:avLst>
          </a:prstGeom>
          <a:solidFill>
            <a:srgbClr val="FFFFFF"/>
          </a:solidFill>
          <a:ln w="10160">
            <a:solidFill>
              <a:srgbClr val="D8E6E8"/>
            </a:solidFill>
            <a:prstDash val="solid"/>
          </a:ln>
        </p:spPr>
      </p:sp>
      <p:sp>
        <p:nvSpPr>
          <p:cNvPr id="20" name="Shape 18"/>
          <p:cNvSpPr/>
          <p:nvPr/>
        </p:nvSpPr>
        <p:spPr>
          <a:xfrm>
            <a:off x="1078992" y="3675888"/>
            <a:ext cx="402336" cy="402336"/>
          </a:xfrm>
          <a:prstGeom prst="ellipse">
            <a:avLst/>
          </a:prstGeom>
          <a:solidFill>
            <a:srgbClr val="2E7D5B"/>
          </a:solidFill>
          <a:ln w="12700">
            <a:solidFill>
              <a:srgbClr val="2E7D5B"/>
            </a:solidFill>
            <a:prstDash val="solid"/>
          </a:ln>
        </p:spPr>
      </p:sp>
      <p:sp>
        <p:nvSpPr>
          <p:cNvPr id="21" name="Text 19"/>
          <p:cNvSpPr/>
          <p:nvPr/>
        </p:nvSpPr>
        <p:spPr>
          <a:xfrm>
            <a:off x="1078992" y="3767328"/>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22" name="Text 20"/>
          <p:cNvSpPr/>
          <p:nvPr/>
        </p:nvSpPr>
        <p:spPr>
          <a:xfrm>
            <a:off x="1627632" y="3694176"/>
            <a:ext cx="8458200" cy="219456"/>
          </a:xfrm>
          <a:prstGeom prst="rect">
            <a:avLst/>
          </a:prstGeom>
          <a:noFill/>
          <a:ln/>
        </p:spPr>
        <p:txBody>
          <a:bodyPr wrap="square" lIns="254" tIns="254" rIns="254" bIns="254" rtlCol="0" anchor="ctr">
            <a:normAutofit/>
          </a:bodyPr>
          <a:lstStyle/>
          <a:p>
            <a:pPr indent="0" marL="0">
              <a:buNone/>
            </a:pPr>
            <a:r>
              <a:rPr lang="en-US" sz="1260" dirty="0">
                <a:solidFill>
                  <a:srgbClr val="102033"/>
                </a:solidFill>
              </a:rPr>
              <a:t>Turn these verified listing facts into a listing paragraph, social caption, and open house invite.</a:t>
            </a:r>
            <a:endParaRPr lang="en-US" sz="1260" dirty="0"/>
          </a:p>
        </p:txBody>
      </p:sp>
      <p:sp>
        <p:nvSpPr>
          <p:cNvPr id="23" name="Shape 21"/>
          <p:cNvSpPr/>
          <p:nvPr/>
        </p:nvSpPr>
        <p:spPr>
          <a:xfrm>
            <a:off x="868680" y="4242816"/>
            <a:ext cx="9646920" cy="475488"/>
          </a:xfrm>
          <a:prstGeom prst="roundRect">
            <a:avLst>
              <a:gd name="adj" fmla="val 11538"/>
            </a:avLst>
          </a:prstGeom>
          <a:solidFill>
            <a:srgbClr val="EAF7F7"/>
          </a:solidFill>
          <a:ln w="10160">
            <a:solidFill>
              <a:srgbClr val="B8DDE0"/>
            </a:solidFill>
            <a:prstDash val="solid"/>
          </a:ln>
        </p:spPr>
      </p:sp>
      <p:sp>
        <p:nvSpPr>
          <p:cNvPr id="24" name="Shape 22"/>
          <p:cNvSpPr/>
          <p:nvPr/>
        </p:nvSpPr>
        <p:spPr>
          <a:xfrm>
            <a:off x="1078992" y="4297680"/>
            <a:ext cx="402336" cy="402336"/>
          </a:xfrm>
          <a:prstGeom prst="ellipse">
            <a:avLst/>
          </a:prstGeom>
          <a:solidFill>
            <a:srgbClr val="F2B84B"/>
          </a:solidFill>
          <a:ln w="12700">
            <a:solidFill>
              <a:srgbClr val="F2B84B"/>
            </a:solidFill>
            <a:prstDash val="solid"/>
          </a:ln>
        </p:spPr>
      </p:sp>
      <p:sp>
        <p:nvSpPr>
          <p:cNvPr id="25" name="Text 23"/>
          <p:cNvSpPr/>
          <p:nvPr/>
        </p:nvSpPr>
        <p:spPr>
          <a:xfrm>
            <a:off x="1078992" y="438912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5</a:t>
            </a:r>
            <a:endParaRPr lang="en-US" sz="800" dirty="0"/>
          </a:p>
        </p:txBody>
      </p:sp>
      <p:sp>
        <p:nvSpPr>
          <p:cNvPr id="26" name="Text 24"/>
          <p:cNvSpPr/>
          <p:nvPr/>
        </p:nvSpPr>
        <p:spPr>
          <a:xfrm>
            <a:off x="1627632" y="4315968"/>
            <a:ext cx="8458200" cy="219456"/>
          </a:xfrm>
          <a:prstGeom prst="rect">
            <a:avLst/>
          </a:prstGeom>
          <a:noFill/>
          <a:ln/>
        </p:spPr>
        <p:txBody>
          <a:bodyPr wrap="square" lIns="254" tIns="254" rIns="254" bIns="254" rtlCol="0" anchor="ctr">
            <a:normAutofit/>
          </a:bodyPr>
          <a:lstStyle/>
          <a:p>
            <a:pPr indent="0" marL="0">
              <a:buNone/>
            </a:pPr>
            <a:r>
              <a:rPr lang="en-US" sz="1260" dirty="0">
                <a:solidFill>
                  <a:srgbClr val="102033"/>
                </a:solidFill>
              </a:rPr>
              <a:t>Role-play as [buyer/seller type] and help me practice responding professionally.</a:t>
            </a:r>
            <a:endParaRPr lang="en-US" sz="1260" dirty="0"/>
          </a:p>
        </p:txBody>
      </p:sp>
      <p:sp>
        <p:nvSpPr>
          <p:cNvPr id="27" name="Shape 25"/>
          <p:cNvSpPr/>
          <p:nvPr/>
        </p:nvSpPr>
        <p:spPr>
          <a:xfrm>
            <a:off x="502920" y="6473952"/>
            <a:ext cx="11201400" cy="0"/>
          </a:xfrm>
          <a:prstGeom prst="line">
            <a:avLst/>
          </a:prstGeom>
          <a:noFill/>
          <a:ln w="9525">
            <a:solidFill>
              <a:srgbClr val="D8E6E8"/>
            </a:solidFill>
            <a:prstDash val="solid"/>
          </a:ln>
        </p:spPr>
      </p:sp>
      <p:sp>
        <p:nvSpPr>
          <p:cNvPr id="28" name="Text 26"/>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29" name="Text 27"/>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43/48</a:t>
            </a:r>
            <a:endParaRPr lang="en-US" sz="72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9F8F0"/>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9F8F0"/>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KEY TAKEAWAYS</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What should change after today</a:t>
            </a:r>
            <a:endParaRPr lang="en-US" sz="2800" dirty="0"/>
          </a:p>
        </p:txBody>
      </p:sp>
      <p:sp>
        <p:nvSpPr>
          <p:cNvPr id="7" name="Text 5"/>
          <p:cNvSpPr/>
          <p:nvPr/>
        </p:nvSpPr>
        <p:spPr>
          <a:xfrm>
            <a:off x="914400" y="1874520"/>
            <a:ext cx="8961120" cy="2926080"/>
          </a:xfrm>
          <a:prstGeom prst="rect">
            <a:avLst/>
          </a:prstGeom>
          <a:noFill/>
          <a:ln/>
        </p:spPr>
        <p:txBody>
          <a:bodyPr wrap="square" lIns="254" tIns="254" rIns="254" bIns="254" rtlCol="0" anchor="t">
            <a:normAutofit/>
          </a:bodyPr>
          <a:lstStyle/>
          <a:p>
            <a:pPr marL="203200" indent="-203200">
              <a:buSzPct val="100000"/>
              <a:buChar char="•"/>
            </a:pPr>
            <a:r>
              <a:rPr lang="en-US" sz="1700" dirty="0">
                <a:solidFill>
                  <a:srgbClr val="102033"/>
                </a:solidFill>
                <a:latin typeface="Aptos" pitchFamily="34" charset="0"/>
                <a:ea typeface="Aptos" pitchFamily="34" charset="-122"/>
                <a:cs typeface="Aptos" pitchFamily="34" charset="-120"/>
              </a:rPr>
              <a:t>Use AI on repeatable sales tasks, not vague experiments</a:t>
            </a:r>
            <a:endParaRPr lang="en-US" sz="1700" dirty="0"/>
          </a:p>
          <a:p>
            <a:pPr marL="203200" indent="-203200">
              <a:buSzPct val="100000"/>
              <a:buChar char="•"/>
            </a:pPr>
            <a:r>
              <a:rPr lang="en-US" sz="1700" dirty="0">
                <a:solidFill>
                  <a:srgbClr val="102033"/>
                </a:solidFill>
                <a:latin typeface="Aptos" pitchFamily="34" charset="0"/>
                <a:ea typeface="Aptos" pitchFamily="34" charset="-122"/>
                <a:cs typeface="Aptos" pitchFamily="34" charset="-120"/>
              </a:rPr>
              <a:t>Give AI role, task, context, tone, constraints, and goal</a:t>
            </a:r>
            <a:endParaRPr lang="en-US" sz="1700" dirty="0"/>
          </a:p>
          <a:p>
            <a:pPr marL="203200" indent="-203200">
              <a:buSzPct val="100000"/>
              <a:buChar char="•"/>
            </a:pPr>
            <a:r>
              <a:rPr lang="en-US" sz="1700" dirty="0">
                <a:solidFill>
                  <a:srgbClr val="102033"/>
                </a:solidFill>
                <a:latin typeface="Aptos" pitchFamily="34" charset="0"/>
                <a:ea typeface="Aptos" pitchFamily="34" charset="-122"/>
                <a:cs typeface="Aptos" pitchFamily="34" charset="-120"/>
              </a:rPr>
              <a:t>Review every output before a client sees it</a:t>
            </a:r>
            <a:endParaRPr lang="en-US" sz="1700" dirty="0"/>
          </a:p>
          <a:p>
            <a:pPr marL="203200" indent="-203200">
              <a:buSzPct val="100000"/>
              <a:buChar char="•"/>
            </a:pPr>
            <a:r>
              <a:rPr lang="en-US" sz="1700" dirty="0">
                <a:solidFill>
                  <a:srgbClr val="102033"/>
                </a:solidFill>
                <a:latin typeface="Aptos" pitchFamily="34" charset="0"/>
                <a:ea typeface="Aptos" pitchFamily="34" charset="-122"/>
                <a:cs typeface="Aptos" pitchFamily="34" charset="-120"/>
              </a:rPr>
              <a:t>Protect private data and follow brokerage policy</a:t>
            </a:r>
            <a:endParaRPr lang="en-US" sz="1700" dirty="0"/>
          </a:p>
          <a:p>
            <a:pPr marL="203200" indent="-203200">
              <a:buSzPct val="100000"/>
              <a:buChar char="•"/>
            </a:pPr>
            <a:r>
              <a:rPr lang="en-US" sz="1700" dirty="0">
                <a:solidFill>
                  <a:srgbClr val="102033"/>
                </a:solidFill>
                <a:latin typeface="Aptos" pitchFamily="34" charset="0"/>
                <a:ea typeface="Aptos" pitchFamily="34" charset="-122"/>
                <a:cs typeface="Aptos" pitchFamily="34" charset="-120"/>
              </a:rPr>
              <a:t>Build one daily workflow before adding more tools</a:t>
            </a:r>
            <a:endParaRPr lang="en-US" sz="1700" dirty="0"/>
          </a:p>
        </p:txBody>
      </p:sp>
      <p:sp>
        <p:nvSpPr>
          <p:cNvPr id="8" name="Shape 6"/>
          <p:cNvSpPr/>
          <p:nvPr/>
        </p:nvSpPr>
        <p:spPr>
          <a:xfrm>
            <a:off x="502920" y="6473952"/>
            <a:ext cx="11201400" cy="0"/>
          </a:xfrm>
          <a:prstGeom prst="line">
            <a:avLst/>
          </a:prstGeom>
          <a:noFill/>
          <a:ln w="9525">
            <a:solidFill>
              <a:srgbClr val="D8E6E8"/>
            </a:solidFill>
            <a:prstDash val="solid"/>
          </a:ln>
        </p:spPr>
      </p:sp>
      <p:sp>
        <p:nvSpPr>
          <p:cNvPr id="9" name="Text 7"/>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0" name="Text 8"/>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44/48</a:t>
            </a:r>
            <a:endParaRPr lang="en-US" sz="72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EAF7F7"/>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EAF7F7"/>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NEXT STEPS</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Your one-week implementation plan</a:t>
            </a:r>
            <a:endParaRPr lang="en-US" sz="2800" dirty="0"/>
          </a:p>
        </p:txBody>
      </p:sp>
      <p:sp>
        <p:nvSpPr>
          <p:cNvPr id="7" name="Shape 5"/>
          <p:cNvSpPr/>
          <p:nvPr/>
        </p:nvSpPr>
        <p:spPr>
          <a:xfrm>
            <a:off x="731520" y="2331720"/>
            <a:ext cx="402336" cy="402336"/>
          </a:xfrm>
          <a:prstGeom prst="ellipse">
            <a:avLst/>
          </a:prstGeom>
          <a:solidFill>
            <a:srgbClr val="008F8F"/>
          </a:solidFill>
          <a:ln w="12700">
            <a:solidFill>
              <a:srgbClr val="008F8F"/>
            </a:solidFill>
            <a:prstDash val="solid"/>
          </a:ln>
        </p:spPr>
      </p:sp>
      <p:sp>
        <p:nvSpPr>
          <p:cNvPr id="8" name="Text 6"/>
          <p:cNvSpPr/>
          <p:nvPr/>
        </p:nvSpPr>
        <p:spPr>
          <a:xfrm>
            <a:off x="731520" y="242316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9" name="Shape 7"/>
          <p:cNvSpPr/>
          <p:nvPr/>
        </p:nvSpPr>
        <p:spPr>
          <a:xfrm>
            <a:off x="1143000" y="2532888"/>
            <a:ext cx="1115568" cy="0"/>
          </a:xfrm>
          <a:prstGeom prst="line">
            <a:avLst/>
          </a:prstGeom>
          <a:noFill/>
          <a:ln w="17780">
            <a:solidFill>
              <a:srgbClr val="D8E6E8"/>
            </a:solidFill>
            <a:prstDash val="solid"/>
            <a:tailEnd type="triangle"/>
          </a:ln>
        </p:spPr>
      </p:sp>
      <p:sp>
        <p:nvSpPr>
          <p:cNvPr id="10" name="Text 8"/>
          <p:cNvSpPr/>
          <p:nvPr/>
        </p:nvSpPr>
        <p:spPr>
          <a:xfrm>
            <a:off x="594360" y="2971800"/>
            <a:ext cx="1417320" cy="640080"/>
          </a:xfrm>
          <a:prstGeom prst="rect">
            <a:avLst/>
          </a:prstGeom>
          <a:noFill/>
          <a:ln/>
        </p:spPr>
        <p:txBody>
          <a:bodyPr wrap="square" lIns="0" tIns="0" rIns="0" bIns="0" rtlCol="0" anchor="ctr">
            <a:normAutofit/>
          </a:bodyPr>
          <a:lstStyle/>
          <a:p>
            <a:pPr algn="ctr" indent="0" marL="0">
              <a:buNone/>
            </a:pPr>
            <a:r>
              <a:rPr lang="en-US" sz="1150" b="1" dirty="0">
                <a:solidFill>
                  <a:srgbClr val="102033"/>
                </a:solidFill>
              </a:rPr>
              <a:t>Choose one workflow</a:t>
            </a:r>
            <a:endParaRPr lang="en-US" sz="1150" dirty="0"/>
          </a:p>
        </p:txBody>
      </p:sp>
      <p:sp>
        <p:nvSpPr>
          <p:cNvPr id="11" name="Shape 9"/>
          <p:cNvSpPr/>
          <p:nvPr/>
        </p:nvSpPr>
        <p:spPr>
          <a:xfrm>
            <a:off x="2788920" y="2496312"/>
            <a:ext cx="402336" cy="402336"/>
          </a:xfrm>
          <a:prstGeom prst="ellipse">
            <a:avLst/>
          </a:prstGeom>
          <a:solidFill>
            <a:srgbClr val="2F80ED"/>
          </a:solidFill>
          <a:ln w="12700">
            <a:solidFill>
              <a:srgbClr val="2F80ED"/>
            </a:solidFill>
            <a:prstDash val="solid"/>
          </a:ln>
        </p:spPr>
      </p:sp>
      <p:sp>
        <p:nvSpPr>
          <p:cNvPr id="12" name="Text 10"/>
          <p:cNvSpPr/>
          <p:nvPr/>
        </p:nvSpPr>
        <p:spPr>
          <a:xfrm>
            <a:off x="2788920" y="258775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13" name="Shape 11"/>
          <p:cNvSpPr/>
          <p:nvPr/>
        </p:nvSpPr>
        <p:spPr>
          <a:xfrm>
            <a:off x="3200400" y="2532888"/>
            <a:ext cx="1115568" cy="0"/>
          </a:xfrm>
          <a:prstGeom prst="line">
            <a:avLst/>
          </a:prstGeom>
          <a:noFill/>
          <a:ln w="17780">
            <a:solidFill>
              <a:srgbClr val="D8E6E8"/>
            </a:solidFill>
            <a:prstDash val="solid"/>
            <a:tailEnd type="triangle"/>
          </a:ln>
        </p:spPr>
      </p:sp>
      <p:sp>
        <p:nvSpPr>
          <p:cNvPr id="14" name="Text 12"/>
          <p:cNvSpPr/>
          <p:nvPr/>
        </p:nvSpPr>
        <p:spPr>
          <a:xfrm>
            <a:off x="2651760" y="2971800"/>
            <a:ext cx="1417320" cy="640080"/>
          </a:xfrm>
          <a:prstGeom prst="rect">
            <a:avLst/>
          </a:prstGeom>
          <a:noFill/>
          <a:ln/>
        </p:spPr>
        <p:txBody>
          <a:bodyPr wrap="square" lIns="0" tIns="0" rIns="0" bIns="0" rtlCol="0" anchor="ctr">
            <a:normAutofit/>
          </a:bodyPr>
          <a:lstStyle/>
          <a:p>
            <a:pPr algn="ctr" indent="0" marL="0">
              <a:buNone/>
            </a:pPr>
            <a:r>
              <a:rPr lang="en-US" sz="1150" b="1" dirty="0">
                <a:solidFill>
                  <a:srgbClr val="102033"/>
                </a:solidFill>
              </a:rPr>
              <a:t>Write one reusable prompt</a:t>
            </a:r>
            <a:endParaRPr lang="en-US" sz="1150" dirty="0"/>
          </a:p>
        </p:txBody>
      </p:sp>
      <p:sp>
        <p:nvSpPr>
          <p:cNvPr id="15" name="Shape 13"/>
          <p:cNvSpPr/>
          <p:nvPr/>
        </p:nvSpPr>
        <p:spPr>
          <a:xfrm>
            <a:off x="4846320" y="2331720"/>
            <a:ext cx="402336" cy="402336"/>
          </a:xfrm>
          <a:prstGeom prst="ellipse">
            <a:avLst/>
          </a:prstGeom>
          <a:solidFill>
            <a:srgbClr val="F45B69"/>
          </a:solidFill>
          <a:ln w="12700">
            <a:solidFill>
              <a:srgbClr val="F45B69"/>
            </a:solidFill>
            <a:prstDash val="solid"/>
          </a:ln>
        </p:spPr>
      </p:sp>
      <p:sp>
        <p:nvSpPr>
          <p:cNvPr id="16" name="Text 14"/>
          <p:cNvSpPr/>
          <p:nvPr/>
        </p:nvSpPr>
        <p:spPr>
          <a:xfrm>
            <a:off x="4846320" y="242316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17" name="Shape 15"/>
          <p:cNvSpPr/>
          <p:nvPr/>
        </p:nvSpPr>
        <p:spPr>
          <a:xfrm>
            <a:off x="5257800" y="2532888"/>
            <a:ext cx="1115568" cy="0"/>
          </a:xfrm>
          <a:prstGeom prst="line">
            <a:avLst/>
          </a:prstGeom>
          <a:noFill/>
          <a:ln w="17780">
            <a:solidFill>
              <a:srgbClr val="D8E6E8"/>
            </a:solidFill>
            <a:prstDash val="solid"/>
            <a:tailEnd type="triangle"/>
          </a:ln>
        </p:spPr>
      </p:sp>
      <p:sp>
        <p:nvSpPr>
          <p:cNvPr id="18" name="Text 16"/>
          <p:cNvSpPr/>
          <p:nvPr/>
        </p:nvSpPr>
        <p:spPr>
          <a:xfrm>
            <a:off x="4709160" y="2971800"/>
            <a:ext cx="1417320" cy="640080"/>
          </a:xfrm>
          <a:prstGeom prst="rect">
            <a:avLst/>
          </a:prstGeom>
          <a:noFill/>
          <a:ln/>
        </p:spPr>
        <p:txBody>
          <a:bodyPr wrap="square" lIns="0" tIns="0" rIns="0" bIns="0" rtlCol="0" anchor="ctr">
            <a:normAutofit/>
          </a:bodyPr>
          <a:lstStyle/>
          <a:p>
            <a:pPr algn="ctr" indent="0" marL="0">
              <a:buNone/>
            </a:pPr>
            <a:r>
              <a:rPr lang="en-US" sz="1150" b="1" dirty="0">
                <a:solidFill>
                  <a:srgbClr val="102033"/>
                </a:solidFill>
              </a:rPr>
              <a:t>Use it three times</a:t>
            </a:r>
            <a:endParaRPr lang="en-US" sz="1150" dirty="0"/>
          </a:p>
        </p:txBody>
      </p:sp>
      <p:sp>
        <p:nvSpPr>
          <p:cNvPr id="19" name="Shape 17"/>
          <p:cNvSpPr/>
          <p:nvPr/>
        </p:nvSpPr>
        <p:spPr>
          <a:xfrm>
            <a:off x="6903720" y="2496312"/>
            <a:ext cx="402336" cy="402336"/>
          </a:xfrm>
          <a:prstGeom prst="ellipse">
            <a:avLst/>
          </a:prstGeom>
          <a:solidFill>
            <a:srgbClr val="2E7D5B"/>
          </a:solidFill>
          <a:ln w="12700">
            <a:solidFill>
              <a:srgbClr val="2E7D5B"/>
            </a:solidFill>
            <a:prstDash val="solid"/>
          </a:ln>
        </p:spPr>
      </p:sp>
      <p:sp>
        <p:nvSpPr>
          <p:cNvPr id="20" name="Text 18"/>
          <p:cNvSpPr/>
          <p:nvPr/>
        </p:nvSpPr>
        <p:spPr>
          <a:xfrm>
            <a:off x="6903720" y="2587752"/>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21" name="Shape 19"/>
          <p:cNvSpPr/>
          <p:nvPr/>
        </p:nvSpPr>
        <p:spPr>
          <a:xfrm>
            <a:off x="7315200" y="2532888"/>
            <a:ext cx="1115568" cy="0"/>
          </a:xfrm>
          <a:prstGeom prst="line">
            <a:avLst/>
          </a:prstGeom>
          <a:noFill/>
          <a:ln w="17780">
            <a:solidFill>
              <a:srgbClr val="D8E6E8"/>
            </a:solidFill>
            <a:prstDash val="solid"/>
            <a:tailEnd type="triangle"/>
          </a:ln>
        </p:spPr>
      </p:sp>
      <p:sp>
        <p:nvSpPr>
          <p:cNvPr id="22" name="Text 20"/>
          <p:cNvSpPr/>
          <p:nvPr/>
        </p:nvSpPr>
        <p:spPr>
          <a:xfrm>
            <a:off x="6766560" y="2971800"/>
            <a:ext cx="1417320" cy="640080"/>
          </a:xfrm>
          <a:prstGeom prst="rect">
            <a:avLst/>
          </a:prstGeom>
          <a:noFill/>
          <a:ln/>
        </p:spPr>
        <p:txBody>
          <a:bodyPr wrap="square" lIns="0" tIns="0" rIns="0" bIns="0" rtlCol="0" anchor="ctr">
            <a:normAutofit/>
          </a:bodyPr>
          <a:lstStyle/>
          <a:p>
            <a:pPr algn="ctr" indent="0" marL="0">
              <a:buNone/>
            </a:pPr>
            <a:r>
              <a:rPr lang="en-US" sz="1150" b="1" dirty="0">
                <a:solidFill>
                  <a:srgbClr val="102033"/>
                </a:solidFill>
              </a:rPr>
              <a:t>Save the best output</a:t>
            </a:r>
            <a:endParaRPr lang="en-US" sz="1150" dirty="0"/>
          </a:p>
        </p:txBody>
      </p:sp>
      <p:sp>
        <p:nvSpPr>
          <p:cNvPr id="23" name="Shape 21"/>
          <p:cNvSpPr/>
          <p:nvPr/>
        </p:nvSpPr>
        <p:spPr>
          <a:xfrm>
            <a:off x="8961120" y="2331720"/>
            <a:ext cx="402336" cy="402336"/>
          </a:xfrm>
          <a:prstGeom prst="ellipse">
            <a:avLst/>
          </a:prstGeom>
          <a:solidFill>
            <a:srgbClr val="F2B84B"/>
          </a:solidFill>
          <a:ln w="12700">
            <a:solidFill>
              <a:srgbClr val="F2B84B"/>
            </a:solidFill>
            <a:prstDash val="solid"/>
          </a:ln>
        </p:spPr>
      </p:sp>
      <p:sp>
        <p:nvSpPr>
          <p:cNvPr id="24" name="Text 22"/>
          <p:cNvSpPr/>
          <p:nvPr/>
        </p:nvSpPr>
        <p:spPr>
          <a:xfrm>
            <a:off x="8961120" y="2423160"/>
            <a:ext cx="402336" cy="146304"/>
          </a:xfrm>
          <a:prstGeom prst="rect">
            <a:avLst/>
          </a:prstGeom>
          <a:noFill/>
          <a:ln/>
        </p:spPr>
        <p:txBody>
          <a:bodyPr wrap="square" lIns="0" tIns="0" rIns="0" bIns="0" rtlCol="0" anchor="ctr"/>
          <a:lstStyle/>
          <a:p>
            <a:pPr algn="ctr" indent="0" marL="0">
              <a:buNone/>
            </a:pPr>
            <a:r>
              <a:rPr lang="en-US" sz="800" b="1" dirty="0">
                <a:solidFill>
                  <a:srgbClr val="FFFFFF"/>
                </a:solidFill>
              </a:rPr>
              <a:t>5</a:t>
            </a:r>
            <a:endParaRPr lang="en-US" sz="800" dirty="0"/>
          </a:p>
        </p:txBody>
      </p:sp>
      <p:sp>
        <p:nvSpPr>
          <p:cNvPr id="25" name="Text 23"/>
          <p:cNvSpPr/>
          <p:nvPr/>
        </p:nvSpPr>
        <p:spPr>
          <a:xfrm>
            <a:off x="8823960" y="2971800"/>
            <a:ext cx="1417320" cy="640080"/>
          </a:xfrm>
          <a:prstGeom prst="rect">
            <a:avLst/>
          </a:prstGeom>
          <a:noFill/>
          <a:ln/>
        </p:spPr>
        <p:txBody>
          <a:bodyPr wrap="square" lIns="0" tIns="0" rIns="0" bIns="0" rtlCol="0" anchor="ctr">
            <a:normAutofit/>
          </a:bodyPr>
          <a:lstStyle/>
          <a:p>
            <a:pPr algn="ctr" indent="0" marL="0">
              <a:buNone/>
            </a:pPr>
            <a:r>
              <a:rPr lang="en-US" sz="1150" b="1" dirty="0">
                <a:solidFill>
                  <a:srgbClr val="102033"/>
                </a:solidFill>
              </a:rPr>
              <a:t>Refine after reviewing results</a:t>
            </a:r>
            <a:endParaRPr lang="en-US" sz="1150" dirty="0"/>
          </a:p>
        </p:txBody>
      </p:sp>
      <p:sp>
        <p:nvSpPr>
          <p:cNvPr id="26" name="Shape 24"/>
          <p:cNvSpPr/>
          <p:nvPr/>
        </p:nvSpPr>
        <p:spPr>
          <a:xfrm>
            <a:off x="502920" y="6473952"/>
            <a:ext cx="11201400" cy="0"/>
          </a:xfrm>
          <a:prstGeom prst="line">
            <a:avLst/>
          </a:prstGeom>
          <a:noFill/>
          <a:ln w="9525">
            <a:solidFill>
              <a:srgbClr val="D8E6E8"/>
            </a:solidFill>
            <a:prstDash val="solid"/>
          </a:ln>
        </p:spPr>
      </p:sp>
      <p:sp>
        <p:nvSpPr>
          <p:cNvPr id="27" name="Text 25"/>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28" name="Text 26"/>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45/48</a:t>
            </a:r>
            <a:endParaRPr lang="en-US" sz="72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4D9"/>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4D9"/>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RESOURCES</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Recommended resources to keep nearby</a:t>
            </a:r>
            <a:endParaRPr lang="en-US" sz="2800" dirty="0"/>
          </a:p>
        </p:txBody>
      </p:sp>
      <p:sp>
        <p:nvSpPr>
          <p:cNvPr id="7" name="Text 5"/>
          <p:cNvSpPr/>
          <p:nvPr/>
        </p:nvSpPr>
        <p:spPr>
          <a:xfrm>
            <a:off x="868680" y="1874520"/>
            <a:ext cx="6400800" cy="3657600"/>
          </a:xfrm>
          <a:prstGeom prst="rect">
            <a:avLst/>
          </a:prstGeom>
          <a:noFill/>
          <a:ln/>
        </p:spPr>
        <p:txBody>
          <a:bodyPr wrap="square" lIns="254" tIns="254" rIns="254" bIns="254" rtlCol="0" anchor="t">
            <a:normAutofit/>
          </a:bodyPr>
          <a:lstStyle/>
          <a:p>
            <a:pPr marL="203200" indent="-203200">
              <a:buSzPct val="100000"/>
              <a:buChar char="•"/>
            </a:pPr>
            <a:r>
              <a:rPr lang="en-US" sz="1650" dirty="0">
                <a:solidFill>
                  <a:srgbClr val="102033"/>
                </a:solidFill>
                <a:latin typeface="Aptos" pitchFamily="34" charset="0"/>
                <a:ea typeface="Aptos" pitchFamily="34" charset="-122"/>
                <a:cs typeface="Aptos" pitchFamily="34" charset="-120"/>
              </a:rPr>
              <a:t>Your brokerage AI, advertising, and data policies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Fair Housing and advertising guidance from your brokerage or association</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MLS rules and public remarks guidance</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A personal prompt library saved in your notes or CRM workflow</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A simple checklist: private, verified, compliant, human-reviewed</a:t>
            </a:r>
            <a:endParaRPr lang="en-US" sz="1650" dirty="0"/>
          </a:p>
        </p:txBody>
      </p:sp>
      <p:sp>
        <p:nvSpPr>
          <p:cNvPr id="8" name="Shape 6"/>
          <p:cNvSpPr/>
          <p:nvPr/>
        </p:nvSpPr>
        <p:spPr>
          <a:xfrm>
            <a:off x="7571232" y="1828800"/>
            <a:ext cx="3246120" cy="2788920"/>
          </a:xfrm>
          <a:prstGeom prst="roundRect">
            <a:avLst>
              <a:gd name="adj" fmla="val 1967"/>
            </a:avLst>
          </a:prstGeom>
          <a:solidFill>
            <a:srgbClr val="FFF4D9"/>
          </a:solidFill>
          <a:ln w="10160">
            <a:solidFill>
              <a:srgbClr val="BFDADC"/>
            </a:solidFill>
            <a:prstDash val="solid"/>
          </a:ln>
        </p:spPr>
      </p:sp>
      <p:sp>
        <p:nvSpPr>
          <p:cNvPr id="9" name="Text 7"/>
          <p:cNvSpPr/>
          <p:nvPr/>
        </p:nvSpPr>
        <p:spPr>
          <a:xfrm>
            <a:off x="7882128" y="2148840"/>
            <a:ext cx="2606040" cy="530352"/>
          </a:xfrm>
          <a:prstGeom prst="rect">
            <a:avLst/>
          </a:prstGeom>
          <a:noFill/>
          <a:ln/>
        </p:spPr>
        <p:txBody>
          <a:bodyPr wrap="square" lIns="0" tIns="0" rIns="0" bIns="0" rtlCol="0" anchor="ctr">
            <a:normAutofit/>
          </a:bodyPr>
          <a:lstStyle/>
          <a:p>
            <a:pPr indent="0" marL="0">
              <a:buNone/>
            </a:pPr>
            <a:r>
              <a:rPr lang="en-US" sz="1750" b="1" dirty="0">
                <a:solidFill>
                  <a:srgbClr val="16324F"/>
                </a:solidFill>
              </a:rPr>
              <a:t>Keep sources close</a:t>
            </a:r>
            <a:endParaRPr lang="en-US" sz="1750" dirty="0"/>
          </a:p>
        </p:txBody>
      </p:sp>
      <p:sp>
        <p:nvSpPr>
          <p:cNvPr id="10" name="Text 8"/>
          <p:cNvSpPr/>
          <p:nvPr/>
        </p:nvSpPr>
        <p:spPr>
          <a:xfrm>
            <a:off x="7882128" y="2944368"/>
            <a:ext cx="2514600" cy="960120"/>
          </a:xfrm>
          <a:prstGeom prst="rect">
            <a:avLst/>
          </a:prstGeom>
          <a:noFill/>
          <a:ln/>
        </p:spPr>
        <p:txBody>
          <a:bodyPr wrap="square" lIns="508" tIns="508" rIns="508" bIns="508" rtlCol="0" anchor="ctr">
            <a:normAutofit/>
          </a:bodyPr>
          <a:lstStyle/>
          <a:p>
            <a:pPr indent="0" marL="0">
              <a:buNone/>
            </a:pPr>
            <a:r>
              <a:rPr lang="en-US" sz="1220" dirty="0">
                <a:solidFill>
                  <a:srgbClr val="102033"/>
                </a:solidFill>
              </a:rPr>
              <a:t>Use authoritative local rules and broker guidance when the answer matters.</a:t>
            </a:r>
            <a:endParaRPr lang="en-US" sz="1220" dirty="0"/>
          </a:p>
        </p:txBody>
      </p:sp>
      <p:sp>
        <p:nvSpPr>
          <p:cNvPr id="11" name="Shape 9"/>
          <p:cNvSpPr/>
          <p:nvPr/>
        </p:nvSpPr>
        <p:spPr>
          <a:xfrm>
            <a:off x="7882128" y="4160520"/>
            <a:ext cx="1097280" cy="0"/>
          </a:xfrm>
          <a:prstGeom prst="line">
            <a:avLst/>
          </a:prstGeom>
          <a:noFill/>
          <a:ln w="38100">
            <a:solidFill>
              <a:srgbClr val="008F8F"/>
            </a:solidFill>
            <a:prstDash val="solid"/>
          </a:ln>
        </p:spPr>
      </p:sp>
      <p:sp>
        <p:nvSpPr>
          <p:cNvPr id="12" name="Shape 10"/>
          <p:cNvSpPr/>
          <p:nvPr/>
        </p:nvSpPr>
        <p:spPr>
          <a:xfrm>
            <a:off x="7882128" y="4370832"/>
            <a:ext cx="493776" cy="493776"/>
          </a:xfrm>
          <a:prstGeom prst="roundRect">
            <a:avLst>
              <a:gd name="adj" fmla="val 14815"/>
            </a:avLst>
          </a:prstGeom>
          <a:solidFill>
            <a:srgbClr val="008F8F"/>
          </a:solidFill>
          <a:ln w="12700">
            <a:solidFill>
              <a:srgbClr val="008F8F"/>
            </a:solidFill>
            <a:prstDash val="solid"/>
          </a:ln>
        </p:spPr>
      </p:sp>
      <p:sp>
        <p:nvSpPr>
          <p:cNvPr id="13" name="Text 11"/>
          <p:cNvSpPr/>
          <p:nvPr/>
        </p:nvSpPr>
        <p:spPr>
          <a:xfrm>
            <a:off x="7927848" y="4507992"/>
            <a:ext cx="402336" cy="128016"/>
          </a:xfrm>
          <a:prstGeom prst="rect">
            <a:avLst/>
          </a:prstGeom>
          <a:noFill/>
          <a:ln/>
        </p:spPr>
        <p:txBody>
          <a:bodyPr wrap="square" lIns="0" tIns="0" rIns="0" bIns="0" rtlCol="0" anchor="ctr"/>
          <a:lstStyle/>
          <a:p>
            <a:pPr algn="ctr" indent="0" marL="0">
              <a:buNone/>
            </a:pPr>
            <a:r>
              <a:rPr lang="en-US" sz="850" b="1" dirty="0">
                <a:solidFill>
                  <a:srgbClr val="FFFFFF"/>
                </a:solidFill>
              </a:rPr>
              <a:t>AI</a:t>
            </a:r>
            <a:endParaRPr lang="en-US" sz="8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46/48</a:t>
            </a:r>
            <a:endParaRPr lang="en-US" sz="72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FF0E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FF0E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FINAL REMINDER</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AI supports your work. It does not replace your judgment.</a:t>
            </a:r>
            <a:endParaRPr lang="en-US" sz="2800" dirty="0"/>
          </a:p>
        </p:txBody>
      </p:sp>
      <p:sp>
        <p:nvSpPr>
          <p:cNvPr id="7" name="Text 5"/>
          <p:cNvSpPr/>
          <p:nvPr/>
        </p:nvSpPr>
        <p:spPr>
          <a:xfrm>
            <a:off x="868680" y="1874520"/>
            <a:ext cx="6400800" cy="3657600"/>
          </a:xfrm>
          <a:prstGeom prst="rect">
            <a:avLst/>
          </a:prstGeom>
          <a:noFill/>
          <a:ln/>
        </p:spPr>
        <p:txBody>
          <a:bodyPr wrap="square" lIns="254" tIns="254" rIns="254" bIns="254" rtlCol="0" anchor="t">
            <a:normAutofit/>
          </a:bodyPr>
          <a:lstStyle/>
          <a:p>
            <a:pPr marL="203200" indent="-203200">
              <a:buSzPct val="100000"/>
              <a:buChar char="•"/>
            </a:pPr>
            <a:r>
              <a:rPr lang="en-US" sz="1650" dirty="0">
                <a:solidFill>
                  <a:srgbClr val="102033"/>
                </a:solidFill>
                <a:latin typeface="Aptos" pitchFamily="34" charset="0"/>
                <a:ea typeface="Aptos" pitchFamily="34" charset="-122"/>
                <a:cs typeface="Aptos" pitchFamily="34" charset="-120"/>
              </a:rPr>
              <a:t>This course provides general education, not legal, financial, brokerage, MLS, or Fair Housing advice</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Agents remain responsible for reviewing communications and following applicable rules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Use verified facts and approved data sources</a:t>
            </a:r>
            <a:endParaRPr lang="en-US" sz="1650" dirty="0"/>
          </a:p>
          <a:p>
            <a:pPr marL="203200" indent="-203200">
              <a:buSzPct val="100000"/>
              <a:buChar char="•"/>
            </a:pPr>
            <a:r>
              <a:rPr lang="en-US" sz="1650" dirty="0">
                <a:solidFill>
                  <a:srgbClr val="102033"/>
                </a:solidFill>
                <a:latin typeface="Aptos" pitchFamily="34" charset="0"/>
                <a:ea typeface="Aptos" pitchFamily="34" charset="-122"/>
                <a:cs typeface="Aptos" pitchFamily="34" charset="-120"/>
              </a:rPr>
              <a:t>When uncertain, consult your broker, MLS, attorney, lender, or appropriate professional</a:t>
            </a:r>
            <a:endParaRPr lang="en-US" sz="1650" dirty="0"/>
          </a:p>
        </p:txBody>
      </p:sp>
      <p:sp>
        <p:nvSpPr>
          <p:cNvPr id="8" name="Shape 6"/>
          <p:cNvSpPr/>
          <p:nvPr/>
        </p:nvSpPr>
        <p:spPr>
          <a:xfrm>
            <a:off x="7571232" y="1828800"/>
            <a:ext cx="3246120" cy="2788920"/>
          </a:xfrm>
          <a:prstGeom prst="roundRect">
            <a:avLst>
              <a:gd name="adj" fmla="val 1967"/>
            </a:avLst>
          </a:prstGeom>
          <a:solidFill>
            <a:srgbClr val="FFF0EF"/>
          </a:solidFill>
          <a:ln w="10160">
            <a:solidFill>
              <a:srgbClr val="F5C8C5"/>
            </a:solidFill>
            <a:prstDash val="solid"/>
          </a:ln>
        </p:spPr>
      </p:sp>
      <p:sp>
        <p:nvSpPr>
          <p:cNvPr id="9" name="Text 7"/>
          <p:cNvSpPr/>
          <p:nvPr/>
        </p:nvSpPr>
        <p:spPr>
          <a:xfrm>
            <a:off x="7882128" y="2148840"/>
            <a:ext cx="2606040" cy="530352"/>
          </a:xfrm>
          <a:prstGeom prst="rect">
            <a:avLst/>
          </a:prstGeom>
          <a:noFill/>
          <a:ln/>
        </p:spPr>
        <p:txBody>
          <a:bodyPr wrap="square" lIns="0" tIns="0" rIns="0" bIns="0" rtlCol="0" anchor="ctr">
            <a:normAutofit/>
          </a:bodyPr>
          <a:lstStyle/>
          <a:p>
            <a:pPr indent="0" marL="0">
              <a:buNone/>
            </a:pPr>
            <a:r>
              <a:rPr lang="en-US" sz="1750" b="1" dirty="0">
                <a:solidFill>
                  <a:srgbClr val="16324F"/>
                </a:solidFill>
              </a:rPr>
              <a:t>Professional judgment stays in the loop</a:t>
            </a:r>
            <a:endParaRPr lang="en-US" sz="1750" dirty="0"/>
          </a:p>
        </p:txBody>
      </p:sp>
      <p:sp>
        <p:nvSpPr>
          <p:cNvPr id="10" name="Text 8"/>
          <p:cNvSpPr/>
          <p:nvPr/>
        </p:nvSpPr>
        <p:spPr>
          <a:xfrm>
            <a:off x="7882128" y="2944368"/>
            <a:ext cx="2514600" cy="960120"/>
          </a:xfrm>
          <a:prstGeom prst="rect">
            <a:avLst/>
          </a:prstGeom>
          <a:noFill/>
          <a:ln/>
        </p:spPr>
        <p:txBody>
          <a:bodyPr wrap="square" lIns="508" tIns="508" rIns="508" bIns="508" rtlCol="0" anchor="ctr">
            <a:normAutofit/>
          </a:bodyPr>
          <a:lstStyle/>
          <a:p>
            <a:pPr indent="0" marL="0">
              <a:buNone/>
            </a:pPr>
            <a:r>
              <a:rPr lang="en-US" sz="1220" dirty="0">
                <a:solidFill>
                  <a:srgbClr val="102033"/>
                </a:solidFill>
              </a:rPr>
              <a:t>Verify, review, and follow applicable rules before using AI output.</a:t>
            </a:r>
            <a:endParaRPr lang="en-US" sz="1220" dirty="0"/>
          </a:p>
        </p:txBody>
      </p:sp>
      <p:sp>
        <p:nvSpPr>
          <p:cNvPr id="11" name="Shape 9"/>
          <p:cNvSpPr/>
          <p:nvPr/>
        </p:nvSpPr>
        <p:spPr>
          <a:xfrm>
            <a:off x="7882128" y="4160520"/>
            <a:ext cx="1097280" cy="0"/>
          </a:xfrm>
          <a:prstGeom prst="line">
            <a:avLst/>
          </a:prstGeom>
          <a:noFill/>
          <a:ln w="38100">
            <a:solidFill>
              <a:srgbClr val="F45B69"/>
            </a:solidFill>
            <a:prstDash val="solid"/>
          </a:ln>
        </p:spPr>
      </p:sp>
      <p:sp>
        <p:nvSpPr>
          <p:cNvPr id="12" name="Shape 10"/>
          <p:cNvSpPr/>
          <p:nvPr/>
        </p:nvSpPr>
        <p:spPr>
          <a:xfrm>
            <a:off x="7882128" y="4370832"/>
            <a:ext cx="493776" cy="493776"/>
          </a:xfrm>
          <a:prstGeom prst="roundRect">
            <a:avLst>
              <a:gd name="adj" fmla="val 14815"/>
            </a:avLst>
          </a:prstGeom>
          <a:solidFill>
            <a:srgbClr val="F45B69"/>
          </a:solidFill>
          <a:ln w="12700">
            <a:solidFill>
              <a:srgbClr val="F45B69"/>
            </a:solidFill>
            <a:prstDash val="solid"/>
          </a:ln>
        </p:spPr>
      </p:sp>
      <p:sp>
        <p:nvSpPr>
          <p:cNvPr id="13" name="Text 11"/>
          <p:cNvSpPr/>
          <p:nvPr/>
        </p:nvSpPr>
        <p:spPr>
          <a:xfrm>
            <a:off x="7927848" y="4507992"/>
            <a:ext cx="402336" cy="128016"/>
          </a:xfrm>
          <a:prstGeom prst="rect">
            <a:avLst/>
          </a:prstGeom>
          <a:noFill/>
          <a:ln/>
        </p:spPr>
        <p:txBody>
          <a:bodyPr wrap="square" lIns="0" tIns="0" rIns="0" bIns="0" rtlCol="0" anchor="ctr"/>
          <a:lstStyle/>
          <a:p>
            <a:pPr algn="ctr" indent="0" marL="0">
              <a:buNone/>
            </a:pPr>
            <a:r>
              <a:rPr lang="en-US" sz="850" b="1" dirty="0">
                <a:solidFill>
                  <a:srgbClr val="FFFFFF"/>
                </a:solidFill>
              </a:rPr>
              <a:t>!</a:t>
            </a:r>
            <a:endParaRPr lang="en-US" sz="850" dirty="0"/>
          </a:p>
        </p:txBody>
      </p:sp>
      <p:sp>
        <p:nvSpPr>
          <p:cNvPr id="14" name="Shape 12"/>
          <p:cNvSpPr/>
          <p:nvPr/>
        </p:nvSpPr>
        <p:spPr>
          <a:xfrm>
            <a:off x="502920" y="6473952"/>
            <a:ext cx="11201400" cy="0"/>
          </a:xfrm>
          <a:prstGeom prst="line">
            <a:avLst/>
          </a:prstGeom>
          <a:noFill/>
          <a:ln w="9525">
            <a:solidFill>
              <a:srgbClr val="D8E6E8"/>
            </a:solidFill>
            <a:prstDash val="solid"/>
          </a:ln>
        </p:spPr>
      </p:sp>
      <p:sp>
        <p:nvSpPr>
          <p:cNvPr id="15" name="Text 13"/>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6" name="Text 14"/>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47/48</a:t>
            </a:r>
            <a:endParaRPr lang="en-US" sz="72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9784080" y="-502920"/>
            <a:ext cx="2880360" cy="2880360"/>
          </a:xfrm>
          <a:prstGeom prst="arc">
            <a:avLst/>
          </a:prstGeom>
          <a:solidFill>
            <a:srgbClr val="FFFFFF">
              <a:alpha val="0"/>
            </a:srgbClr>
          </a:solidFill>
          <a:ln w="25400">
            <a:solidFill>
              <a:srgbClr val="F0F3FF"/>
            </a:solidFill>
            <a:prstDash val="solid"/>
          </a:ln>
        </p:spPr>
      </p:sp>
      <p:sp>
        <p:nvSpPr>
          <p:cNvPr id="3" name="Shape 1"/>
          <p:cNvSpPr/>
          <p:nvPr/>
        </p:nvSpPr>
        <p:spPr>
          <a:xfrm>
            <a:off x="-731520" y="5349240"/>
            <a:ext cx="2057400" cy="2057400"/>
          </a:xfrm>
          <a:prstGeom prst="arc">
            <a:avLst/>
          </a:prstGeom>
          <a:solidFill>
            <a:srgbClr val="FFFFFF">
              <a:alpha val="0"/>
            </a:srgbClr>
          </a:solidFill>
          <a:ln w="25400">
            <a:solidFill>
              <a:srgbClr val="F0F3FF"/>
            </a:solidFill>
            <a:prstDash val="solid"/>
          </a:ln>
        </p:spPr>
      </p:sp>
      <p:sp>
        <p:nvSpPr>
          <p:cNvPr id="4" name="Shape 2"/>
          <p:cNvSpPr/>
          <p:nvPr/>
        </p:nvSpPr>
        <p:spPr>
          <a:xfrm>
            <a:off x="658368" y="438912"/>
            <a:ext cx="109728" cy="256032"/>
          </a:xfrm>
          <a:prstGeom prst="rect">
            <a:avLst/>
          </a:prstGeom>
          <a:solidFill>
            <a:srgbClr val="008F8F"/>
          </a:solidFill>
          <a:ln w="12700">
            <a:solidFill>
              <a:srgbClr val="008F8F"/>
            </a:solidFill>
            <a:prstDash val="solid"/>
          </a:ln>
        </p:spPr>
      </p:sp>
      <p:sp>
        <p:nvSpPr>
          <p:cNvPr id="5" name="Text 3"/>
          <p:cNvSpPr/>
          <p:nvPr/>
        </p:nvSpPr>
        <p:spPr>
          <a:xfrm>
            <a:off x="841248" y="429768"/>
            <a:ext cx="4937760" cy="228600"/>
          </a:xfrm>
          <a:prstGeom prst="rect">
            <a:avLst/>
          </a:prstGeom>
          <a:noFill/>
          <a:ln/>
        </p:spPr>
        <p:txBody>
          <a:bodyPr wrap="square" lIns="0" tIns="0" rIns="0" bIns="0" rtlCol="0" anchor="ctr">
            <a:normAutofit/>
          </a:bodyPr>
          <a:lstStyle/>
          <a:p>
            <a:pPr indent="0" marL="0">
              <a:buNone/>
            </a:pPr>
            <a:r>
              <a:rPr lang="en-US" sz="880" b="1" dirty="0">
                <a:solidFill>
                  <a:srgbClr val="008F8F"/>
                </a:solidFill>
                <a:latin typeface="Aptos" pitchFamily="34" charset="0"/>
                <a:ea typeface="Aptos" pitchFamily="34" charset="-122"/>
                <a:cs typeface="Aptos" pitchFamily="34" charset="-120"/>
              </a:rPr>
              <a:t>THANK YOU</a:t>
            </a:r>
            <a:endParaRPr lang="en-US" sz="880" dirty="0"/>
          </a:p>
        </p:txBody>
      </p:sp>
      <p:sp>
        <p:nvSpPr>
          <p:cNvPr id="6" name="Text 4"/>
          <p:cNvSpPr/>
          <p:nvPr/>
        </p:nvSpPr>
        <p:spPr>
          <a:xfrm>
            <a:off x="658368" y="786384"/>
            <a:ext cx="10424160" cy="585216"/>
          </a:xfrm>
          <a:prstGeom prst="rect">
            <a:avLst/>
          </a:prstGeom>
          <a:noFill/>
          <a:ln/>
        </p:spPr>
        <p:txBody>
          <a:bodyPr wrap="square" lIns="0" tIns="0" rIns="0" bIns="0" rtlCol="0" anchor="ctr">
            <a:normAutofit/>
          </a:bodyPr>
          <a:lstStyle/>
          <a:p>
            <a:pPr indent="0" marL="0">
              <a:buNone/>
            </a:pPr>
            <a:r>
              <a:rPr lang="en-US" sz="2800" b="1" dirty="0">
                <a:solidFill>
                  <a:srgbClr val="102033"/>
                </a:solidFill>
                <a:latin typeface="Aptos Display" pitchFamily="34" charset="0"/>
                <a:ea typeface="Aptos Display" pitchFamily="34" charset="-122"/>
                <a:cs typeface="Aptos Display" pitchFamily="34" charset="-120"/>
              </a:rPr>
              <a:t>Questions and discussion</a:t>
            </a:r>
            <a:endParaRPr lang="en-US" sz="2800" dirty="0"/>
          </a:p>
        </p:txBody>
      </p:sp>
      <p:sp>
        <p:nvSpPr>
          <p:cNvPr id="7" name="Text 5"/>
          <p:cNvSpPr/>
          <p:nvPr/>
        </p:nvSpPr>
        <p:spPr>
          <a:xfrm>
            <a:off x="694944" y="2697480"/>
            <a:ext cx="6858000" cy="347472"/>
          </a:xfrm>
          <a:prstGeom prst="rect">
            <a:avLst/>
          </a:prstGeom>
          <a:noFill/>
          <a:ln/>
        </p:spPr>
        <p:txBody>
          <a:bodyPr wrap="square" lIns="0" tIns="0" rIns="0" bIns="0" rtlCol="0" anchor="ctr"/>
          <a:lstStyle/>
          <a:p>
            <a:pPr indent="0" marL="0">
              <a:buNone/>
            </a:pPr>
            <a:r>
              <a:rPr lang="en-US" sz="1600" dirty="0">
                <a:solidFill>
                  <a:srgbClr val="52606D"/>
                </a:solidFill>
              </a:rPr>
              <a:t>AI for Real Estate Sales: From Confusion to Daily Use</a:t>
            </a:r>
            <a:endParaRPr lang="en-US" sz="1600" dirty="0"/>
          </a:p>
        </p:txBody>
      </p:sp>
      <p:sp>
        <p:nvSpPr>
          <p:cNvPr id="8" name="Shape 6"/>
          <p:cNvSpPr/>
          <p:nvPr/>
        </p:nvSpPr>
        <p:spPr>
          <a:xfrm>
            <a:off x="694944" y="3273552"/>
            <a:ext cx="1828800" cy="0"/>
          </a:xfrm>
          <a:prstGeom prst="line">
            <a:avLst/>
          </a:prstGeom>
          <a:noFill/>
          <a:ln w="50800">
            <a:solidFill>
              <a:srgbClr val="F45B69"/>
            </a:solidFill>
            <a:prstDash val="solid"/>
          </a:ln>
        </p:spPr>
      </p:sp>
      <p:sp>
        <p:nvSpPr>
          <p:cNvPr id="9" name="Text 7"/>
          <p:cNvSpPr/>
          <p:nvPr/>
        </p:nvSpPr>
        <p:spPr>
          <a:xfrm>
            <a:off x="694944" y="3749040"/>
            <a:ext cx="2743200" cy="320040"/>
          </a:xfrm>
          <a:prstGeom prst="rect">
            <a:avLst/>
          </a:prstGeom>
          <a:noFill/>
          <a:ln/>
        </p:spPr>
        <p:txBody>
          <a:bodyPr wrap="square" lIns="0" tIns="0" rIns="0" bIns="0" rtlCol="0" anchor="ctr"/>
          <a:lstStyle/>
          <a:p>
            <a:pPr indent="0" marL="0">
              <a:buNone/>
            </a:pPr>
            <a:r>
              <a:rPr lang="en-US" sz="2200" b="1" dirty="0">
                <a:solidFill>
                  <a:srgbClr val="16324F"/>
                </a:solidFill>
              </a:rPr>
              <a:t>Thank you</a:t>
            </a:r>
            <a:endParaRPr lang="en-US" sz="2200" dirty="0"/>
          </a:p>
        </p:txBody>
      </p:sp>
      <p:sp>
        <p:nvSpPr>
          <p:cNvPr id="10" name="Shape 8"/>
          <p:cNvSpPr/>
          <p:nvPr/>
        </p:nvSpPr>
        <p:spPr>
          <a:xfrm>
            <a:off x="6281928" y="3547872"/>
            <a:ext cx="3673693" cy="645201"/>
          </a:xfrm>
          <a:prstGeom prst="roundRect">
            <a:avLst>
              <a:gd name="adj" fmla="val 5669"/>
            </a:avLst>
          </a:prstGeom>
          <a:solidFill>
            <a:srgbClr val="FFFFFF">
              <a:alpha val="97000"/>
            </a:srgbClr>
          </a:solidFill>
          <a:ln w="7620">
            <a:solidFill>
              <a:srgbClr val="D7E4EA">
                <a:alpha val="75000"/>
              </a:srgbClr>
            </a:solidFill>
            <a:prstDash val="solid"/>
          </a:ln>
        </p:spPr>
      </p:sp>
      <p:pic>
        <p:nvPicPr>
          <p:cNvPr id="11" name="Image 0" descr="C:\Users\TR4_1950X\Documents\New project\assets\brand\miami-realtors-logo-color.png">    </p:cNvPr>
          <p:cNvPicPr>
            <a:picLocks noChangeAspect="1"/>
          </p:cNvPicPr>
          <p:nvPr/>
        </p:nvPicPr>
        <p:blipFill>
          <a:blip r:embed="rId1"/>
          <a:stretch>
            <a:fillRect/>
          </a:stretch>
        </p:blipFill>
        <p:spPr>
          <a:xfrm>
            <a:off x="6446520" y="3675888"/>
            <a:ext cx="1040221" cy="454274"/>
          </a:xfrm>
          <a:prstGeom prst="rect">
            <a:avLst/>
          </a:prstGeom>
        </p:spPr>
      </p:pic>
      <p:pic>
        <p:nvPicPr>
          <p:cNvPr id="12" name="Image 1" descr="C:\Users\TR4_1950X\Documents\New project\assets\brand\rworld-official-logo-color.png">    </p:cNvPr>
          <p:cNvPicPr>
            <a:picLocks noChangeAspect="1"/>
          </p:cNvPicPr>
          <p:nvPr/>
        </p:nvPicPr>
        <p:blipFill>
          <a:blip r:embed="rId2"/>
          <a:stretch>
            <a:fillRect/>
          </a:stretch>
        </p:blipFill>
        <p:spPr>
          <a:xfrm>
            <a:off x="7870789" y="3702223"/>
            <a:ext cx="1975104" cy="401604"/>
          </a:xfrm>
          <a:prstGeom prst="rect">
            <a:avLst/>
          </a:prstGeom>
        </p:spPr>
      </p:pic>
      <p:sp>
        <p:nvSpPr>
          <p:cNvPr id="13" name="Shape 9"/>
          <p:cNvSpPr/>
          <p:nvPr/>
        </p:nvSpPr>
        <p:spPr>
          <a:xfrm>
            <a:off x="502920" y="6473952"/>
            <a:ext cx="11201400" cy="0"/>
          </a:xfrm>
          <a:prstGeom prst="line">
            <a:avLst/>
          </a:prstGeom>
          <a:noFill/>
          <a:ln w="9525">
            <a:solidFill>
              <a:srgbClr val="D8E6E8"/>
            </a:solidFill>
            <a:prstDash val="solid"/>
          </a:ln>
        </p:spPr>
      </p:sp>
      <p:sp>
        <p:nvSpPr>
          <p:cNvPr id="14" name="Text 10"/>
          <p:cNvSpPr/>
          <p:nvPr/>
        </p:nvSpPr>
        <p:spPr>
          <a:xfrm>
            <a:off x="502920" y="6565392"/>
            <a:ext cx="7132320" cy="164592"/>
          </a:xfrm>
          <a:prstGeom prst="rect">
            <a:avLst/>
          </a:prstGeom>
          <a:noFill/>
          <a:ln/>
        </p:spPr>
        <p:txBody>
          <a:bodyPr wrap="square" lIns="0" tIns="0" rIns="0" bIns="0" rtlCol="0" anchor="ctr"/>
          <a:lstStyle/>
          <a:p>
            <a:pPr indent="0" marL="0">
              <a:buNone/>
            </a:pPr>
            <a:r>
              <a:rPr lang="en-US" sz="720" dirty="0">
                <a:solidFill>
                  <a:srgbClr val="52606D"/>
                </a:solidFill>
                <a:latin typeface="Aptos" pitchFamily="34" charset="0"/>
                <a:ea typeface="Aptos" pitchFamily="34" charset="-122"/>
                <a:cs typeface="Aptos" pitchFamily="34" charset="-120"/>
              </a:rPr>
              <a:t>Approved REALTOR education course | MIAMI REALTORS + RWorld members</a:t>
            </a:r>
            <a:endParaRPr lang="en-US" sz="720" dirty="0"/>
          </a:p>
        </p:txBody>
      </p:sp>
      <p:sp>
        <p:nvSpPr>
          <p:cNvPr id="15" name="Text 11"/>
          <p:cNvSpPr/>
          <p:nvPr/>
        </p:nvSpPr>
        <p:spPr>
          <a:xfrm>
            <a:off x="10927080" y="6565392"/>
            <a:ext cx="731520" cy="164592"/>
          </a:xfrm>
          <a:prstGeom prst="rect">
            <a:avLst/>
          </a:prstGeom>
          <a:noFill/>
          <a:ln/>
        </p:spPr>
        <p:txBody>
          <a:bodyPr wrap="square" lIns="0" tIns="0" rIns="0" bIns="0" rtlCol="0" anchor="ctr"/>
          <a:lstStyle/>
          <a:p>
            <a:pPr algn="r" indent="0" marL="0">
              <a:buNone/>
            </a:pPr>
            <a:r>
              <a:rPr lang="en-US" sz="720" dirty="0">
                <a:solidFill>
                  <a:srgbClr val="52606D"/>
                </a:solidFill>
                <a:latin typeface="Aptos" pitchFamily="34" charset="0"/>
                <a:ea typeface="Aptos" pitchFamily="34" charset="-122"/>
                <a:cs typeface="Aptos" pitchFamily="34" charset="-120"/>
              </a:rPr>
              <a:t>48/48</a:t>
            </a:r>
            <a:endParaRPr lang="en-US" sz="7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MIAMI REALTORS + RWorld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Real Estate Sales: From Confusion to Daily Use</dc:title>
  <dc:subject>AI for Real Estate Sales approved REALTOR education course</dc:subject>
  <dc:creator>Ian Burton Price</dc:creator>
  <cp:lastModifiedBy>Ian Burton Price</cp:lastModifiedBy>
  <cp:revision>1</cp:revision>
  <dcterms:created xsi:type="dcterms:W3CDTF">2026-06-01T20:25:06Z</dcterms:created>
  <dcterms:modified xsi:type="dcterms:W3CDTF">2026-06-01T20:25:06Z</dcterms:modified>
</cp:coreProperties>
</file>