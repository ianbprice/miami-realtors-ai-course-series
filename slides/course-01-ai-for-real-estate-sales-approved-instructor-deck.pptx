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Mention GoHouse.ai only as professional context, not as a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manage pacing. Exercises may expand or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protected-class implications, school claims, and subjective neighborhood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course as serious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Text 2"/>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5" name="Text 3"/>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6" name="Text 4"/>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7" name="Shape 5"/>
          <p:cNvSpPr/>
          <p:nvPr/>
        </p:nvSpPr>
        <p:spPr>
          <a:xfrm>
            <a:off x="749808" y="3054096"/>
            <a:ext cx="2011680" cy="0"/>
          </a:xfrm>
          <a:prstGeom prst="line">
            <a:avLst/>
          </a:prstGeom>
          <a:noFill/>
          <a:ln w="50800">
            <a:solidFill>
              <a:srgbClr val="F45B69"/>
            </a:solidFill>
            <a:prstDash val="solid"/>
          </a:ln>
        </p:spPr>
      </p:sp>
      <p:sp>
        <p:nvSpPr>
          <p:cNvPr id="8" name="Text 6"/>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9" name="Text 7"/>
          <p:cNvSpPr/>
          <p:nvPr/>
        </p:nvSpPr>
        <p:spPr>
          <a:xfrm>
            <a:off x="749808" y="5760720"/>
            <a:ext cx="4389120" cy="201168"/>
          </a:xfrm>
          <a:prstGeom prst="rect">
            <a:avLst/>
          </a:prstGeom>
          <a:noFill/>
          <a:ln/>
        </p:spPr>
        <p:txBody>
          <a:bodyPr wrap="square" lIns="0" tIns="0" rIns="0" bIns="0" rtlCol="0" anchor="ctr"/>
          <a:lstStyle/>
          <a:p>
            <a:pPr indent="0" marL="0">
              <a:buNone/>
            </a:pPr>
            <a:r>
              <a:rPr lang="en-US" sz="950" dirty="0">
                <a:solidFill>
                  <a:srgbClr val="AFC8CF"/>
                </a:solidFill>
              </a:rPr>
              <a:t>Instructor-ready live training deck</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Brief context: 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No official logos or brand marks are used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Examples are synthetic and classroom-safe</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2/48</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3/48</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4/48</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5" name="Shape 3"/>
          <p:cNvSpPr/>
          <p:nvPr/>
        </p:nvSpPr>
        <p:spPr>
          <a:xfrm>
            <a:off x="777240" y="1828800"/>
            <a:ext cx="402336" cy="402336"/>
          </a:xfrm>
          <a:prstGeom prst="ellipse">
            <a:avLst/>
          </a:prstGeom>
          <a:solidFill>
            <a:srgbClr val="008F8F"/>
          </a:solidFill>
          <a:ln w="12700">
            <a:solidFill>
              <a:srgbClr val="008F8F"/>
            </a:solidFill>
            <a:prstDash val="solid"/>
          </a:ln>
        </p:spPr>
      </p:sp>
      <p:sp>
        <p:nvSpPr>
          <p:cNvPr id="6" name="Text 4"/>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Text 5"/>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8" name="Text 6"/>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9" name="Shape 7"/>
          <p:cNvSpPr/>
          <p:nvPr/>
        </p:nvSpPr>
        <p:spPr>
          <a:xfrm>
            <a:off x="3566160" y="1828800"/>
            <a:ext cx="402336" cy="402336"/>
          </a:xfrm>
          <a:prstGeom prst="ellipse">
            <a:avLst/>
          </a:prstGeom>
          <a:solidFill>
            <a:srgbClr val="2F80ED"/>
          </a:solidFill>
          <a:ln w="12700">
            <a:solidFill>
              <a:srgbClr val="2F80ED"/>
            </a:solidFill>
            <a:prstDash val="solid"/>
          </a:ln>
        </p:spPr>
      </p:sp>
      <p:sp>
        <p:nvSpPr>
          <p:cNvPr id="10" name="Text 8"/>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1" name="Text 9"/>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12" name="Text 10"/>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13" name="Shape 11"/>
          <p:cNvSpPr/>
          <p:nvPr/>
        </p:nvSpPr>
        <p:spPr>
          <a:xfrm>
            <a:off x="6355080" y="1828800"/>
            <a:ext cx="402336" cy="402336"/>
          </a:xfrm>
          <a:prstGeom prst="ellipse">
            <a:avLst/>
          </a:prstGeom>
          <a:solidFill>
            <a:srgbClr val="F45B69"/>
          </a:solidFill>
          <a:ln w="12700">
            <a:solidFill>
              <a:srgbClr val="F45B69"/>
            </a:solidFill>
            <a:prstDash val="solid"/>
          </a:ln>
        </p:spPr>
      </p:sp>
      <p:sp>
        <p:nvSpPr>
          <p:cNvPr id="14" name="Text 1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5" name="Text 1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25m</a:t>
            </a:r>
            <a:endParaRPr lang="en-US" sz="900" dirty="0"/>
          </a:p>
        </p:txBody>
      </p:sp>
      <p:sp>
        <p:nvSpPr>
          <p:cNvPr id="16" name="Text 1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17" name="Shape 15"/>
          <p:cNvSpPr/>
          <p:nvPr/>
        </p:nvSpPr>
        <p:spPr>
          <a:xfrm>
            <a:off x="9144000" y="1828800"/>
            <a:ext cx="402336" cy="402336"/>
          </a:xfrm>
          <a:prstGeom prst="ellipse">
            <a:avLst/>
          </a:prstGeom>
          <a:solidFill>
            <a:srgbClr val="F2B84B"/>
          </a:solidFill>
          <a:ln w="12700">
            <a:solidFill>
              <a:srgbClr val="F2B84B"/>
            </a:solidFill>
            <a:prstDash val="solid"/>
          </a:ln>
        </p:spPr>
      </p:sp>
      <p:sp>
        <p:nvSpPr>
          <p:cNvPr id="18" name="Text 16"/>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19" name="Text 17"/>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0" name="Text 18"/>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21" name="Shape 19"/>
          <p:cNvSpPr/>
          <p:nvPr/>
        </p:nvSpPr>
        <p:spPr>
          <a:xfrm>
            <a:off x="777240" y="3383280"/>
            <a:ext cx="402336" cy="402336"/>
          </a:xfrm>
          <a:prstGeom prst="ellipse">
            <a:avLst/>
          </a:prstGeom>
          <a:solidFill>
            <a:srgbClr val="008F8F"/>
          </a:solidFill>
          <a:ln w="12700">
            <a:solidFill>
              <a:srgbClr val="008F8F"/>
            </a:solidFill>
            <a:prstDash val="solid"/>
          </a:ln>
        </p:spPr>
      </p:sp>
      <p:sp>
        <p:nvSpPr>
          <p:cNvPr id="22" name="Text 20"/>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3" name="Text 21"/>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4" name="Text 22"/>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25" name="Shape 23"/>
          <p:cNvSpPr/>
          <p:nvPr/>
        </p:nvSpPr>
        <p:spPr>
          <a:xfrm>
            <a:off x="3566160" y="3383280"/>
            <a:ext cx="402336" cy="402336"/>
          </a:xfrm>
          <a:prstGeom prst="ellipse">
            <a:avLst/>
          </a:prstGeom>
          <a:solidFill>
            <a:srgbClr val="2F80ED"/>
          </a:solidFill>
          <a:ln w="12700">
            <a:solidFill>
              <a:srgbClr val="2F80ED"/>
            </a:solidFill>
            <a:prstDash val="solid"/>
          </a:ln>
        </p:spPr>
      </p:sp>
      <p:sp>
        <p:nvSpPr>
          <p:cNvPr id="26" name="Text 24"/>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27" name="Text 25"/>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8" name="Text 26"/>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29" name="Shape 27"/>
          <p:cNvSpPr/>
          <p:nvPr/>
        </p:nvSpPr>
        <p:spPr>
          <a:xfrm>
            <a:off x="6355080" y="3383280"/>
            <a:ext cx="402336" cy="402336"/>
          </a:xfrm>
          <a:prstGeom prst="ellipse">
            <a:avLst/>
          </a:prstGeom>
          <a:solidFill>
            <a:srgbClr val="F45B69"/>
          </a:solidFill>
          <a:ln w="12700">
            <a:solidFill>
              <a:srgbClr val="F45B69"/>
            </a:solidFill>
            <a:prstDash val="solid"/>
          </a:ln>
        </p:spPr>
      </p:sp>
      <p:sp>
        <p:nvSpPr>
          <p:cNvPr id="30" name="Text 28"/>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31" name="Text 29"/>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2" name="Text 30"/>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33" name="Shape 31"/>
          <p:cNvSpPr/>
          <p:nvPr/>
        </p:nvSpPr>
        <p:spPr>
          <a:xfrm>
            <a:off x="9144000" y="3383280"/>
            <a:ext cx="402336" cy="402336"/>
          </a:xfrm>
          <a:prstGeom prst="ellipse">
            <a:avLst/>
          </a:prstGeom>
          <a:solidFill>
            <a:srgbClr val="F2B84B"/>
          </a:solidFill>
          <a:ln w="12700">
            <a:solidFill>
              <a:srgbClr val="F2B84B"/>
            </a:solidFill>
            <a:prstDash val="solid"/>
          </a:ln>
        </p:spPr>
      </p:sp>
      <p:sp>
        <p:nvSpPr>
          <p:cNvPr id="34" name="Text 32"/>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35" name="Text 33"/>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36" name="Text 34"/>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a:t>
            </a:r>
            <a:endParaRPr lang="en-US" sz="1500" dirty="0"/>
          </a:p>
        </p:txBody>
      </p:sp>
      <p:sp>
        <p:nvSpPr>
          <p:cNvPr id="37" name="Shape 35"/>
          <p:cNvSpPr/>
          <p:nvPr/>
        </p:nvSpPr>
        <p:spPr>
          <a:xfrm>
            <a:off x="502920" y="6473952"/>
            <a:ext cx="11201400" cy="0"/>
          </a:xfrm>
          <a:prstGeom prst="line">
            <a:avLst/>
          </a:prstGeom>
          <a:noFill/>
          <a:ln w="9525">
            <a:solidFill>
              <a:srgbClr val="D8E6E8"/>
            </a:solidFill>
            <a:prstDash val="solid"/>
          </a:ln>
        </p:spPr>
      </p:sp>
      <p:sp>
        <p:nvSpPr>
          <p:cNvPr id="38" name="Text 3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9" name="Text 3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5/48</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7/48</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5" name="Shape 3"/>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6" name="Text 4"/>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7" name="Text 5"/>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8" name="Shape 6"/>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9" name="Text 7"/>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0" name="Text 8"/>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8/48</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7" name="Text 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8" name="Text 6"/>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9/48</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5" name="Shape 3"/>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6" name="Text 4"/>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7" name="Text 5"/>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8" name="Shape 6"/>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9" name="Text 7"/>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0" name="Text 8"/>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11/48</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5" name="Shape 3"/>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6" name="Shape 4"/>
          <p:cNvSpPr/>
          <p:nvPr/>
        </p:nvSpPr>
        <p:spPr>
          <a:xfrm>
            <a:off x="1097280" y="2084832"/>
            <a:ext cx="402336" cy="402336"/>
          </a:xfrm>
          <a:prstGeom prst="ellipse">
            <a:avLst/>
          </a:prstGeom>
          <a:solidFill>
            <a:srgbClr val="008F8F"/>
          </a:solidFill>
          <a:ln w="12700">
            <a:solidFill>
              <a:srgbClr val="008F8F"/>
            </a:solidFill>
            <a:prstDash val="solid"/>
          </a:ln>
        </p:spPr>
      </p:sp>
      <p:sp>
        <p:nvSpPr>
          <p:cNvPr id="7" name="Text 5"/>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8" name="Text 6"/>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9" name="Text 7"/>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0" name="Shape 8"/>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1" name="Shape 9"/>
          <p:cNvSpPr/>
          <p:nvPr/>
        </p:nvSpPr>
        <p:spPr>
          <a:xfrm>
            <a:off x="6355080" y="2084832"/>
            <a:ext cx="402336" cy="402336"/>
          </a:xfrm>
          <a:prstGeom prst="ellipse">
            <a:avLst/>
          </a:prstGeom>
          <a:solidFill>
            <a:srgbClr val="2F80ED"/>
          </a:solidFill>
          <a:ln w="12700">
            <a:solidFill>
              <a:srgbClr val="2F80ED"/>
            </a:solidFill>
            <a:prstDash val="solid"/>
          </a:ln>
        </p:spPr>
      </p:sp>
      <p:sp>
        <p:nvSpPr>
          <p:cNvPr id="12" name="Text 10"/>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3" name="Text 11"/>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14" name="Text 12"/>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15" name="Shape 13"/>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16" name="Shape 14"/>
          <p:cNvSpPr/>
          <p:nvPr/>
        </p:nvSpPr>
        <p:spPr>
          <a:xfrm>
            <a:off x="1097280" y="3502152"/>
            <a:ext cx="402336" cy="402336"/>
          </a:xfrm>
          <a:prstGeom prst="ellipse">
            <a:avLst/>
          </a:prstGeom>
          <a:solidFill>
            <a:srgbClr val="F45B69"/>
          </a:solidFill>
          <a:ln w="12700">
            <a:solidFill>
              <a:srgbClr val="F45B69"/>
            </a:solidFill>
            <a:prstDash val="solid"/>
          </a:ln>
        </p:spPr>
      </p:sp>
      <p:sp>
        <p:nvSpPr>
          <p:cNvPr id="17" name="Text 15"/>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8" name="Text 16"/>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19" name="Text 17"/>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0" name="Shape 18"/>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1" name="Shape 19"/>
          <p:cNvSpPr/>
          <p:nvPr/>
        </p:nvSpPr>
        <p:spPr>
          <a:xfrm>
            <a:off x="6355080" y="3502152"/>
            <a:ext cx="402336" cy="402336"/>
          </a:xfrm>
          <a:prstGeom prst="ellipse">
            <a:avLst/>
          </a:prstGeom>
          <a:solidFill>
            <a:srgbClr val="2E7D5B"/>
          </a:solidFill>
          <a:ln w="12700">
            <a:solidFill>
              <a:srgbClr val="2E7D5B"/>
            </a:solidFill>
            <a:prstDash val="solid"/>
          </a:ln>
        </p:spPr>
      </p:sp>
      <p:sp>
        <p:nvSpPr>
          <p:cNvPr id="22" name="Text 20"/>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3" name="Text 21"/>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24" name="Text 22"/>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25" name="Shape 23"/>
          <p:cNvSpPr/>
          <p:nvPr/>
        </p:nvSpPr>
        <p:spPr>
          <a:xfrm>
            <a:off x="502920" y="6473952"/>
            <a:ext cx="11201400" cy="0"/>
          </a:xfrm>
          <a:prstGeom prst="line">
            <a:avLst/>
          </a:prstGeom>
          <a:noFill/>
          <a:ln w="9525">
            <a:solidFill>
              <a:srgbClr val="D8E6E8"/>
            </a:solidFill>
            <a:prstDash val="solid"/>
          </a:ln>
        </p:spPr>
      </p:sp>
      <p:sp>
        <p:nvSpPr>
          <p:cNvPr id="26" name="Text 2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7" name="Text 2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12/48</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7" name="Text 5"/>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8" name="Text 6"/>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9" name="Text 7"/>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10" name="Shape 8"/>
          <p:cNvSpPr/>
          <p:nvPr/>
        </p:nvSpPr>
        <p:spPr>
          <a:xfrm>
            <a:off x="502920" y="6473952"/>
            <a:ext cx="11201400" cy="0"/>
          </a:xfrm>
          <a:prstGeom prst="line">
            <a:avLst/>
          </a:prstGeom>
          <a:noFill/>
          <a:ln w="9525">
            <a:solidFill>
              <a:srgbClr val="D8E6E8"/>
            </a:solidFill>
            <a:prstDash val="solid"/>
          </a:ln>
        </p:spPr>
      </p:sp>
      <p:sp>
        <p:nvSpPr>
          <p:cNvPr id="11" name="Text 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2" name="Text 1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13/48</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5" name="Shape 3"/>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6" name="Text 4"/>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7" name="Text 5"/>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8" name="Shape 6"/>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9" name="Text 7"/>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0" name="Text 8"/>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14/48</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Realtor prompt formula</a:t>
            </a:r>
            <a:endParaRPr lang="en-US" sz="2800" dirty="0"/>
          </a:p>
        </p:txBody>
      </p:sp>
      <p:sp>
        <p:nvSpPr>
          <p:cNvPr id="5" name="Shape 3"/>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6" name="Text 4"/>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7" name="Text 5"/>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REALTOR®</a:t>
            </a:r>
            <a:endParaRPr lang="en-US" sz="1150" dirty="0"/>
          </a:p>
        </p:txBody>
      </p:sp>
      <p:sp>
        <p:nvSpPr>
          <p:cNvPr id="8" name="Shape 6"/>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9" name="Text 7"/>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0" name="Text 8"/>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1" name="Shape 9"/>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3" name="Text 11"/>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14" name="Shape 12"/>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16" name="Text 14"/>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17" name="Shape 15"/>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19" name="Text 17"/>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0" name="Shape 18"/>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2" name="Text 20"/>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16/48</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5" name="Shape 3"/>
          <p:cNvSpPr/>
          <p:nvPr/>
        </p:nvSpPr>
        <p:spPr>
          <a:xfrm>
            <a:off x="868680" y="1828800"/>
            <a:ext cx="3840480" cy="2651760"/>
          </a:xfrm>
          <a:prstGeom prst="roundRect">
            <a:avLst>
              <a:gd name="adj" fmla="val 2069"/>
            </a:avLst>
          </a:prstGeom>
          <a:solidFill>
            <a:srgbClr val="FFFFFF"/>
          </a:solidFill>
          <a:ln w="10160">
            <a:solidFill>
              <a:srgbClr val="D8E6E8"/>
            </a:solidFill>
            <a:prstDash val="solid"/>
          </a:ln>
        </p:spPr>
      </p:sp>
      <p:sp>
        <p:nvSpPr>
          <p:cNvPr id="6" name="Text 4"/>
          <p:cNvSpPr/>
          <p:nvPr/>
        </p:nvSpPr>
        <p:spPr>
          <a:xfrm>
            <a:off x="1143000" y="2084832"/>
            <a:ext cx="1280160" cy="182880"/>
          </a:xfrm>
          <a:prstGeom prst="rect">
            <a:avLst/>
          </a:prstGeom>
          <a:noFill/>
          <a:ln/>
        </p:spPr>
        <p:txBody>
          <a:bodyPr wrap="square" lIns="0" tIns="0" rIns="0" bIns="0" rtlCol="0" anchor="ctr"/>
          <a:lstStyle/>
          <a:p>
            <a:pPr indent="0" marL="0">
              <a:buNone/>
            </a:pPr>
            <a:r>
              <a:rPr lang="en-US" sz="1000" b="1" dirty="0">
                <a:solidFill>
                  <a:srgbClr val="008F8F"/>
                </a:solidFill>
              </a:rPr>
              <a:t>Scenario</a:t>
            </a:r>
            <a:endParaRPr lang="en-US" sz="1000" dirty="0"/>
          </a:p>
        </p:txBody>
      </p:sp>
      <p:sp>
        <p:nvSpPr>
          <p:cNvPr id="7" name="Text 5"/>
          <p:cNvSpPr/>
          <p:nvPr/>
        </p:nvSpPr>
        <p:spPr>
          <a:xfrm>
            <a:off x="1143000" y="2423160"/>
            <a:ext cx="3246120" cy="1280160"/>
          </a:xfrm>
          <a:prstGeom prst="rect">
            <a:avLst/>
          </a:prstGeom>
          <a:noFill/>
          <a:ln/>
        </p:spPr>
        <p:txBody>
          <a:bodyPr wrap="square" lIns="381" tIns="381" rIns="381" bIns="381" rtlCol="0" anchor="ctr">
            <a:normAutofit/>
          </a:bodyPr>
          <a:lstStyle/>
          <a:p>
            <a:pPr indent="0" marL="0">
              <a:buNone/>
            </a:pPr>
            <a:r>
              <a:rPr lang="en-US" sz="1550" b="1" dirty="0">
                <a:solidFill>
                  <a:srgbClr val="16324F"/>
                </a:solidFill>
              </a:rPr>
              <a:t>A buyer toured two condos, liked one, but is worried about monthly payment.</a:t>
            </a:r>
            <a:endParaRPr lang="en-US" sz="1550" dirty="0"/>
          </a:p>
        </p:txBody>
      </p:sp>
      <p:sp>
        <p:nvSpPr>
          <p:cNvPr id="8" name="Shape 6"/>
          <p:cNvSpPr/>
          <p:nvPr/>
        </p:nvSpPr>
        <p:spPr>
          <a:xfrm>
            <a:off x="5166360" y="1828800"/>
            <a:ext cx="5440680" cy="2651760"/>
          </a:xfrm>
          <a:prstGeom prst="roundRect">
            <a:avLst>
              <a:gd name="adj" fmla="val 2069"/>
            </a:avLst>
          </a:prstGeom>
          <a:solidFill>
            <a:srgbClr val="EAF7F7"/>
          </a:solidFill>
          <a:ln w="10160">
            <a:solidFill>
              <a:srgbClr val="D8E6E8"/>
            </a:solidFill>
            <a:prstDash val="solid"/>
          </a:ln>
        </p:spPr>
      </p:sp>
      <p:sp>
        <p:nvSpPr>
          <p:cNvPr id="9" name="Text 7"/>
          <p:cNvSpPr/>
          <p:nvPr/>
        </p:nvSpPr>
        <p:spPr>
          <a:xfrm>
            <a:off x="5440680" y="2084832"/>
            <a:ext cx="2194560" cy="182880"/>
          </a:xfrm>
          <a:prstGeom prst="rect">
            <a:avLst/>
          </a:prstGeom>
          <a:noFill/>
          <a:ln/>
        </p:spPr>
        <p:txBody>
          <a:bodyPr wrap="square" lIns="0" tIns="0" rIns="0" bIns="0" rtlCol="0" anchor="ctr"/>
          <a:lstStyle/>
          <a:p>
            <a:pPr indent="0" marL="0">
              <a:buNone/>
            </a:pPr>
            <a:r>
              <a:rPr lang="en-US" sz="1000" b="1" dirty="0">
                <a:solidFill>
                  <a:srgbClr val="008F8F"/>
                </a:solidFill>
              </a:rPr>
              <a:t>Example output</a:t>
            </a:r>
            <a:endParaRPr lang="en-US" sz="1000" dirty="0"/>
          </a:p>
        </p:txBody>
      </p:sp>
      <p:sp>
        <p:nvSpPr>
          <p:cNvPr id="10" name="Text 8"/>
          <p:cNvSpPr/>
          <p:nvPr/>
        </p:nvSpPr>
        <p:spPr>
          <a:xfrm>
            <a:off x="5440680" y="2423160"/>
            <a:ext cx="4800600" cy="164592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8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17/48</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5" name="Shape 3"/>
          <p:cNvSpPr/>
          <p:nvPr/>
        </p:nvSpPr>
        <p:spPr>
          <a:xfrm>
            <a:off x="868680" y="1828800"/>
            <a:ext cx="3840480" cy="2651760"/>
          </a:xfrm>
          <a:prstGeom prst="roundRect">
            <a:avLst>
              <a:gd name="adj" fmla="val 2069"/>
            </a:avLst>
          </a:prstGeom>
          <a:solidFill>
            <a:srgbClr val="FFFFFF"/>
          </a:solidFill>
          <a:ln w="10160">
            <a:solidFill>
              <a:srgbClr val="D8E6E8"/>
            </a:solidFill>
            <a:prstDash val="solid"/>
          </a:ln>
        </p:spPr>
      </p:sp>
      <p:sp>
        <p:nvSpPr>
          <p:cNvPr id="6" name="Text 4"/>
          <p:cNvSpPr/>
          <p:nvPr/>
        </p:nvSpPr>
        <p:spPr>
          <a:xfrm>
            <a:off x="1143000" y="2084832"/>
            <a:ext cx="1280160" cy="182880"/>
          </a:xfrm>
          <a:prstGeom prst="rect">
            <a:avLst/>
          </a:prstGeom>
          <a:noFill/>
          <a:ln/>
        </p:spPr>
        <p:txBody>
          <a:bodyPr wrap="square" lIns="0" tIns="0" rIns="0" bIns="0" rtlCol="0" anchor="ctr"/>
          <a:lstStyle/>
          <a:p>
            <a:pPr indent="0" marL="0">
              <a:buNone/>
            </a:pPr>
            <a:r>
              <a:rPr lang="en-US" sz="1000" b="1" dirty="0">
                <a:solidFill>
                  <a:srgbClr val="008F8F"/>
                </a:solidFill>
              </a:rPr>
              <a:t>Scenario</a:t>
            </a:r>
            <a:endParaRPr lang="en-US" sz="1000" dirty="0"/>
          </a:p>
        </p:txBody>
      </p:sp>
      <p:sp>
        <p:nvSpPr>
          <p:cNvPr id="7" name="Text 5"/>
          <p:cNvSpPr/>
          <p:nvPr/>
        </p:nvSpPr>
        <p:spPr>
          <a:xfrm>
            <a:off x="1143000" y="2423160"/>
            <a:ext cx="3246120" cy="1280160"/>
          </a:xfrm>
          <a:prstGeom prst="rect">
            <a:avLst/>
          </a:prstGeom>
          <a:noFill/>
          <a:ln/>
        </p:spPr>
        <p:txBody>
          <a:bodyPr wrap="square" lIns="381" tIns="381" rIns="381" bIns="381" rtlCol="0" anchor="ctr">
            <a:normAutofit/>
          </a:bodyPr>
          <a:lstStyle/>
          <a:p>
            <a:pPr indent="0" marL="0">
              <a:buNone/>
            </a:pPr>
            <a:r>
              <a:rPr lang="en-US" sz="1550" b="1" dirty="0">
                <a:solidFill>
                  <a:srgbClr val="16324F"/>
                </a:solidFill>
              </a:rPr>
              <a:t>A listing had showings but no offers this week.</a:t>
            </a:r>
            <a:endParaRPr lang="en-US" sz="1550" dirty="0"/>
          </a:p>
        </p:txBody>
      </p:sp>
      <p:sp>
        <p:nvSpPr>
          <p:cNvPr id="8" name="Shape 6"/>
          <p:cNvSpPr/>
          <p:nvPr/>
        </p:nvSpPr>
        <p:spPr>
          <a:xfrm>
            <a:off x="5166360" y="1828800"/>
            <a:ext cx="5440680" cy="2651760"/>
          </a:xfrm>
          <a:prstGeom prst="roundRect">
            <a:avLst>
              <a:gd name="adj" fmla="val 2069"/>
            </a:avLst>
          </a:prstGeom>
          <a:solidFill>
            <a:srgbClr val="EAF7F7"/>
          </a:solidFill>
          <a:ln w="10160">
            <a:solidFill>
              <a:srgbClr val="D8E6E8"/>
            </a:solidFill>
            <a:prstDash val="solid"/>
          </a:ln>
        </p:spPr>
      </p:sp>
      <p:sp>
        <p:nvSpPr>
          <p:cNvPr id="9" name="Text 7"/>
          <p:cNvSpPr/>
          <p:nvPr/>
        </p:nvSpPr>
        <p:spPr>
          <a:xfrm>
            <a:off x="5440680" y="2084832"/>
            <a:ext cx="2194560" cy="182880"/>
          </a:xfrm>
          <a:prstGeom prst="rect">
            <a:avLst/>
          </a:prstGeom>
          <a:noFill/>
          <a:ln/>
        </p:spPr>
        <p:txBody>
          <a:bodyPr wrap="square" lIns="0" tIns="0" rIns="0" bIns="0" rtlCol="0" anchor="ctr"/>
          <a:lstStyle/>
          <a:p>
            <a:pPr indent="0" marL="0">
              <a:buNone/>
            </a:pPr>
            <a:r>
              <a:rPr lang="en-US" sz="1000" b="1" dirty="0">
                <a:solidFill>
                  <a:srgbClr val="008F8F"/>
                </a:solidFill>
              </a:rPr>
              <a:t>Example output</a:t>
            </a:r>
            <a:endParaRPr lang="en-US" sz="1000" dirty="0"/>
          </a:p>
        </p:txBody>
      </p:sp>
      <p:sp>
        <p:nvSpPr>
          <p:cNvPr id="10" name="Text 8"/>
          <p:cNvSpPr/>
          <p:nvPr/>
        </p:nvSpPr>
        <p:spPr>
          <a:xfrm>
            <a:off x="5440680" y="2423160"/>
            <a:ext cx="4800600" cy="164592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8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7" name="Text 5"/>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8" name="Text 6"/>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9" name="Text 7"/>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10" name="Shape 8"/>
          <p:cNvSpPr/>
          <p:nvPr/>
        </p:nvSpPr>
        <p:spPr>
          <a:xfrm>
            <a:off x="502920" y="6473952"/>
            <a:ext cx="11201400" cy="0"/>
          </a:xfrm>
          <a:prstGeom prst="line">
            <a:avLst/>
          </a:prstGeom>
          <a:noFill/>
          <a:ln w="9525">
            <a:solidFill>
              <a:srgbClr val="D8E6E8"/>
            </a:solidFill>
            <a:prstDash val="solid"/>
          </a:ln>
        </p:spPr>
      </p:sp>
      <p:sp>
        <p:nvSpPr>
          <p:cNvPr id="11" name="Text 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2" name="Text 1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19/48</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5" name="Shape 3"/>
          <p:cNvSpPr/>
          <p:nvPr/>
        </p:nvSpPr>
        <p:spPr>
          <a:xfrm>
            <a:off x="868680" y="1828800"/>
            <a:ext cx="402336" cy="402336"/>
          </a:xfrm>
          <a:prstGeom prst="ellipse">
            <a:avLst/>
          </a:prstGeom>
          <a:solidFill>
            <a:srgbClr val="008F8F"/>
          </a:solidFill>
          <a:ln w="12700">
            <a:solidFill>
              <a:srgbClr val="008F8F"/>
            </a:solidFill>
            <a:prstDash val="solid"/>
          </a:ln>
        </p:spPr>
      </p:sp>
      <p:sp>
        <p:nvSpPr>
          <p:cNvPr id="6" name="Text 4"/>
          <p:cNvSpPr/>
          <p:nvPr/>
        </p:nvSpPr>
        <p:spPr>
          <a:xfrm>
            <a:off x="8686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Text 5"/>
          <p:cNvSpPr/>
          <p:nvPr/>
        </p:nvSpPr>
        <p:spPr>
          <a:xfrm>
            <a:off x="1417320" y="1783080"/>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Rewrite this text so it sounds warm, concise, and natural for a REALTOR®: [draft]</a:t>
            </a:r>
            <a:endParaRPr lang="en-US" sz="1350" dirty="0"/>
          </a:p>
        </p:txBody>
      </p:sp>
      <p:sp>
        <p:nvSpPr>
          <p:cNvPr id="8" name="Shape 6"/>
          <p:cNvSpPr/>
          <p:nvPr/>
        </p:nvSpPr>
        <p:spPr>
          <a:xfrm>
            <a:off x="868680" y="2487168"/>
            <a:ext cx="402336" cy="402336"/>
          </a:xfrm>
          <a:prstGeom prst="ellipse">
            <a:avLst/>
          </a:prstGeom>
          <a:solidFill>
            <a:srgbClr val="2F80ED"/>
          </a:solidFill>
          <a:ln w="12700">
            <a:solidFill>
              <a:srgbClr val="2F80ED"/>
            </a:solidFill>
            <a:prstDash val="solid"/>
          </a:ln>
        </p:spPr>
      </p:sp>
      <p:sp>
        <p:nvSpPr>
          <p:cNvPr id="9" name="Text 7"/>
          <p:cNvSpPr/>
          <p:nvPr/>
        </p:nvSpPr>
        <p:spPr>
          <a:xfrm>
            <a:off x="868680" y="25786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0" name="Text 8"/>
          <p:cNvSpPr/>
          <p:nvPr/>
        </p:nvSpPr>
        <p:spPr>
          <a:xfrm>
            <a:off x="1417320" y="2441448"/>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Create a buyer follow-up email based on these call notes: [notes]. Ask one clear next-step question.</a:t>
            </a:r>
            <a:endParaRPr lang="en-US" sz="1350" dirty="0"/>
          </a:p>
        </p:txBody>
      </p:sp>
      <p:sp>
        <p:nvSpPr>
          <p:cNvPr id="11" name="Shape 9"/>
          <p:cNvSpPr/>
          <p:nvPr/>
        </p:nvSpPr>
        <p:spPr>
          <a:xfrm>
            <a:off x="868680" y="3145536"/>
            <a:ext cx="402336" cy="402336"/>
          </a:xfrm>
          <a:prstGeom prst="ellipse">
            <a:avLst/>
          </a:prstGeom>
          <a:solidFill>
            <a:srgbClr val="F45B69"/>
          </a:solidFill>
          <a:ln w="12700">
            <a:solidFill>
              <a:srgbClr val="F45B69"/>
            </a:solidFill>
            <a:prstDash val="solid"/>
          </a:ln>
        </p:spPr>
      </p:sp>
      <p:sp>
        <p:nvSpPr>
          <p:cNvPr id="12" name="Text 10"/>
          <p:cNvSpPr/>
          <p:nvPr/>
        </p:nvSpPr>
        <p:spPr>
          <a:xfrm>
            <a:off x="868680" y="323697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3" name="Text 11"/>
          <p:cNvSpPr/>
          <p:nvPr/>
        </p:nvSpPr>
        <p:spPr>
          <a:xfrm>
            <a:off x="1417320" y="3099816"/>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Draft a seller update after a quiet week. Be honest, professional, and solution-oriented.</a:t>
            </a:r>
            <a:endParaRPr lang="en-US" sz="1350" dirty="0"/>
          </a:p>
        </p:txBody>
      </p:sp>
      <p:sp>
        <p:nvSpPr>
          <p:cNvPr id="14" name="Shape 12"/>
          <p:cNvSpPr/>
          <p:nvPr/>
        </p:nvSpPr>
        <p:spPr>
          <a:xfrm>
            <a:off x="868680" y="3803904"/>
            <a:ext cx="402336" cy="402336"/>
          </a:xfrm>
          <a:prstGeom prst="ellipse">
            <a:avLst/>
          </a:prstGeom>
          <a:solidFill>
            <a:srgbClr val="2E7D5B"/>
          </a:solidFill>
          <a:ln w="12700">
            <a:solidFill>
              <a:srgbClr val="2E7D5B"/>
            </a:solidFill>
            <a:prstDash val="solid"/>
          </a:ln>
        </p:spPr>
      </p:sp>
      <p:sp>
        <p:nvSpPr>
          <p:cNvPr id="15" name="Text 13"/>
          <p:cNvSpPr/>
          <p:nvPr/>
        </p:nvSpPr>
        <p:spPr>
          <a:xfrm>
            <a:off x="868680" y="38953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16" name="Text 14"/>
          <p:cNvSpPr/>
          <p:nvPr/>
        </p:nvSpPr>
        <p:spPr>
          <a:xfrm>
            <a:off x="1417320" y="3758184"/>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Give me three tone options: concise, reassuring, and more direct.</a:t>
            </a:r>
            <a:endParaRPr lang="en-US" sz="135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20/48</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22/48</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5" name="Shape 3"/>
          <p:cNvSpPr/>
          <p:nvPr/>
        </p:nvSpPr>
        <p:spPr>
          <a:xfrm>
            <a:off x="731520" y="2331720"/>
            <a:ext cx="402336" cy="402336"/>
          </a:xfrm>
          <a:prstGeom prst="ellipse">
            <a:avLst/>
          </a:prstGeom>
          <a:solidFill>
            <a:srgbClr val="008F8F"/>
          </a:solidFill>
          <a:ln w="12700">
            <a:solidFill>
              <a:srgbClr val="008F8F"/>
            </a:solidFill>
            <a:prstDash val="solid"/>
          </a:ln>
        </p:spPr>
      </p:sp>
      <p:sp>
        <p:nvSpPr>
          <p:cNvPr id="6" name="Text 4"/>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Shape 5"/>
          <p:cNvSpPr/>
          <p:nvPr/>
        </p:nvSpPr>
        <p:spPr>
          <a:xfrm>
            <a:off x="1143000" y="2532888"/>
            <a:ext cx="1115568" cy="0"/>
          </a:xfrm>
          <a:prstGeom prst="line">
            <a:avLst/>
          </a:prstGeom>
          <a:noFill/>
          <a:ln w="17780">
            <a:solidFill>
              <a:srgbClr val="D8E6E8"/>
            </a:solidFill>
            <a:prstDash val="solid"/>
            <a:tailEnd type="triangle"/>
          </a:ln>
        </p:spPr>
      </p:sp>
      <p:sp>
        <p:nvSpPr>
          <p:cNvPr id="8" name="Text 6"/>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9" name="Shape 7"/>
          <p:cNvSpPr/>
          <p:nvPr/>
        </p:nvSpPr>
        <p:spPr>
          <a:xfrm>
            <a:off x="2468880" y="2331720"/>
            <a:ext cx="402336" cy="402336"/>
          </a:xfrm>
          <a:prstGeom prst="ellipse">
            <a:avLst/>
          </a:prstGeom>
          <a:solidFill>
            <a:srgbClr val="2F80ED"/>
          </a:solidFill>
          <a:ln w="12700">
            <a:solidFill>
              <a:srgbClr val="2F80ED"/>
            </a:solidFill>
            <a:prstDash val="solid"/>
          </a:ln>
        </p:spPr>
      </p:sp>
      <p:sp>
        <p:nvSpPr>
          <p:cNvPr id="10" name="Text 8"/>
          <p:cNvSpPr/>
          <p:nvPr/>
        </p:nvSpPr>
        <p:spPr>
          <a:xfrm>
            <a:off x="246888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1" name="Shape 9"/>
          <p:cNvSpPr/>
          <p:nvPr/>
        </p:nvSpPr>
        <p:spPr>
          <a:xfrm>
            <a:off x="2880360" y="2532888"/>
            <a:ext cx="1115568" cy="0"/>
          </a:xfrm>
          <a:prstGeom prst="line">
            <a:avLst/>
          </a:prstGeom>
          <a:noFill/>
          <a:ln w="17780">
            <a:solidFill>
              <a:srgbClr val="D8E6E8"/>
            </a:solidFill>
            <a:prstDash val="solid"/>
            <a:tailEnd type="triangle"/>
          </a:ln>
        </p:spPr>
      </p:sp>
      <p:sp>
        <p:nvSpPr>
          <p:cNvPr id="12" name="Text 10"/>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3" name="Shape 11"/>
          <p:cNvSpPr/>
          <p:nvPr/>
        </p:nvSpPr>
        <p:spPr>
          <a:xfrm>
            <a:off x="4206240" y="2331720"/>
            <a:ext cx="402336" cy="402336"/>
          </a:xfrm>
          <a:prstGeom prst="ellipse">
            <a:avLst/>
          </a:prstGeom>
          <a:solidFill>
            <a:srgbClr val="F45B69"/>
          </a:solidFill>
          <a:ln w="12700">
            <a:solidFill>
              <a:srgbClr val="F45B69"/>
            </a:solidFill>
            <a:prstDash val="solid"/>
          </a:ln>
        </p:spPr>
      </p:sp>
      <p:sp>
        <p:nvSpPr>
          <p:cNvPr id="14" name="Text 12"/>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5" name="Shape 13"/>
          <p:cNvSpPr/>
          <p:nvPr/>
        </p:nvSpPr>
        <p:spPr>
          <a:xfrm>
            <a:off x="4617720" y="2532888"/>
            <a:ext cx="1115568" cy="0"/>
          </a:xfrm>
          <a:prstGeom prst="line">
            <a:avLst/>
          </a:prstGeom>
          <a:noFill/>
          <a:ln w="17780">
            <a:solidFill>
              <a:srgbClr val="D8E6E8"/>
            </a:solidFill>
            <a:prstDash val="solid"/>
            <a:tailEnd type="triangle"/>
          </a:ln>
        </p:spPr>
      </p:sp>
      <p:sp>
        <p:nvSpPr>
          <p:cNvPr id="16" name="Text 14"/>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17" name="Shape 15"/>
          <p:cNvSpPr/>
          <p:nvPr/>
        </p:nvSpPr>
        <p:spPr>
          <a:xfrm>
            <a:off x="5943600" y="2331720"/>
            <a:ext cx="402336" cy="402336"/>
          </a:xfrm>
          <a:prstGeom prst="ellipse">
            <a:avLst/>
          </a:prstGeom>
          <a:solidFill>
            <a:srgbClr val="2E7D5B"/>
          </a:solidFill>
          <a:ln w="12700">
            <a:solidFill>
              <a:srgbClr val="2E7D5B"/>
            </a:solidFill>
            <a:prstDash val="solid"/>
          </a:ln>
        </p:spPr>
      </p:sp>
      <p:sp>
        <p:nvSpPr>
          <p:cNvPr id="18" name="Text 16"/>
          <p:cNvSpPr/>
          <p:nvPr/>
        </p:nvSpPr>
        <p:spPr>
          <a:xfrm>
            <a:off x="594360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19" name="Shape 17"/>
          <p:cNvSpPr/>
          <p:nvPr/>
        </p:nvSpPr>
        <p:spPr>
          <a:xfrm>
            <a:off x="6355080" y="2532888"/>
            <a:ext cx="1115568" cy="0"/>
          </a:xfrm>
          <a:prstGeom prst="line">
            <a:avLst/>
          </a:prstGeom>
          <a:noFill/>
          <a:ln w="17780">
            <a:solidFill>
              <a:srgbClr val="D8E6E8"/>
            </a:solidFill>
            <a:prstDash val="solid"/>
            <a:tailEnd type="triangle"/>
          </a:ln>
        </p:spPr>
      </p:sp>
      <p:sp>
        <p:nvSpPr>
          <p:cNvPr id="20" name="Text 18"/>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1" name="Shape 19"/>
          <p:cNvSpPr/>
          <p:nvPr/>
        </p:nvSpPr>
        <p:spPr>
          <a:xfrm>
            <a:off x="7680960" y="2331720"/>
            <a:ext cx="402336" cy="402336"/>
          </a:xfrm>
          <a:prstGeom prst="ellipse">
            <a:avLst/>
          </a:prstGeom>
          <a:solidFill>
            <a:srgbClr val="F2B84B"/>
          </a:solidFill>
          <a:ln w="12700">
            <a:solidFill>
              <a:srgbClr val="F2B84B"/>
            </a:solidFill>
            <a:prstDash val="solid"/>
          </a:ln>
        </p:spPr>
      </p:sp>
      <p:sp>
        <p:nvSpPr>
          <p:cNvPr id="22" name="Text 20"/>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3" name="Shape 21"/>
          <p:cNvSpPr/>
          <p:nvPr/>
        </p:nvSpPr>
        <p:spPr>
          <a:xfrm>
            <a:off x="8092440" y="2532888"/>
            <a:ext cx="1115568" cy="0"/>
          </a:xfrm>
          <a:prstGeom prst="line">
            <a:avLst/>
          </a:prstGeom>
          <a:noFill/>
          <a:ln w="17780">
            <a:solidFill>
              <a:srgbClr val="D8E6E8"/>
            </a:solidFill>
            <a:prstDash val="solid"/>
            <a:tailEnd type="triangle"/>
          </a:ln>
        </p:spPr>
      </p:sp>
      <p:sp>
        <p:nvSpPr>
          <p:cNvPr id="24" name="Text 22"/>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25" name="Shape 23"/>
          <p:cNvSpPr/>
          <p:nvPr/>
        </p:nvSpPr>
        <p:spPr>
          <a:xfrm>
            <a:off x="9418320" y="2331720"/>
            <a:ext cx="402336" cy="402336"/>
          </a:xfrm>
          <a:prstGeom prst="ellipse">
            <a:avLst/>
          </a:prstGeom>
          <a:solidFill>
            <a:srgbClr val="16324F"/>
          </a:solidFill>
          <a:ln w="12700">
            <a:solidFill>
              <a:srgbClr val="16324F"/>
            </a:solidFill>
            <a:prstDash val="solid"/>
          </a:ln>
        </p:spPr>
      </p:sp>
      <p:sp>
        <p:nvSpPr>
          <p:cNvPr id="26" name="Text 24"/>
          <p:cNvSpPr/>
          <p:nvPr/>
        </p:nvSpPr>
        <p:spPr>
          <a:xfrm>
            <a:off x="9418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27" name="Text 25"/>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28" name="Shape 26"/>
          <p:cNvSpPr/>
          <p:nvPr/>
        </p:nvSpPr>
        <p:spPr>
          <a:xfrm>
            <a:off x="502920" y="6473952"/>
            <a:ext cx="11201400" cy="0"/>
          </a:xfrm>
          <a:prstGeom prst="line">
            <a:avLst/>
          </a:prstGeom>
          <a:noFill/>
          <a:ln w="9525">
            <a:solidFill>
              <a:srgbClr val="D8E6E8"/>
            </a:solidFill>
            <a:prstDash val="solid"/>
          </a:ln>
        </p:spPr>
      </p:sp>
      <p:sp>
        <p:nvSpPr>
          <p:cNvPr id="29" name="Text 2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0" name="Text 2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23/48</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5" name="Shape 3"/>
          <p:cNvSpPr/>
          <p:nvPr/>
        </p:nvSpPr>
        <p:spPr>
          <a:xfrm>
            <a:off x="868680" y="1828800"/>
            <a:ext cx="3840480" cy="2651760"/>
          </a:xfrm>
          <a:prstGeom prst="roundRect">
            <a:avLst>
              <a:gd name="adj" fmla="val 2069"/>
            </a:avLst>
          </a:prstGeom>
          <a:solidFill>
            <a:srgbClr val="FFFFFF"/>
          </a:solidFill>
          <a:ln w="10160">
            <a:solidFill>
              <a:srgbClr val="D8E6E8"/>
            </a:solidFill>
            <a:prstDash val="solid"/>
          </a:ln>
        </p:spPr>
      </p:sp>
      <p:sp>
        <p:nvSpPr>
          <p:cNvPr id="6" name="Text 4"/>
          <p:cNvSpPr/>
          <p:nvPr/>
        </p:nvSpPr>
        <p:spPr>
          <a:xfrm>
            <a:off x="1143000" y="2084832"/>
            <a:ext cx="1280160" cy="182880"/>
          </a:xfrm>
          <a:prstGeom prst="rect">
            <a:avLst/>
          </a:prstGeom>
          <a:noFill/>
          <a:ln/>
        </p:spPr>
        <p:txBody>
          <a:bodyPr wrap="square" lIns="0" tIns="0" rIns="0" bIns="0" rtlCol="0" anchor="ctr"/>
          <a:lstStyle/>
          <a:p>
            <a:pPr indent="0" marL="0">
              <a:buNone/>
            </a:pPr>
            <a:r>
              <a:rPr lang="en-US" sz="1000" b="1" dirty="0">
                <a:solidFill>
                  <a:srgbClr val="008F8F"/>
                </a:solidFill>
              </a:rPr>
              <a:t>Scenario</a:t>
            </a:r>
            <a:endParaRPr lang="en-US" sz="1000" dirty="0"/>
          </a:p>
        </p:txBody>
      </p:sp>
      <p:sp>
        <p:nvSpPr>
          <p:cNvPr id="7" name="Text 5"/>
          <p:cNvSpPr/>
          <p:nvPr/>
        </p:nvSpPr>
        <p:spPr>
          <a:xfrm>
            <a:off x="1143000" y="2423160"/>
            <a:ext cx="3246120" cy="1280160"/>
          </a:xfrm>
          <a:prstGeom prst="rect">
            <a:avLst/>
          </a:prstGeom>
          <a:noFill/>
          <a:ln/>
        </p:spPr>
        <p:txBody>
          <a:bodyPr wrap="square" lIns="381" tIns="381" rIns="381" bIns="381" rtlCol="0" anchor="ctr">
            <a:normAutofit/>
          </a:bodyPr>
          <a:lstStyle/>
          <a:p>
            <a:pPr indent="0" marL="0">
              <a:buNone/>
            </a:pPr>
            <a:r>
              <a:rPr lang="en-US" sz="1550" b="1" dirty="0">
                <a:solidFill>
                  <a:srgbClr val="16324F"/>
                </a:solidFill>
              </a:rPr>
              <a:t>Lead asked: “Is the condo on Brickell still available?”</a:t>
            </a:r>
            <a:endParaRPr lang="en-US" sz="1550" dirty="0"/>
          </a:p>
        </p:txBody>
      </p:sp>
      <p:sp>
        <p:nvSpPr>
          <p:cNvPr id="8" name="Shape 6"/>
          <p:cNvSpPr/>
          <p:nvPr/>
        </p:nvSpPr>
        <p:spPr>
          <a:xfrm>
            <a:off x="5166360" y="1828800"/>
            <a:ext cx="5440680" cy="2651760"/>
          </a:xfrm>
          <a:prstGeom prst="roundRect">
            <a:avLst>
              <a:gd name="adj" fmla="val 2069"/>
            </a:avLst>
          </a:prstGeom>
          <a:solidFill>
            <a:srgbClr val="EAF7F7"/>
          </a:solidFill>
          <a:ln w="10160">
            <a:solidFill>
              <a:srgbClr val="D8E6E8"/>
            </a:solidFill>
            <a:prstDash val="solid"/>
          </a:ln>
        </p:spPr>
      </p:sp>
      <p:sp>
        <p:nvSpPr>
          <p:cNvPr id="9" name="Text 7"/>
          <p:cNvSpPr/>
          <p:nvPr/>
        </p:nvSpPr>
        <p:spPr>
          <a:xfrm>
            <a:off x="5440680" y="2084832"/>
            <a:ext cx="2194560" cy="182880"/>
          </a:xfrm>
          <a:prstGeom prst="rect">
            <a:avLst/>
          </a:prstGeom>
          <a:noFill/>
          <a:ln/>
        </p:spPr>
        <p:txBody>
          <a:bodyPr wrap="square" lIns="0" tIns="0" rIns="0" bIns="0" rtlCol="0" anchor="ctr"/>
          <a:lstStyle/>
          <a:p>
            <a:pPr indent="0" marL="0">
              <a:buNone/>
            </a:pPr>
            <a:r>
              <a:rPr lang="en-US" sz="1000" b="1" dirty="0">
                <a:solidFill>
                  <a:srgbClr val="008F8F"/>
                </a:solidFill>
              </a:rPr>
              <a:t>Example output</a:t>
            </a:r>
            <a:endParaRPr lang="en-US" sz="1000" dirty="0"/>
          </a:p>
        </p:txBody>
      </p:sp>
      <p:sp>
        <p:nvSpPr>
          <p:cNvPr id="10" name="Text 8"/>
          <p:cNvSpPr/>
          <p:nvPr/>
        </p:nvSpPr>
        <p:spPr>
          <a:xfrm>
            <a:off x="5440680" y="2423160"/>
            <a:ext cx="4800600" cy="164592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Weak: “Yes, it is available. Let me know if you want to see it.”</a:t>
            </a:r>
            <a:endParaRPr lang="en-US" sz="1380" dirty="0"/>
          </a:p>
          <a:p>
            <a:pPr indent="0" marL="0">
              <a:buNone/>
            </a:pPr>
            <a:endParaRPr lang="en-US" sz="1380" dirty="0"/>
          </a:p>
          <a:p>
            <a:pPr indent="0" marL="0">
              <a:buNone/>
            </a:pPr>
            <a:r>
              <a:rPr lang="en-US" sz="1380" dirty="0">
                <a:solidFill>
                  <a:srgbClr val="102033"/>
                </a:solidFill>
              </a:rPr>
              <a:t>Better: “Yes, it appears available as of my latest check. Are you looking specifically in Brickell, or would similar buildings with strong amenities also be worth sending over?”</a:t>
            </a:r>
            <a:endParaRPr lang="en-US" sz="138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24/48</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7" name="Text 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8" name="Text 6"/>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25/48</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5" name="Shape 3"/>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6" name="Shape 4"/>
          <p:cNvSpPr/>
          <p:nvPr/>
        </p:nvSpPr>
        <p:spPr>
          <a:xfrm>
            <a:off x="1097280" y="2084832"/>
            <a:ext cx="402336" cy="402336"/>
          </a:xfrm>
          <a:prstGeom prst="ellipse">
            <a:avLst/>
          </a:prstGeom>
          <a:solidFill>
            <a:srgbClr val="008F8F"/>
          </a:solidFill>
          <a:ln w="12700">
            <a:solidFill>
              <a:srgbClr val="008F8F"/>
            </a:solidFill>
            <a:prstDash val="solid"/>
          </a:ln>
        </p:spPr>
      </p:sp>
      <p:sp>
        <p:nvSpPr>
          <p:cNvPr id="7" name="Text 5"/>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8" name="Text 6"/>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9" name="Text 7"/>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0" name="Shape 8"/>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1" name="Shape 9"/>
          <p:cNvSpPr/>
          <p:nvPr/>
        </p:nvSpPr>
        <p:spPr>
          <a:xfrm>
            <a:off x="6355080" y="2084832"/>
            <a:ext cx="402336" cy="402336"/>
          </a:xfrm>
          <a:prstGeom prst="ellipse">
            <a:avLst/>
          </a:prstGeom>
          <a:solidFill>
            <a:srgbClr val="2F80ED"/>
          </a:solidFill>
          <a:ln w="12700">
            <a:solidFill>
              <a:srgbClr val="2F80ED"/>
            </a:solidFill>
            <a:prstDash val="solid"/>
          </a:ln>
        </p:spPr>
      </p:sp>
      <p:sp>
        <p:nvSpPr>
          <p:cNvPr id="12" name="Text 10"/>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3" name="Text 11"/>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14" name="Text 12"/>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15" name="Shape 13"/>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16" name="Shape 14"/>
          <p:cNvSpPr/>
          <p:nvPr/>
        </p:nvSpPr>
        <p:spPr>
          <a:xfrm>
            <a:off x="1097280" y="3502152"/>
            <a:ext cx="402336" cy="402336"/>
          </a:xfrm>
          <a:prstGeom prst="ellipse">
            <a:avLst/>
          </a:prstGeom>
          <a:solidFill>
            <a:srgbClr val="F45B69"/>
          </a:solidFill>
          <a:ln w="12700">
            <a:solidFill>
              <a:srgbClr val="F45B69"/>
            </a:solidFill>
            <a:prstDash val="solid"/>
          </a:ln>
        </p:spPr>
      </p:sp>
      <p:sp>
        <p:nvSpPr>
          <p:cNvPr id="17" name="Text 15"/>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8" name="Text 16"/>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19" name="Text 17"/>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0" name="Shape 18"/>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1" name="Shape 19"/>
          <p:cNvSpPr/>
          <p:nvPr/>
        </p:nvSpPr>
        <p:spPr>
          <a:xfrm>
            <a:off x="6355080" y="3502152"/>
            <a:ext cx="402336" cy="402336"/>
          </a:xfrm>
          <a:prstGeom prst="ellipse">
            <a:avLst/>
          </a:prstGeom>
          <a:solidFill>
            <a:srgbClr val="2E7D5B"/>
          </a:solidFill>
          <a:ln w="12700">
            <a:solidFill>
              <a:srgbClr val="2E7D5B"/>
            </a:solidFill>
            <a:prstDash val="solid"/>
          </a:ln>
        </p:spPr>
      </p:sp>
      <p:sp>
        <p:nvSpPr>
          <p:cNvPr id="22" name="Text 20"/>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3" name="Text 21"/>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24" name="Text 22"/>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25" name="Shape 23"/>
          <p:cNvSpPr/>
          <p:nvPr/>
        </p:nvSpPr>
        <p:spPr>
          <a:xfrm>
            <a:off x="502920" y="6473952"/>
            <a:ext cx="11201400" cy="0"/>
          </a:xfrm>
          <a:prstGeom prst="line">
            <a:avLst/>
          </a:prstGeom>
          <a:noFill/>
          <a:ln w="9525">
            <a:solidFill>
              <a:srgbClr val="D8E6E8"/>
            </a:solidFill>
            <a:prstDash val="solid"/>
          </a:ln>
        </p:spPr>
      </p:sp>
      <p:sp>
        <p:nvSpPr>
          <p:cNvPr id="26" name="Text 2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7" name="Text 2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26/48</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28/48</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5" name="Shape 3"/>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6" name="Text 4"/>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7" name="Text 5"/>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8" name="Shape 6"/>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9" name="Text 7"/>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0" name="Text 8"/>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1" name="Shape 9"/>
          <p:cNvSpPr/>
          <p:nvPr/>
        </p:nvSpPr>
        <p:spPr>
          <a:xfrm>
            <a:off x="502920" y="6473952"/>
            <a:ext cx="11201400" cy="0"/>
          </a:xfrm>
          <a:prstGeom prst="line">
            <a:avLst/>
          </a:prstGeom>
          <a:noFill/>
          <a:ln w="9525">
            <a:solidFill>
              <a:srgbClr val="D8E6E8"/>
            </a:solidFill>
            <a:prstDash val="solid"/>
          </a:ln>
        </p:spPr>
      </p:sp>
      <p:sp>
        <p:nvSpPr>
          <p:cNvPr id="12" name="Text 1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3" name="Text 1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29/48</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5" name="Shape 3"/>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6" name="Text 4"/>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7" name="Text 5"/>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8" name="Shape 6"/>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9" name="Text 7"/>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0" name="Text 8"/>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1" name="Shape 9"/>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3" name="Text 11"/>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14" name="Shape 12"/>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16" name="Text 14"/>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17" name="Shape 15"/>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19" name="Text 17"/>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0" name="Shape 18"/>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2" name="Text 20"/>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30/48</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7" name="Text 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8" name="Text 6"/>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31/48</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33/48</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5" name="Shape 3"/>
          <p:cNvSpPr/>
          <p:nvPr/>
        </p:nvSpPr>
        <p:spPr>
          <a:xfrm>
            <a:off x="914400" y="1828800"/>
            <a:ext cx="9601200" cy="2331720"/>
          </a:xfrm>
          <a:prstGeom prst="roundRect">
            <a:avLst>
              <a:gd name="adj" fmla="val 2353"/>
            </a:avLst>
          </a:prstGeom>
          <a:solidFill>
            <a:srgbClr val="EAF7F7"/>
          </a:solidFill>
          <a:ln w="10160">
            <a:solidFill>
              <a:srgbClr val="D8E6E8"/>
            </a:solidFill>
            <a:prstDash val="solid"/>
          </a:ln>
        </p:spPr>
      </p:sp>
      <p:sp>
        <p:nvSpPr>
          <p:cNvPr id="6" name="Text 4"/>
          <p:cNvSpPr/>
          <p:nvPr/>
        </p:nvSpPr>
        <p:spPr>
          <a:xfrm>
            <a:off x="1325880" y="2194560"/>
            <a:ext cx="8686800" cy="1234440"/>
          </a:xfrm>
          <a:prstGeom prst="rect">
            <a:avLst/>
          </a:prstGeom>
          <a:noFill/>
          <a:ln/>
        </p:spPr>
        <p:txBody>
          <a:bodyPr wrap="square" lIns="381" tIns="381" rIns="381" bIns="381" rtlCol="0" anchor="ctr">
            <a:normAutofit/>
          </a:bodyPr>
          <a:lstStyle/>
          <a:p>
            <a:pPr indent="0" marL="0">
              <a:buNone/>
            </a:pPr>
            <a:r>
              <a:rPr lang="en-US" sz="1800" i="1" dirty="0">
                <a:solidFill>
                  <a:srgbClr val="16324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7" name="Shape 5"/>
          <p:cNvSpPr/>
          <p:nvPr/>
        </p:nvSpPr>
        <p:spPr>
          <a:xfrm>
            <a:off x="502920" y="6473952"/>
            <a:ext cx="11201400" cy="0"/>
          </a:xfrm>
          <a:prstGeom prst="line">
            <a:avLst/>
          </a:prstGeom>
          <a:noFill/>
          <a:ln w="9525">
            <a:solidFill>
              <a:srgbClr val="D8E6E8"/>
            </a:solidFill>
            <a:prstDash val="solid"/>
          </a:ln>
        </p:spPr>
      </p:sp>
      <p:sp>
        <p:nvSpPr>
          <p:cNvPr id="8" name="Text 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9" name="Text 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34/48</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5" name="Shape 3"/>
          <p:cNvSpPr/>
          <p:nvPr/>
        </p:nvSpPr>
        <p:spPr>
          <a:xfrm>
            <a:off x="914400" y="1828800"/>
            <a:ext cx="9601200" cy="2331720"/>
          </a:xfrm>
          <a:prstGeom prst="roundRect">
            <a:avLst>
              <a:gd name="adj" fmla="val 2353"/>
            </a:avLst>
          </a:prstGeom>
          <a:solidFill>
            <a:srgbClr val="EAF7F7"/>
          </a:solidFill>
          <a:ln w="10160">
            <a:solidFill>
              <a:srgbClr val="D8E6E8"/>
            </a:solidFill>
            <a:prstDash val="solid"/>
          </a:ln>
        </p:spPr>
      </p:sp>
      <p:sp>
        <p:nvSpPr>
          <p:cNvPr id="6" name="Text 4"/>
          <p:cNvSpPr/>
          <p:nvPr/>
        </p:nvSpPr>
        <p:spPr>
          <a:xfrm>
            <a:off x="1325880" y="2194560"/>
            <a:ext cx="8686800" cy="1234440"/>
          </a:xfrm>
          <a:prstGeom prst="rect">
            <a:avLst/>
          </a:prstGeom>
          <a:noFill/>
          <a:ln/>
        </p:spPr>
        <p:txBody>
          <a:bodyPr wrap="square" lIns="381" tIns="381" rIns="381" bIns="381" rtlCol="0" anchor="ctr">
            <a:normAutofit/>
          </a:bodyPr>
          <a:lstStyle/>
          <a:p>
            <a:pPr indent="0" marL="0">
              <a:buNone/>
            </a:pPr>
            <a:r>
              <a:rPr lang="en-US" sz="1800" i="1" dirty="0">
                <a:solidFill>
                  <a:srgbClr val="16324F"/>
                </a:solidFill>
              </a:rPr>
              <a:t>“Act as a cautious buyer who wants to wait for rates to drop. Help me practice a conversation that is educational, not pushy. Challenge any claims that sound too certain.”</a:t>
            </a:r>
            <a:endParaRPr lang="en-US" sz="1800" dirty="0"/>
          </a:p>
        </p:txBody>
      </p:sp>
      <p:sp>
        <p:nvSpPr>
          <p:cNvPr id="7" name="Shape 5"/>
          <p:cNvSpPr/>
          <p:nvPr/>
        </p:nvSpPr>
        <p:spPr>
          <a:xfrm>
            <a:off x="502920" y="6473952"/>
            <a:ext cx="11201400" cy="0"/>
          </a:xfrm>
          <a:prstGeom prst="line">
            <a:avLst/>
          </a:prstGeom>
          <a:noFill/>
          <a:ln w="9525">
            <a:solidFill>
              <a:srgbClr val="D8E6E8"/>
            </a:solidFill>
            <a:prstDash val="solid"/>
          </a:ln>
        </p:spPr>
      </p:sp>
      <p:sp>
        <p:nvSpPr>
          <p:cNvPr id="8" name="Text 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9" name="Text 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35/48</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7" name="Text 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8" name="Text 6"/>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36/48</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5" name="Shape 3"/>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6" name="Shape 4"/>
          <p:cNvSpPr/>
          <p:nvPr/>
        </p:nvSpPr>
        <p:spPr>
          <a:xfrm>
            <a:off x="1097280" y="2194560"/>
            <a:ext cx="402336" cy="402336"/>
          </a:xfrm>
          <a:prstGeom prst="ellipse">
            <a:avLst/>
          </a:prstGeom>
          <a:solidFill>
            <a:srgbClr val="008F8F"/>
          </a:solidFill>
          <a:ln w="12700">
            <a:solidFill>
              <a:srgbClr val="008F8F"/>
            </a:solidFill>
            <a:prstDash val="solid"/>
          </a:ln>
        </p:spPr>
      </p:sp>
      <p:sp>
        <p:nvSpPr>
          <p:cNvPr id="7" name="Text 5"/>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8" name="Text 6"/>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9" name="Text 7"/>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0" name="Shape 8"/>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1" name="Shape 9"/>
          <p:cNvSpPr/>
          <p:nvPr/>
        </p:nvSpPr>
        <p:spPr>
          <a:xfrm>
            <a:off x="3703320" y="2194560"/>
            <a:ext cx="402336" cy="402336"/>
          </a:xfrm>
          <a:prstGeom prst="ellipse">
            <a:avLst/>
          </a:prstGeom>
          <a:solidFill>
            <a:srgbClr val="2F80ED"/>
          </a:solidFill>
          <a:ln w="12700">
            <a:solidFill>
              <a:srgbClr val="2F80ED"/>
            </a:solidFill>
            <a:prstDash val="solid"/>
          </a:ln>
        </p:spPr>
      </p:sp>
      <p:sp>
        <p:nvSpPr>
          <p:cNvPr id="12" name="Text 10"/>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3" name="Text 11"/>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14" name="Text 12"/>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15" name="Shape 13"/>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16" name="Shape 14"/>
          <p:cNvSpPr/>
          <p:nvPr/>
        </p:nvSpPr>
        <p:spPr>
          <a:xfrm>
            <a:off x="6309360" y="2194560"/>
            <a:ext cx="402336" cy="402336"/>
          </a:xfrm>
          <a:prstGeom prst="ellipse">
            <a:avLst/>
          </a:prstGeom>
          <a:solidFill>
            <a:srgbClr val="F2B84B"/>
          </a:solidFill>
          <a:ln w="12700">
            <a:solidFill>
              <a:srgbClr val="F2B84B"/>
            </a:solidFill>
            <a:prstDash val="solid"/>
          </a:ln>
        </p:spPr>
      </p:sp>
      <p:sp>
        <p:nvSpPr>
          <p:cNvPr id="17" name="Text 15"/>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8" name="Text 16"/>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19" name="Text 17"/>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0" name="Shape 18"/>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1" name="Shape 19"/>
          <p:cNvSpPr/>
          <p:nvPr/>
        </p:nvSpPr>
        <p:spPr>
          <a:xfrm>
            <a:off x="8915400" y="2194560"/>
            <a:ext cx="402336" cy="402336"/>
          </a:xfrm>
          <a:prstGeom prst="ellipse">
            <a:avLst/>
          </a:prstGeom>
          <a:solidFill>
            <a:srgbClr val="2E7D5B"/>
          </a:solidFill>
          <a:ln w="12700">
            <a:solidFill>
              <a:srgbClr val="2E7D5B"/>
            </a:solidFill>
            <a:prstDash val="solid"/>
          </a:ln>
        </p:spPr>
      </p:sp>
      <p:sp>
        <p:nvSpPr>
          <p:cNvPr id="22" name="Text 20"/>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3" name="Text 21"/>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24" name="Text 22"/>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25" name="Shape 23"/>
          <p:cNvSpPr/>
          <p:nvPr/>
        </p:nvSpPr>
        <p:spPr>
          <a:xfrm>
            <a:off x="502920" y="6473952"/>
            <a:ext cx="11201400" cy="0"/>
          </a:xfrm>
          <a:prstGeom prst="line">
            <a:avLst/>
          </a:prstGeom>
          <a:noFill/>
          <a:ln w="9525">
            <a:solidFill>
              <a:srgbClr val="D8E6E8"/>
            </a:solidFill>
            <a:prstDash val="solid"/>
          </a:ln>
        </p:spPr>
      </p:sp>
      <p:sp>
        <p:nvSpPr>
          <p:cNvPr id="26" name="Text 2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7" name="Text 2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38/48</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39/48</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5" name="Shape 3"/>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6" name="Text 4"/>
          <p:cNvSpPr/>
          <p:nvPr/>
        </p:nvSpPr>
        <p:spPr>
          <a:xfrm>
            <a:off x="1115568" y="1947672"/>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Private data</a:t>
            </a:r>
            <a:endParaRPr lang="en-US" sz="1050" dirty="0"/>
          </a:p>
        </p:txBody>
      </p:sp>
      <p:sp>
        <p:nvSpPr>
          <p:cNvPr id="7" name="Text 5"/>
          <p:cNvSpPr/>
          <p:nvPr/>
        </p:nvSpPr>
        <p:spPr>
          <a:xfrm>
            <a:off x="2788920" y="1911096"/>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Remove names, contact info, financial details, and sensitive context before using public tools.</a:t>
            </a:r>
            <a:endParaRPr lang="en-US" sz="1150" dirty="0"/>
          </a:p>
        </p:txBody>
      </p:sp>
      <p:sp>
        <p:nvSpPr>
          <p:cNvPr id="8" name="Shape 6"/>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9" name="Text 7"/>
          <p:cNvSpPr/>
          <p:nvPr/>
        </p:nvSpPr>
        <p:spPr>
          <a:xfrm>
            <a:off x="1115568" y="2788920"/>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Advertising</a:t>
            </a:r>
            <a:endParaRPr lang="en-US" sz="1050" dirty="0"/>
          </a:p>
        </p:txBody>
      </p:sp>
      <p:sp>
        <p:nvSpPr>
          <p:cNvPr id="10" name="Text 8"/>
          <p:cNvSpPr/>
          <p:nvPr/>
        </p:nvSpPr>
        <p:spPr>
          <a:xfrm>
            <a:off x="2788920" y="2752344"/>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Review claims, disclosures, brokerage rules, and platform requirements.</a:t>
            </a:r>
            <a:endParaRPr lang="en-US" sz="1150" dirty="0"/>
          </a:p>
        </p:txBody>
      </p:sp>
      <p:sp>
        <p:nvSpPr>
          <p:cNvPr id="11" name="Shape 9"/>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3630168"/>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MLS</a:t>
            </a:r>
            <a:endParaRPr lang="en-US" sz="1050" dirty="0"/>
          </a:p>
        </p:txBody>
      </p:sp>
      <p:sp>
        <p:nvSpPr>
          <p:cNvPr id="13" name="Text 11"/>
          <p:cNvSpPr/>
          <p:nvPr/>
        </p:nvSpPr>
        <p:spPr>
          <a:xfrm>
            <a:off x="2788920" y="3593592"/>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Follow MLS rules for listing data, remarks, photos, and public display.</a:t>
            </a:r>
            <a:endParaRPr lang="en-US" sz="1150" dirty="0"/>
          </a:p>
        </p:txBody>
      </p:sp>
      <p:sp>
        <p:nvSpPr>
          <p:cNvPr id="14" name="Shape 12"/>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4471416"/>
            <a:ext cx="1645920" cy="164592"/>
          </a:xfrm>
          <a:prstGeom prst="rect">
            <a:avLst/>
          </a:prstGeom>
          <a:noFill/>
          <a:ln/>
        </p:spPr>
        <p:txBody>
          <a:bodyPr wrap="square" lIns="0" tIns="0" rIns="0" bIns="0" rtlCol="0" anchor="ctr"/>
          <a:lstStyle/>
          <a:p>
            <a:pPr indent="0" marL="0">
              <a:buNone/>
            </a:pPr>
            <a:r>
              <a:rPr lang="en-US" sz="1050" b="1" dirty="0">
                <a:solidFill>
                  <a:srgbClr val="008F8F"/>
                </a:solidFill>
              </a:rPr>
              <a:t>Consumer communication</a:t>
            </a:r>
            <a:endParaRPr lang="en-US" sz="1050" dirty="0"/>
          </a:p>
        </p:txBody>
      </p:sp>
      <p:sp>
        <p:nvSpPr>
          <p:cNvPr id="16" name="Text 14"/>
          <p:cNvSpPr/>
          <p:nvPr/>
        </p:nvSpPr>
        <p:spPr>
          <a:xfrm>
            <a:off x="2788920" y="4434840"/>
            <a:ext cx="7223760" cy="219456"/>
          </a:xfrm>
          <a:prstGeom prst="rect">
            <a:avLst/>
          </a:prstGeom>
          <a:noFill/>
          <a:ln/>
        </p:spPr>
        <p:txBody>
          <a:bodyPr wrap="square" lIns="0" tIns="0" rIns="0" bIns="0" rtlCol="0" anchor="ctr">
            <a:normAutofit/>
          </a:bodyPr>
          <a:lstStyle/>
          <a:p>
            <a:pPr indent="0" marL="0">
              <a:buNone/>
            </a:pPr>
            <a:r>
              <a:rPr lang="en-US" sz="1150" dirty="0">
                <a:solidFill>
                  <a:srgbClr val="102033"/>
                </a:solidFill>
              </a:rPr>
              <a:t>Keep records, respect opt-outs, and do not automate beyond policy.</a:t>
            </a:r>
            <a:endParaRPr lang="en-US" sz="115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40/48</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5" name="Shape 3"/>
          <p:cNvSpPr/>
          <p:nvPr/>
        </p:nvSpPr>
        <p:spPr>
          <a:xfrm>
            <a:off x="868680" y="1828800"/>
            <a:ext cx="5303520" cy="2606040"/>
          </a:xfrm>
          <a:prstGeom prst="roundRect">
            <a:avLst>
              <a:gd name="adj" fmla="val 2105"/>
            </a:avLst>
          </a:prstGeom>
          <a:solidFill>
            <a:srgbClr val="FFFFFF"/>
          </a:solidFill>
          <a:ln w="10160">
            <a:solidFill>
              <a:srgbClr val="D8E6E8"/>
            </a:solidFill>
            <a:prstDash val="solid"/>
          </a:ln>
        </p:spPr>
      </p:sp>
      <p:sp>
        <p:nvSpPr>
          <p:cNvPr id="6" name="Text 4"/>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7" name="Text 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 time: 4-6 minutes</a:t>
            </a:r>
            <a:endParaRPr lang="en-US" sz="950" dirty="0"/>
          </a:p>
        </p:txBody>
      </p:sp>
      <p:sp>
        <p:nvSpPr>
          <p:cNvPr id="8" name="Text 6"/>
          <p:cNvSpPr/>
          <p:nvPr/>
        </p:nvSpPr>
        <p:spPr>
          <a:xfrm>
            <a:off x="6583680" y="1874520"/>
            <a:ext cx="4206240" cy="242316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41/48</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3" name="Text 1"/>
          <p:cNvSpPr/>
          <p:nvPr/>
        </p:nvSpPr>
        <p:spPr>
          <a:xfrm>
            <a:off x="713232" y="1828800"/>
            <a:ext cx="9966960" cy="77724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4" name="Text 2"/>
          <p:cNvSpPr/>
          <p:nvPr/>
        </p:nvSpPr>
        <p:spPr>
          <a:xfrm>
            <a:off x="749808" y="2852928"/>
            <a:ext cx="81381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5" name="Shape 3"/>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5" name="Shape 3"/>
          <p:cNvSpPr/>
          <p:nvPr/>
        </p:nvSpPr>
        <p:spPr>
          <a:xfrm>
            <a:off x="868680" y="1828800"/>
            <a:ext cx="402336" cy="402336"/>
          </a:xfrm>
          <a:prstGeom prst="ellipse">
            <a:avLst/>
          </a:prstGeom>
          <a:solidFill>
            <a:srgbClr val="008F8F"/>
          </a:solidFill>
          <a:ln w="12700">
            <a:solidFill>
              <a:srgbClr val="008F8F"/>
            </a:solidFill>
            <a:prstDash val="solid"/>
          </a:ln>
        </p:spPr>
      </p:sp>
      <p:sp>
        <p:nvSpPr>
          <p:cNvPr id="6" name="Text 4"/>
          <p:cNvSpPr/>
          <p:nvPr/>
        </p:nvSpPr>
        <p:spPr>
          <a:xfrm>
            <a:off x="8686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Text 5"/>
          <p:cNvSpPr/>
          <p:nvPr/>
        </p:nvSpPr>
        <p:spPr>
          <a:xfrm>
            <a:off x="1417320" y="1783080"/>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Draft a client message from these notes: [notes]. Make it concise, warm, and specific.</a:t>
            </a:r>
            <a:endParaRPr lang="en-US" sz="1350" dirty="0"/>
          </a:p>
        </p:txBody>
      </p:sp>
      <p:sp>
        <p:nvSpPr>
          <p:cNvPr id="8" name="Shape 6"/>
          <p:cNvSpPr/>
          <p:nvPr/>
        </p:nvSpPr>
        <p:spPr>
          <a:xfrm>
            <a:off x="868680" y="2487168"/>
            <a:ext cx="402336" cy="402336"/>
          </a:xfrm>
          <a:prstGeom prst="ellipse">
            <a:avLst/>
          </a:prstGeom>
          <a:solidFill>
            <a:srgbClr val="2F80ED"/>
          </a:solidFill>
          <a:ln w="12700">
            <a:solidFill>
              <a:srgbClr val="2F80ED"/>
            </a:solidFill>
            <a:prstDash val="solid"/>
          </a:ln>
        </p:spPr>
      </p:sp>
      <p:sp>
        <p:nvSpPr>
          <p:cNvPr id="9" name="Text 7"/>
          <p:cNvSpPr/>
          <p:nvPr/>
        </p:nvSpPr>
        <p:spPr>
          <a:xfrm>
            <a:off x="868680" y="25786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0" name="Text 8"/>
          <p:cNvSpPr/>
          <p:nvPr/>
        </p:nvSpPr>
        <p:spPr>
          <a:xfrm>
            <a:off x="1417320" y="2441448"/>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Create three versions of this follow-up: text, email, and voicemail.</a:t>
            </a:r>
            <a:endParaRPr lang="en-US" sz="1350" dirty="0"/>
          </a:p>
        </p:txBody>
      </p:sp>
      <p:sp>
        <p:nvSpPr>
          <p:cNvPr id="11" name="Shape 9"/>
          <p:cNvSpPr/>
          <p:nvPr/>
        </p:nvSpPr>
        <p:spPr>
          <a:xfrm>
            <a:off x="868680" y="3145536"/>
            <a:ext cx="402336" cy="402336"/>
          </a:xfrm>
          <a:prstGeom prst="ellipse">
            <a:avLst/>
          </a:prstGeom>
          <a:solidFill>
            <a:srgbClr val="F45B69"/>
          </a:solidFill>
          <a:ln w="12700">
            <a:solidFill>
              <a:srgbClr val="F45B69"/>
            </a:solidFill>
            <a:prstDash val="solid"/>
          </a:ln>
        </p:spPr>
      </p:sp>
      <p:sp>
        <p:nvSpPr>
          <p:cNvPr id="12" name="Text 10"/>
          <p:cNvSpPr/>
          <p:nvPr/>
        </p:nvSpPr>
        <p:spPr>
          <a:xfrm>
            <a:off x="868680" y="323697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3" name="Text 11"/>
          <p:cNvSpPr/>
          <p:nvPr/>
        </p:nvSpPr>
        <p:spPr>
          <a:xfrm>
            <a:off x="1417320" y="3099816"/>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Review this message for accuracy, Fair Housing risk, and claims I should verify.</a:t>
            </a:r>
            <a:endParaRPr lang="en-US" sz="1350" dirty="0"/>
          </a:p>
        </p:txBody>
      </p:sp>
      <p:sp>
        <p:nvSpPr>
          <p:cNvPr id="14" name="Shape 12"/>
          <p:cNvSpPr/>
          <p:nvPr/>
        </p:nvSpPr>
        <p:spPr>
          <a:xfrm>
            <a:off x="868680" y="3803904"/>
            <a:ext cx="402336" cy="402336"/>
          </a:xfrm>
          <a:prstGeom prst="ellipse">
            <a:avLst/>
          </a:prstGeom>
          <a:solidFill>
            <a:srgbClr val="2E7D5B"/>
          </a:solidFill>
          <a:ln w="12700">
            <a:solidFill>
              <a:srgbClr val="2E7D5B"/>
            </a:solidFill>
            <a:prstDash val="solid"/>
          </a:ln>
        </p:spPr>
      </p:sp>
      <p:sp>
        <p:nvSpPr>
          <p:cNvPr id="15" name="Text 13"/>
          <p:cNvSpPr/>
          <p:nvPr/>
        </p:nvSpPr>
        <p:spPr>
          <a:xfrm>
            <a:off x="868680" y="38953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16" name="Text 14"/>
          <p:cNvSpPr/>
          <p:nvPr/>
        </p:nvSpPr>
        <p:spPr>
          <a:xfrm>
            <a:off x="1417320" y="3758184"/>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Turn these verified listing facts into a listing paragraph, social caption, and open house invite.</a:t>
            </a:r>
            <a:endParaRPr lang="en-US" sz="1350" dirty="0"/>
          </a:p>
        </p:txBody>
      </p:sp>
      <p:sp>
        <p:nvSpPr>
          <p:cNvPr id="17" name="Shape 15"/>
          <p:cNvSpPr/>
          <p:nvPr/>
        </p:nvSpPr>
        <p:spPr>
          <a:xfrm>
            <a:off x="868680" y="4462272"/>
            <a:ext cx="402336" cy="402336"/>
          </a:xfrm>
          <a:prstGeom prst="ellipse">
            <a:avLst/>
          </a:prstGeom>
          <a:solidFill>
            <a:srgbClr val="F2B84B"/>
          </a:solidFill>
          <a:ln w="12700">
            <a:solidFill>
              <a:srgbClr val="F2B84B"/>
            </a:solidFill>
            <a:prstDash val="solid"/>
          </a:ln>
        </p:spPr>
      </p:sp>
      <p:sp>
        <p:nvSpPr>
          <p:cNvPr id="18" name="Text 16"/>
          <p:cNvSpPr/>
          <p:nvPr/>
        </p:nvSpPr>
        <p:spPr>
          <a:xfrm>
            <a:off x="868680" y="45537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19" name="Text 17"/>
          <p:cNvSpPr/>
          <p:nvPr/>
        </p:nvSpPr>
        <p:spPr>
          <a:xfrm>
            <a:off x="1417320" y="4416552"/>
            <a:ext cx="9052560" cy="420624"/>
          </a:xfrm>
          <a:prstGeom prst="rect">
            <a:avLst/>
          </a:prstGeom>
          <a:noFill/>
          <a:ln/>
        </p:spPr>
        <p:txBody>
          <a:bodyPr wrap="square" lIns="254" tIns="254" rIns="254" bIns="254" rtlCol="0" anchor="ctr">
            <a:normAutofit/>
          </a:bodyPr>
          <a:lstStyle/>
          <a:p>
            <a:pPr indent="0" marL="0">
              <a:buNone/>
            </a:pPr>
            <a:r>
              <a:rPr lang="en-US" sz="1350" dirty="0">
                <a:solidFill>
                  <a:srgbClr val="102033"/>
                </a:solidFill>
              </a:rPr>
              <a:t>Role-play as [buyer/seller type] and help me practice responding professionally.</a:t>
            </a:r>
            <a:endParaRPr lang="en-US" sz="1350" dirty="0"/>
          </a:p>
        </p:txBody>
      </p:sp>
      <p:sp>
        <p:nvSpPr>
          <p:cNvPr id="20" name="Shape 18"/>
          <p:cNvSpPr/>
          <p:nvPr/>
        </p:nvSpPr>
        <p:spPr>
          <a:xfrm>
            <a:off x="502920" y="6473952"/>
            <a:ext cx="11201400" cy="0"/>
          </a:xfrm>
          <a:prstGeom prst="line">
            <a:avLst/>
          </a:prstGeom>
          <a:noFill/>
          <a:ln w="9525">
            <a:solidFill>
              <a:srgbClr val="D8E6E8"/>
            </a:solidFill>
            <a:prstDash val="solid"/>
          </a:ln>
        </p:spPr>
      </p:sp>
      <p:sp>
        <p:nvSpPr>
          <p:cNvPr id="21" name="Text 1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43/48</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5" name="Text 3"/>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6" name="Shape 4"/>
          <p:cNvSpPr/>
          <p:nvPr/>
        </p:nvSpPr>
        <p:spPr>
          <a:xfrm>
            <a:off x="502920" y="6473952"/>
            <a:ext cx="11201400" cy="0"/>
          </a:xfrm>
          <a:prstGeom prst="line">
            <a:avLst/>
          </a:prstGeom>
          <a:noFill/>
          <a:ln w="9525">
            <a:solidFill>
              <a:srgbClr val="D8E6E8"/>
            </a:solidFill>
            <a:prstDash val="solid"/>
          </a:ln>
        </p:spPr>
      </p:sp>
      <p:sp>
        <p:nvSpPr>
          <p:cNvPr id="7" name="Text 5"/>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8" name="Text 6"/>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44/48</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5" name="Shape 3"/>
          <p:cNvSpPr/>
          <p:nvPr/>
        </p:nvSpPr>
        <p:spPr>
          <a:xfrm>
            <a:off x="731520" y="2331720"/>
            <a:ext cx="402336" cy="402336"/>
          </a:xfrm>
          <a:prstGeom prst="ellipse">
            <a:avLst/>
          </a:prstGeom>
          <a:solidFill>
            <a:srgbClr val="008F8F"/>
          </a:solidFill>
          <a:ln w="12700">
            <a:solidFill>
              <a:srgbClr val="008F8F"/>
            </a:solidFill>
            <a:prstDash val="solid"/>
          </a:ln>
        </p:spPr>
      </p:sp>
      <p:sp>
        <p:nvSpPr>
          <p:cNvPr id="6" name="Text 4"/>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Shape 5"/>
          <p:cNvSpPr/>
          <p:nvPr/>
        </p:nvSpPr>
        <p:spPr>
          <a:xfrm>
            <a:off x="1143000" y="2532888"/>
            <a:ext cx="1115568" cy="0"/>
          </a:xfrm>
          <a:prstGeom prst="line">
            <a:avLst/>
          </a:prstGeom>
          <a:noFill/>
          <a:ln w="17780">
            <a:solidFill>
              <a:srgbClr val="D8E6E8"/>
            </a:solidFill>
            <a:prstDash val="solid"/>
            <a:tailEnd type="triangle"/>
          </a:ln>
        </p:spPr>
      </p:sp>
      <p:sp>
        <p:nvSpPr>
          <p:cNvPr id="8" name="Text 6"/>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9" name="Shape 7"/>
          <p:cNvSpPr/>
          <p:nvPr/>
        </p:nvSpPr>
        <p:spPr>
          <a:xfrm>
            <a:off x="2788920" y="2331720"/>
            <a:ext cx="402336" cy="402336"/>
          </a:xfrm>
          <a:prstGeom prst="ellipse">
            <a:avLst/>
          </a:prstGeom>
          <a:solidFill>
            <a:srgbClr val="2F80ED"/>
          </a:solidFill>
          <a:ln w="12700">
            <a:solidFill>
              <a:srgbClr val="2F80ED"/>
            </a:solidFill>
            <a:prstDash val="solid"/>
          </a:ln>
        </p:spPr>
      </p:sp>
      <p:sp>
        <p:nvSpPr>
          <p:cNvPr id="10" name="Text 8"/>
          <p:cNvSpPr/>
          <p:nvPr/>
        </p:nvSpPr>
        <p:spPr>
          <a:xfrm>
            <a:off x="27889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1" name="Shape 9"/>
          <p:cNvSpPr/>
          <p:nvPr/>
        </p:nvSpPr>
        <p:spPr>
          <a:xfrm>
            <a:off x="3200400" y="2532888"/>
            <a:ext cx="1115568" cy="0"/>
          </a:xfrm>
          <a:prstGeom prst="line">
            <a:avLst/>
          </a:prstGeom>
          <a:noFill/>
          <a:ln w="17780">
            <a:solidFill>
              <a:srgbClr val="D8E6E8"/>
            </a:solidFill>
            <a:prstDash val="solid"/>
            <a:tailEnd type="triangle"/>
          </a:ln>
        </p:spPr>
      </p:sp>
      <p:sp>
        <p:nvSpPr>
          <p:cNvPr id="12" name="Text 10"/>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3" name="Shape 11"/>
          <p:cNvSpPr/>
          <p:nvPr/>
        </p:nvSpPr>
        <p:spPr>
          <a:xfrm>
            <a:off x="4846320" y="2331720"/>
            <a:ext cx="402336" cy="402336"/>
          </a:xfrm>
          <a:prstGeom prst="ellipse">
            <a:avLst/>
          </a:prstGeom>
          <a:solidFill>
            <a:srgbClr val="F45B69"/>
          </a:solidFill>
          <a:ln w="12700">
            <a:solidFill>
              <a:srgbClr val="F45B69"/>
            </a:solidFill>
            <a:prstDash val="solid"/>
          </a:ln>
        </p:spPr>
      </p:sp>
      <p:sp>
        <p:nvSpPr>
          <p:cNvPr id="14" name="Text 12"/>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15" name="Shape 13"/>
          <p:cNvSpPr/>
          <p:nvPr/>
        </p:nvSpPr>
        <p:spPr>
          <a:xfrm>
            <a:off x="5257800" y="2532888"/>
            <a:ext cx="1115568" cy="0"/>
          </a:xfrm>
          <a:prstGeom prst="line">
            <a:avLst/>
          </a:prstGeom>
          <a:noFill/>
          <a:ln w="17780">
            <a:solidFill>
              <a:srgbClr val="D8E6E8"/>
            </a:solidFill>
            <a:prstDash val="solid"/>
            <a:tailEnd type="triangle"/>
          </a:ln>
        </p:spPr>
      </p:sp>
      <p:sp>
        <p:nvSpPr>
          <p:cNvPr id="16" name="Text 14"/>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17" name="Shape 15"/>
          <p:cNvSpPr/>
          <p:nvPr/>
        </p:nvSpPr>
        <p:spPr>
          <a:xfrm>
            <a:off x="6903720" y="2331720"/>
            <a:ext cx="402336" cy="402336"/>
          </a:xfrm>
          <a:prstGeom prst="ellipse">
            <a:avLst/>
          </a:prstGeom>
          <a:solidFill>
            <a:srgbClr val="2E7D5B"/>
          </a:solidFill>
          <a:ln w="12700">
            <a:solidFill>
              <a:srgbClr val="2E7D5B"/>
            </a:solidFill>
            <a:prstDash val="solid"/>
          </a:ln>
        </p:spPr>
      </p:sp>
      <p:sp>
        <p:nvSpPr>
          <p:cNvPr id="18" name="Text 16"/>
          <p:cNvSpPr/>
          <p:nvPr/>
        </p:nvSpPr>
        <p:spPr>
          <a:xfrm>
            <a:off x="69037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19" name="Shape 17"/>
          <p:cNvSpPr/>
          <p:nvPr/>
        </p:nvSpPr>
        <p:spPr>
          <a:xfrm>
            <a:off x="7315200" y="2532888"/>
            <a:ext cx="1115568" cy="0"/>
          </a:xfrm>
          <a:prstGeom prst="line">
            <a:avLst/>
          </a:prstGeom>
          <a:noFill/>
          <a:ln w="17780">
            <a:solidFill>
              <a:srgbClr val="D8E6E8"/>
            </a:solidFill>
            <a:prstDash val="solid"/>
            <a:tailEnd type="triangle"/>
          </a:ln>
        </p:spPr>
      </p:sp>
      <p:sp>
        <p:nvSpPr>
          <p:cNvPr id="20" name="Text 18"/>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1" name="Shape 19"/>
          <p:cNvSpPr/>
          <p:nvPr/>
        </p:nvSpPr>
        <p:spPr>
          <a:xfrm>
            <a:off x="8961120" y="2331720"/>
            <a:ext cx="402336" cy="402336"/>
          </a:xfrm>
          <a:prstGeom prst="ellipse">
            <a:avLst/>
          </a:prstGeom>
          <a:solidFill>
            <a:srgbClr val="F2B84B"/>
          </a:solidFill>
          <a:ln w="12700">
            <a:solidFill>
              <a:srgbClr val="F2B84B"/>
            </a:solidFill>
            <a:prstDash val="solid"/>
          </a:ln>
        </p:spPr>
      </p:sp>
      <p:sp>
        <p:nvSpPr>
          <p:cNvPr id="22" name="Text 20"/>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3" name="Text 21"/>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24" name="Shape 22"/>
          <p:cNvSpPr/>
          <p:nvPr/>
        </p:nvSpPr>
        <p:spPr>
          <a:xfrm>
            <a:off x="502920" y="6473952"/>
            <a:ext cx="11201400" cy="0"/>
          </a:xfrm>
          <a:prstGeom prst="line">
            <a:avLst/>
          </a:prstGeom>
          <a:noFill/>
          <a:ln w="9525">
            <a:solidFill>
              <a:srgbClr val="D8E6E8"/>
            </a:solidFill>
            <a:prstDash val="solid"/>
          </a:ln>
        </p:spPr>
      </p:sp>
      <p:sp>
        <p:nvSpPr>
          <p:cNvPr id="25" name="Text 2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6" name="Text 2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45/48</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6" name="Shape 4"/>
          <p:cNvSpPr/>
          <p:nvPr/>
        </p:nvSpPr>
        <p:spPr>
          <a:xfrm>
            <a:off x="7726680" y="1847088"/>
            <a:ext cx="2971800" cy="2606040"/>
          </a:xfrm>
          <a:prstGeom prst="roundRect">
            <a:avLst>
              <a:gd name="adj" fmla="val 2105"/>
            </a:avLst>
          </a:prstGeom>
          <a:solidFill>
            <a:srgbClr val="EAF7F7"/>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Practical course rule</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Use AI where it reduces friction, then review before clients see it.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46/48</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5" name="Text 3"/>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6" name="Shape 4"/>
          <p:cNvSpPr/>
          <p:nvPr/>
        </p:nvSpPr>
        <p:spPr>
          <a:xfrm>
            <a:off x="7726680" y="1847088"/>
            <a:ext cx="2971800" cy="2606040"/>
          </a:xfrm>
          <a:prstGeom prst="roundRect">
            <a:avLst>
              <a:gd name="adj" fmla="val 2105"/>
            </a:avLst>
          </a:prstGeom>
          <a:solidFill>
            <a:srgbClr val="FFF0EF"/>
          </a:solidFill>
          <a:ln w="10160">
            <a:solidFill>
              <a:srgbClr val="D8E6E8"/>
            </a:solidFill>
            <a:prstDash val="solid"/>
          </a:ln>
        </p:spPr>
      </p:sp>
      <p:sp>
        <p:nvSpPr>
          <p:cNvPr id="7" name="Text 5"/>
          <p:cNvSpPr/>
          <p:nvPr/>
        </p:nvSpPr>
        <p:spPr>
          <a:xfrm>
            <a:off x="8001000" y="2148840"/>
            <a:ext cx="2423160" cy="438912"/>
          </a:xfrm>
          <a:prstGeom prst="rect">
            <a:avLst/>
          </a:prstGeom>
          <a:noFill/>
          <a:ln/>
        </p:spPr>
        <p:txBody>
          <a:bodyPr wrap="square" lIns="0" tIns="0" rIns="0" bIns="0" rtlCol="0" anchor="ctr">
            <a:normAutofit/>
          </a:bodyPr>
          <a:lstStyle/>
          <a:p>
            <a:pPr indent="0" marL="0">
              <a:buNone/>
            </a:pPr>
            <a:r>
              <a:rPr lang="en-US" sz="1800" b="1" dirty="0">
                <a:solidFill>
                  <a:srgbClr val="16324F"/>
                </a:solidFill>
              </a:rPr>
              <a:t>Professional judgment stays in the loop.</a:t>
            </a:r>
            <a:endParaRPr lang="en-US" sz="1800" dirty="0"/>
          </a:p>
        </p:txBody>
      </p:sp>
      <p:sp>
        <p:nvSpPr>
          <p:cNvPr id="8" name="Text 6"/>
          <p:cNvSpPr/>
          <p:nvPr/>
        </p:nvSpPr>
        <p:spPr>
          <a:xfrm>
            <a:off x="8001000" y="2834640"/>
            <a:ext cx="2286000" cy="914400"/>
          </a:xfrm>
          <a:prstGeom prst="rect">
            <a:avLst/>
          </a:prstGeom>
          <a:noFill/>
          <a:ln/>
        </p:spPr>
        <p:txBody>
          <a:bodyPr wrap="square" lIns="635" tIns="635" rIns="635" bIns="635" rtlCol="0" anchor="ctr">
            <a:normAutofit/>
          </a:bodyPr>
          <a:lstStyle/>
          <a:p>
            <a:pPr indent="0" marL="0">
              <a:buNone/>
            </a:pPr>
            <a:r>
              <a:rPr lang="en-US" sz="1260" dirty="0">
                <a:solidFill>
                  <a:srgbClr val="102033"/>
                </a:solidFill>
              </a:rPr>
              <a:t>Verify, review, and follow applicable rules before using AI output.</a:t>
            </a:r>
            <a:endParaRPr lang="en-US" sz="1260" dirty="0"/>
          </a:p>
        </p:txBody>
      </p:sp>
      <p:sp>
        <p:nvSpPr>
          <p:cNvPr id="9" name="Shape 7"/>
          <p:cNvSpPr/>
          <p:nvPr/>
        </p:nvSpPr>
        <p:spPr>
          <a:xfrm>
            <a:off x="502920" y="6473952"/>
            <a:ext cx="11201400" cy="0"/>
          </a:xfrm>
          <a:prstGeom prst="line">
            <a:avLst/>
          </a:prstGeom>
          <a:noFill/>
          <a:ln w="9525">
            <a:solidFill>
              <a:srgbClr val="D8E6E8"/>
            </a:solidFill>
            <a:prstDash val="solid"/>
          </a:ln>
        </p:spPr>
      </p:sp>
      <p:sp>
        <p:nvSpPr>
          <p:cNvPr id="10" name="Text 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1" name="Text 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47/48</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658368" y="438912"/>
            <a:ext cx="109728" cy="256032"/>
          </a:xfrm>
          <a:prstGeom prst="rect">
            <a:avLst/>
          </a:prstGeom>
          <a:solidFill>
            <a:srgbClr val="008F8F"/>
          </a:solidFill>
          <a:ln w="12700">
            <a:solidFill>
              <a:srgbClr val="008F8F"/>
            </a:solidFill>
            <a:prstDash val="solid"/>
          </a:ln>
        </p:spPr>
      </p:sp>
      <p:sp>
        <p:nvSpPr>
          <p:cNvPr id="3" name="Text 1"/>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4" name="Text 2"/>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5" name="Text 3"/>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6" name="Shape 4"/>
          <p:cNvSpPr/>
          <p:nvPr/>
        </p:nvSpPr>
        <p:spPr>
          <a:xfrm>
            <a:off x="694944" y="3273552"/>
            <a:ext cx="1828800" cy="0"/>
          </a:xfrm>
          <a:prstGeom prst="line">
            <a:avLst/>
          </a:prstGeom>
          <a:noFill/>
          <a:ln w="50800">
            <a:solidFill>
              <a:srgbClr val="F45B69"/>
            </a:solidFill>
            <a:prstDash val="solid"/>
          </a:ln>
        </p:spPr>
      </p:sp>
      <p:sp>
        <p:nvSpPr>
          <p:cNvPr id="7" name="Text 5"/>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8" name="Shape 6"/>
          <p:cNvSpPr/>
          <p:nvPr/>
        </p:nvSpPr>
        <p:spPr>
          <a:xfrm>
            <a:off x="502920" y="6473952"/>
            <a:ext cx="11201400" cy="0"/>
          </a:xfrm>
          <a:prstGeom prst="line">
            <a:avLst/>
          </a:prstGeom>
          <a:noFill/>
          <a:ln w="9525">
            <a:solidFill>
              <a:srgbClr val="D8E6E8"/>
            </a:solidFill>
            <a:prstDash val="solid"/>
          </a:ln>
        </p:spPr>
      </p:sp>
      <p:sp>
        <p:nvSpPr>
          <p:cNvPr id="9" name="Text 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0" name="Text 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48/48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2026-05-27T22:04:08Z</dcterms:created>
  <dcterms:modified xsi:type="dcterms:W3CDTF">2026-05-27T22:04:08Z</dcterms:modified>
</cp:coreProperties>
</file>