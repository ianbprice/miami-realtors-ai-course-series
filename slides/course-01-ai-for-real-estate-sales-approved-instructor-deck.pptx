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 and vendor-neutral.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instructor context brief. Mention GoHouse.ai only as professional background, not as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Ian Burton Price is a REALTOR with Dalton Wade Real Estate Group and serves as V.P. of Growth and Partnerships at GoHouse.ai. His work focuses on practical AI adoption, buyer-intent intelligence, lead follow-up, agent productivity, and business development within the real estate industry.
Ian brings experience across real estate sales, online lead generation, call systems, CRM-adjacent workflows, automation, and client communication systems. His teaching approach is practical and workflow-driven, helping agents understand how AI can support everyday tasks such as follow-up, listing preparation, client updates, appointment preparation, and business operations.
Rather than treating AI as a replacement for professional judgment, Ian emphasizes responsible use, human review, privacy awareness, Fair Housing sensitivity, and brokerage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approved learning objectives, rewritten for a live workshop slide. The full formal objectives remain preserved in the approved syllabus and can be referenced verbally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timing as the approved two-hour path. The segments total 120 minutes. Exercises may expand or compress slightly, but keep the overall class within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formula becomes a usable prompt. Keep the prompt readable and emphasize role, task, context, tone, constraints, and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chat per client, property, or workflow when context matters. Use separate chats when topics, clients, or confidential contexts should not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 referral, social media lead, and sign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 Different lead sources need different first responses because the relationship context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 This is a sample lead created for classroom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 Add appointments per 100 leads as an optional metric for teams or brokers.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 MLS information still requires human review because MLS data is entered by people and can contain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language, exaggerated claims, or unsupported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agents to preserve a clean source facts block manually in the same chat or notes. Do not claim AI memory is reliable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that this is an objection-practice example, not a rate prediction slide. 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chat per client, property, or workflow when context matters. Use separate chats when topics, clients, or confidential contexts should not mix. Encourage attendees to customize the bracketed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AI output repeatable, save the prompt, the verified fact block, the tone instruction, the final reviewed version, and the reason it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course provides general education, not legal, financial, brokerage, MLS, or Fair Housing advice. Point attendees to brokerage AI policies, Fair Housing and advertising guidance, MLS rules, and appropriate professionals when needed. Close on action, not a generic thank-you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Shape 4"/>
          <p:cNvSpPr/>
          <p:nvPr/>
        </p:nvSpPr>
        <p:spPr>
          <a:xfrm>
            <a:off x="7178040" y="2148840"/>
            <a:ext cx="2880360" cy="1874520"/>
          </a:xfrm>
          <a:prstGeom prst="roundRect">
            <a:avLst>
              <a:gd name="adj" fmla="val 2927"/>
            </a:avLst>
          </a:prstGeom>
          <a:solidFill>
            <a:srgbClr val="1E4768">
              <a:alpha val="82000"/>
            </a:srgbClr>
          </a:solidFill>
          <a:ln w="12700">
            <a:solidFill>
              <a:srgbClr val="5FBDBD">
                <a:alpha val="55000"/>
              </a:srgbClr>
            </a:solidFill>
            <a:prstDash val="solid"/>
          </a:ln>
        </p:spPr>
      </p:sp>
      <p:sp>
        <p:nvSpPr>
          <p:cNvPr id="7" name="Text 5"/>
          <p:cNvSpPr/>
          <p:nvPr/>
        </p:nvSpPr>
        <p:spPr>
          <a:xfrm>
            <a:off x="7479792" y="2487168"/>
            <a:ext cx="2286000" cy="182880"/>
          </a:xfrm>
          <a:prstGeom prst="rect">
            <a:avLst/>
          </a:prstGeom>
          <a:noFill/>
          <a:ln/>
        </p:spPr>
        <p:txBody>
          <a:bodyPr wrap="square" lIns="0" tIns="0" rIns="0" bIns="0" rtlCol="0" anchor="ctr"/>
          <a:lstStyle/>
          <a:p>
            <a:pPr indent="0" marL="0">
              <a:buNone/>
            </a:pPr>
            <a:r>
              <a:rPr lang="en-US" sz="1050" b="1" dirty="0">
                <a:solidFill>
                  <a:srgbClr val="F2B84B"/>
                </a:solidFill>
              </a:rPr>
              <a:t>Practical workshop focus</a:t>
            </a:r>
            <a:endParaRPr lang="en-US" sz="1050" dirty="0"/>
          </a:p>
        </p:txBody>
      </p:sp>
      <p:sp>
        <p:nvSpPr>
          <p:cNvPr id="8" name="Text 6"/>
          <p:cNvSpPr/>
          <p:nvPr/>
        </p:nvSpPr>
        <p:spPr>
          <a:xfrm>
            <a:off x="7479792" y="2788920"/>
            <a:ext cx="2240280" cy="713232"/>
          </a:xfrm>
          <a:prstGeom prst="rect">
            <a:avLst/>
          </a:prstGeom>
          <a:noFill/>
          <a:ln/>
        </p:spPr>
        <p:txBody>
          <a:bodyPr wrap="square" lIns="254" tIns="254" rIns="254" bIns="254" rtlCol="0" anchor="ctr">
            <a:normAutofit/>
          </a:bodyPr>
          <a:lstStyle/>
          <a:p>
            <a:pPr indent="0" marL="0">
              <a:buNone/>
            </a:pPr>
            <a:r>
              <a:rPr lang="en-US" sz="1220" dirty="0">
                <a:solidFill>
                  <a:srgbClr val="D7EDEE"/>
                </a:solidFill>
              </a:rPr>
              <a:t>Client messages</a:t>
            </a:r>
            <a:endParaRPr lang="en-US" sz="1220" dirty="0"/>
          </a:p>
          <a:p>
            <a:pPr indent="0" marL="0">
              <a:buNone/>
            </a:pPr>
            <a:r>
              <a:rPr lang="en-US" sz="1220" dirty="0">
                <a:solidFill>
                  <a:srgbClr val="D7EDEE"/>
                </a:solidFill>
              </a:rPr>
              <a:t>Lead follow-up</a:t>
            </a:r>
            <a:endParaRPr lang="en-US" sz="1220" dirty="0"/>
          </a:p>
          <a:p>
            <a:pPr indent="0" marL="0">
              <a:buNone/>
            </a:pPr>
            <a:r>
              <a:rPr lang="en-US" sz="1220" dirty="0">
                <a:solidFill>
                  <a:srgbClr val="D7EDEE"/>
                </a:solidFill>
              </a:rPr>
              <a:t>Listing prep</a:t>
            </a:r>
            <a:endParaRPr lang="en-US" sz="1220" dirty="0"/>
          </a:p>
          <a:p>
            <a:pPr indent="0" marL="0">
              <a:buNone/>
            </a:pPr>
            <a:r>
              <a:rPr lang="en-US" sz="1220" dirty="0">
                <a:solidFill>
                  <a:srgbClr val="D7EDEE"/>
                </a:solidFill>
              </a:rPr>
              <a:t>Appointment prep</a:t>
            </a:r>
            <a:endParaRPr lang="en-US" sz="1220" dirty="0"/>
          </a:p>
        </p:txBody>
      </p:sp>
      <p:sp>
        <p:nvSpPr>
          <p:cNvPr id="9" name="Text 7"/>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10" name="Text 8"/>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11" name="Text 9"/>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2" name="Shape 10"/>
          <p:cNvSpPr/>
          <p:nvPr/>
        </p:nvSpPr>
        <p:spPr>
          <a:xfrm>
            <a:off x="749808" y="3054096"/>
            <a:ext cx="2011680" cy="0"/>
          </a:xfrm>
          <a:prstGeom prst="line">
            <a:avLst/>
          </a:prstGeom>
          <a:noFill/>
          <a:ln w="50800">
            <a:solidFill>
              <a:srgbClr val="F45B69"/>
            </a:solidFill>
            <a:prstDash val="solid"/>
          </a:ln>
        </p:spPr>
      </p:sp>
      <p:sp>
        <p:nvSpPr>
          <p:cNvPr id="13" name="Shape 11"/>
          <p:cNvSpPr/>
          <p:nvPr/>
        </p:nvSpPr>
        <p:spPr>
          <a:xfrm>
            <a:off x="749808" y="3346704"/>
            <a:ext cx="1572768" cy="310896"/>
          </a:xfrm>
          <a:prstGeom prst="roundRect">
            <a:avLst>
              <a:gd name="adj" fmla="val 11765"/>
            </a:avLst>
          </a:prstGeom>
          <a:solidFill>
            <a:srgbClr val="008F8F"/>
          </a:solidFill>
          <a:ln w="12700">
            <a:solidFill>
              <a:srgbClr val="008F8F"/>
            </a:solidFill>
            <a:prstDash val="solid"/>
          </a:ln>
        </p:spPr>
      </p:sp>
      <p:sp>
        <p:nvSpPr>
          <p:cNvPr id="14" name="Text 12"/>
          <p:cNvSpPr/>
          <p:nvPr/>
        </p:nvSpPr>
        <p:spPr>
          <a:xfrm>
            <a:off x="877824" y="34335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5" name="Text 13"/>
          <p:cNvSpPr/>
          <p:nvPr/>
        </p:nvSpPr>
        <p:spPr>
          <a:xfrm>
            <a:off x="2487168" y="3401568"/>
            <a:ext cx="4023360" cy="146304"/>
          </a:xfrm>
          <a:prstGeom prst="rect">
            <a:avLst/>
          </a:prstGeom>
          <a:noFill/>
          <a:ln/>
        </p:spPr>
        <p:txBody>
          <a:bodyPr wrap="square" lIns="0" tIns="0" rIns="0" bIns="0" rtlCol="0" anchor="ctr"/>
          <a:lstStyle/>
          <a:p>
            <a:pPr indent="0" marL="0">
              <a:buNone/>
            </a:pPr>
            <a:r>
              <a:rPr lang="en-US" sz="1030" b="1" dirty="0">
                <a:solidFill>
                  <a:srgbClr val="D7EDEE"/>
                </a:solidFill>
              </a:rPr>
              <a:t>Presented by Ian Burton Price | GoHouse.ai</a:t>
            </a:r>
            <a:endParaRPr lang="en-US" sz="1030" dirty="0"/>
          </a:p>
        </p:txBody>
      </p:sp>
      <p:sp>
        <p:nvSpPr>
          <p:cNvPr id="16" name="Shape 14"/>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17" name="Image 0" descr="C:\Users\TR4_1950X\Documents\New project\assets\brand\miami-realtors-rworld-combined-logo.png">    </p:cNvPr>
          <p:cNvPicPr>
            <a:picLocks noChangeAspect="1"/>
          </p:cNvPicPr>
          <p:nvPr/>
        </p:nvPicPr>
        <p:blipFill>
          <a:blip r:embed="rId1"/>
          <a:stretch>
            <a:fillRect/>
          </a:stretch>
        </p:blipFill>
        <p:spPr>
          <a:xfrm>
            <a:off x="749808" y="4315968"/>
            <a:ext cx="3988979" cy="599846"/>
          </a:xfrm>
          <a:prstGeom prst="rect">
            <a:avLst/>
          </a:prstGeom>
        </p:spPr>
      </p:pic>
      <p:sp>
        <p:nvSpPr>
          <p:cNvPr id="18" name="Text 15"/>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19" name="Text 16"/>
          <p:cNvSpPr/>
          <p:nvPr/>
        </p:nvSpPr>
        <p:spPr>
          <a:xfrm>
            <a:off x="749808" y="5760720"/>
            <a:ext cx="4937760" cy="201168"/>
          </a:xfrm>
          <a:prstGeom prst="rect">
            <a:avLst/>
          </a:prstGeom>
          <a:noFill/>
          <a:ln/>
        </p:spPr>
        <p:txBody>
          <a:bodyPr wrap="square" lIns="0" tIns="0" rIns="0" bIns="0" rtlCol="0" anchor="ctr"/>
          <a:lstStyle/>
          <a:p>
            <a:pPr indent="0" marL="0">
              <a:buNone/>
            </a:pPr>
            <a:r>
              <a:rPr lang="en-US" sz="950" dirty="0">
                <a:solidFill>
                  <a:srgbClr val="AFC8CF"/>
                </a:solidFill>
              </a:rPr>
              <a:t>Practical AI Training for Real Estate Professionals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sz="166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Workshop point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Connect the idea to a real client, lead, listing, or daily workflow.</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2/46</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ABOUT THE 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About the Instructor</a:t>
            </a:r>
            <a:endParaRPr lang="en-US" sz="3000" dirty="0"/>
          </a:p>
        </p:txBody>
      </p:sp>
      <p:sp>
        <p:nvSpPr>
          <p:cNvPr id="11" name="Shape 9"/>
          <p:cNvSpPr/>
          <p:nvPr/>
        </p:nvSpPr>
        <p:spPr>
          <a:xfrm>
            <a:off x="868680" y="1828800"/>
            <a:ext cx="4800600" cy="3520440"/>
          </a:xfrm>
          <a:prstGeom prst="roundRect">
            <a:avLst>
              <a:gd name="adj" fmla="val 1558"/>
            </a:avLst>
          </a:prstGeom>
          <a:solidFill>
            <a:srgbClr val="FFFFFF"/>
          </a:solidFill>
          <a:ln w="10160">
            <a:solidFill>
              <a:srgbClr val="D8E6E8"/>
            </a:solidFill>
            <a:prstDash val="solid"/>
          </a:ln>
        </p:spPr>
      </p:sp>
      <p:sp>
        <p:nvSpPr>
          <p:cNvPr id="12" name="Text 10"/>
          <p:cNvSpPr/>
          <p:nvPr/>
        </p:nvSpPr>
        <p:spPr>
          <a:xfrm>
            <a:off x="1170432" y="2084832"/>
            <a:ext cx="1280160" cy="164592"/>
          </a:xfrm>
          <a:prstGeom prst="rect">
            <a:avLst/>
          </a:prstGeom>
          <a:noFill/>
          <a:ln/>
        </p:spPr>
        <p:txBody>
          <a:bodyPr wrap="square" lIns="0" tIns="0" rIns="0" bIns="0" rtlCol="0" anchor="ctr"/>
          <a:lstStyle/>
          <a:p>
            <a:pPr indent="0" marL="0">
              <a:buNone/>
            </a:pPr>
            <a:r>
              <a:rPr lang="en-US" sz="950" b="1" dirty="0">
                <a:solidFill>
                  <a:srgbClr val="008F8F"/>
                </a:solidFill>
              </a:rPr>
              <a:t>Instructor</a:t>
            </a:r>
            <a:endParaRPr lang="en-US" sz="950" dirty="0"/>
          </a:p>
        </p:txBody>
      </p:sp>
      <p:sp>
        <p:nvSpPr>
          <p:cNvPr id="13" name="Text 11"/>
          <p:cNvSpPr/>
          <p:nvPr/>
        </p:nvSpPr>
        <p:spPr>
          <a:xfrm>
            <a:off x="1170432" y="2395728"/>
            <a:ext cx="4160520" cy="347472"/>
          </a:xfrm>
          <a:prstGeom prst="rect">
            <a:avLst/>
          </a:prstGeom>
          <a:noFill/>
          <a:ln/>
        </p:spPr>
        <p:txBody>
          <a:bodyPr wrap="square" lIns="0" tIns="0" rIns="0" bIns="0" rtlCol="0" anchor="ctr">
            <a:normAutofit/>
          </a:bodyPr>
          <a:lstStyle/>
          <a:p>
            <a:pPr indent="0" marL="0">
              <a:buNone/>
            </a:pPr>
            <a:r>
              <a:rPr lang="en-US" sz="2200" b="1" dirty="0">
                <a:solidFill>
                  <a:srgbClr val="16324F"/>
                </a:solidFill>
              </a:rPr>
              <a:t>Ian Burton Price</a:t>
            </a:r>
            <a:endParaRPr lang="en-US" sz="2200" dirty="0"/>
          </a:p>
        </p:txBody>
      </p:sp>
      <p:sp>
        <p:nvSpPr>
          <p:cNvPr id="14" name="Text 12"/>
          <p:cNvSpPr/>
          <p:nvPr/>
        </p:nvSpPr>
        <p:spPr>
          <a:xfrm>
            <a:off x="1170432" y="2816352"/>
            <a:ext cx="4160520" cy="274320"/>
          </a:xfrm>
          <a:prstGeom prst="rect">
            <a:avLst/>
          </a:prstGeom>
          <a:noFill/>
          <a:ln/>
        </p:spPr>
        <p:txBody>
          <a:bodyPr wrap="square" lIns="0" tIns="0" rIns="0" bIns="0" rtlCol="0" anchor="ctr">
            <a:normAutofit/>
          </a:bodyPr>
          <a:lstStyle/>
          <a:p>
            <a:pPr indent="0" marL="0">
              <a:buNone/>
            </a:pPr>
            <a:r>
              <a:rPr lang="en-US" sz="1280" dirty="0">
                <a:solidFill>
                  <a:srgbClr val="52606D"/>
                </a:solidFill>
              </a:rPr>
              <a:t>REALTOR® | Dalton Wade Real Estate Group</a:t>
            </a:r>
            <a:endParaRPr lang="en-US" sz="1280" dirty="0"/>
          </a:p>
          <a:p>
            <a:pPr indent="0" marL="0">
              <a:buNone/>
            </a:pPr>
            <a:r>
              <a:rPr lang="en-US" sz="1280" dirty="0">
                <a:solidFill>
                  <a:srgbClr val="52606D"/>
                </a:solidFill>
              </a:rPr>
              <a:t>V.P. of Growth and Partnerships | GoHouse.ai</a:t>
            </a:r>
            <a:endParaRPr lang="en-US" sz="1280" dirty="0"/>
          </a:p>
        </p:txBody>
      </p:sp>
      <p:sp>
        <p:nvSpPr>
          <p:cNvPr id="15" name="Shape 13"/>
          <p:cNvSpPr/>
          <p:nvPr/>
        </p:nvSpPr>
        <p:spPr>
          <a:xfrm>
            <a:off x="1170432" y="3291840"/>
            <a:ext cx="1234440" cy="0"/>
          </a:xfrm>
          <a:prstGeom prst="line">
            <a:avLst/>
          </a:prstGeom>
          <a:noFill/>
          <a:ln w="38100">
            <a:solidFill>
              <a:srgbClr val="F45B69"/>
            </a:solidFill>
            <a:prstDash val="solid"/>
          </a:ln>
        </p:spPr>
      </p:sp>
      <p:sp>
        <p:nvSpPr>
          <p:cNvPr id="16" name="Text 14"/>
          <p:cNvSpPr/>
          <p:nvPr/>
        </p:nvSpPr>
        <p:spPr>
          <a:xfrm>
            <a:off x="1170432" y="3566160"/>
            <a:ext cx="4069080" cy="1170432"/>
          </a:xfrm>
          <a:prstGeom prst="rect">
            <a:avLst/>
          </a:prstGeom>
          <a:noFill/>
          <a:ln/>
        </p:spPr>
        <p:txBody>
          <a:bodyPr wrap="square" lIns="254" tIns="254" rIns="254" bIns="254" rtlCol="0" anchor="ctr">
            <a:normAutofit/>
          </a:bodyPr>
          <a:lstStyle/>
          <a:p>
            <a:pPr indent="0" marL="0">
              <a:buNone/>
            </a:pPr>
            <a:r>
              <a:rPr lang="en-US" sz="117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170" dirty="0"/>
          </a:p>
        </p:txBody>
      </p:sp>
      <p:sp>
        <p:nvSpPr>
          <p:cNvPr id="17" name="Shape 15"/>
          <p:cNvSpPr/>
          <p:nvPr/>
        </p:nvSpPr>
        <p:spPr>
          <a:xfrm>
            <a:off x="6172200" y="1737360"/>
            <a:ext cx="128016" cy="3657600"/>
          </a:xfrm>
          <a:prstGeom prst="rect">
            <a:avLst/>
          </a:prstGeom>
          <a:solidFill>
            <a:srgbClr val="008F8F"/>
          </a:solidFill>
          <a:ln w="12700">
            <a:solidFill>
              <a:srgbClr val="008F8F"/>
            </a:solidFill>
            <a:prstDash val="solid"/>
          </a:ln>
        </p:spPr>
      </p:sp>
      <p:sp>
        <p:nvSpPr>
          <p:cNvPr id="18" name="Shape 16"/>
          <p:cNvSpPr/>
          <p:nvPr/>
        </p:nvSpPr>
        <p:spPr>
          <a:xfrm>
            <a:off x="6309360" y="1828800"/>
            <a:ext cx="4434840" cy="3520440"/>
          </a:xfrm>
          <a:prstGeom prst="roundRect">
            <a:avLst>
              <a:gd name="adj" fmla="val 1558"/>
            </a:avLst>
          </a:prstGeom>
          <a:solidFill>
            <a:srgbClr val="EAF7F7"/>
          </a:solidFill>
          <a:ln w="10160">
            <a:solidFill>
              <a:srgbClr val="BFDADC"/>
            </a:solidFill>
            <a:prstDash val="solid"/>
          </a:ln>
        </p:spPr>
      </p:sp>
      <p:sp>
        <p:nvSpPr>
          <p:cNvPr id="19" name="Text 17"/>
          <p:cNvSpPr/>
          <p:nvPr/>
        </p:nvSpPr>
        <p:spPr>
          <a:xfrm>
            <a:off x="6629400" y="2130552"/>
            <a:ext cx="3017520" cy="347472"/>
          </a:xfrm>
          <a:prstGeom prst="rect">
            <a:avLst/>
          </a:prstGeom>
          <a:noFill/>
          <a:ln/>
        </p:spPr>
        <p:txBody>
          <a:bodyPr wrap="square" lIns="0" tIns="0" rIns="0" bIns="0" rtlCol="0" anchor="ctr"/>
          <a:lstStyle/>
          <a:p>
            <a:pPr indent="0" marL="0">
              <a:buNone/>
            </a:pPr>
            <a:r>
              <a:rPr lang="en-US" sz="2200" b="1" dirty="0">
                <a:solidFill>
                  <a:srgbClr val="16324F"/>
                </a:solidFill>
              </a:rPr>
              <a:t>Teaching Focus:</a:t>
            </a:r>
            <a:endParaRPr lang="en-US" sz="2200" dirty="0"/>
          </a:p>
        </p:txBody>
      </p:sp>
      <p:sp>
        <p:nvSpPr>
          <p:cNvPr id="20" name="Text 18"/>
          <p:cNvSpPr/>
          <p:nvPr/>
        </p:nvSpPr>
        <p:spPr>
          <a:xfrm>
            <a:off x="6629400" y="2788920"/>
            <a:ext cx="3520440" cy="749808"/>
          </a:xfrm>
          <a:prstGeom prst="rect">
            <a:avLst/>
          </a:prstGeom>
          <a:noFill/>
          <a:ln/>
        </p:spPr>
        <p:txBody>
          <a:bodyPr wrap="square" lIns="254" tIns="254" rIns="254" bIns="254" rtlCol="0" anchor="ctr">
            <a:normAutofit/>
          </a:bodyPr>
          <a:lstStyle/>
          <a:p>
            <a:pPr indent="0" marL="0">
              <a:buNone/>
            </a:pPr>
            <a:r>
              <a:rPr lang="en-US" sz="1300" dirty="0">
                <a:solidFill>
                  <a:srgbClr val="102033"/>
                </a:solidFill>
              </a:rPr>
              <a:t>Practical, vendor-neutral AI workflows agents can understand, review, and apply without replacing their professional judgment.</a:t>
            </a:r>
            <a:endParaRPr lang="en-US" sz="1300" dirty="0"/>
          </a:p>
        </p:txBody>
      </p:sp>
      <p:sp>
        <p:nvSpPr>
          <p:cNvPr id="21" name="Shape 19"/>
          <p:cNvSpPr/>
          <p:nvPr/>
        </p:nvSpPr>
        <p:spPr>
          <a:xfrm>
            <a:off x="6629400" y="3986784"/>
            <a:ext cx="1097280" cy="0"/>
          </a:xfrm>
          <a:prstGeom prst="line">
            <a:avLst/>
          </a:prstGeom>
          <a:noFill/>
          <a:ln w="38100">
            <a:solidFill>
              <a:srgbClr val="008F8F"/>
            </a:solidFill>
            <a:prstDash val="solid"/>
          </a:ln>
        </p:spPr>
      </p:sp>
      <p:sp>
        <p:nvSpPr>
          <p:cNvPr id="22" name="Text 20"/>
          <p:cNvSpPr/>
          <p:nvPr/>
        </p:nvSpPr>
        <p:spPr>
          <a:xfrm>
            <a:off x="6629400" y="4315968"/>
            <a:ext cx="3520440" cy="502920"/>
          </a:xfrm>
          <a:prstGeom prst="rect">
            <a:avLst/>
          </a:prstGeom>
          <a:noFill/>
          <a:ln/>
        </p:spPr>
        <p:txBody>
          <a:bodyPr wrap="square" lIns="254" tIns="254" rIns="254" bIns="254" rtlCol="0" anchor="ctr">
            <a:normAutofit/>
          </a:bodyPr>
          <a:lstStyle/>
          <a:p>
            <a:pPr indent="0" marL="0">
              <a:buNone/>
            </a:pPr>
            <a:r>
              <a:rPr lang="en-US" sz="1050" b="1" dirty="0">
                <a:solidFill>
                  <a:srgbClr val="2E7D5B"/>
                </a:solidFill>
              </a:rPr>
              <a:t>GoHouse.ai is part of Ian's professional background. No GoHouse.ai product is required for this course.</a:t>
            </a:r>
            <a:endParaRPr lang="en-US" sz="105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3/46</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520" dirty="0">
                <a:solidFill>
                  <a:srgbClr val="102033"/>
                </a:solidFill>
                <a:latin typeface="Aptos" pitchFamily="34" charset="0"/>
                <a:ea typeface="Aptos" pitchFamily="34" charset="-122"/>
                <a:cs typeface="Aptos" pitchFamily="34" charset="-120"/>
              </a:rPr>
              <a:t>Draft clearer emails, texts, listing copy, and client updates.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Personalize buyer and seller communication using better context.</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Prepare for appointments, objections, and follow-up conversations.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sz="152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4/46</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444752"/>
            <a:ext cx="5303520" cy="201168"/>
          </a:xfrm>
          <a:prstGeom prst="rect">
            <a:avLst/>
          </a:prstGeom>
          <a:noFill/>
          <a:ln/>
        </p:spPr>
        <p:txBody>
          <a:bodyPr wrap="square" lIns="0" tIns="0" rIns="0" bIns="0" rtlCol="0" anchor="ctr"/>
          <a:lstStyle/>
          <a:p>
            <a:pPr indent="0" marL="0">
              <a:buNone/>
            </a:pPr>
            <a:r>
              <a:rPr lang="en-US" sz="1050" b="1" dirty="0">
                <a:solidFill>
                  <a:srgbClr val="52606D"/>
                </a:solidFill>
              </a:rPr>
              <a:t>120 minutes: 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22m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13m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 / wrap-up</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5/46</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useful when it supports work agents already do.</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Consumers expect quick, clear responses across text, email, phone, and web inquiries.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Most agents have more follow-up tasks than hours in the day.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AI reduces blank-page time for common communication and prep tasks.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sz="166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7/46</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8/46</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9/46</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10/46</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TOOL CHECK</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Check brokerage policy before using client or transaction information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Avoid pasting private client details into public AI tools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 verified property, MLS, and market data</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Review every message before sending</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Keep AI as a drafting assistant, not the final authority</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Private, verified, compliant, reviewed</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Treat public AI tools carefully and review every output before use.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11/46</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12/46</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PRACTICE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13/46</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prompts reduce risk by giving AI facts, tone, boundaries, and review rules.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Write a listing description for a nice house in Coral Gables.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14/46</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841248" y="1755648"/>
            <a:ext cx="4526280" cy="841248"/>
          </a:xfrm>
          <a:prstGeom prst="roundRect">
            <a:avLst>
              <a:gd name="adj" fmla="val 6522"/>
            </a:avLst>
          </a:prstGeom>
          <a:solidFill>
            <a:srgbClr val="FFFFFF"/>
          </a:solidFill>
          <a:ln w="10160">
            <a:solidFill>
              <a:srgbClr val="D8E6E8"/>
            </a:solidFill>
            <a:prstDash val="solid"/>
          </a:ln>
        </p:spPr>
      </p:sp>
      <p:sp>
        <p:nvSpPr>
          <p:cNvPr id="12" name="Text 10"/>
          <p:cNvSpPr/>
          <p:nvPr/>
        </p:nvSpPr>
        <p:spPr>
          <a:xfrm>
            <a:off x="1078992" y="1892808"/>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Role</a:t>
            </a:r>
            <a:endParaRPr lang="en-US" sz="1080" dirty="0"/>
          </a:p>
        </p:txBody>
      </p:sp>
      <p:sp>
        <p:nvSpPr>
          <p:cNvPr id="13" name="Text 11"/>
          <p:cNvSpPr/>
          <p:nvPr/>
        </p:nvSpPr>
        <p:spPr>
          <a:xfrm>
            <a:off x="1078992" y="2157984"/>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You are helping me as a real estate professional</a:t>
            </a:r>
            <a:endParaRPr lang="en-US" sz="1300" dirty="0"/>
          </a:p>
        </p:txBody>
      </p:sp>
      <p:sp>
        <p:nvSpPr>
          <p:cNvPr id="14" name="Shape 12"/>
          <p:cNvSpPr/>
          <p:nvPr/>
        </p:nvSpPr>
        <p:spPr>
          <a:xfrm>
            <a:off x="6007608" y="1755648"/>
            <a:ext cx="4526280" cy="841248"/>
          </a:xfrm>
          <a:prstGeom prst="roundRect">
            <a:avLst>
              <a:gd name="adj" fmla="val 6522"/>
            </a:avLst>
          </a:prstGeom>
          <a:solidFill>
            <a:srgbClr val="FFFFFF"/>
          </a:solidFill>
          <a:ln w="10160">
            <a:solidFill>
              <a:srgbClr val="D8E6E8"/>
            </a:solidFill>
            <a:prstDash val="solid"/>
          </a:ln>
        </p:spPr>
      </p:sp>
      <p:sp>
        <p:nvSpPr>
          <p:cNvPr id="15" name="Text 13"/>
          <p:cNvSpPr/>
          <p:nvPr/>
        </p:nvSpPr>
        <p:spPr>
          <a:xfrm>
            <a:off x="6245352" y="1892808"/>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Task</a:t>
            </a:r>
            <a:endParaRPr lang="en-US" sz="1080" dirty="0"/>
          </a:p>
        </p:txBody>
      </p:sp>
      <p:sp>
        <p:nvSpPr>
          <p:cNvPr id="16" name="Text 14"/>
          <p:cNvSpPr/>
          <p:nvPr/>
        </p:nvSpPr>
        <p:spPr>
          <a:xfrm>
            <a:off x="6245352" y="2157984"/>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Draft a text / email / script / checklist</a:t>
            </a:r>
            <a:endParaRPr lang="en-US" sz="1300" dirty="0"/>
          </a:p>
        </p:txBody>
      </p:sp>
      <p:sp>
        <p:nvSpPr>
          <p:cNvPr id="17" name="Shape 15"/>
          <p:cNvSpPr/>
          <p:nvPr/>
        </p:nvSpPr>
        <p:spPr>
          <a:xfrm>
            <a:off x="841248" y="2926080"/>
            <a:ext cx="4526280" cy="841248"/>
          </a:xfrm>
          <a:prstGeom prst="roundRect">
            <a:avLst>
              <a:gd name="adj" fmla="val 6522"/>
            </a:avLst>
          </a:prstGeom>
          <a:solidFill>
            <a:srgbClr val="FFFFFF"/>
          </a:solidFill>
          <a:ln w="10160">
            <a:solidFill>
              <a:srgbClr val="D8E6E8"/>
            </a:solidFill>
            <a:prstDash val="solid"/>
          </a:ln>
        </p:spPr>
      </p:sp>
      <p:sp>
        <p:nvSpPr>
          <p:cNvPr id="18" name="Text 16"/>
          <p:cNvSpPr/>
          <p:nvPr/>
        </p:nvSpPr>
        <p:spPr>
          <a:xfrm>
            <a:off x="1078992" y="3063240"/>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Context</a:t>
            </a:r>
            <a:endParaRPr lang="en-US" sz="1080" dirty="0"/>
          </a:p>
        </p:txBody>
      </p:sp>
      <p:sp>
        <p:nvSpPr>
          <p:cNvPr id="19" name="Text 17"/>
          <p:cNvSpPr/>
          <p:nvPr/>
        </p:nvSpPr>
        <p:spPr>
          <a:xfrm>
            <a:off x="1078992" y="3328416"/>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Client situation, property, timeline, concern</a:t>
            </a:r>
            <a:endParaRPr lang="en-US" sz="1300" dirty="0"/>
          </a:p>
        </p:txBody>
      </p:sp>
      <p:sp>
        <p:nvSpPr>
          <p:cNvPr id="20" name="Shape 18"/>
          <p:cNvSpPr/>
          <p:nvPr/>
        </p:nvSpPr>
        <p:spPr>
          <a:xfrm>
            <a:off x="6007608" y="2926080"/>
            <a:ext cx="4526280" cy="841248"/>
          </a:xfrm>
          <a:prstGeom prst="roundRect">
            <a:avLst>
              <a:gd name="adj" fmla="val 6522"/>
            </a:avLst>
          </a:prstGeom>
          <a:solidFill>
            <a:srgbClr val="FFFFFF"/>
          </a:solidFill>
          <a:ln w="10160">
            <a:solidFill>
              <a:srgbClr val="D8E6E8"/>
            </a:solidFill>
            <a:prstDash val="solid"/>
          </a:ln>
        </p:spPr>
      </p:sp>
      <p:sp>
        <p:nvSpPr>
          <p:cNvPr id="21" name="Text 19"/>
          <p:cNvSpPr/>
          <p:nvPr/>
        </p:nvSpPr>
        <p:spPr>
          <a:xfrm>
            <a:off x="6245352" y="3063240"/>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Tone</a:t>
            </a:r>
            <a:endParaRPr lang="en-US" sz="1080" dirty="0"/>
          </a:p>
        </p:txBody>
      </p:sp>
      <p:sp>
        <p:nvSpPr>
          <p:cNvPr id="22" name="Text 20"/>
          <p:cNvSpPr/>
          <p:nvPr/>
        </p:nvSpPr>
        <p:spPr>
          <a:xfrm>
            <a:off x="6245352" y="3328416"/>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Warm, concise, direct, educational</a:t>
            </a:r>
            <a:endParaRPr lang="en-US" sz="1300" dirty="0"/>
          </a:p>
        </p:txBody>
      </p:sp>
      <p:sp>
        <p:nvSpPr>
          <p:cNvPr id="23" name="Shape 21"/>
          <p:cNvSpPr/>
          <p:nvPr/>
        </p:nvSpPr>
        <p:spPr>
          <a:xfrm>
            <a:off x="841248" y="4096512"/>
            <a:ext cx="4526280" cy="841248"/>
          </a:xfrm>
          <a:prstGeom prst="roundRect">
            <a:avLst>
              <a:gd name="adj" fmla="val 6522"/>
            </a:avLst>
          </a:prstGeom>
          <a:solidFill>
            <a:srgbClr val="FFFFFF"/>
          </a:solidFill>
          <a:ln w="10160">
            <a:solidFill>
              <a:srgbClr val="D8E6E8"/>
            </a:solidFill>
            <a:prstDash val="solid"/>
          </a:ln>
        </p:spPr>
      </p:sp>
      <p:sp>
        <p:nvSpPr>
          <p:cNvPr id="24" name="Text 22"/>
          <p:cNvSpPr/>
          <p:nvPr/>
        </p:nvSpPr>
        <p:spPr>
          <a:xfrm>
            <a:off x="1078992" y="4233672"/>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Constraints</a:t>
            </a:r>
            <a:endParaRPr lang="en-US" sz="1080" dirty="0"/>
          </a:p>
        </p:txBody>
      </p:sp>
      <p:sp>
        <p:nvSpPr>
          <p:cNvPr id="25" name="Text 23"/>
          <p:cNvSpPr/>
          <p:nvPr/>
        </p:nvSpPr>
        <p:spPr>
          <a:xfrm>
            <a:off x="1078992" y="4498848"/>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Avoid claims, private data, Fair Housing risk</a:t>
            </a:r>
            <a:endParaRPr lang="en-US" sz="1300" dirty="0"/>
          </a:p>
        </p:txBody>
      </p:sp>
      <p:sp>
        <p:nvSpPr>
          <p:cNvPr id="26" name="Shape 24"/>
          <p:cNvSpPr/>
          <p:nvPr/>
        </p:nvSpPr>
        <p:spPr>
          <a:xfrm>
            <a:off x="6007608" y="4096512"/>
            <a:ext cx="4526280" cy="841248"/>
          </a:xfrm>
          <a:prstGeom prst="roundRect">
            <a:avLst>
              <a:gd name="adj" fmla="val 6522"/>
            </a:avLst>
          </a:prstGeom>
          <a:solidFill>
            <a:srgbClr val="FFFFFF"/>
          </a:solidFill>
          <a:ln w="10160">
            <a:solidFill>
              <a:srgbClr val="D8E6E8"/>
            </a:solidFill>
            <a:prstDash val="solid"/>
          </a:ln>
        </p:spPr>
      </p:sp>
      <p:sp>
        <p:nvSpPr>
          <p:cNvPr id="27" name="Text 25"/>
          <p:cNvSpPr/>
          <p:nvPr/>
        </p:nvSpPr>
        <p:spPr>
          <a:xfrm>
            <a:off x="6245352" y="4233672"/>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Goal</a:t>
            </a:r>
            <a:endParaRPr lang="en-US" sz="1080" dirty="0"/>
          </a:p>
        </p:txBody>
      </p:sp>
      <p:sp>
        <p:nvSpPr>
          <p:cNvPr id="28" name="Text 26"/>
          <p:cNvSpPr/>
          <p:nvPr/>
        </p:nvSpPr>
        <p:spPr>
          <a:xfrm>
            <a:off x="6245352" y="4498848"/>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Reply, next step, clarity, appointment</a:t>
            </a:r>
            <a:endParaRPr lang="en-US" sz="130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Write a follow-up text for a buyer.</a:t>
            </a:r>
            <a:endParaRPr lang="en-US" sz="136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40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17/46</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Now apply the formula to a real client communication moment.</a:t>
            </a:r>
            <a:endParaRPr lang="en-US" sz="1250" dirty="0"/>
          </a:p>
        </p:txBody>
      </p:sp>
      <p:sp>
        <p:nvSpPr>
          <p:cNvPr id="12" name="Shape 10"/>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3" name="Shape 11"/>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4" name="Text 12"/>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buyer toured two condos, liked one, but is worried about monthly payment.</a:t>
            </a:r>
            <a:endParaRPr lang="en-US" sz="1330" dirty="0"/>
          </a:p>
        </p:txBody>
      </p:sp>
      <p:sp>
        <p:nvSpPr>
          <p:cNvPr id="15" name="Text 13"/>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6" name="Shape 14"/>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7" name="Shape 15"/>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8" name="Text 16"/>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80" dirty="0"/>
          </a:p>
        </p:txBody>
      </p:sp>
      <p:sp>
        <p:nvSpPr>
          <p:cNvPr id="19" name="Text 17"/>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20" name="Shape 18"/>
          <p:cNvSpPr/>
          <p:nvPr/>
        </p:nvSpPr>
        <p:spPr>
          <a:xfrm>
            <a:off x="502920" y="6473952"/>
            <a:ext cx="11201400" cy="0"/>
          </a:xfrm>
          <a:prstGeom prst="line">
            <a:avLst/>
          </a:prstGeom>
          <a:noFill/>
          <a:ln w="9525">
            <a:solidFill>
              <a:srgbClr val="D8E6E8"/>
            </a:solidFill>
            <a:prstDash val="solid"/>
          </a:ln>
        </p:spPr>
      </p:sp>
      <p:sp>
        <p:nvSpPr>
          <p:cNvPr id="21" name="Text 1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18/46</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30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listing had showings but no offers this week.</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19/46</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20/46</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868680" y="1719072"/>
            <a:ext cx="9829800" cy="621792"/>
          </a:xfrm>
          <a:prstGeom prst="roundRect">
            <a:avLst>
              <a:gd name="adj" fmla="val 8824"/>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Rewrite this text so it sounds warm, concise, and natural for a REALTOR: [draft]</a:t>
            </a:r>
            <a:endParaRPr lang="en-US" sz="1400" dirty="0"/>
          </a:p>
        </p:txBody>
      </p:sp>
      <p:sp>
        <p:nvSpPr>
          <p:cNvPr id="15" name="Shape 13"/>
          <p:cNvSpPr/>
          <p:nvPr/>
        </p:nvSpPr>
        <p:spPr>
          <a:xfrm>
            <a:off x="868680" y="2523744"/>
            <a:ext cx="9829800" cy="621792"/>
          </a:xfrm>
          <a:prstGeom prst="roundRect">
            <a:avLst>
              <a:gd name="adj" fmla="val 8824"/>
            </a:avLst>
          </a:prstGeom>
          <a:solidFill>
            <a:srgbClr val="FFFFFF"/>
          </a:solidFill>
          <a:ln w="10160">
            <a:solidFill>
              <a:srgbClr val="D8E6E8"/>
            </a:solidFill>
            <a:prstDash val="solid"/>
          </a:ln>
        </p:spPr>
      </p:sp>
      <p:sp>
        <p:nvSpPr>
          <p:cNvPr id="16" name="Shape 14"/>
          <p:cNvSpPr/>
          <p:nvPr/>
        </p:nvSpPr>
        <p:spPr>
          <a:xfrm>
            <a:off x="1078992" y="2606040"/>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6974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624328"/>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Create a buyer follow-up email based on these call notes: [notes]. Ask one clear next-step question.</a:t>
            </a:r>
            <a:endParaRPr lang="en-US" sz="1400" dirty="0"/>
          </a:p>
        </p:txBody>
      </p:sp>
      <p:sp>
        <p:nvSpPr>
          <p:cNvPr id="19" name="Shape 17"/>
          <p:cNvSpPr/>
          <p:nvPr/>
        </p:nvSpPr>
        <p:spPr>
          <a:xfrm>
            <a:off x="868680" y="3328416"/>
            <a:ext cx="9829800" cy="621792"/>
          </a:xfrm>
          <a:prstGeom prst="roundRect">
            <a:avLst>
              <a:gd name="adj" fmla="val 8824"/>
            </a:avLst>
          </a:prstGeom>
          <a:solidFill>
            <a:srgbClr val="EAF7F7"/>
          </a:solidFill>
          <a:ln w="10160">
            <a:solidFill>
              <a:srgbClr val="B8DDE0"/>
            </a:solidFill>
            <a:prstDash val="solid"/>
          </a:ln>
        </p:spPr>
      </p:sp>
      <p:sp>
        <p:nvSpPr>
          <p:cNvPr id="20" name="Shape 18"/>
          <p:cNvSpPr/>
          <p:nvPr/>
        </p:nvSpPr>
        <p:spPr>
          <a:xfrm>
            <a:off x="1078992" y="3410712"/>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5021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429000"/>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Draft a seller update after a quiet week. Be honest, professional, and solution-oriented.</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21/46</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11" name="Shape 9"/>
          <p:cNvSpPr/>
          <p:nvPr/>
        </p:nvSpPr>
        <p:spPr>
          <a:xfrm>
            <a:off x="868680" y="1719072"/>
            <a:ext cx="9829800" cy="621792"/>
          </a:xfrm>
          <a:prstGeom prst="roundRect">
            <a:avLst>
              <a:gd name="adj" fmla="val 8824"/>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Create three versions of this follow-up: text, email, and voicemail.</a:t>
            </a:r>
            <a:endParaRPr lang="en-US" sz="1400" dirty="0"/>
          </a:p>
        </p:txBody>
      </p:sp>
      <p:sp>
        <p:nvSpPr>
          <p:cNvPr id="15" name="Shape 13"/>
          <p:cNvSpPr/>
          <p:nvPr/>
        </p:nvSpPr>
        <p:spPr>
          <a:xfrm>
            <a:off x="868680" y="2523744"/>
            <a:ext cx="9829800" cy="621792"/>
          </a:xfrm>
          <a:prstGeom prst="roundRect">
            <a:avLst>
              <a:gd name="adj" fmla="val 8824"/>
            </a:avLst>
          </a:prstGeom>
          <a:solidFill>
            <a:srgbClr val="FFFFFF"/>
          </a:solidFill>
          <a:ln w="10160">
            <a:solidFill>
              <a:srgbClr val="D8E6E8"/>
            </a:solidFill>
            <a:prstDash val="solid"/>
          </a:ln>
        </p:spPr>
      </p:sp>
      <p:sp>
        <p:nvSpPr>
          <p:cNvPr id="16" name="Shape 14"/>
          <p:cNvSpPr/>
          <p:nvPr/>
        </p:nvSpPr>
        <p:spPr>
          <a:xfrm>
            <a:off x="1078992" y="2606040"/>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6974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624328"/>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Review this message for accuracy, Fair Housing risk, and claims I should verify.</a:t>
            </a:r>
            <a:endParaRPr lang="en-US" sz="1400" dirty="0"/>
          </a:p>
        </p:txBody>
      </p:sp>
      <p:sp>
        <p:nvSpPr>
          <p:cNvPr id="19" name="Shape 17"/>
          <p:cNvSpPr/>
          <p:nvPr/>
        </p:nvSpPr>
        <p:spPr>
          <a:xfrm>
            <a:off x="868680" y="3328416"/>
            <a:ext cx="9829800" cy="621792"/>
          </a:xfrm>
          <a:prstGeom prst="roundRect">
            <a:avLst>
              <a:gd name="adj" fmla="val 8824"/>
            </a:avLst>
          </a:prstGeom>
          <a:solidFill>
            <a:srgbClr val="EAF7F7"/>
          </a:solidFill>
          <a:ln w="10160">
            <a:solidFill>
              <a:srgbClr val="B8DDE0"/>
            </a:solidFill>
            <a:prstDash val="solid"/>
          </a:ln>
        </p:spPr>
      </p:sp>
      <p:sp>
        <p:nvSpPr>
          <p:cNvPr id="20" name="Shape 18"/>
          <p:cNvSpPr/>
          <p:nvPr/>
        </p:nvSpPr>
        <p:spPr>
          <a:xfrm>
            <a:off x="1078992" y="3410712"/>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5021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429000"/>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Give me three tone options: concise, reassuring, and more direct.</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22/46</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Context before cadence: different lead sources need different first responses.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4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Many leads arrive with limited context, whether they come from portals, IDX, open houses, referrals, social media, sign calls, or past database activity.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Speed matters, but fast and generic still feels automated.</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Different lead sources need different first responses because the relationship context is different.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Useful follow-up gives the person a reason to continue the conversation.</a:t>
            </a:r>
            <a:endParaRPr lang="en-US" sz="166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24/46</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CRM VS AI</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CRM template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Saved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Same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Fast but generic</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AI-assisted draft</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Source + context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Situation-aware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Agent-reviewed before sending</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25/46</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868680" y="1783080"/>
            <a:ext cx="2926080" cy="1024128"/>
          </a:xfrm>
          <a:prstGeom prst="roundRect">
            <a:avLst>
              <a:gd name="adj" fmla="val 5357"/>
            </a:avLst>
          </a:prstGeom>
          <a:solidFill>
            <a:srgbClr val="EAF7F7"/>
          </a:solidFill>
          <a:ln w="10160">
            <a:solidFill>
              <a:srgbClr val="D8E6E8"/>
            </a:solidFill>
            <a:prstDash val="solid"/>
          </a:ln>
        </p:spPr>
      </p:sp>
      <p:sp>
        <p:nvSpPr>
          <p:cNvPr id="12" name="Shape 10"/>
          <p:cNvSpPr/>
          <p:nvPr/>
        </p:nvSpPr>
        <p:spPr>
          <a:xfrm>
            <a:off x="1069848" y="2039112"/>
            <a:ext cx="402336" cy="402336"/>
          </a:xfrm>
          <a:prstGeom prst="ellipse">
            <a:avLst/>
          </a:prstGeom>
          <a:solidFill>
            <a:srgbClr val="008F8F"/>
          </a:solidFill>
          <a:ln w="12700">
            <a:solidFill>
              <a:srgbClr val="008F8F"/>
            </a:solidFill>
            <a:prstDash val="solid"/>
          </a:ln>
        </p:spPr>
      </p:sp>
      <p:sp>
        <p:nvSpPr>
          <p:cNvPr id="13" name="Text 11"/>
          <p:cNvSpPr/>
          <p:nvPr/>
        </p:nvSpPr>
        <p:spPr>
          <a:xfrm>
            <a:off x="106984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1848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Capture source, context, and recent activity</a:t>
            </a:r>
            <a:endParaRPr lang="en-US" sz="1180" dirty="0"/>
          </a:p>
        </p:txBody>
      </p:sp>
      <p:sp>
        <p:nvSpPr>
          <p:cNvPr id="15" name="Shape 13"/>
          <p:cNvSpPr/>
          <p:nvPr/>
        </p:nvSpPr>
        <p:spPr>
          <a:xfrm>
            <a:off x="4389120" y="1783080"/>
            <a:ext cx="2926080" cy="1024128"/>
          </a:xfrm>
          <a:prstGeom prst="roundRect">
            <a:avLst>
              <a:gd name="adj" fmla="val 5357"/>
            </a:avLst>
          </a:prstGeom>
          <a:solidFill>
            <a:srgbClr val="FFFFFF"/>
          </a:solidFill>
          <a:ln w="10160">
            <a:solidFill>
              <a:srgbClr val="D8E6E8"/>
            </a:solidFill>
            <a:prstDash val="solid"/>
          </a:ln>
        </p:spPr>
      </p:sp>
      <p:sp>
        <p:nvSpPr>
          <p:cNvPr id="16" name="Shape 14"/>
          <p:cNvSpPr/>
          <p:nvPr/>
        </p:nvSpPr>
        <p:spPr>
          <a:xfrm>
            <a:off x="4590288" y="2039112"/>
            <a:ext cx="402336" cy="402336"/>
          </a:xfrm>
          <a:prstGeom prst="ellipse">
            <a:avLst/>
          </a:prstGeom>
          <a:solidFill>
            <a:srgbClr val="2F80ED"/>
          </a:solidFill>
          <a:ln w="12700">
            <a:solidFill>
              <a:srgbClr val="2F80ED"/>
            </a:solidFill>
            <a:prstDash val="solid"/>
          </a:ln>
        </p:spPr>
      </p:sp>
      <p:sp>
        <p:nvSpPr>
          <p:cNvPr id="17" name="Text 15"/>
          <p:cNvSpPr/>
          <p:nvPr/>
        </p:nvSpPr>
        <p:spPr>
          <a:xfrm>
            <a:off x="459028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513892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Identify likely intent without assuming certainty</a:t>
            </a:r>
            <a:endParaRPr lang="en-US" sz="1180" dirty="0"/>
          </a:p>
        </p:txBody>
      </p:sp>
      <p:sp>
        <p:nvSpPr>
          <p:cNvPr id="19" name="Shape 17"/>
          <p:cNvSpPr/>
          <p:nvPr/>
        </p:nvSpPr>
        <p:spPr>
          <a:xfrm>
            <a:off x="7909560" y="1783080"/>
            <a:ext cx="2926080" cy="1024128"/>
          </a:xfrm>
          <a:prstGeom prst="roundRect">
            <a:avLst>
              <a:gd name="adj" fmla="val 5357"/>
            </a:avLst>
          </a:prstGeom>
          <a:solidFill>
            <a:srgbClr val="EAF7F7"/>
          </a:solidFill>
          <a:ln w="10160">
            <a:solidFill>
              <a:srgbClr val="D8E6E8"/>
            </a:solidFill>
            <a:prstDash val="solid"/>
          </a:ln>
        </p:spPr>
      </p:sp>
      <p:sp>
        <p:nvSpPr>
          <p:cNvPr id="20" name="Shape 18"/>
          <p:cNvSpPr/>
          <p:nvPr/>
        </p:nvSpPr>
        <p:spPr>
          <a:xfrm>
            <a:off x="8110728" y="2039112"/>
            <a:ext cx="402336" cy="402336"/>
          </a:xfrm>
          <a:prstGeom prst="ellipse">
            <a:avLst/>
          </a:prstGeom>
          <a:solidFill>
            <a:srgbClr val="F45B69"/>
          </a:solidFill>
          <a:ln w="12700">
            <a:solidFill>
              <a:srgbClr val="F45B69"/>
            </a:solidFill>
            <a:prstDash val="solid"/>
          </a:ln>
        </p:spPr>
      </p:sp>
      <p:sp>
        <p:nvSpPr>
          <p:cNvPr id="21" name="Text 19"/>
          <p:cNvSpPr/>
          <p:nvPr/>
        </p:nvSpPr>
        <p:spPr>
          <a:xfrm>
            <a:off x="811072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865936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Choose the best channel</a:t>
            </a:r>
            <a:endParaRPr lang="en-US" sz="1180" dirty="0"/>
          </a:p>
        </p:txBody>
      </p:sp>
      <p:sp>
        <p:nvSpPr>
          <p:cNvPr id="23" name="Shape 21"/>
          <p:cNvSpPr/>
          <p:nvPr/>
        </p:nvSpPr>
        <p:spPr>
          <a:xfrm>
            <a:off x="868680" y="3291840"/>
            <a:ext cx="2926080" cy="1024128"/>
          </a:xfrm>
          <a:prstGeom prst="roundRect">
            <a:avLst>
              <a:gd name="adj" fmla="val 5357"/>
            </a:avLst>
          </a:prstGeom>
          <a:solidFill>
            <a:srgbClr val="FFFFFF"/>
          </a:solidFill>
          <a:ln w="10160">
            <a:solidFill>
              <a:srgbClr val="D8E6E8"/>
            </a:solidFill>
            <a:prstDash val="solid"/>
          </a:ln>
        </p:spPr>
      </p:sp>
      <p:sp>
        <p:nvSpPr>
          <p:cNvPr id="24" name="Shape 22"/>
          <p:cNvSpPr/>
          <p:nvPr/>
        </p:nvSpPr>
        <p:spPr>
          <a:xfrm>
            <a:off x="1069848" y="3547872"/>
            <a:ext cx="402336" cy="402336"/>
          </a:xfrm>
          <a:prstGeom prst="ellipse">
            <a:avLst/>
          </a:prstGeom>
          <a:solidFill>
            <a:srgbClr val="2E7D5B"/>
          </a:solidFill>
          <a:ln w="12700">
            <a:solidFill>
              <a:srgbClr val="2E7D5B"/>
            </a:solidFill>
            <a:prstDash val="solid"/>
          </a:ln>
        </p:spPr>
      </p:sp>
      <p:sp>
        <p:nvSpPr>
          <p:cNvPr id="25" name="Text 23"/>
          <p:cNvSpPr/>
          <p:nvPr/>
        </p:nvSpPr>
        <p:spPr>
          <a:xfrm>
            <a:off x="106984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1848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Draft one useful message</a:t>
            </a:r>
            <a:endParaRPr lang="en-US" sz="1180" dirty="0"/>
          </a:p>
        </p:txBody>
      </p:sp>
      <p:sp>
        <p:nvSpPr>
          <p:cNvPr id="27" name="Shape 25"/>
          <p:cNvSpPr/>
          <p:nvPr/>
        </p:nvSpPr>
        <p:spPr>
          <a:xfrm>
            <a:off x="4389120" y="3291840"/>
            <a:ext cx="2926080" cy="1024128"/>
          </a:xfrm>
          <a:prstGeom prst="roundRect">
            <a:avLst>
              <a:gd name="adj" fmla="val 5357"/>
            </a:avLst>
          </a:prstGeom>
          <a:solidFill>
            <a:srgbClr val="EAF7F7"/>
          </a:solidFill>
          <a:ln w="10160">
            <a:solidFill>
              <a:srgbClr val="D8E6E8"/>
            </a:solidFill>
            <a:prstDash val="solid"/>
          </a:ln>
        </p:spPr>
      </p:sp>
      <p:sp>
        <p:nvSpPr>
          <p:cNvPr id="28" name="Shape 26"/>
          <p:cNvSpPr/>
          <p:nvPr/>
        </p:nvSpPr>
        <p:spPr>
          <a:xfrm>
            <a:off x="4590288" y="3547872"/>
            <a:ext cx="402336" cy="402336"/>
          </a:xfrm>
          <a:prstGeom prst="ellipse">
            <a:avLst/>
          </a:prstGeom>
          <a:solidFill>
            <a:srgbClr val="F2B84B"/>
          </a:solidFill>
          <a:ln w="12700">
            <a:solidFill>
              <a:srgbClr val="F2B84B"/>
            </a:solidFill>
            <a:prstDash val="solid"/>
          </a:ln>
        </p:spPr>
      </p:sp>
      <p:sp>
        <p:nvSpPr>
          <p:cNvPr id="29" name="Text 27"/>
          <p:cNvSpPr/>
          <p:nvPr/>
        </p:nvSpPr>
        <p:spPr>
          <a:xfrm>
            <a:off x="459028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513892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Review for accuracy and tone</a:t>
            </a:r>
            <a:endParaRPr lang="en-US" sz="1180" dirty="0"/>
          </a:p>
        </p:txBody>
      </p:sp>
      <p:sp>
        <p:nvSpPr>
          <p:cNvPr id="31" name="Shape 29"/>
          <p:cNvSpPr/>
          <p:nvPr/>
        </p:nvSpPr>
        <p:spPr>
          <a:xfrm>
            <a:off x="7909560" y="3291840"/>
            <a:ext cx="2926080" cy="1024128"/>
          </a:xfrm>
          <a:prstGeom prst="roundRect">
            <a:avLst>
              <a:gd name="adj" fmla="val 5357"/>
            </a:avLst>
          </a:prstGeom>
          <a:solidFill>
            <a:srgbClr val="FFFFFF"/>
          </a:solidFill>
          <a:ln w="10160">
            <a:solidFill>
              <a:srgbClr val="D8E6E8"/>
            </a:solidFill>
            <a:prstDash val="solid"/>
          </a:ln>
        </p:spPr>
      </p:sp>
      <p:sp>
        <p:nvSpPr>
          <p:cNvPr id="32" name="Shape 30"/>
          <p:cNvSpPr/>
          <p:nvPr/>
        </p:nvSpPr>
        <p:spPr>
          <a:xfrm>
            <a:off x="8110728" y="3547872"/>
            <a:ext cx="402336" cy="402336"/>
          </a:xfrm>
          <a:prstGeom prst="ellipse">
            <a:avLst/>
          </a:prstGeom>
          <a:solidFill>
            <a:srgbClr val="16324F"/>
          </a:solidFill>
          <a:ln w="12700">
            <a:solidFill>
              <a:srgbClr val="16324F"/>
            </a:solidFill>
            <a:prstDash val="solid"/>
          </a:ln>
        </p:spPr>
      </p:sp>
      <p:sp>
        <p:nvSpPr>
          <p:cNvPr id="33" name="Text 31"/>
          <p:cNvSpPr/>
          <p:nvPr/>
        </p:nvSpPr>
        <p:spPr>
          <a:xfrm>
            <a:off x="811072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4" name="Text 32"/>
          <p:cNvSpPr/>
          <p:nvPr/>
        </p:nvSpPr>
        <p:spPr>
          <a:xfrm>
            <a:off x="865936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Send and log next step</a:t>
            </a:r>
            <a:endParaRPr lang="en-US" sz="1180" dirty="0"/>
          </a:p>
        </p:txBody>
      </p:sp>
      <p:sp>
        <p:nvSpPr>
          <p:cNvPr id="35" name="Shape 33"/>
          <p:cNvSpPr/>
          <p:nvPr/>
        </p:nvSpPr>
        <p:spPr>
          <a:xfrm>
            <a:off x="502920" y="6473952"/>
            <a:ext cx="11201400" cy="0"/>
          </a:xfrm>
          <a:prstGeom prst="line">
            <a:avLst/>
          </a:prstGeom>
          <a:noFill/>
          <a:ln w="9525">
            <a:solidFill>
              <a:srgbClr val="D8E6E8"/>
            </a:solidFill>
            <a:prstDash val="solid"/>
          </a:ln>
        </p:spPr>
      </p:sp>
      <p:sp>
        <p:nvSpPr>
          <p:cNvPr id="36" name="Text 3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26/46</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SAMPLE LEAD</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4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Lead asked: "Is the condo on Brickell still available?"</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Weak: "Yes, it is available. Let me know if you want to see it."</a:t>
            </a:r>
            <a:endParaRPr lang="en-US" sz="1380" dirty="0"/>
          </a:p>
          <a:p>
            <a:pPr indent="0" marL="0">
              <a:buNone/>
            </a:pPr>
            <a:endParaRPr lang="en-US" sz="1380" dirty="0"/>
          </a:p>
          <a:p>
            <a:pPr indent="0" marL="0">
              <a:buNone/>
            </a:pPr>
            <a:r>
              <a:rPr lang="en-US" sz="1380" dirty="0">
                <a:solidFill>
                  <a:srgbClr val="102033"/>
                </a:solidFill>
              </a:rPr>
              <a:t>Better: "I can verify the latest status for you. Are you focused only on Brickell, or would similar buildings with strong amenities also be worth sending over?"</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27/46</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a first-response set</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CRM templates repeat a saved message. AI helps adapt the message to the situation, then you review it before sending.</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28/46</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Appointments / 100 leads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Is the source becoming more useful?</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29/46</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24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Property features and improvements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Showing feedback and buyer questions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Seller goals and timing</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Factual neighborhood context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Desired tone and format</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verified facts and tell AI not to invent missing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31/46</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copy adds warmth without inventing facts.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3 bedrooms / 2 bathrooms</a:t>
            </a:r>
            <a:endParaRPr lang="en-US" sz="1360" dirty="0"/>
          </a:p>
          <a:p>
            <a:pPr indent="0" marL="0">
              <a:buNone/>
            </a:pPr>
            <a:r>
              <a:rPr lang="en-US" sz="1360" dirty="0">
                <a:solidFill>
                  <a:srgbClr val="102033"/>
                </a:solidFill>
              </a:rPr>
              <a:t>Updated kitchen</a:t>
            </a:r>
            <a:endParaRPr lang="en-US" sz="1360" dirty="0"/>
          </a:p>
          <a:p>
            <a:pPr indent="0" marL="0">
              <a:buNone/>
            </a:pPr>
            <a:r>
              <a:rPr lang="en-US" sz="1360" dirty="0">
                <a:solidFill>
                  <a:srgbClr val="102033"/>
                </a:solidFill>
              </a:rPr>
              <a:t>Covered patio</a:t>
            </a:r>
            <a:endParaRPr lang="en-US" sz="1360" dirty="0"/>
          </a:p>
          <a:p>
            <a:pPr indent="0" marL="0">
              <a:buNone/>
            </a:pPr>
            <a:r>
              <a:rPr lang="en-US" sz="1360" dirty="0">
                <a:solidFill>
                  <a:srgbClr val="102033"/>
                </a:solidFill>
              </a:rPr>
              <a:t>2-car garage</a:t>
            </a:r>
            <a:endParaRPr lang="en-US" sz="1360" dirty="0"/>
          </a:p>
          <a:p>
            <a:pPr indent="0" marL="0">
              <a:buNone/>
            </a:pPr>
            <a:r>
              <a:rPr lang="en-US" sz="1360" dirty="0">
                <a:solidFill>
                  <a:srgbClr val="102033"/>
                </a:solidFill>
              </a:rPr>
              <a:t>Nearby dining, parks, and everyday amenities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This 3-bedroom, 2-bath home pairs practical everyday function with inviting outdoor space. Highlights include an updated kitchen, covered patio, and 2-car garage, with convenient access to nearby dining, parks, and everyday amenities. The description stays focused on verified features while giving the listing a clearer, more polished presentation.</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32/46</a:t>
            </a:r>
            <a:endParaRPr lang="en-US" sz="7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SOURCE FACTS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Source facts</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Verified details kept in the chat</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copy</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33/46</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Now try the same process with three high-use formats.</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34/46</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APPOINTMENT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Build buyer consultation and listing appointment agendas.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Create discovery questions from client context.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Practice common objections before the live conversation.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Explain market conditions in plain language, with verified facts.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Prepare follow-up after the appointment.</a:t>
            </a:r>
            <a:endParaRPr lang="en-US" sz="1660" dirty="0"/>
          </a:p>
        </p:txBody>
      </p:sp>
      <p:sp>
        <p:nvSpPr>
          <p:cNvPr id="12" name="Shape 10"/>
          <p:cNvSpPr/>
          <p:nvPr/>
        </p:nvSpPr>
        <p:spPr>
          <a:xfrm>
            <a:off x="7479792" y="1737360"/>
            <a:ext cx="91440" cy="2971800"/>
          </a:xfrm>
          <a:prstGeom prst="rect">
            <a:avLst/>
          </a:prstGeom>
          <a:solidFill>
            <a:srgbClr val="008F8F"/>
          </a:solidFill>
          <a:ln w="12700">
            <a:solidFill>
              <a:srgbClr val="008F8F"/>
            </a:solidFill>
            <a:prstDash val="solid"/>
          </a:ln>
        </p:spPr>
      </p:sp>
      <p:sp>
        <p:nvSpPr>
          <p:cNvPr id="13" name="Shape 11"/>
          <p:cNvSpPr/>
          <p:nvPr/>
        </p:nvSpPr>
        <p:spPr>
          <a:xfrm>
            <a:off x="7607808" y="1828800"/>
            <a:ext cx="3246120" cy="2788920"/>
          </a:xfrm>
          <a:prstGeom prst="roundRect">
            <a:avLst>
              <a:gd name="adj" fmla="val 1967"/>
            </a:avLst>
          </a:prstGeom>
          <a:solidFill>
            <a:srgbClr val="EAF7F7"/>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35/46</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wants to overprice</a:t>
            </a:r>
            <a:endParaRPr lang="en-US" sz="3000" dirty="0"/>
          </a:p>
        </p:txBody>
      </p:sp>
      <p:sp>
        <p:nvSpPr>
          <p:cNvPr id="11" name="Shape 9"/>
          <p:cNvSpPr/>
          <p:nvPr/>
        </p:nvSpPr>
        <p:spPr>
          <a:xfrm>
            <a:off x="914400" y="1783080"/>
            <a:ext cx="128016" cy="2743200"/>
          </a:xfrm>
          <a:prstGeom prst="rect">
            <a:avLst/>
          </a:prstGeom>
          <a:solidFill>
            <a:srgbClr val="008F8F"/>
          </a:solidFill>
          <a:ln w="12700">
            <a:solidFill>
              <a:srgbClr val="008F8F"/>
            </a:solidFill>
            <a:prstDash val="solid"/>
          </a:ln>
        </p:spPr>
      </p:sp>
      <p:sp>
        <p:nvSpPr>
          <p:cNvPr id="12" name="Shape 10"/>
          <p:cNvSpPr/>
          <p:nvPr/>
        </p:nvSpPr>
        <p:spPr>
          <a:xfrm>
            <a:off x="1097280" y="1783080"/>
            <a:ext cx="9555480" cy="2743200"/>
          </a:xfrm>
          <a:prstGeom prst="roundRect">
            <a:avLst>
              <a:gd name="adj" fmla="val 2000"/>
            </a:avLst>
          </a:prstGeom>
          <a:solidFill>
            <a:srgbClr val="FFFFFF"/>
          </a:solidFill>
          <a:ln w="10160">
            <a:solidFill>
              <a:srgbClr val="C9DFE5"/>
            </a:solidFill>
            <a:prstDash val="solid"/>
          </a:ln>
        </p:spPr>
      </p:sp>
      <p:sp>
        <p:nvSpPr>
          <p:cNvPr id="13" name="Text 11"/>
          <p:cNvSpPr/>
          <p:nvPr/>
        </p:nvSpPr>
        <p:spPr>
          <a:xfrm>
            <a:off x="1508760" y="2212848"/>
            <a:ext cx="8549640" cy="1417320"/>
          </a:xfrm>
          <a:prstGeom prst="rect">
            <a:avLst/>
          </a:prstGeom>
          <a:noFill/>
          <a:ln/>
        </p:spPr>
        <p:txBody>
          <a:bodyPr wrap="square" lIns="381" tIns="381" rIns="381" bIns="381" rtlCol="0" anchor="ctr">
            <a:normAutofit/>
          </a:bodyPr>
          <a:lstStyle/>
          <a:p>
            <a:pPr indent="0" marL="0">
              <a:buNone/>
            </a:pPr>
            <a:r>
              <a:rPr lang="en-US" sz="172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1720" dirty="0"/>
          </a:p>
        </p:txBody>
      </p:sp>
      <p:sp>
        <p:nvSpPr>
          <p:cNvPr id="14" name="Text 12"/>
          <p:cNvSpPr/>
          <p:nvPr/>
        </p:nvSpPr>
        <p:spPr>
          <a:xfrm>
            <a:off x="1508760" y="3968496"/>
            <a:ext cx="1828800" cy="164592"/>
          </a:xfrm>
          <a:prstGeom prst="rect">
            <a:avLst/>
          </a:prstGeom>
          <a:noFill/>
          <a:ln/>
        </p:spPr>
        <p:txBody>
          <a:bodyPr wrap="square" lIns="0" tIns="0" rIns="0" bIns="0" rtlCol="0" anchor="ctr"/>
          <a:lstStyle/>
          <a:p>
            <a:pPr indent="0" marL="0">
              <a:buNone/>
            </a:pPr>
            <a:r>
              <a:rPr lang="en-US" sz="1000" b="1" dirty="0">
                <a:solidFill>
                  <a:srgbClr val="008F8F"/>
                </a:solidFill>
              </a:rPr>
              <a:t>Role-play prompt</a:t>
            </a:r>
            <a:endParaRPr lang="en-US" sz="100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36/46</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914400" y="1783080"/>
            <a:ext cx="128016" cy="2743200"/>
          </a:xfrm>
          <a:prstGeom prst="rect">
            <a:avLst/>
          </a:prstGeom>
          <a:solidFill>
            <a:srgbClr val="008F8F"/>
          </a:solidFill>
          <a:ln w="12700">
            <a:solidFill>
              <a:srgbClr val="008F8F"/>
            </a:solidFill>
            <a:prstDash val="solid"/>
          </a:ln>
        </p:spPr>
      </p:sp>
      <p:sp>
        <p:nvSpPr>
          <p:cNvPr id="12" name="Shape 10"/>
          <p:cNvSpPr/>
          <p:nvPr/>
        </p:nvSpPr>
        <p:spPr>
          <a:xfrm>
            <a:off x="1097280" y="1783080"/>
            <a:ext cx="9555480" cy="2743200"/>
          </a:xfrm>
          <a:prstGeom prst="roundRect">
            <a:avLst>
              <a:gd name="adj" fmla="val 2000"/>
            </a:avLst>
          </a:prstGeom>
          <a:solidFill>
            <a:srgbClr val="FFFFFF"/>
          </a:solidFill>
          <a:ln w="10160">
            <a:solidFill>
              <a:srgbClr val="C9DFE5"/>
            </a:solidFill>
            <a:prstDash val="solid"/>
          </a:ln>
        </p:spPr>
      </p:sp>
      <p:sp>
        <p:nvSpPr>
          <p:cNvPr id="13" name="Text 11"/>
          <p:cNvSpPr/>
          <p:nvPr/>
        </p:nvSpPr>
        <p:spPr>
          <a:xfrm>
            <a:off x="1508760" y="2212848"/>
            <a:ext cx="8549640" cy="1417320"/>
          </a:xfrm>
          <a:prstGeom prst="rect">
            <a:avLst/>
          </a:prstGeom>
          <a:noFill/>
          <a:ln/>
        </p:spPr>
        <p:txBody>
          <a:bodyPr wrap="square" lIns="381" tIns="381" rIns="381" bIns="381" rtlCol="0" anchor="ctr">
            <a:normAutofit/>
          </a:bodyPr>
          <a:lstStyle/>
          <a:p>
            <a:pPr indent="0" marL="0">
              <a:buNone/>
            </a:pPr>
            <a:r>
              <a:rPr lang="en-US" sz="1720" i="1" dirty="0">
                <a:solidFill>
                  <a:srgbClr val="102033"/>
                </a:solidFill>
              </a:rPr>
              <a:t>"Use AI to practice the conversation without making predictions or giving financial advice. Prompt: Act as a cautious buyer who wants to wait for rates to drop. Help me respond in a way that is educational, not pushy. Challenge any claims that sound too certain."</a:t>
            </a:r>
            <a:endParaRPr lang="en-US" sz="1720" dirty="0"/>
          </a:p>
        </p:txBody>
      </p:sp>
      <p:sp>
        <p:nvSpPr>
          <p:cNvPr id="14" name="Text 12"/>
          <p:cNvSpPr/>
          <p:nvPr/>
        </p:nvSpPr>
        <p:spPr>
          <a:xfrm>
            <a:off x="1508760" y="3968496"/>
            <a:ext cx="1828800" cy="164592"/>
          </a:xfrm>
          <a:prstGeom prst="rect">
            <a:avLst/>
          </a:prstGeom>
          <a:noFill/>
          <a:ln/>
        </p:spPr>
        <p:txBody>
          <a:bodyPr wrap="square" lIns="0" tIns="0" rIns="0" bIns="0" rtlCol="0" anchor="ctr"/>
          <a:lstStyle/>
          <a:p>
            <a:pPr indent="0" marL="0">
              <a:buNone/>
            </a:pPr>
            <a:r>
              <a:rPr lang="en-US" sz="1000" b="1" dirty="0">
                <a:solidFill>
                  <a:srgbClr val="008F8F"/>
                </a:solidFill>
              </a:rPr>
              <a:t>Role-play prompt</a:t>
            </a:r>
            <a:endParaRPr lang="en-US" sz="100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37/46</a:t>
            </a:r>
            <a:endParaRPr lang="en-US" sz="72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38/46</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40/46</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Protect private client information.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Review all output before use.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Follow brokerage policies, MLS rules, and advertising requirements.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Avoid discriminatory targeting or language.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 AI to support professional judgment, not replace it.</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41/46</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868680" y="1783080"/>
            <a:ext cx="4526280" cy="1042416"/>
          </a:xfrm>
          <a:prstGeom prst="roundRect">
            <a:avLst>
              <a:gd name="adj" fmla="val 5263"/>
            </a:avLst>
          </a:prstGeom>
          <a:solidFill>
            <a:srgbClr val="EAF7F7"/>
          </a:solidFill>
          <a:ln w="10160">
            <a:solidFill>
              <a:srgbClr val="D8E6E8"/>
            </a:solidFill>
            <a:prstDash val="solid"/>
          </a:ln>
        </p:spPr>
      </p:sp>
      <p:sp>
        <p:nvSpPr>
          <p:cNvPr id="12" name="Text 10"/>
          <p:cNvSpPr/>
          <p:nvPr/>
        </p:nvSpPr>
        <p:spPr>
          <a:xfrm>
            <a:off x="1124712" y="196596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Private data</a:t>
            </a:r>
            <a:endParaRPr lang="en-US" sz="1120" dirty="0"/>
          </a:p>
        </p:txBody>
      </p:sp>
      <p:sp>
        <p:nvSpPr>
          <p:cNvPr id="13" name="Text 11"/>
          <p:cNvSpPr/>
          <p:nvPr/>
        </p:nvSpPr>
        <p:spPr>
          <a:xfrm>
            <a:off x="1124712" y="225856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Remove names, contact info, financial details, and sensitive context before using public tools.</a:t>
            </a:r>
            <a:endParaRPr lang="en-US" sz="1070" dirty="0"/>
          </a:p>
        </p:txBody>
      </p:sp>
      <p:sp>
        <p:nvSpPr>
          <p:cNvPr id="14" name="Shape 12"/>
          <p:cNvSpPr/>
          <p:nvPr/>
        </p:nvSpPr>
        <p:spPr>
          <a:xfrm>
            <a:off x="5943600" y="1783080"/>
            <a:ext cx="4526280" cy="1042416"/>
          </a:xfrm>
          <a:prstGeom prst="roundRect">
            <a:avLst>
              <a:gd name="adj" fmla="val 5263"/>
            </a:avLst>
          </a:prstGeom>
          <a:solidFill>
            <a:srgbClr val="FFFFFF"/>
          </a:solidFill>
          <a:ln w="10160">
            <a:solidFill>
              <a:srgbClr val="D8E6E8"/>
            </a:solidFill>
            <a:prstDash val="solid"/>
          </a:ln>
        </p:spPr>
      </p:sp>
      <p:sp>
        <p:nvSpPr>
          <p:cNvPr id="15" name="Text 13"/>
          <p:cNvSpPr/>
          <p:nvPr/>
        </p:nvSpPr>
        <p:spPr>
          <a:xfrm>
            <a:off x="6199632" y="196596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Advertising</a:t>
            </a:r>
            <a:endParaRPr lang="en-US" sz="1120" dirty="0"/>
          </a:p>
        </p:txBody>
      </p:sp>
      <p:sp>
        <p:nvSpPr>
          <p:cNvPr id="16" name="Text 14"/>
          <p:cNvSpPr/>
          <p:nvPr/>
        </p:nvSpPr>
        <p:spPr>
          <a:xfrm>
            <a:off x="6199632" y="225856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Review claims, disclosures, brokerage rules, and platform requirements.</a:t>
            </a:r>
            <a:endParaRPr lang="en-US" sz="1070" dirty="0"/>
          </a:p>
        </p:txBody>
      </p:sp>
      <p:sp>
        <p:nvSpPr>
          <p:cNvPr id="17" name="Shape 15"/>
          <p:cNvSpPr/>
          <p:nvPr/>
        </p:nvSpPr>
        <p:spPr>
          <a:xfrm>
            <a:off x="868680" y="3200400"/>
            <a:ext cx="4526280" cy="1042416"/>
          </a:xfrm>
          <a:prstGeom prst="roundRect">
            <a:avLst>
              <a:gd name="adj" fmla="val 5263"/>
            </a:avLst>
          </a:prstGeom>
          <a:solidFill>
            <a:srgbClr val="EAF7F7"/>
          </a:solidFill>
          <a:ln w="10160">
            <a:solidFill>
              <a:srgbClr val="D8E6E8"/>
            </a:solidFill>
            <a:prstDash val="solid"/>
          </a:ln>
        </p:spPr>
      </p:sp>
      <p:sp>
        <p:nvSpPr>
          <p:cNvPr id="18" name="Text 16"/>
          <p:cNvSpPr/>
          <p:nvPr/>
        </p:nvSpPr>
        <p:spPr>
          <a:xfrm>
            <a:off x="1124712" y="338328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MLS</a:t>
            </a:r>
            <a:endParaRPr lang="en-US" sz="1120" dirty="0"/>
          </a:p>
        </p:txBody>
      </p:sp>
      <p:sp>
        <p:nvSpPr>
          <p:cNvPr id="19" name="Text 17"/>
          <p:cNvSpPr/>
          <p:nvPr/>
        </p:nvSpPr>
        <p:spPr>
          <a:xfrm>
            <a:off x="1124712" y="367588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Follow MLS rules for listing data, remarks, photos, and public display.</a:t>
            </a:r>
            <a:endParaRPr lang="en-US" sz="1070" dirty="0"/>
          </a:p>
        </p:txBody>
      </p:sp>
      <p:sp>
        <p:nvSpPr>
          <p:cNvPr id="20" name="Shape 18"/>
          <p:cNvSpPr/>
          <p:nvPr/>
        </p:nvSpPr>
        <p:spPr>
          <a:xfrm>
            <a:off x="5943600" y="3200400"/>
            <a:ext cx="4526280" cy="1042416"/>
          </a:xfrm>
          <a:prstGeom prst="roundRect">
            <a:avLst>
              <a:gd name="adj" fmla="val 5263"/>
            </a:avLst>
          </a:prstGeom>
          <a:solidFill>
            <a:srgbClr val="FFFFFF"/>
          </a:solidFill>
          <a:ln w="10160">
            <a:solidFill>
              <a:srgbClr val="D8E6E8"/>
            </a:solidFill>
            <a:prstDash val="solid"/>
          </a:ln>
        </p:spPr>
      </p:sp>
      <p:sp>
        <p:nvSpPr>
          <p:cNvPr id="21" name="Text 19"/>
          <p:cNvSpPr/>
          <p:nvPr/>
        </p:nvSpPr>
        <p:spPr>
          <a:xfrm>
            <a:off x="6199632" y="338328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Consumer communication</a:t>
            </a:r>
            <a:endParaRPr lang="en-US" sz="1120" dirty="0"/>
          </a:p>
        </p:txBody>
      </p:sp>
      <p:sp>
        <p:nvSpPr>
          <p:cNvPr id="22" name="Text 20"/>
          <p:cNvSpPr/>
          <p:nvPr/>
        </p:nvSpPr>
        <p:spPr>
          <a:xfrm>
            <a:off x="6199632" y="367588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Keep records, respect opt-outs, and do not automate beyond policy.</a:t>
            </a:r>
            <a:endParaRPr lang="en-US" sz="107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42/46</a:t>
            </a:r>
            <a:endParaRPr lang="en-US" sz="72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43/46</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868680" y="1719072"/>
            <a:ext cx="9829800" cy="530352"/>
          </a:xfrm>
          <a:prstGeom prst="roundRect">
            <a:avLst>
              <a:gd name="adj" fmla="val 10345"/>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Draft a client message from these notes: [notes]. Make it concise, warm, and specific.</a:t>
            </a:r>
            <a:endParaRPr lang="en-US" sz="1280" dirty="0"/>
          </a:p>
        </p:txBody>
      </p:sp>
      <p:sp>
        <p:nvSpPr>
          <p:cNvPr id="15" name="Shape 13"/>
          <p:cNvSpPr/>
          <p:nvPr/>
        </p:nvSpPr>
        <p:spPr>
          <a:xfrm>
            <a:off x="868680" y="2395728"/>
            <a:ext cx="9829800" cy="530352"/>
          </a:xfrm>
          <a:prstGeom prst="roundRect">
            <a:avLst>
              <a:gd name="adj" fmla="val 10345"/>
            </a:avLst>
          </a:prstGeom>
          <a:solidFill>
            <a:srgbClr val="FFFFFF"/>
          </a:solidFill>
          <a:ln w="10160">
            <a:solidFill>
              <a:srgbClr val="D8E6E8"/>
            </a:solidFill>
            <a:prstDash val="solid"/>
          </a:ln>
        </p:spPr>
      </p:sp>
      <p:sp>
        <p:nvSpPr>
          <p:cNvPr id="16" name="Shape 14"/>
          <p:cNvSpPr/>
          <p:nvPr/>
        </p:nvSpPr>
        <p:spPr>
          <a:xfrm>
            <a:off x="1078992" y="247802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6946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96312"/>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Create three versions of this follow-up: text, email, and voicemail.</a:t>
            </a:r>
            <a:endParaRPr lang="en-US" sz="1280" dirty="0"/>
          </a:p>
        </p:txBody>
      </p:sp>
      <p:sp>
        <p:nvSpPr>
          <p:cNvPr id="19" name="Shape 17"/>
          <p:cNvSpPr/>
          <p:nvPr/>
        </p:nvSpPr>
        <p:spPr>
          <a:xfrm>
            <a:off x="868680" y="3072384"/>
            <a:ext cx="9829800" cy="530352"/>
          </a:xfrm>
          <a:prstGeom prst="roundRect">
            <a:avLst>
              <a:gd name="adj" fmla="val 10345"/>
            </a:avLst>
          </a:prstGeom>
          <a:solidFill>
            <a:srgbClr val="EAF7F7"/>
          </a:solidFill>
          <a:ln w="10160">
            <a:solidFill>
              <a:srgbClr val="B8DDE0"/>
            </a:solidFill>
            <a:prstDash val="solid"/>
          </a:ln>
        </p:spPr>
      </p:sp>
      <p:sp>
        <p:nvSpPr>
          <p:cNvPr id="20" name="Shape 18"/>
          <p:cNvSpPr/>
          <p:nvPr/>
        </p:nvSpPr>
        <p:spPr>
          <a:xfrm>
            <a:off x="1078992" y="3154680"/>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246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172968"/>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Review this message for accuracy, Fair Housing risk, and claims I should verify.</a:t>
            </a:r>
            <a:endParaRPr lang="en-US" sz="1280" dirty="0"/>
          </a:p>
        </p:txBody>
      </p:sp>
      <p:sp>
        <p:nvSpPr>
          <p:cNvPr id="23" name="Shape 21"/>
          <p:cNvSpPr/>
          <p:nvPr/>
        </p:nvSpPr>
        <p:spPr>
          <a:xfrm>
            <a:off x="868680" y="3749040"/>
            <a:ext cx="9829800" cy="530352"/>
          </a:xfrm>
          <a:prstGeom prst="roundRect">
            <a:avLst>
              <a:gd name="adj" fmla="val 10345"/>
            </a:avLst>
          </a:prstGeom>
          <a:solidFill>
            <a:srgbClr val="FFFFFF"/>
          </a:solidFill>
          <a:ln w="10160">
            <a:solidFill>
              <a:srgbClr val="D8E6E8"/>
            </a:solidFill>
            <a:prstDash val="solid"/>
          </a:ln>
        </p:spPr>
      </p:sp>
      <p:sp>
        <p:nvSpPr>
          <p:cNvPr id="24" name="Shape 22"/>
          <p:cNvSpPr/>
          <p:nvPr/>
        </p:nvSpPr>
        <p:spPr>
          <a:xfrm>
            <a:off x="1078992" y="3831336"/>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92277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849624"/>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Turn these verified listing facts into a listing paragraph, social caption, and open house invite.</a:t>
            </a:r>
            <a:endParaRPr lang="en-US" sz="1280" dirty="0"/>
          </a:p>
        </p:txBody>
      </p:sp>
      <p:sp>
        <p:nvSpPr>
          <p:cNvPr id="27" name="Shape 25"/>
          <p:cNvSpPr/>
          <p:nvPr/>
        </p:nvSpPr>
        <p:spPr>
          <a:xfrm>
            <a:off x="868680" y="4425696"/>
            <a:ext cx="9829800" cy="530352"/>
          </a:xfrm>
          <a:prstGeom prst="roundRect">
            <a:avLst>
              <a:gd name="adj" fmla="val 10345"/>
            </a:avLst>
          </a:prstGeom>
          <a:solidFill>
            <a:srgbClr val="EAF7F7"/>
          </a:solidFill>
          <a:ln w="10160">
            <a:solidFill>
              <a:srgbClr val="B8DDE0"/>
            </a:solidFill>
            <a:prstDash val="solid"/>
          </a:ln>
        </p:spPr>
      </p:sp>
      <p:sp>
        <p:nvSpPr>
          <p:cNvPr id="28" name="Shape 26"/>
          <p:cNvSpPr/>
          <p:nvPr/>
        </p:nvSpPr>
        <p:spPr>
          <a:xfrm>
            <a:off x="1078992" y="4507992"/>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59943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526280"/>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Role-play as [buyer/seller type] and help me practice responding professionally.</a:t>
            </a:r>
            <a:endParaRPr lang="en-US" sz="128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44/46</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SAVE CONTEXT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best prompt</a:t>
            </a:r>
            <a:endParaRPr lang="en-US" sz="118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verified fact block</a:t>
            </a:r>
            <a:endParaRPr lang="en-US" sz="118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final reviewed version</a:t>
            </a:r>
            <a:endParaRPr lang="en-US" sz="118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Note what worked</a:t>
            </a:r>
            <a:endParaRPr lang="en-US" sz="118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Reuse as a template next time</a:t>
            </a:r>
            <a:endParaRPr lang="en-US" sz="118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45/46</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ACTION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a:t>
            </a:r>
            <a:endParaRPr lang="en-US" sz="30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Choose one workflow</a:t>
            </a:r>
            <a:endParaRPr lang="en-US" sz="118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Write one reusable prompt</a:t>
            </a:r>
            <a:endParaRPr lang="en-US" sz="118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Use it three times</a:t>
            </a:r>
            <a:endParaRPr lang="en-US" sz="118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what worked</a:t>
            </a:r>
            <a:endParaRPr lang="en-US" sz="118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Review before using with clients</a:t>
            </a:r>
            <a:endParaRPr lang="en-US" sz="118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46/46</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2026-06-04T20:22:28Z</dcterms:created>
  <dcterms:modified xsi:type="dcterms:W3CDTF">2026-06-04T20:22:28Z</dcterms:modified>
</cp:coreProperties>
</file>