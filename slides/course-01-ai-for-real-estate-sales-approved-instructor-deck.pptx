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bio brief. Keep company context minimal and educational. Do not turn this into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course as a confidence-builder for busy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objectives are preserved from the approved syllabus.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timing as the approved two-hour path. The segments total 120 minutes. Exercises may expand or compress slightly, but keep the overall class within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the risk in this sentence. "Family neighborhood" can create Fair Housing risk. "Young professionals" can imply demographic targeting. "Best schools" needs verification and may create risk if used carelessly. "Quiet" may be subjective and should be used carefully. Safer rewrite: "This home offers convenient access to nearby parks, dining, and local amenities. Buyers are encouraged to review school information and neighborhood details using their own preferred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confirm the latest availability and also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or exaggerated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AI saves time across repeated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compliance reminder slide. Avoid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customize the bracketed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slide. Keep it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attendee to choose one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attendees to authoritative sources and broker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cleanly. Invite final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Ian Burton Price is a REALTOR with Dalton Wade Real Estate Group and serves as V.P. of Growth and Partnerships at GoHouse.ai. His work focuses on practical AI adoption, buyer-intent intelligence, lead follow-up, agent productivity, and business development within the real estate industry.
Ian brings experience across real estate sales, online lead generation, call systems, CRM-adjacent workflows, automation, and client communication systems. His teaching approach is practical and workflow-driven, helping agents understand how AI can support everyday tasks such as follow-up, listing preparation, client updates, appointment preparation, and business operations.
Rather than treating AI as a replacement for professional judgment, Ian emphasizes responsible use, human review, privacy awareness, Fair Housing sensitivity, and brokerage compliance. His goal is to help real estate professionals use technology more confidently, communicate more clearly, and build repeatable systems that support better client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remaining time for questions, examples, and follow-up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7955280" y="-502920"/>
            <a:ext cx="4389120" cy="4389120"/>
          </a:xfrm>
          <a:prstGeom prst="arc">
            <a:avLst/>
          </a:prstGeom>
          <a:solidFill>
            <a:srgbClr val="16324F">
              <a:alpha val="0"/>
            </a:srgbClr>
          </a:solidFill>
          <a:ln w="25400">
            <a:solidFill>
              <a:srgbClr val="5FBDBD">
                <a:alpha val="80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Text 4"/>
          <p:cNvSpPr/>
          <p:nvPr/>
        </p:nvSpPr>
        <p:spPr>
          <a:xfrm>
            <a:off x="7315200" y="2788920"/>
            <a:ext cx="3931920" cy="1097280"/>
          </a:xfrm>
          <a:prstGeom prst="rect">
            <a:avLst/>
          </a:prstGeom>
          <a:noFill/>
          <a:ln/>
        </p:spPr>
        <p:txBody>
          <a:bodyPr wrap="square" lIns="0" tIns="0" rIns="0" bIns="0" rtlCol="0" anchor="ctr">
            <a:normAutofit/>
          </a:bodyPr>
          <a:lstStyle/>
          <a:p>
            <a:pPr indent="0" marL="0">
              <a:buNone/>
            </a:pPr>
            <a:r>
              <a:rPr lang="en-US" sz="10800" b="1" dirty="0">
                <a:solidFill>
                  <a:srgbClr val="254B6B"/>
                </a:solidFill>
                <a:latin typeface="Aptos Display" pitchFamily="34" charset="0"/>
                <a:ea typeface="Aptos Display" pitchFamily="34" charset="-122"/>
                <a:cs typeface="Aptos Display" pitchFamily="34" charset="-120"/>
              </a:rPr>
              <a:t>AI</a:t>
            </a:r>
            <a:endParaRPr lang="en-US" sz="10800" dirty="0"/>
          </a:p>
        </p:txBody>
      </p:sp>
      <p:sp>
        <p:nvSpPr>
          <p:cNvPr id="7" name="Text 5"/>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8" name="Text 6"/>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9" name="Text 7"/>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0" name="Shape 8"/>
          <p:cNvSpPr/>
          <p:nvPr/>
        </p:nvSpPr>
        <p:spPr>
          <a:xfrm>
            <a:off x="749808" y="3054096"/>
            <a:ext cx="2011680" cy="0"/>
          </a:xfrm>
          <a:prstGeom prst="line">
            <a:avLst/>
          </a:prstGeom>
          <a:noFill/>
          <a:ln w="50800">
            <a:solidFill>
              <a:srgbClr val="F45B69"/>
            </a:solidFill>
            <a:prstDash val="solid"/>
          </a:ln>
        </p:spPr>
      </p:sp>
      <p:sp>
        <p:nvSpPr>
          <p:cNvPr id="11" name="Shape 9"/>
          <p:cNvSpPr/>
          <p:nvPr/>
        </p:nvSpPr>
        <p:spPr>
          <a:xfrm>
            <a:off x="749808" y="3364992"/>
            <a:ext cx="1572768" cy="310896"/>
          </a:xfrm>
          <a:prstGeom prst="roundRect">
            <a:avLst>
              <a:gd name="adj" fmla="val 11765"/>
            </a:avLst>
          </a:prstGeom>
          <a:solidFill>
            <a:srgbClr val="008F8F"/>
          </a:solidFill>
          <a:ln w="12700">
            <a:solidFill>
              <a:srgbClr val="008F8F"/>
            </a:solidFill>
            <a:prstDash val="solid"/>
          </a:ln>
        </p:spPr>
      </p:sp>
      <p:sp>
        <p:nvSpPr>
          <p:cNvPr id="12" name="Text 10"/>
          <p:cNvSpPr/>
          <p:nvPr/>
        </p:nvSpPr>
        <p:spPr>
          <a:xfrm>
            <a:off x="877824" y="3451860"/>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3" name="Shape 11"/>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4" name="Image 0" descr="C:\Users\TR4_1950X\Documents\New project\assets\brand\miami-realtors-rworld-combined-logo.png">    </p:cNvPr>
          <p:cNvPicPr>
            <a:picLocks noChangeAspect="1"/>
          </p:cNvPicPr>
          <p:nvPr/>
        </p:nvPicPr>
        <p:blipFill>
          <a:blip r:embed="rId1"/>
          <a:stretch>
            <a:fillRect/>
          </a:stretch>
        </p:blipFill>
        <p:spPr>
          <a:xfrm>
            <a:off x="749808" y="4315968"/>
            <a:ext cx="3988979" cy="599846"/>
          </a:xfrm>
          <a:prstGeom prst="rect">
            <a:avLst/>
          </a:prstGeom>
        </p:spPr>
      </p:pic>
      <p:sp>
        <p:nvSpPr>
          <p:cNvPr id="15" name="Text 12"/>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16" name="Text 13"/>
          <p:cNvSpPr/>
          <p:nvPr/>
        </p:nvSpPr>
        <p:spPr>
          <a:xfrm>
            <a:off x="749808" y="5760720"/>
            <a:ext cx="4937760" cy="201168"/>
          </a:xfrm>
          <a:prstGeom prst="rect">
            <a:avLst/>
          </a:prstGeom>
          <a:noFill/>
          <a:ln/>
        </p:spPr>
        <p:txBody>
          <a:bodyPr wrap="square" lIns="0" tIns="0" rIns="0" bIns="0" rtlCol="0" anchor="ctr"/>
          <a:lstStyle/>
          <a:p>
            <a:pPr indent="0" marL="0">
              <a:buNone/>
            </a:pPr>
            <a:r>
              <a:rPr lang="en-US" sz="950" dirty="0">
                <a:solidFill>
                  <a:srgbClr val="AFC8CF"/>
                </a:solidFill>
              </a:rPr>
              <a:t>Practical AI Training for Real Estate Professionals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Today is about workflows, not software demos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Instructor: Ian Burton Price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Real estate technology, online lead workflows, and practical AI adoption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Focus: usable sales communication, follow-up, listing prep, and daily productivity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Questions are welcome throughout the class</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2/50</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By the end, AI should feel usable in your normal sales day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Draft clearer client messages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up with more consistency</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for buyer and seller conversations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listing and marketing drafts faster</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with privacy, Fair Housing, and professional review in mind</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3/50</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APPROVED OBJECTIVES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Approved learning objectives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440" dirty="0">
                <a:solidFill>
                  <a:srgbClr val="102033"/>
                </a:solidFill>
                <a:latin typeface="Aptos" pitchFamily="34" charset="0"/>
                <a:ea typeface="Aptos" pitchFamily="34" charset="-122"/>
                <a:cs typeface="Aptos" pitchFamily="34" charset="-120"/>
              </a:rPr>
              <a:t>Explain what AI can and cannot do in a real estate sales environment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Use AI to draft emails, text messages, listing copy, and client updates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Personalize buyer and seller communication with better context</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Prepare for appointments, objections, and follow-up conversations</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Build a simple daily AI workflow for productivity and consistency</a:t>
            </a:r>
            <a:endParaRPr lang="en-US" sz="1440" dirty="0"/>
          </a:p>
          <a:p>
            <a:pPr marL="203200" indent="-203200">
              <a:buSzPct val="100000"/>
              <a:buChar char="•"/>
            </a:pPr>
            <a:r>
              <a:rPr lang="en-US" sz="1440" dirty="0">
                <a:solidFill>
                  <a:srgbClr val="102033"/>
                </a:solidFill>
                <a:latin typeface="Aptos" pitchFamily="34" charset="0"/>
                <a:ea typeface="Aptos" pitchFamily="34" charset="-122"/>
                <a:cs typeface="Aptos" pitchFamily="34" charset="-120"/>
              </a:rPr>
              <a:t>Identify basic risks involving accuracy, privacy, Fair Housing, and overreliance</a:t>
            </a:r>
            <a:endParaRPr lang="en-US" sz="144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What this class builds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 practical AI workflow for real estate sales, not a technical certification.</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4/50</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The two-hour path</a:t>
            </a:r>
            <a:endParaRPr lang="en-US" sz="2800" dirty="0"/>
          </a:p>
        </p:txBody>
      </p:sp>
      <p:sp>
        <p:nvSpPr>
          <p:cNvPr id="11" name="Text 9"/>
          <p:cNvSpPr/>
          <p:nvPr/>
        </p:nvSpPr>
        <p:spPr>
          <a:xfrm>
            <a:off x="786384" y="1444752"/>
            <a:ext cx="5303520" cy="201168"/>
          </a:xfrm>
          <a:prstGeom prst="rect">
            <a:avLst/>
          </a:prstGeom>
          <a:noFill/>
          <a:ln/>
        </p:spPr>
        <p:txBody>
          <a:bodyPr wrap="square" lIns="0" tIns="0" rIns="0" bIns="0" rtlCol="0" anchor="ctr"/>
          <a:lstStyle/>
          <a:p>
            <a:pPr indent="0" marL="0">
              <a:buNone/>
            </a:pPr>
            <a:r>
              <a:rPr lang="en-US" sz="1050" b="1" dirty="0">
                <a:solidFill>
                  <a:srgbClr val="52606D"/>
                </a:solidFill>
              </a:rPr>
              <a:t>120 minutes: 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22m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13m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 / wrap-up</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5/50</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Welcome and 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a practical assistant, not a replacement for licensed judgment.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Consumers expect quick, clear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Most agents have more follow-up tasks than hours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AI reduces blank-page time for common communication tasks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The advantage is not using AI once; it is using it repeatably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7/50</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8/50</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28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9/50</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What AI Is Good At - And Where It Gets Risky</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Use AI for drafting and structure. Verify facts before clients see them.</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28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11/50</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TOOL CHECK</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Before you use an AI tool</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Check brokerage policy before using client or transaction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pasting private client details into public AI tools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property, MLS, and market data</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every message before sending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Keep AI as a drafting assistant, not the final authority</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Make it usable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Turn each example into one repeatable workflow you can use this week.</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12/50</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13/50</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Compliance risk check</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14/50</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Better instruction creates safer output</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Write a listing description for a nice house in Coral Gables.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15/50</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Use the real estate prompt formula</a:t>
            </a:r>
            <a:endParaRPr lang="en-US" sz="2800" dirty="0"/>
          </a:p>
        </p:txBody>
      </p:sp>
      <p:sp>
        <p:nvSpPr>
          <p:cNvPr id="11" name="Shape 9"/>
          <p:cNvSpPr/>
          <p:nvPr/>
        </p:nvSpPr>
        <p:spPr>
          <a:xfrm>
            <a:off x="749808" y="1828800"/>
            <a:ext cx="3246120" cy="960120"/>
          </a:xfrm>
          <a:prstGeom prst="roundRect">
            <a:avLst>
              <a:gd name="adj" fmla="val 5714"/>
            </a:avLst>
          </a:prstGeom>
          <a:solidFill>
            <a:srgbClr val="FFFFFF"/>
          </a:solidFill>
          <a:ln w="10160">
            <a:solidFill>
              <a:srgbClr val="D8E6E8"/>
            </a:solidFill>
            <a:prstDash val="solid"/>
          </a:ln>
        </p:spPr>
      </p:sp>
      <p:sp>
        <p:nvSpPr>
          <p:cNvPr id="12" name="Text 10"/>
          <p:cNvSpPr/>
          <p:nvPr/>
        </p:nvSpPr>
        <p:spPr>
          <a:xfrm>
            <a:off x="969264"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Role</a:t>
            </a:r>
            <a:endParaRPr lang="en-US" sz="950" dirty="0"/>
          </a:p>
        </p:txBody>
      </p:sp>
      <p:sp>
        <p:nvSpPr>
          <p:cNvPr id="13" name="Text 11"/>
          <p:cNvSpPr/>
          <p:nvPr/>
        </p:nvSpPr>
        <p:spPr>
          <a:xfrm>
            <a:off x="969264"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You are helping me as a real estate professional</a:t>
            </a:r>
            <a:endParaRPr lang="en-US" sz="1150" dirty="0"/>
          </a:p>
        </p:txBody>
      </p:sp>
      <p:sp>
        <p:nvSpPr>
          <p:cNvPr id="14" name="Shape 12"/>
          <p:cNvSpPr/>
          <p:nvPr/>
        </p:nvSpPr>
        <p:spPr>
          <a:xfrm>
            <a:off x="4425696" y="1828800"/>
            <a:ext cx="3246120" cy="960120"/>
          </a:xfrm>
          <a:prstGeom prst="roundRect">
            <a:avLst>
              <a:gd name="adj" fmla="val 5714"/>
            </a:avLst>
          </a:prstGeom>
          <a:solidFill>
            <a:srgbClr val="FFFFFF"/>
          </a:solidFill>
          <a:ln w="10160">
            <a:solidFill>
              <a:srgbClr val="D8E6E8"/>
            </a:solidFill>
            <a:prstDash val="solid"/>
          </a:ln>
        </p:spPr>
      </p:sp>
      <p:sp>
        <p:nvSpPr>
          <p:cNvPr id="15" name="Text 13"/>
          <p:cNvSpPr/>
          <p:nvPr/>
        </p:nvSpPr>
        <p:spPr>
          <a:xfrm>
            <a:off x="4645152"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Task</a:t>
            </a:r>
            <a:endParaRPr lang="en-US" sz="950" dirty="0"/>
          </a:p>
        </p:txBody>
      </p:sp>
      <p:sp>
        <p:nvSpPr>
          <p:cNvPr id="16" name="Text 14"/>
          <p:cNvSpPr/>
          <p:nvPr/>
        </p:nvSpPr>
        <p:spPr>
          <a:xfrm>
            <a:off x="4645152"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Draft a text / email / script / checklist</a:t>
            </a:r>
            <a:endParaRPr lang="en-US" sz="1150" dirty="0"/>
          </a:p>
        </p:txBody>
      </p:sp>
      <p:sp>
        <p:nvSpPr>
          <p:cNvPr id="17" name="Shape 15"/>
          <p:cNvSpPr/>
          <p:nvPr/>
        </p:nvSpPr>
        <p:spPr>
          <a:xfrm>
            <a:off x="8101584" y="1828800"/>
            <a:ext cx="3246120" cy="960120"/>
          </a:xfrm>
          <a:prstGeom prst="roundRect">
            <a:avLst>
              <a:gd name="adj" fmla="val 5714"/>
            </a:avLst>
          </a:prstGeom>
          <a:solidFill>
            <a:srgbClr val="FFFFFF"/>
          </a:solidFill>
          <a:ln w="10160">
            <a:solidFill>
              <a:srgbClr val="D8E6E8"/>
            </a:solidFill>
            <a:prstDash val="solid"/>
          </a:ln>
        </p:spPr>
      </p:sp>
      <p:sp>
        <p:nvSpPr>
          <p:cNvPr id="18" name="Text 16"/>
          <p:cNvSpPr/>
          <p:nvPr/>
        </p:nvSpPr>
        <p:spPr>
          <a:xfrm>
            <a:off x="8321040" y="199339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Context</a:t>
            </a:r>
            <a:endParaRPr lang="en-US" sz="950" dirty="0"/>
          </a:p>
        </p:txBody>
      </p:sp>
      <p:sp>
        <p:nvSpPr>
          <p:cNvPr id="19" name="Text 17"/>
          <p:cNvSpPr/>
          <p:nvPr/>
        </p:nvSpPr>
        <p:spPr>
          <a:xfrm>
            <a:off x="8321040" y="226771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Client situation, property, timeline, concern</a:t>
            </a:r>
            <a:endParaRPr lang="en-US" sz="1150" dirty="0"/>
          </a:p>
        </p:txBody>
      </p:sp>
      <p:sp>
        <p:nvSpPr>
          <p:cNvPr id="20" name="Shape 18"/>
          <p:cNvSpPr/>
          <p:nvPr/>
        </p:nvSpPr>
        <p:spPr>
          <a:xfrm>
            <a:off x="749808" y="3154680"/>
            <a:ext cx="3246120" cy="960120"/>
          </a:xfrm>
          <a:prstGeom prst="roundRect">
            <a:avLst>
              <a:gd name="adj" fmla="val 5714"/>
            </a:avLst>
          </a:prstGeom>
          <a:solidFill>
            <a:srgbClr val="FFFFFF"/>
          </a:solidFill>
          <a:ln w="10160">
            <a:solidFill>
              <a:srgbClr val="D8E6E8"/>
            </a:solidFill>
            <a:prstDash val="solid"/>
          </a:ln>
        </p:spPr>
      </p:sp>
      <p:sp>
        <p:nvSpPr>
          <p:cNvPr id="21" name="Text 19"/>
          <p:cNvSpPr/>
          <p:nvPr/>
        </p:nvSpPr>
        <p:spPr>
          <a:xfrm>
            <a:off x="969264"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Tone</a:t>
            </a:r>
            <a:endParaRPr lang="en-US" sz="950" dirty="0"/>
          </a:p>
        </p:txBody>
      </p:sp>
      <p:sp>
        <p:nvSpPr>
          <p:cNvPr id="22" name="Text 20"/>
          <p:cNvSpPr/>
          <p:nvPr/>
        </p:nvSpPr>
        <p:spPr>
          <a:xfrm>
            <a:off x="969264"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Warm, concise, direct, educational</a:t>
            </a:r>
            <a:endParaRPr lang="en-US" sz="1150" dirty="0"/>
          </a:p>
        </p:txBody>
      </p:sp>
      <p:sp>
        <p:nvSpPr>
          <p:cNvPr id="23" name="Shape 21"/>
          <p:cNvSpPr/>
          <p:nvPr/>
        </p:nvSpPr>
        <p:spPr>
          <a:xfrm>
            <a:off x="4425696" y="3154680"/>
            <a:ext cx="3246120" cy="960120"/>
          </a:xfrm>
          <a:prstGeom prst="roundRect">
            <a:avLst>
              <a:gd name="adj" fmla="val 5714"/>
            </a:avLst>
          </a:prstGeom>
          <a:solidFill>
            <a:srgbClr val="FFFFFF"/>
          </a:solidFill>
          <a:ln w="10160">
            <a:solidFill>
              <a:srgbClr val="D8E6E8"/>
            </a:solidFill>
            <a:prstDash val="solid"/>
          </a:ln>
        </p:spPr>
      </p:sp>
      <p:sp>
        <p:nvSpPr>
          <p:cNvPr id="24" name="Text 22"/>
          <p:cNvSpPr/>
          <p:nvPr/>
        </p:nvSpPr>
        <p:spPr>
          <a:xfrm>
            <a:off x="4645152"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Constraints</a:t>
            </a:r>
            <a:endParaRPr lang="en-US" sz="950" dirty="0"/>
          </a:p>
        </p:txBody>
      </p:sp>
      <p:sp>
        <p:nvSpPr>
          <p:cNvPr id="25" name="Text 23"/>
          <p:cNvSpPr/>
          <p:nvPr/>
        </p:nvSpPr>
        <p:spPr>
          <a:xfrm>
            <a:off x="4645152"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Avoid claims, private data, Fair Housing risk</a:t>
            </a:r>
            <a:endParaRPr lang="en-US" sz="1150" dirty="0"/>
          </a:p>
        </p:txBody>
      </p:sp>
      <p:sp>
        <p:nvSpPr>
          <p:cNvPr id="26" name="Shape 24"/>
          <p:cNvSpPr/>
          <p:nvPr/>
        </p:nvSpPr>
        <p:spPr>
          <a:xfrm>
            <a:off x="8101584" y="3154680"/>
            <a:ext cx="3246120" cy="960120"/>
          </a:xfrm>
          <a:prstGeom prst="roundRect">
            <a:avLst>
              <a:gd name="adj" fmla="val 5714"/>
            </a:avLst>
          </a:prstGeom>
          <a:solidFill>
            <a:srgbClr val="FFFFFF"/>
          </a:solidFill>
          <a:ln w="10160">
            <a:solidFill>
              <a:srgbClr val="D8E6E8"/>
            </a:solidFill>
            <a:prstDash val="solid"/>
          </a:ln>
        </p:spPr>
      </p:sp>
      <p:sp>
        <p:nvSpPr>
          <p:cNvPr id="27" name="Text 25"/>
          <p:cNvSpPr/>
          <p:nvPr/>
        </p:nvSpPr>
        <p:spPr>
          <a:xfrm>
            <a:off x="8321040" y="3319272"/>
            <a:ext cx="1280160" cy="182880"/>
          </a:xfrm>
          <a:prstGeom prst="rect">
            <a:avLst/>
          </a:prstGeom>
          <a:noFill/>
          <a:ln/>
        </p:spPr>
        <p:txBody>
          <a:bodyPr wrap="square" lIns="0" tIns="0" rIns="0" bIns="0" rtlCol="0" anchor="ctr"/>
          <a:lstStyle/>
          <a:p>
            <a:pPr indent="0" marL="0">
              <a:buNone/>
            </a:pPr>
            <a:r>
              <a:rPr lang="en-US" sz="950" b="1" dirty="0">
                <a:solidFill>
                  <a:srgbClr val="008F8F"/>
                </a:solidFill>
              </a:rPr>
              <a:t>Goal</a:t>
            </a:r>
            <a:endParaRPr lang="en-US" sz="950" dirty="0"/>
          </a:p>
        </p:txBody>
      </p:sp>
      <p:sp>
        <p:nvSpPr>
          <p:cNvPr id="28" name="Text 26"/>
          <p:cNvSpPr/>
          <p:nvPr/>
        </p:nvSpPr>
        <p:spPr>
          <a:xfrm>
            <a:off x="8321040" y="3593592"/>
            <a:ext cx="2743200" cy="256032"/>
          </a:xfrm>
          <a:prstGeom prst="rect">
            <a:avLst/>
          </a:prstGeom>
          <a:noFill/>
          <a:ln/>
        </p:spPr>
        <p:txBody>
          <a:bodyPr wrap="square" lIns="0" tIns="0" rIns="0" bIns="0" rtlCol="0" anchor="ctr">
            <a:normAutofit/>
          </a:bodyPr>
          <a:lstStyle/>
          <a:p>
            <a:pPr indent="0" marL="0">
              <a:buNone/>
            </a:pPr>
            <a:r>
              <a:rPr lang="en-US" sz="1150" dirty="0">
                <a:solidFill>
                  <a:srgbClr val="102033"/>
                </a:solidFill>
              </a:rPr>
              <a:t>Reply, next step, clarity, appointment</a:t>
            </a:r>
            <a:endParaRPr lang="en-US" sz="11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17/50</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follow-up: clear, short, useful</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buyer toured two condos, liked one, but is worried about monthly payment.</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18/50</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28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A listing had showings but no offers this week.</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19/50</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Improve this follow-up message</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20/50</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Reusable communication prompts</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Rewrite this text so it sounds warm, concise, and natural for a REALTOR: [draft]</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a buyer follow-up email based on these call notes: [notes]. Ask one clear next-step question.</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seller update after a quiet week. Be honest, professional, and solution-oriented.</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Give me three tone options: concise, reassuring, and more direct.</a:t>
            </a:r>
            <a:endParaRPr lang="en-US" sz="1260" dirty="0"/>
          </a:p>
        </p:txBody>
      </p:sp>
      <p:sp>
        <p:nvSpPr>
          <p:cNvPr id="27" name="Shape 25"/>
          <p:cNvSpPr/>
          <p:nvPr/>
        </p:nvSpPr>
        <p:spPr>
          <a:xfrm>
            <a:off x="502920" y="6473952"/>
            <a:ext cx="11201400" cy="0"/>
          </a:xfrm>
          <a:prstGeom prst="line">
            <a:avLst/>
          </a:prstGeom>
          <a:noFill/>
          <a:ln w="9525">
            <a:solidFill>
              <a:srgbClr val="D8E6E8"/>
            </a:solidFill>
            <a:prstDash val="solid"/>
          </a:ln>
        </p:spPr>
      </p:sp>
      <p:sp>
        <p:nvSpPr>
          <p:cNvPr id="28" name="Text 2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9" name="Text 2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21/50</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The goal is not more messages. The goal is better next steps.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3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Online leads often arrive with limited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Speed matters, but fast and generic still feels automated</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Different lead sources need different first responses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Useful follow-up creates a reason to continue the conversation</a:t>
            </a:r>
            <a:endParaRPr lang="en-US" sz="1650" dirty="0"/>
          </a:p>
        </p:txBody>
      </p:sp>
      <p:sp>
        <p:nvSpPr>
          <p:cNvPr id="12" name="Shape 10"/>
          <p:cNvSpPr/>
          <p:nvPr/>
        </p:nvSpPr>
        <p:spPr>
          <a:xfrm>
            <a:off x="7479792" y="1737360"/>
            <a:ext cx="91440" cy="2971800"/>
          </a:xfrm>
          <a:prstGeom prst="rect">
            <a:avLst/>
          </a:prstGeom>
          <a:solidFill>
            <a:srgbClr val="F2B84B"/>
          </a:solidFill>
          <a:ln w="12700">
            <a:solidFill>
              <a:srgbClr val="F2B84B"/>
            </a:solidFill>
            <a:prstDash val="solid"/>
          </a:ln>
        </p:spPr>
      </p:sp>
      <p:sp>
        <p:nvSpPr>
          <p:cNvPr id="13" name="Shape 11"/>
          <p:cNvSpPr/>
          <p:nvPr/>
        </p:nvSpPr>
        <p:spPr>
          <a:xfrm>
            <a:off x="7607808" y="1828800"/>
            <a:ext cx="3246120" cy="2788920"/>
          </a:xfrm>
          <a:prstGeom prst="roundRect">
            <a:avLst>
              <a:gd name="adj" fmla="val 1967"/>
            </a:avLst>
          </a:prstGeom>
          <a:solidFill>
            <a:srgbClr val="F0F3F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23/50</a:t>
            </a:r>
            <a:endParaRPr lang="en-US" sz="7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Lead note to next-best message</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Capture source + behavior</a:t>
            </a:r>
            <a:endParaRPr lang="en-US" sz="1150" dirty="0"/>
          </a:p>
        </p:txBody>
      </p:sp>
      <p:sp>
        <p:nvSpPr>
          <p:cNvPr id="15" name="Shape 13"/>
          <p:cNvSpPr/>
          <p:nvPr/>
        </p:nvSpPr>
        <p:spPr>
          <a:xfrm>
            <a:off x="246888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46888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2880360" y="2532888"/>
            <a:ext cx="1115568" cy="0"/>
          </a:xfrm>
          <a:prstGeom prst="line">
            <a:avLst/>
          </a:prstGeom>
          <a:noFill/>
          <a:ln w="17780">
            <a:solidFill>
              <a:srgbClr val="D8E6E8"/>
            </a:solidFill>
            <a:prstDash val="solid"/>
            <a:tailEnd type="triangle"/>
          </a:ln>
        </p:spPr>
      </p:sp>
      <p:sp>
        <p:nvSpPr>
          <p:cNvPr id="18" name="Text 16"/>
          <p:cNvSpPr/>
          <p:nvPr/>
        </p:nvSpPr>
        <p:spPr>
          <a:xfrm>
            <a:off x="233172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Identify likely intent</a:t>
            </a:r>
            <a:endParaRPr lang="en-US" sz="1150" dirty="0"/>
          </a:p>
        </p:txBody>
      </p:sp>
      <p:sp>
        <p:nvSpPr>
          <p:cNvPr id="19" name="Shape 17"/>
          <p:cNvSpPr/>
          <p:nvPr/>
        </p:nvSpPr>
        <p:spPr>
          <a:xfrm>
            <a:off x="420624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20624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4617720" y="2532888"/>
            <a:ext cx="1115568" cy="0"/>
          </a:xfrm>
          <a:prstGeom prst="line">
            <a:avLst/>
          </a:prstGeom>
          <a:noFill/>
          <a:ln w="17780">
            <a:solidFill>
              <a:srgbClr val="D8E6E8"/>
            </a:solidFill>
            <a:prstDash val="solid"/>
            <a:tailEnd type="triangle"/>
          </a:ln>
        </p:spPr>
      </p:sp>
      <p:sp>
        <p:nvSpPr>
          <p:cNvPr id="22" name="Text 20"/>
          <p:cNvSpPr/>
          <p:nvPr/>
        </p:nvSpPr>
        <p:spPr>
          <a:xfrm>
            <a:off x="406908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channel</a:t>
            </a:r>
            <a:endParaRPr lang="en-US" sz="1150" dirty="0"/>
          </a:p>
        </p:txBody>
      </p:sp>
      <p:sp>
        <p:nvSpPr>
          <p:cNvPr id="23" name="Shape 21"/>
          <p:cNvSpPr/>
          <p:nvPr/>
        </p:nvSpPr>
        <p:spPr>
          <a:xfrm>
            <a:off x="594360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594360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6355080" y="2532888"/>
            <a:ext cx="1115568" cy="0"/>
          </a:xfrm>
          <a:prstGeom prst="line">
            <a:avLst/>
          </a:prstGeom>
          <a:noFill/>
          <a:ln w="17780">
            <a:solidFill>
              <a:srgbClr val="D8E6E8"/>
            </a:solidFill>
            <a:prstDash val="solid"/>
            <a:tailEnd type="triangle"/>
          </a:ln>
        </p:spPr>
      </p:sp>
      <p:sp>
        <p:nvSpPr>
          <p:cNvPr id="26" name="Text 24"/>
          <p:cNvSpPr/>
          <p:nvPr/>
        </p:nvSpPr>
        <p:spPr>
          <a:xfrm>
            <a:off x="580644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Draft one useful message</a:t>
            </a:r>
            <a:endParaRPr lang="en-US" sz="1150" dirty="0"/>
          </a:p>
        </p:txBody>
      </p:sp>
      <p:sp>
        <p:nvSpPr>
          <p:cNvPr id="27" name="Shape 25"/>
          <p:cNvSpPr/>
          <p:nvPr/>
        </p:nvSpPr>
        <p:spPr>
          <a:xfrm>
            <a:off x="768096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768096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Shape 27"/>
          <p:cNvSpPr/>
          <p:nvPr/>
        </p:nvSpPr>
        <p:spPr>
          <a:xfrm>
            <a:off x="8092440" y="2532888"/>
            <a:ext cx="1115568" cy="0"/>
          </a:xfrm>
          <a:prstGeom prst="line">
            <a:avLst/>
          </a:prstGeom>
          <a:noFill/>
          <a:ln w="17780">
            <a:solidFill>
              <a:srgbClr val="D8E6E8"/>
            </a:solidFill>
            <a:prstDash val="solid"/>
            <a:tailEnd type="triangle"/>
          </a:ln>
        </p:spPr>
      </p:sp>
      <p:sp>
        <p:nvSpPr>
          <p:cNvPr id="30" name="Text 28"/>
          <p:cNvSpPr/>
          <p:nvPr/>
        </p:nvSpPr>
        <p:spPr>
          <a:xfrm>
            <a:off x="754380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Review for accuracy + tone</a:t>
            </a:r>
            <a:endParaRPr lang="en-US" sz="1150" dirty="0"/>
          </a:p>
        </p:txBody>
      </p:sp>
      <p:sp>
        <p:nvSpPr>
          <p:cNvPr id="31" name="Shape 29"/>
          <p:cNvSpPr/>
          <p:nvPr/>
        </p:nvSpPr>
        <p:spPr>
          <a:xfrm>
            <a:off x="9418320" y="2496312"/>
            <a:ext cx="402336" cy="402336"/>
          </a:xfrm>
          <a:prstGeom prst="ellipse">
            <a:avLst/>
          </a:prstGeom>
          <a:solidFill>
            <a:srgbClr val="16324F"/>
          </a:solidFill>
          <a:ln w="12700">
            <a:solidFill>
              <a:srgbClr val="16324F"/>
            </a:solidFill>
            <a:prstDash val="solid"/>
          </a:ln>
        </p:spPr>
      </p:sp>
      <p:sp>
        <p:nvSpPr>
          <p:cNvPr id="32" name="Text 30"/>
          <p:cNvSpPr/>
          <p:nvPr/>
        </p:nvSpPr>
        <p:spPr>
          <a:xfrm>
            <a:off x="94183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3" name="Text 31"/>
          <p:cNvSpPr/>
          <p:nvPr/>
        </p:nvSpPr>
        <p:spPr>
          <a:xfrm>
            <a:off x="9281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Send and log next step</a:t>
            </a:r>
            <a:endParaRPr lang="en-US" sz="1150" dirty="0"/>
          </a:p>
        </p:txBody>
      </p:sp>
      <p:sp>
        <p:nvSpPr>
          <p:cNvPr id="34" name="Shape 32"/>
          <p:cNvSpPr/>
          <p:nvPr/>
        </p:nvSpPr>
        <p:spPr>
          <a:xfrm>
            <a:off x="502920" y="6473952"/>
            <a:ext cx="11201400" cy="0"/>
          </a:xfrm>
          <a:prstGeom prst="line">
            <a:avLst/>
          </a:prstGeom>
          <a:noFill/>
          <a:ln w="9525">
            <a:solidFill>
              <a:srgbClr val="D8E6E8"/>
            </a:solidFill>
            <a:prstDash val="solid"/>
          </a:ln>
        </p:spPr>
      </p:sp>
      <p:sp>
        <p:nvSpPr>
          <p:cNvPr id="35" name="Text 3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24/50</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SYNTHETIC LEAD</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3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3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502920"/>
          </a:xfrm>
          <a:prstGeom prst="rect">
            <a:avLst/>
          </a:prstGeom>
          <a:noFill/>
          <a:ln/>
        </p:spPr>
        <p:txBody>
          <a:bodyPr wrap="square" lIns="381" tIns="381" rIns="381" bIns="381" rtlCol="0" anchor="ctr">
            <a:normAutofit/>
          </a:bodyPr>
          <a:lstStyle/>
          <a:p>
            <a:pPr indent="0" marL="0">
              <a:buNone/>
            </a:pPr>
            <a:r>
              <a:rPr lang="en-US" sz="1280" b="1" dirty="0">
                <a:solidFill>
                  <a:srgbClr val="16324F"/>
                </a:solidFill>
              </a:rPr>
              <a:t>Lead asked: "Is the condo on Brickell still available?"</a:t>
            </a:r>
            <a:endParaRPr lang="en-US" sz="128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87168"/>
            <a:ext cx="4892040" cy="1051560"/>
          </a:xfrm>
          <a:prstGeom prst="rect">
            <a:avLst/>
          </a:prstGeom>
          <a:noFill/>
          <a:ln/>
        </p:spPr>
        <p:txBody>
          <a:bodyPr wrap="square" lIns="381" tIns="381" rIns="381" bIns="381" rtlCol="0" anchor="ctr">
            <a:normAutofit/>
          </a:bodyPr>
          <a:lstStyle/>
          <a:p>
            <a:pPr indent="0" marL="0">
              <a:buNone/>
            </a:pPr>
            <a:r>
              <a:rPr lang="en-US" sz="1320" dirty="0">
                <a:solidFill>
                  <a:srgbClr val="102033"/>
                </a:solidFill>
              </a:rPr>
              <a:t>Weak: "Yes, it is available. Let me know if you want to see it."</a:t>
            </a:r>
            <a:endParaRPr lang="en-US" sz="1320" dirty="0"/>
          </a:p>
          <a:p>
            <a:pPr indent="0" marL="0">
              <a:buNone/>
            </a:pPr>
            <a:endParaRPr lang="en-US" sz="1320" dirty="0"/>
          </a:p>
          <a:p>
            <a:pPr indent="0" marL="0">
              <a:buNone/>
            </a:pPr>
            <a:r>
              <a:rPr lang="en-US" sz="1320" dirty="0">
                <a:solidFill>
                  <a:srgbClr val="102033"/>
                </a:solidFill>
              </a:rPr>
              <a:t>Better: "Yes, it appears available as of my latest check. Are you looking specifically in Brickell, or would similar buildings with strong amenities also be worth sending over?"</a:t>
            </a:r>
            <a:endParaRPr lang="en-US" sz="132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25/50</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a first-response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Synthetic lead: Online buyer asks about a 2-bedroom condo and leaves no timeline.</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26/50</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28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Time to response</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first touches faster?</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27/50</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Listings, Sellers,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is useful when you feed it verified property facts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Property features and improvements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Showing feedback and buyer questions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Seller goals and timing</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Factual neighborhood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Desired tone and format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Feed AI verified property facts. Do not ask it to invent listing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29/50</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28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3 bed / 2 bath</a:t>
            </a:r>
            <a:endParaRPr lang="en-US" sz="1340" dirty="0"/>
          </a:p>
          <a:p>
            <a:pPr indent="0" marL="0">
              <a:buNone/>
            </a:pPr>
            <a:r>
              <a:rPr lang="en-US" sz="1340" dirty="0">
                <a:solidFill>
                  <a:srgbClr val="102033"/>
                </a:solidFill>
              </a:rPr>
              <a:t>Updated kitchen</a:t>
            </a:r>
            <a:endParaRPr lang="en-US" sz="1340" dirty="0"/>
          </a:p>
          <a:p>
            <a:pPr indent="0" marL="0">
              <a:buNone/>
            </a:pPr>
            <a:r>
              <a:rPr lang="en-US" sz="1340" dirty="0">
                <a:solidFill>
                  <a:srgbClr val="102033"/>
                </a:solidFill>
              </a:rPr>
              <a:t>Covered patio</a:t>
            </a:r>
            <a:endParaRPr lang="en-US" sz="1340" dirty="0"/>
          </a:p>
          <a:p>
            <a:pPr indent="0" marL="0">
              <a:buNone/>
            </a:pPr>
            <a:r>
              <a:rPr lang="en-US" sz="1340" dirty="0">
                <a:solidFill>
                  <a:srgbClr val="102033"/>
                </a:solidFill>
              </a:rPr>
              <a:t>2-car garage</a:t>
            </a:r>
            <a:endParaRPr lang="en-US" sz="1340" dirty="0"/>
          </a:p>
          <a:p>
            <a:pPr indent="0" marL="0">
              <a:buNone/>
            </a:pPr>
            <a:r>
              <a:rPr lang="en-US" sz="1340" dirty="0">
                <a:solidFill>
                  <a:srgbClr val="102033"/>
                </a:solidFill>
              </a:rPr>
              <a:t>Close to dining and parks</a:t>
            </a:r>
            <a:endParaRPr lang="en-US" sz="134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340" dirty="0">
                <a:solidFill>
                  <a:srgbClr val="102033"/>
                </a:solidFill>
              </a:rPr>
              <a:t>This 3-bedroom, 2-bath home offers an updated kitchen, practical everyday layout, covered patio space, and a 2-car garage. The location provides convenient access to nearby dining, parks, and local amenities while keeping the description focused on verified property features.</a:t>
            </a:r>
            <a:endParaRPr lang="en-US" sz="134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30/50</a:t>
            </a:r>
            <a:endParaRPr lang="en-US" sz="7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MULTI-USE</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One verified fact set can become multiple assets</a:t>
            </a:r>
            <a:endParaRPr lang="en-US" sz="28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description</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Newsletter blurb</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Market-facing note</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31/50</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three versions from one property fact set</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32/50</a:t>
            </a:r>
            <a:endParaRPr lang="en-US" sz="7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06</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6</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for Appointment Prep and Objection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Practice the conversation before the client conversation.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PREP</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Build buyer consultation and listing appointment agendas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Create discovery questions from client context</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Practice common objections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Explain market conditions in plain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Prepare follow-up after the appointment</a:t>
            </a:r>
            <a:endParaRPr lang="en-US" sz="165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34/50</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Seller wants to overprice</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"Role-play as a seller who believes their home is worth more than recent comparable sales. Push back realistically. After each of my responses, tell me what was clear, what sounded defensive, and what I should try next."</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35/50</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2800" dirty="0"/>
          </a:p>
        </p:txBody>
      </p:sp>
      <p:sp>
        <p:nvSpPr>
          <p:cNvPr id="11" name="Shape 9"/>
          <p:cNvSpPr/>
          <p:nvPr/>
        </p:nvSpPr>
        <p:spPr>
          <a:xfrm>
            <a:off x="914400" y="1828800"/>
            <a:ext cx="9601200" cy="2331720"/>
          </a:xfrm>
          <a:prstGeom prst="roundRect">
            <a:avLst>
              <a:gd name="adj" fmla="val 2353"/>
            </a:avLst>
          </a:prstGeom>
          <a:solidFill>
            <a:srgbClr val="0D1B2A"/>
          </a:solidFill>
          <a:ln w="10160">
            <a:solidFill>
              <a:srgbClr val="0D1B2A"/>
            </a:solidFill>
            <a:prstDash val="solid"/>
          </a:ln>
        </p:spPr>
      </p:sp>
      <p:sp>
        <p:nvSpPr>
          <p:cNvPr id="12" name="Shape 10"/>
          <p:cNvSpPr/>
          <p:nvPr/>
        </p:nvSpPr>
        <p:spPr>
          <a:xfrm>
            <a:off x="8458200" y="1600200"/>
            <a:ext cx="1920240" cy="1920240"/>
          </a:xfrm>
          <a:prstGeom prst="arc">
            <a:avLst/>
          </a:prstGeom>
          <a:solidFill>
            <a:srgbClr val="0D1B2A">
              <a:alpha val="0"/>
            </a:srgbClr>
          </a:solidFill>
          <a:ln w="25400">
            <a:solidFill>
              <a:srgbClr val="008F8F"/>
            </a:solidFill>
            <a:prstDash val="solid"/>
          </a:ln>
        </p:spPr>
      </p:sp>
      <p:sp>
        <p:nvSpPr>
          <p:cNvPr id="13" name="Text 11"/>
          <p:cNvSpPr/>
          <p:nvPr/>
        </p:nvSpPr>
        <p:spPr>
          <a:xfrm>
            <a:off x="1325880" y="2194560"/>
            <a:ext cx="8229600" cy="1234440"/>
          </a:xfrm>
          <a:prstGeom prst="rect">
            <a:avLst/>
          </a:prstGeom>
          <a:noFill/>
          <a:ln/>
        </p:spPr>
        <p:txBody>
          <a:bodyPr wrap="square" lIns="381" tIns="381" rIns="381" bIns="381" rtlCol="0" anchor="ctr">
            <a:normAutofit/>
          </a:bodyPr>
          <a:lstStyle/>
          <a:p>
            <a:pPr indent="0" marL="0">
              <a:buNone/>
            </a:pPr>
            <a:r>
              <a:rPr lang="en-US" sz="1800" i="1" dirty="0">
                <a:solidFill>
                  <a:srgbClr val="FFFFFF"/>
                </a:solidFill>
              </a:rPr>
              <a:t>"Act as a cautious buyer who wants to wait for rates to drop. Help me practice a conversation that is educational, not pushy. Challenge any claims that sound too certain."</a:t>
            </a:r>
            <a:endParaRPr lang="en-US" sz="1800" dirty="0"/>
          </a:p>
        </p:txBody>
      </p:sp>
      <p:sp>
        <p:nvSpPr>
          <p:cNvPr id="14" name="Shape 12"/>
          <p:cNvSpPr/>
          <p:nvPr/>
        </p:nvSpPr>
        <p:spPr>
          <a:xfrm>
            <a:off x="502920" y="6473952"/>
            <a:ext cx="11201400" cy="0"/>
          </a:xfrm>
          <a:prstGeom prst="line">
            <a:avLst/>
          </a:prstGeom>
          <a:noFill/>
          <a:ln w="9525">
            <a:solidFill>
              <a:srgbClr val="D8E6E8"/>
            </a:solidFill>
            <a:prstDash val="solid"/>
          </a:ln>
        </p:spPr>
      </p:sp>
      <p:sp>
        <p:nvSpPr>
          <p:cNvPr id="15" name="Text 13"/>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6" name="Text 14"/>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36/50</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Create an appointment prep brief</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37/50</a:t>
            </a:r>
            <a:endParaRPr lang="en-US" sz="72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07</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7</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AI Workflow and Professional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 simple daily AI workflow</a:t>
            </a:r>
            <a:endParaRPr lang="en-US" sz="28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39/50</a:t>
            </a:r>
            <a:endParaRPr lang="en-US" sz="72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Protect private client information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Review all output before use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Follow brokerage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Comply with Fair Housing requirements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Verify facts, MLS data, legal claims, and financial claims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Avoid discriminatory targeting or language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AI to support professional judgment, not replace it</a:t>
            </a:r>
            <a:endParaRPr lang="en-US" sz="1650" dirty="0"/>
          </a:p>
        </p:txBody>
      </p:sp>
      <p:sp>
        <p:nvSpPr>
          <p:cNvPr id="12" name="Shape 10"/>
          <p:cNvSpPr/>
          <p:nvPr/>
        </p:nvSpPr>
        <p:spPr>
          <a:xfrm>
            <a:off x="7479792" y="1737360"/>
            <a:ext cx="91440" cy="2971800"/>
          </a:xfrm>
          <a:prstGeom prst="rect">
            <a:avLst/>
          </a:prstGeom>
          <a:solidFill>
            <a:srgbClr val="008F8F"/>
          </a:solidFill>
          <a:ln w="12700">
            <a:solidFill>
              <a:srgbClr val="008F8F"/>
            </a:solidFill>
            <a:prstDash val="solid"/>
          </a:ln>
        </p:spPr>
      </p:sp>
      <p:sp>
        <p:nvSpPr>
          <p:cNvPr id="13" name="Shape 11"/>
          <p:cNvSpPr/>
          <p:nvPr/>
        </p:nvSpPr>
        <p:spPr>
          <a:xfrm>
            <a:off x="7607808" y="1828800"/>
            <a:ext cx="3246120" cy="2788920"/>
          </a:xfrm>
          <a:prstGeom prst="roundRect">
            <a:avLst>
              <a:gd name="adj" fmla="val 1967"/>
            </a:avLst>
          </a:prstGeom>
          <a:solidFill>
            <a:srgbClr val="EAF7F7"/>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40/50</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When in doubt, slow down and verify</a:t>
            </a:r>
            <a:endParaRPr lang="en-US" sz="2800" dirty="0"/>
          </a:p>
        </p:txBody>
      </p:sp>
      <p:sp>
        <p:nvSpPr>
          <p:cNvPr id="11" name="Shape 9"/>
          <p:cNvSpPr/>
          <p:nvPr/>
        </p:nvSpPr>
        <p:spPr>
          <a:xfrm>
            <a:off x="868680" y="1783080"/>
            <a:ext cx="9601200" cy="603504"/>
          </a:xfrm>
          <a:prstGeom prst="roundRect">
            <a:avLst>
              <a:gd name="adj" fmla="val 9091"/>
            </a:avLst>
          </a:prstGeom>
          <a:solidFill>
            <a:srgbClr val="FFFFFF"/>
          </a:solidFill>
          <a:ln w="10160">
            <a:solidFill>
              <a:srgbClr val="D8E6E8"/>
            </a:solidFill>
            <a:prstDash val="solid"/>
          </a:ln>
        </p:spPr>
      </p:sp>
      <p:sp>
        <p:nvSpPr>
          <p:cNvPr id="12" name="Text 10"/>
          <p:cNvSpPr/>
          <p:nvPr/>
        </p:nvSpPr>
        <p:spPr>
          <a:xfrm>
            <a:off x="1115568" y="1947672"/>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Private data</a:t>
            </a:r>
            <a:endParaRPr lang="en-US" sz="1030" dirty="0"/>
          </a:p>
        </p:txBody>
      </p:sp>
      <p:sp>
        <p:nvSpPr>
          <p:cNvPr id="13" name="Text 11"/>
          <p:cNvSpPr/>
          <p:nvPr/>
        </p:nvSpPr>
        <p:spPr>
          <a:xfrm>
            <a:off x="3310128" y="1911096"/>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Remove names, contact info, financial details, and sensitive context before using public tools.</a:t>
            </a:r>
            <a:endParaRPr lang="en-US" sz="1130" dirty="0"/>
          </a:p>
        </p:txBody>
      </p:sp>
      <p:sp>
        <p:nvSpPr>
          <p:cNvPr id="14" name="Shape 12"/>
          <p:cNvSpPr/>
          <p:nvPr/>
        </p:nvSpPr>
        <p:spPr>
          <a:xfrm>
            <a:off x="868680" y="2624328"/>
            <a:ext cx="9601200" cy="603504"/>
          </a:xfrm>
          <a:prstGeom prst="roundRect">
            <a:avLst>
              <a:gd name="adj" fmla="val 9091"/>
            </a:avLst>
          </a:prstGeom>
          <a:solidFill>
            <a:srgbClr val="FFFFFF"/>
          </a:solidFill>
          <a:ln w="10160">
            <a:solidFill>
              <a:srgbClr val="D8E6E8"/>
            </a:solidFill>
            <a:prstDash val="solid"/>
          </a:ln>
        </p:spPr>
      </p:sp>
      <p:sp>
        <p:nvSpPr>
          <p:cNvPr id="15" name="Text 13"/>
          <p:cNvSpPr/>
          <p:nvPr/>
        </p:nvSpPr>
        <p:spPr>
          <a:xfrm>
            <a:off x="1115568" y="2788920"/>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Advertising</a:t>
            </a:r>
            <a:endParaRPr lang="en-US" sz="1030" dirty="0"/>
          </a:p>
        </p:txBody>
      </p:sp>
      <p:sp>
        <p:nvSpPr>
          <p:cNvPr id="16" name="Text 14"/>
          <p:cNvSpPr/>
          <p:nvPr/>
        </p:nvSpPr>
        <p:spPr>
          <a:xfrm>
            <a:off x="3310128" y="2752344"/>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Review claims, disclosures, brokerage rules, and platform requirements.</a:t>
            </a:r>
            <a:endParaRPr lang="en-US" sz="1130" dirty="0"/>
          </a:p>
        </p:txBody>
      </p:sp>
      <p:sp>
        <p:nvSpPr>
          <p:cNvPr id="17" name="Shape 15"/>
          <p:cNvSpPr/>
          <p:nvPr/>
        </p:nvSpPr>
        <p:spPr>
          <a:xfrm>
            <a:off x="868680" y="3465576"/>
            <a:ext cx="9601200" cy="603504"/>
          </a:xfrm>
          <a:prstGeom prst="roundRect">
            <a:avLst>
              <a:gd name="adj" fmla="val 9091"/>
            </a:avLst>
          </a:prstGeom>
          <a:solidFill>
            <a:srgbClr val="FFFFFF"/>
          </a:solidFill>
          <a:ln w="10160">
            <a:solidFill>
              <a:srgbClr val="D8E6E8"/>
            </a:solidFill>
            <a:prstDash val="solid"/>
          </a:ln>
        </p:spPr>
      </p:sp>
      <p:sp>
        <p:nvSpPr>
          <p:cNvPr id="18" name="Text 16"/>
          <p:cNvSpPr/>
          <p:nvPr/>
        </p:nvSpPr>
        <p:spPr>
          <a:xfrm>
            <a:off x="1115568" y="3630168"/>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MLS</a:t>
            </a:r>
            <a:endParaRPr lang="en-US" sz="1030" dirty="0"/>
          </a:p>
        </p:txBody>
      </p:sp>
      <p:sp>
        <p:nvSpPr>
          <p:cNvPr id="19" name="Text 17"/>
          <p:cNvSpPr/>
          <p:nvPr/>
        </p:nvSpPr>
        <p:spPr>
          <a:xfrm>
            <a:off x="3310128" y="3593592"/>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Follow MLS rules for listing data, remarks, photos, and public display.</a:t>
            </a:r>
            <a:endParaRPr lang="en-US" sz="1130" dirty="0"/>
          </a:p>
        </p:txBody>
      </p:sp>
      <p:sp>
        <p:nvSpPr>
          <p:cNvPr id="20" name="Shape 18"/>
          <p:cNvSpPr/>
          <p:nvPr/>
        </p:nvSpPr>
        <p:spPr>
          <a:xfrm>
            <a:off x="868680" y="4306824"/>
            <a:ext cx="9601200" cy="603504"/>
          </a:xfrm>
          <a:prstGeom prst="roundRect">
            <a:avLst>
              <a:gd name="adj" fmla="val 9091"/>
            </a:avLst>
          </a:prstGeom>
          <a:solidFill>
            <a:srgbClr val="FFFFFF"/>
          </a:solidFill>
          <a:ln w="10160">
            <a:solidFill>
              <a:srgbClr val="D8E6E8"/>
            </a:solidFill>
            <a:prstDash val="solid"/>
          </a:ln>
        </p:spPr>
      </p:sp>
      <p:sp>
        <p:nvSpPr>
          <p:cNvPr id="21" name="Text 19"/>
          <p:cNvSpPr/>
          <p:nvPr/>
        </p:nvSpPr>
        <p:spPr>
          <a:xfrm>
            <a:off x="1115568" y="4471416"/>
            <a:ext cx="2011680" cy="164592"/>
          </a:xfrm>
          <a:prstGeom prst="rect">
            <a:avLst/>
          </a:prstGeom>
          <a:noFill/>
          <a:ln/>
        </p:spPr>
        <p:txBody>
          <a:bodyPr wrap="square" lIns="0" tIns="0" rIns="0" bIns="0" rtlCol="0" anchor="ctr">
            <a:normAutofit/>
          </a:bodyPr>
          <a:lstStyle/>
          <a:p>
            <a:pPr indent="0" marL="0">
              <a:buNone/>
            </a:pPr>
            <a:r>
              <a:rPr lang="en-US" sz="1030" b="1" dirty="0">
                <a:solidFill>
                  <a:srgbClr val="008F8F"/>
                </a:solidFill>
              </a:rPr>
              <a:t>Consumer communication</a:t>
            </a:r>
            <a:endParaRPr lang="en-US" sz="1030" dirty="0"/>
          </a:p>
        </p:txBody>
      </p:sp>
      <p:sp>
        <p:nvSpPr>
          <p:cNvPr id="22" name="Text 20"/>
          <p:cNvSpPr/>
          <p:nvPr/>
        </p:nvSpPr>
        <p:spPr>
          <a:xfrm>
            <a:off x="3310128" y="4434840"/>
            <a:ext cx="6629400" cy="219456"/>
          </a:xfrm>
          <a:prstGeom prst="rect">
            <a:avLst/>
          </a:prstGeom>
          <a:noFill/>
          <a:ln/>
        </p:spPr>
        <p:txBody>
          <a:bodyPr wrap="square" lIns="0" tIns="0" rIns="0" bIns="0" rtlCol="0" anchor="ctr">
            <a:normAutofit/>
          </a:bodyPr>
          <a:lstStyle/>
          <a:p>
            <a:pPr indent="0" marL="0">
              <a:buNone/>
            </a:pPr>
            <a:r>
              <a:rPr lang="en-US" sz="1130" dirty="0">
                <a:solidFill>
                  <a:srgbClr val="102033"/>
                </a:solidFill>
              </a:rPr>
              <a:t>Keep records, respect opt-outs, and do not automate beyond policy.</a:t>
            </a:r>
            <a:endParaRPr lang="en-US" sz="113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41/50</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Build your daily AI workflow</a:t>
            </a:r>
            <a:endParaRPr lang="en-US" sz="28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42/50</a:t>
            </a:r>
            <a:endParaRPr lang="en-US" sz="72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08</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8</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Wrap-Up and Starter Prompt Practice</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Leave with one repeatable workflow and a small prompt library.</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
        <p:nvSpPr>
          <p:cNvPr id="9" name="Text 7"/>
          <p:cNvSpPr/>
          <p:nvPr/>
        </p:nvSpPr>
        <p:spPr>
          <a:xfrm>
            <a:off x="749808" y="4041648"/>
            <a:ext cx="3474720" cy="228600"/>
          </a:xfrm>
          <a:prstGeom prst="rect">
            <a:avLst/>
          </a:prstGeom>
          <a:noFill/>
          <a:ln/>
        </p:spPr>
        <p:txBody>
          <a:bodyPr wrap="square" lIns="0" tIns="0" rIns="0" bIns="0" rtlCol="0" anchor="ctr"/>
          <a:lstStyle/>
          <a:p>
            <a:pPr indent="0" marL="0">
              <a:buNone/>
            </a:pPr>
            <a:r>
              <a:rPr lang="en-US" sz="1050" b="1" dirty="0">
                <a:solidFill>
                  <a:srgbClr val="9DB8C8"/>
                </a:solidFill>
              </a:rPr>
              <a:t>Next: concept -&gt; example -&gt; practice</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2800" dirty="0"/>
          </a:p>
        </p:txBody>
      </p:sp>
      <p:sp>
        <p:nvSpPr>
          <p:cNvPr id="11" name="Shape 9"/>
          <p:cNvSpPr/>
          <p:nvPr/>
        </p:nvSpPr>
        <p:spPr>
          <a:xfrm>
            <a:off x="868680" y="1755648"/>
            <a:ext cx="9646920" cy="475488"/>
          </a:xfrm>
          <a:prstGeom prst="roundRect">
            <a:avLst>
              <a:gd name="adj" fmla="val 11538"/>
            </a:avLst>
          </a:prstGeom>
          <a:solidFill>
            <a:srgbClr val="EAF7F7"/>
          </a:solidFill>
          <a:ln w="10160">
            <a:solidFill>
              <a:srgbClr val="B8DDE0"/>
            </a:solidFill>
            <a:prstDash val="solid"/>
          </a:ln>
        </p:spPr>
      </p:sp>
      <p:sp>
        <p:nvSpPr>
          <p:cNvPr id="12" name="Shape 10"/>
          <p:cNvSpPr/>
          <p:nvPr/>
        </p:nvSpPr>
        <p:spPr>
          <a:xfrm>
            <a:off x="1078992" y="1810512"/>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9019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28800"/>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Draft a client message from these notes: [notes]. Make it concise, warm, and specific.</a:t>
            </a:r>
            <a:endParaRPr lang="en-US" sz="1260" dirty="0"/>
          </a:p>
        </p:txBody>
      </p:sp>
      <p:sp>
        <p:nvSpPr>
          <p:cNvPr id="15" name="Shape 13"/>
          <p:cNvSpPr/>
          <p:nvPr/>
        </p:nvSpPr>
        <p:spPr>
          <a:xfrm>
            <a:off x="868680" y="2377440"/>
            <a:ext cx="9646920" cy="475488"/>
          </a:xfrm>
          <a:prstGeom prst="roundRect">
            <a:avLst>
              <a:gd name="adj" fmla="val 11538"/>
            </a:avLst>
          </a:prstGeom>
          <a:solidFill>
            <a:srgbClr val="FFFFFF"/>
          </a:solidFill>
          <a:ln w="10160">
            <a:solidFill>
              <a:srgbClr val="D8E6E8"/>
            </a:solidFill>
            <a:prstDash val="solid"/>
          </a:ln>
        </p:spPr>
      </p:sp>
      <p:sp>
        <p:nvSpPr>
          <p:cNvPr id="16" name="Shape 14"/>
          <p:cNvSpPr/>
          <p:nvPr/>
        </p:nvSpPr>
        <p:spPr>
          <a:xfrm>
            <a:off x="1078992" y="243230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2374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50592"/>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Create three versions of this follow-up: text, email, and voicemail.</a:t>
            </a:r>
            <a:endParaRPr lang="en-US" sz="1260" dirty="0"/>
          </a:p>
        </p:txBody>
      </p:sp>
      <p:sp>
        <p:nvSpPr>
          <p:cNvPr id="19" name="Shape 17"/>
          <p:cNvSpPr/>
          <p:nvPr/>
        </p:nvSpPr>
        <p:spPr>
          <a:xfrm>
            <a:off x="868680" y="2999232"/>
            <a:ext cx="9646920" cy="475488"/>
          </a:xfrm>
          <a:prstGeom prst="roundRect">
            <a:avLst>
              <a:gd name="adj" fmla="val 11538"/>
            </a:avLst>
          </a:prstGeom>
          <a:solidFill>
            <a:srgbClr val="EAF7F7"/>
          </a:solidFill>
          <a:ln w="10160">
            <a:solidFill>
              <a:srgbClr val="B8DDE0"/>
            </a:solidFill>
            <a:prstDash val="solid"/>
          </a:ln>
        </p:spPr>
      </p:sp>
      <p:sp>
        <p:nvSpPr>
          <p:cNvPr id="20" name="Shape 18"/>
          <p:cNvSpPr/>
          <p:nvPr/>
        </p:nvSpPr>
        <p:spPr>
          <a:xfrm>
            <a:off x="1078992" y="3054096"/>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14553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072384"/>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Review this message for accuracy, Fair Housing risk, and claims I should verify.</a:t>
            </a:r>
            <a:endParaRPr lang="en-US" sz="1260" dirty="0"/>
          </a:p>
        </p:txBody>
      </p:sp>
      <p:sp>
        <p:nvSpPr>
          <p:cNvPr id="23" name="Shape 21"/>
          <p:cNvSpPr/>
          <p:nvPr/>
        </p:nvSpPr>
        <p:spPr>
          <a:xfrm>
            <a:off x="868680" y="3621024"/>
            <a:ext cx="9646920" cy="475488"/>
          </a:xfrm>
          <a:prstGeom prst="roundRect">
            <a:avLst>
              <a:gd name="adj" fmla="val 11538"/>
            </a:avLst>
          </a:prstGeom>
          <a:solidFill>
            <a:srgbClr val="FFFFFF"/>
          </a:solidFill>
          <a:ln w="10160">
            <a:solidFill>
              <a:srgbClr val="D8E6E8"/>
            </a:solidFill>
            <a:prstDash val="solid"/>
          </a:ln>
        </p:spPr>
      </p:sp>
      <p:sp>
        <p:nvSpPr>
          <p:cNvPr id="24" name="Shape 22"/>
          <p:cNvSpPr/>
          <p:nvPr/>
        </p:nvSpPr>
        <p:spPr>
          <a:xfrm>
            <a:off x="1078992" y="3675888"/>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76732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694176"/>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Turn these verified listing facts into a listing paragraph, social caption, and open house invite.</a:t>
            </a:r>
            <a:endParaRPr lang="en-US" sz="1260" dirty="0"/>
          </a:p>
        </p:txBody>
      </p:sp>
      <p:sp>
        <p:nvSpPr>
          <p:cNvPr id="27" name="Shape 25"/>
          <p:cNvSpPr/>
          <p:nvPr/>
        </p:nvSpPr>
        <p:spPr>
          <a:xfrm>
            <a:off x="868680" y="4242816"/>
            <a:ext cx="9646920" cy="475488"/>
          </a:xfrm>
          <a:prstGeom prst="roundRect">
            <a:avLst>
              <a:gd name="adj" fmla="val 11538"/>
            </a:avLst>
          </a:prstGeom>
          <a:solidFill>
            <a:srgbClr val="EAF7F7"/>
          </a:solidFill>
          <a:ln w="10160">
            <a:solidFill>
              <a:srgbClr val="B8DDE0"/>
            </a:solidFill>
            <a:prstDash val="solid"/>
          </a:ln>
        </p:spPr>
      </p:sp>
      <p:sp>
        <p:nvSpPr>
          <p:cNvPr id="28" name="Shape 26"/>
          <p:cNvSpPr/>
          <p:nvPr/>
        </p:nvSpPr>
        <p:spPr>
          <a:xfrm>
            <a:off x="1078992" y="4297680"/>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389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315968"/>
            <a:ext cx="8458200" cy="219456"/>
          </a:xfrm>
          <a:prstGeom prst="rect">
            <a:avLst/>
          </a:prstGeom>
          <a:noFill/>
          <a:ln/>
        </p:spPr>
        <p:txBody>
          <a:bodyPr wrap="square" lIns="254" tIns="254" rIns="254" bIns="254" rtlCol="0" anchor="ctr">
            <a:normAutofit/>
          </a:bodyPr>
          <a:lstStyle/>
          <a:p>
            <a:pPr indent="0" marL="0">
              <a:buNone/>
            </a:pPr>
            <a:r>
              <a:rPr lang="en-US" sz="1260" dirty="0">
                <a:solidFill>
                  <a:srgbClr val="102033"/>
                </a:solidFill>
              </a:rPr>
              <a:t>Role-play as [buyer/seller type] and help me practice responding professionally.</a:t>
            </a:r>
            <a:endParaRPr lang="en-US" sz="126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44/50</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KEY TAKEAWAYS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What should change after today</a:t>
            </a:r>
            <a:endParaRPr lang="en-US" sz="2800" dirty="0"/>
          </a:p>
        </p:txBody>
      </p:sp>
      <p:sp>
        <p:nvSpPr>
          <p:cNvPr id="11" name="Text 9"/>
          <p:cNvSpPr/>
          <p:nvPr/>
        </p:nvSpPr>
        <p:spPr>
          <a:xfrm>
            <a:off x="914400" y="1874520"/>
            <a:ext cx="8961120" cy="2926080"/>
          </a:xfrm>
          <a:prstGeom prst="rect">
            <a:avLst/>
          </a:prstGeom>
          <a:noFill/>
          <a:ln/>
        </p:spPr>
        <p:txBody>
          <a:bodyPr wrap="square" lIns="254" tIns="254" rIns="254" bIns="254" rtlCol="0" anchor="t">
            <a:normAutofit/>
          </a:bodyPr>
          <a:lstStyle/>
          <a:p>
            <a:pPr marL="203200" indent="-203200">
              <a:buSzPct val="100000"/>
              <a:buChar char="•"/>
            </a:pPr>
            <a:r>
              <a:rPr lang="en-US" sz="1700" dirty="0">
                <a:solidFill>
                  <a:srgbClr val="102033"/>
                </a:solidFill>
                <a:latin typeface="Aptos" pitchFamily="34" charset="0"/>
                <a:ea typeface="Aptos" pitchFamily="34" charset="-122"/>
                <a:cs typeface="Aptos" pitchFamily="34" charset="-120"/>
              </a:rPr>
              <a:t>Use AI on repeatable sales tasks, not vague experiments</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Give AI role, task, context, tone, constraints, and goal</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Review every output before a client sees it</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Protect private data and follow brokerage policy</a:t>
            </a:r>
            <a:endParaRPr lang="en-US" sz="1700" dirty="0"/>
          </a:p>
          <a:p>
            <a:pPr marL="203200" indent="-203200">
              <a:buSzPct val="100000"/>
              <a:buChar char="•"/>
            </a:pPr>
            <a:r>
              <a:rPr lang="en-US" sz="1700" dirty="0">
                <a:solidFill>
                  <a:srgbClr val="102033"/>
                </a:solidFill>
                <a:latin typeface="Aptos" pitchFamily="34" charset="0"/>
                <a:ea typeface="Aptos" pitchFamily="34" charset="-122"/>
                <a:cs typeface="Aptos" pitchFamily="34" charset="-120"/>
              </a:rPr>
              <a:t>Build one daily workflow before adding more tools</a:t>
            </a:r>
            <a:endParaRPr lang="en-US" sz="1700" dirty="0"/>
          </a:p>
        </p:txBody>
      </p:sp>
      <p:sp>
        <p:nvSpPr>
          <p:cNvPr id="12" name="Shape 10"/>
          <p:cNvSpPr/>
          <p:nvPr/>
        </p:nvSpPr>
        <p:spPr>
          <a:xfrm>
            <a:off x="502920" y="6473952"/>
            <a:ext cx="11201400" cy="0"/>
          </a:xfrm>
          <a:prstGeom prst="line">
            <a:avLst/>
          </a:prstGeom>
          <a:noFill/>
          <a:ln w="9525">
            <a:solidFill>
              <a:srgbClr val="D8E6E8"/>
            </a:solidFill>
            <a:prstDash val="solid"/>
          </a:ln>
        </p:spPr>
      </p:sp>
      <p:sp>
        <p:nvSpPr>
          <p:cNvPr id="13" name="Text 1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4" name="Text 1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45/50</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NEXT STEPS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Your one-week implementation plan</a:t>
            </a:r>
            <a:endParaRPr lang="en-US" sz="28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Choose one workflow</a:t>
            </a:r>
            <a:endParaRPr lang="en-US" sz="115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Write one reusable prompt</a:t>
            </a:r>
            <a:endParaRPr lang="en-US" sz="115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Use it three times</a:t>
            </a:r>
            <a:endParaRPr lang="en-US" sz="115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Save the best output</a:t>
            </a:r>
            <a:endParaRPr lang="en-US" sz="115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50" b="1" dirty="0">
                <a:solidFill>
                  <a:srgbClr val="102033"/>
                </a:solidFill>
              </a:rPr>
              <a:t>Refine after reviewing results</a:t>
            </a:r>
            <a:endParaRPr lang="en-US" sz="115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46/50</a:t>
            </a:r>
            <a:endParaRPr lang="en-US" sz="7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RESOURCES</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Recommended resources to keep nearby</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Your brokerage AI, advertising, and data policies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Fair Housing and advertising guidance from your brokerage or association</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MLS rules and public remarks guidance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personal prompt library saved in your notes or CRM workflow</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 simple checklist: private, verified, compliant, human-reviewed</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Keep sources close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authoritative local rules and broker guidance when the answer matters.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7882128" y="4370832"/>
            <a:ext cx="493776" cy="493776"/>
          </a:xfrm>
          <a:prstGeom prst="roundRect">
            <a:avLst>
              <a:gd name="adj" fmla="val 14815"/>
            </a:avLst>
          </a:prstGeom>
          <a:solidFill>
            <a:srgbClr val="008F8F"/>
          </a:solidFill>
          <a:ln w="12700">
            <a:solidFill>
              <a:srgbClr val="008F8F"/>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AI</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47/50</a:t>
            </a:r>
            <a:endParaRPr lang="en-US" sz="72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REMINDER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AI supports your work. It does not replace your judgment.</a:t>
            </a:r>
            <a:endParaRPr lang="en-US" sz="28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50" dirty="0">
                <a:solidFill>
                  <a:srgbClr val="102033"/>
                </a:solidFill>
                <a:latin typeface="Aptos" pitchFamily="34" charset="0"/>
                <a:ea typeface="Aptos" pitchFamily="34" charset="-122"/>
                <a:cs typeface="Aptos" pitchFamily="34" charset="-120"/>
              </a:rPr>
              <a:t>This course provides general education, not legal, financial, brokerage, MLS, or Fair Housing advice</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Agents remain responsible for reviewing communications and following applicable rules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Use verified facts and approved data sources</a:t>
            </a:r>
            <a:endParaRPr lang="en-US" sz="1650" dirty="0"/>
          </a:p>
          <a:p>
            <a:pPr marL="203200" indent="-203200">
              <a:buSzPct val="100000"/>
              <a:buChar char="•"/>
            </a:pPr>
            <a:r>
              <a:rPr lang="en-US" sz="1650" dirty="0">
                <a:solidFill>
                  <a:srgbClr val="102033"/>
                </a:solidFill>
                <a:latin typeface="Aptos" pitchFamily="34" charset="0"/>
                <a:ea typeface="Aptos" pitchFamily="34" charset="-122"/>
                <a:cs typeface="Aptos" pitchFamily="34" charset="-120"/>
              </a:rPr>
              <a:t>When uncertain, consult your broker, MLS, attorney, lender, or appropriate professional</a:t>
            </a:r>
            <a:endParaRPr lang="en-US" sz="165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Professional judgment stays in the loop</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Verify, review, and follow applicable rules before using AI output.</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7882128" y="4370832"/>
            <a:ext cx="493776" cy="493776"/>
          </a:xfrm>
          <a:prstGeom prst="roundRect">
            <a:avLst>
              <a:gd name="adj" fmla="val 14815"/>
            </a:avLst>
          </a:prstGeom>
          <a:solidFill>
            <a:srgbClr val="F45B69"/>
          </a:solidFill>
          <a:ln w="12700">
            <a:solidFill>
              <a:srgbClr val="F45B69"/>
            </a:solidFill>
            <a:prstDash val="solid"/>
          </a:ln>
        </p:spPr>
      </p:sp>
      <p:sp>
        <p:nvSpPr>
          <p:cNvPr id="18" name="Text 16"/>
          <p:cNvSpPr/>
          <p:nvPr/>
        </p:nvSpPr>
        <p:spPr>
          <a:xfrm>
            <a:off x="7927848" y="4507992"/>
            <a:ext cx="402336" cy="128016"/>
          </a:xfrm>
          <a:prstGeom prst="rect">
            <a:avLst/>
          </a:prstGeom>
          <a:noFill/>
          <a:ln/>
        </p:spPr>
        <p:txBody>
          <a:bodyPr wrap="square" lIns="0" tIns="0" rIns="0" bIns="0" rtlCol="0" anchor="ctr"/>
          <a:lstStyle/>
          <a:p>
            <a:pPr algn="ctr" indent="0" marL="0">
              <a:buNone/>
            </a:pPr>
            <a:r>
              <a:rPr lang="en-US" sz="850" b="1" dirty="0">
                <a:solidFill>
                  <a:srgbClr val="FFFFFF"/>
                </a:solidFill>
              </a:rPr>
              <a:t>!</a:t>
            </a:r>
            <a:endParaRPr lang="en-US" sz="8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48/50</a:t>
            </a:r>
            <a:endParaRPr lang="en-US" sz="72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About the Instructor</a:t>
            </a:r>
            <a:endParaRPr lang="en-US" sz="28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REALTOR | Dalton Wade Real Estate Group</a:t>
            </a:r>
            <a:endParaRPr lang="en-US" sz="1280" dirty="0"/>
          </a:p>
          <a:p>
            <a:pPr indent="0" marL="0">
              <a:buNone/>
            </a:pPr>
            <a:r>
              <a:rPr lang="en-US" sz="1280" dirty="0">
                <a:solidFill>
                  <a:srgbClr val="52606D"/>
                </a:solidFill>
              </a:rPr>
              <a:t>V.P. of Growth and Partnerships | GoHouse.ai</a:t>
            </a:r>
            <a:endParaRPr lang="en-US" sz="1280" dirty="0"/>
          </a:p>
        </p:txBody>
      </p:sp>
      <p:sp>
        <p:nvSpPr>
          <p:cNvPr id="15" name="Shape 13"/>
          <p:cNvSpPr/>
          <p:nvPr/>
        </p:nvSpPr>
        <p:spPr>
          <a:xfrm>
            <a:off x="1170432" y="3291840"/>
            <a:ext cx="1234440" cy="0"/>
          </a:xfrm>
          <a:prstGeom prst="line">
            <a:avLst/>
          </a:prstGeom>
          <a:noFill/>
          <a:ln w="38100">
            <a:solidFill>
              <a:srgbClr val="F45B69"/>
            </a:solidFill>
            <a:prstDash val="solid"/>
          </a:ln>
        </p:spPr>
      </p:sp>
      <p:sp>
        <p:nvSpPr>
          <p:cNvPr id="16" name="Text 14"/>
          <p:cNvSpPr/>
          <p:nvPr/>
        </p:nvSpPr>
        <p:spPr>
          <a:xfrm>
            <a:off x="1170432" y="3584448"/>
            <a:ext cx="4069080" cy="100584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Ian works at the intersection of real estate, AI, lead follow-up, and practical business systems.</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His focus is helping real estate professionals use technology responsibly to improve communication, prioritize follow-up, prepare for client conversations, and build more consistent daily workflows.</a:t>
            </a:r>
            <a:endParaRPr lang="en-US" sz="1170" dirty="0"/>
          </a:p>
          <a:p>
            <a:pPr marL="203200" indent="-203200">
              <a:buSzPct val="100000"/>
              <a:buChar char="•"/>
            </a:pPr>
            <a:r>
              <a:rPr lang="en-US" sz="1170" dirty="0">
                <a:solidFill>
                  <a:srgbClr val="102033"/>
                </a:solidFill>
                <a:latin typeface="Aptos" pitchFamily="34" charset="0"/>
                <a:ea typeface="Aptos" pitchFamily="34" charset="-122"/>
                <a:cs typeface="Aptos" pitchFamily="34" charset="-120"/>
              </a:rPr>
              <a:t>His background includes real estate sales, lead generation, call systems, CRM-adjacent workflows, automation, and business development.</a:t>
            </a:r>
            <a:endParaRPr lang="en-US" sz="1170" dirty="0"/>
          </a:p>
        </p:txBody>
      </p:sp>
      <p:sp>
        <p:nvSpPr>
          <p:cNvPr id="17"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8"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19" name="Text 17"/>
          <p:cNvSpPr/>
          <p:nvPr/>
        </p:nvSpPr>
        <p:spPr>
          <a:xfrm>
            <a:off x="6629400" y="2130552"/>
            <a:ext cx="2743200" cy="347472"/>
          </a:xfrm>
          <a:prstGeom prst="rect">
            <a:avLst/>
          </a:prstGeom>
          <a:noFill/>
          <a:ln/>
        </p:spPr>
        <p:txBody>
          <a:bodyPr wrap="square" lIns="0" tIns="0" rIns="0" bIns="0" rtlCol="0" anchor="ctr"/>
          <a:lstStyle/>
          <a:p>
            <a:pPr indent="0" marL="0">
              <a:buNone/>
            </a:pPr>
            <a:r>
              <a:rPr lang="en-US" sz="2200" b="1" dirty="0">
                <a:solidFill>
                  <a:srgbClr val="16324F"/>
                </a:solidFill>
              </a:rPr>
              <a:t>Teaching Focus</a:t>
            </a:r>
            <a:endParaRPr lang="en-US" sz="2200" dirty="0"/>
          </a:p>
        </p:txBody>
      </p:sp>
      <p:sp>
        <p:nvSpPr>
          <p:cNvPr id="20" name="Text 18"/>
          <p:cNvSpPr/>
          <p:nvPr/>
        </p:nvSpPr>
        <p:spPr>
          <a:xfrm>
            <a:off x="6629400" y="2606040"/>
            <a:ext cx="3566160" cy="201168"/>
          </a:xfrm>
          <a:prstGeom prst="rect">
            <a:avLst/>
          </a:prstGeom>
          <a:noFill/>
          <a:ln/>
        </p:spPr>
        <p:txBody>
          <a:bodyPr wrap="square" lIns="0" tIns="0" rIns="0" bIns="0" rtlCol="0" anchor="ctr"/>
          <a:lstStyle/>
          <a:p>
            <a:pPr indent="0" marL="0">
              <a:buNone/>
            </a:pPr>
            <a:r>
              <a:rPr lang="en-US" sz="1050" b="1" dirty="0">
                <a:solidFill>
                  <a:srgbClr val="008F8F"/>
                </a:solidFill>
              </a:rPr>
              <a:t>Practical, vendor-neutral AI workflows</a:t>
            </a:r>
            <a:endParaRPr lang="en-US" sz="1050" dirty="0"/>
          </a:p>
        </p:txBody>
      </p:sp>
      <p:sp>
        <p:nvSpPr>
          <p:cNvPr id="21" name="Text 19"/>
          <p:cNvSpPr/>
          <p:nvPr/>
        </p:nvSpPr>
        <p:spPr>
          <a:xfrm>
            <a:off x="6629400" y="3090672"/>
            <a:ext cx="3657600" cy="1325880"/>
          </a:xfrm>
          <a:prstGeom prst="rect">
            <a:avLst/>
          </a:prstGeom>
          <a:noFill/>
          <a:ln/>
        </p:spPr>
        <p:txBody>
          <a:bodyPr wrap="square" lIns="254" tIns="254" rIns="254" bIns="254" rtlCol="0" anchor="t">
            <a:normAutofit/>
          </a:bodyPr>
          <a:lstStyle/>
          <a:p>
            <a:pPr marL="203200" indent="-203200">
              <a:buSzPct val="100000"/>
              <a:buChar char="•"/>
            </a:pPr>
            <a:r>
              <a:rPr lang="en-US" sz="1170" dirty="0">
                <a:solidFill>
                  <a:srgbClr val="102033"/>
                </a:solidFill>
                <a:latin typeface="Aptos" pitchFamily="34" charset="0"/>
                <a:ea typeface="Aptos" pitchFamily="34" charset="-122"/>
                <a:cs typeface="Aptos" pitchFamily="34" charset="-120"/>
              </a:rPr>
              <a:t>In this class, Ian focuses on practical, vendor-neutral AI workflows agents can understand, review, and apply without replacing their professional judgment.</a:t>
            </a:r>
            <a:endParaRPr lang="en-US" sz="1170" dirty="0"/>
          </a:p>
        </p:txBody>
      </p:sp>
      <p:sp>
        <p:nvSpPr>
          <p:cNvPr id="22" name="Text 20"/>
          <p:cNvSpPr/>
          <p:nvPr/>
        </p:nvSpPr>
        <p:spPr>
          <a:xfrm>
            <a:off x="6629400" y="4800600"/>
            <a:ext cx="3200400" cy="164592"/>
          </a:xfrm>
          <a:prstGeom prst="rect">
            <a:avLst/>
          </a:prstGeom>
          <a:noFill/>
          <a:ln/>
        </p:spPr>
        <p:txBody>
          <a:bodyPr wrap="square" lIns="0" tIns="0" rIns="0" bIns="0" rtlCol="0" anchor="ctr"/>
          <a:lstStyle/>
          <a:p>
            <a:pPr indent="0" marL="0">
              <a:buNone/>
            </a:pPr>
            <a:r>
              <a:rPr lang="en-US" sz="950" b="1" dirty="0">
                <a:solidFill>
                  <a:srgbClr val="2E7D5B"/>
                </a:solidFill>
              </a:rPr>
              <a:t>Instructor context, not a product requirement</a:t>
            </a:r>
            <a:endParaRPr lang="en-US" sz="95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49/50</a:t>
            </a:r>
            <a:endParaRPr lang="en-US" sz="72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THANK YOU</a:t>
            </a:r>
            <a:endParaRPr lang="en-US" sz="880" dirty="0"/>
          </a:p>
        </p:txBody>
      </p:sp>
      <p:sp>
        <p:nvSpPr>
          <p:cNvPr id="10" name="Text 8"/>
          <p:cNvSpPr/>
          <p:nvPr/>
        </p:nvSpPr>
        <p:spPr>
          <a:xfrm>
            <a:off x="658368" y="786384"/>
            <a:ext cx="10424160" cy="585216"/>
          </a:xfrm>
          <a:prstGeom prst="rect">
            <a:avLst/>
          </a:prstGeom>
          <a:noFill/>
          <a:ln/>
        </p:spPr>
        <p:txBody>
          <a:bodyPr wrap="square" lIns="0" tIns="0" rIns="0" bIns="0" rtlCol="0" anchor="ctr">
            <a:normAutofit/>
          </a:bodyPr>
          <a:lstStyle/>
          <a:p>
            <a:pPr indent="0" marL="0">
              <a:buNone/>
            </a:pPr>
            <a:r>
              <a:rPr lang="en-US" sz="2800" b="1" dirty="0">
                <a:solidFill>
                  <a:srgbClr val="102033"/>
                </a:solidFill>
                <a:latin typeface="Aptos Display" pitchFamily="34" charset="0"/>
                <a:ea typeface="Aptos Display" pitchFamily="34" charset="-122"/>
                <a:cs typeface="Aptos Display" pitchFamily="34" charset="-120"/>
              </a:rPr>
              <a:t>Questions and discussion</a:t>
            </a:r>
            <a:endParaRPr lang="en-US" sz="2800" dirty="0"/>
          </a:p>
        </p:txBody>
      </p:sp>
      <p:sp>
        <p:nvSpPr>
          <p:cNvPr id="11" name="Text 9"/>
          <p:cNvSpPr/>
          <p:nvPr/>
        </p:nvSpPr>
        <p:spPr>
          <a:xfrm>
            <a:off x="694944" y="2697480"/>
            <a:ext cx="6858000" cy="347472"/>
          </a:xfrm>
          <a:prstGeom prst="rect">
            <a:avLst/>
          </a:prstGeom>
          <a:noFill/>
          <a:ln/>
        </p:spPr>
        <p:txBody>
          <a:bodyPr wrap="square" lIns="0" tIns="0" rIns="0" bIns="0" rtlCol="0" anchor="ctr"/>
          <a:lstStyle/>
          <a:p>
            <a:pPr indent="0" marL="0">
              <a:buNone/>
            </a:pPr>
            <a:r>
              <a:rPr lang="en-US" sz="1600" dirty="0">
                <a:solidFill>
                  <a:srgbClr val="52606D"/>
                </a:solidFill>
              </a:rPr>
              <a:t>AI for Real Estate Sales: From Confusion to Daily Use</a:t>
            </a:r>
            <a:endParaRPr lang="en-US" sz="1600" dirty="0"/>
          </a:p>
        </p:txBody>
      </p:sp>
      <p:sp>
        <p:nvSpPr>
          <p:cNvPr id="12" name="Shape 10"/>
          <p:cNvSpPr/>
          <p:nvPr/>
        </p:nvSpPr>
        <p:spPr>
          <a:xfrm>
            <a:off x="694944" y="3273552"/>
            <a:ext cx="1828800" cy="0"/>
          </a:xfrm>
          <a:prstGeom prst="line">
            <a:avLst/>
          </a:prstGeom>
          <a:noFill/>
          <a:ln w="50800">
            <a:solidFill>
              <a:srgbClr val="F45B69"/>
            </a:solidFill>
            <a:prstDash val="solid"/>
          </a:ln>
        </p:spPr>
      </p:sp>
      <p:sp>
        <p:nvSpPr>
          <p:cNvPr id="13" name="Text 11"/>
          <p:cNvSpPr/>
          <p:nvPr/>
        </p:nvSpPr>
        <p:spPr>
          <a:xfrm>
            <a:off x="694944" y="3749040"/>
            <a:ext cx="2743200" cy="320040"/>
          </a:xfrm>
          <a:prstGeom prst="rect">
            <a:avLst/>
          </a:prstGeom>
          <a:noFill/>
          <a:ln/>
        </p:spPr>
        <p:txBody>
          <a:bodyPr wrap="square" lIns="0" tIns="0" rIns="0" bIns="0" rtlCol="0" anchor="ctr"/>
          <a:lstStyle/>
          <a:p>
            <a:pPr indent="0" marL="0">
              <a:buNone/>
            </a:pPr>
            <a:r>
              <a:rPr lang="en-US" sz="2200" b="1" dirty="0">
                <a:solidFill>
                  <a:srgbClr val="16324F"/>
                </a:solidFill>
              </a:rPr>
              <a:t>Thank you</a:t>
            </a:r>
            <a:endParaRPr lang="en-US" sz="2200" dirty="0"/>
          </a:p>
        </p:txBody>
      </p:sp>
      <p:sp>
        <p:nvSpPr>
          <p:cNvPr id="14" name="Shape 12"/>
          <p:cNvSpPr/>
          <p:nvPr/>
        </p:nvSpPr>
        <p:spPr>
          <a:xfrm>
            <a:off x="6300216" y="3566160"/>
            <a:ext cx="3795126" cy="746150"/>
          </a:xfrm>
          <a:prstGeom prst="roundRect">
            <a:avLst>
              <a:gd name="adj" fmla="val 4902"/>
            </a:avLst>
          </a:prstGeom>
          <a:solidFill>
            <a:srgbClr val="FFFFFF">
              <a:alpha val="97000"/>
            </a:srgbClr>
          </a:solidFill>
          <a:ln w="7620">
            <a:solidFill>
              <a:srgbClr val="D7E4EA">
                <a:alpha val="75000"/>
              </a:srgbClr>
            </a:solidFill>
            <a:prstDash val="solid"/>
          </a:ln>
        </p:spPr>
      </p:sp>
      <p:pic>
        <p:nvPicPr>
          <p:cNvPr id="15" name="Image 0" descr="C:\Users\TR4_1950X\Documents\New project\assets\brand\miami-realtors-rworld-combined-logo.png">    </p:cNvPr>
          <p:cNvPicPr>
            <a:picLocks noChangeAspect="1"/>
          </p:cNvPicPr>
          <p:nvPr/>
        </p:nvPicPr>
        <p:blipFill>
          <a:blip r:embed="rId1"/>
          <a:stretch>
            <a:fillRect/>
          </a:stretch>
        </p:blipFill>
        <p:spPr>
          <a:xfrm>
            <a:off x="6446520" y="3675888"/>
            <a:ext cx="3502518" cy="526694"/>
          </a:xfrm>
          <a:prstGeom prst="rect">
            <a:avLst/>
          </a:prstGeom>
        </p:spPr>
      </p:pic>
      <p:sp>
        <p:nvSpPr>
          <p:cNvPr id="16" name="Shape 13"/>
          <p:cNvSpPr/>
          <p:nvPr/>
        </p:nvSpPr>
        <p:spPr>
          <a:xfrm>
            <a:off x="502920" y="6473952"/>
            <a:ext cx="11201400" cy="0"/>
          </a:xfrm>
          <a:prstGeom prst="line">
            <a:avLst/>
          </a:prstGeom>
          <a:noFill/>
          <a:ln w="9525">
            <a:solidFill>
              <a:srgbClr val="D8E6E8"/>
            </a:solidFill>
            <a:prstDash val="solid"/>
          </a:ln>
        </p:spPr>
      </p:sp>
      <p:sp>
        <p:nvSpPr>
          <p:cNvPr id="17"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8"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50/50</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2026-06-02T17:49:34Z</dcterms:created>
  <dcterms:modified xsi:type="dcterms:W3CDTF">2026-06-02T17:49:34Z</dcterms:modified>
</cp:coreProperties>
</file>