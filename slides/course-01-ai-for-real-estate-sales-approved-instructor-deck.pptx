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303" r:id="rId3"/>
    <p:sldId id="257" r:id="rId4"/>
    <p:sldId id="258" r:id="rId5"/>
    <p:sldId id="259" r:id="rId6"/>
    <p:sldId id="260" r:id="rId7"/>
    <p:sldId id="261" r:id="rId8"/>
    <p:sldId id="262" r:id="rId9"/>
    <p:sldId id="263" r:id="rId10"/>
    <p:sldId id="264" r:id="rId11"/>
    <p:sldId id="302"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B84B"/>
    <a:srgbClr val="008F8F"/>
    <a:srgbClr val="2F80ED"/>
    <a:srgbClr val="F45B69"/>
    <a:srgbClr val="2E7D5B"/>
    <a:srgbClr val="616161"/>
    <a:srgbClr val="F7FAFC"/>
    <a:srgbClr val="1632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5456F2-1E1A-D10A-D146-D44CE9864606}" v="79" dt="2026-06-09T14:48:36.931"/>
    <p1510:client id="{E2F479CD-5255-0F3B-51F6-0F616939054B}" v="60" dt="2026-06-09T14:08:10.2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904" autoAdjust="0"/>
  </p:normalViewPr>
  <p:slideViewPr>
    <p:cSldViewPr snapToGrid="0">
      <p:cViewPr>
        <p:scale>
          <a:sx n="100" d="100"/>
          <a:sy n="100" d="100"/>
        </p:scale>
        <p:origin x="3067" y="432"/>
      </p:cViewPr>
      <p:guideLst>
        <p:guide orient="horz" pos="211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4270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attendees. Set expectations: practical, non-technical, compliance-aware, and vendor-neutral.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course-theme version of the MIAMI Antitrust Policy slide. Display before any substantive course content if using this version.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the instructor context brief. Mention GoHouse.ai only as professional background, not as a product pitch.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the approved learning objectives, rewritten for a live workshop slide. The full formal objectives remain preserved in the approved syllabus and can be referenced verbally if needed.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timing as the approved two-hour path. The segments total 120 minutes. Exercises may expand or compress slightly, but keep the overall class within two hours.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Tie to texts, emails, listing notes, showing feedback, and CRM updates.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Contrast a vague social post prompt with a repeatable workflow.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down one task for later exercises.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F35E2-B2A4-C921-F50A-F0BD7D6E6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8C7B2-DE8A-FEC6-6D92-9B6DF82813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07AA8-17E1-1A57-7F12-48CAEDA0A483}"/>
              </a:ext>
            </a:extLst>
          </p:cNvPr>
          <p:cNvSpPr>
            <a:spLocks noGrp="1"/>
          </p:cNvSpPr>
          <p:nvPr>
            <p:ph type="body" idx="1"/>
          </p:nvPr>
        </p:nvSpPr>
        <p:spPr/>
        <p:txBody>
          <a:bodyPr/>
          <a:lstStyle/>
          <a:p>
            <a:r>
              <a:rPr lang="en-US"/>
              <a:t>Explain that AI predicts useful language; it does not verify your facts.</a:t>
            </a:r>
          </a:p>
        </p:txBody>
      </p:sp>
      <p:sp>
        <p:nvSpPr>
          <p:cNvPr id="4" name="Slide Number Placeholder 3">
            <a:extLst>
              <a:ext uri="{FF2B5EF4-FFF2-40B4-BE49-F238E27FC236}">
                <a16:creationId xmlns:a16="http://schemas.microsoft.com/office/drawing/2014/main" id="{F1226B08-F5E7-58A4-B263-40ED75BC048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88535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review lens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that the prompt provides facts, tone, constraints, and review boundaries.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this formula repeatedly.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shows how the formula becomes a usable prompt. Keep the prompt readable and emphasize role, task, context, tone, constraints, and goal.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out empathy, value, and easy next question. Avoid lender-specific promises.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no panic, no blame, no invented stats.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Encourage attendees to save prompts that work.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examples: portal, IDX, open house, valuation lead, old database contact, referral, social media lead, and sign call.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imply AI should auto-send without human review. Different lead sources need different first responses because the relationship context is different.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that availability must be verified. This is a sample lead created for classroom safety.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measurement simple. Add appointments per 100 leads as an optional metric for teams or brokers.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Warn against asking AI to invent descriptions from an address. MLS information still requires human review because MLS data is entered by people and can contain mistakes.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useful copy without protected-class language, exaggerated claims, or unsupported details.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Teach agents to preserve a clean source facts block manually in the same chat or notes. Do not claim AI memory is reliable by itself.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value is preparation and clarity, not replacing experience.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the room identify better language for pricing conversations.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Clarify that this is an objection-practice example, not a rate prediction slide. Avoid rate predictions and financial advice. Suggest lender involvement for specifics.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Small repeated usage beats one dramatic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one workflow they will actually use.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 Encourage attendees to customize the bracketed fields.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make AI output repeatable, save the prompt, the verified fact block, the tone instruction, the final reviewed version, and the reason it worked.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course provides general education, not legal, financial, brokerage, MLS, or Fair Housing advice. Point attendees to brokerage AI policies, Fair Housing and advertising guidance, MLS rules, and appropriate professionals when needed. Close on action and presenter contact, not a generic thank-you slide.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2.svg"/></Relationships>
</file>

<file path=ppt/slides/_rels/slide47.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3.svg"/><Relationship Id="rId7" Type="http://schemas.openxmlformats.org/officeDocument/2006/relationships/image" Target="../media/image16.sv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4.svg"/><Relationship Id="rId9"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8792" y="-32101"/>
            <a:ext cx="12191695" cy="6858000"/>
          </a:xfrm>
          <a:prstGeom prst="rect">
            <a:avLst/>
          </a:prstGeom>
          <a:solidFill>
            <a:srgbClr val="16324F"/>
          </a:solidFill>
          <a:ln w="12700">
            <a:solidFill>
              <a:srgbClr val="16324F"/>
            </a:solidFill>
            <a:prstDash val="solid"/>
          </a:ln>
        </p:spPr>
        <p:txBody>
          <a:bodyPr/>
          <a:lstStyle/>
          <a:p>
            <a:endParaRPr lang="en-US"/>
          </a:p>
        </p:txBody>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txBody>
          <a:bodyPr/>
          <a:lstStyle/>
          <a:p>
            <a:endParaRPr lang="en-US"/>
          </a:p>
        </p:txBody>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txBody>
          <a:bodyPr/>
          <a:lstStyle/>
          <a:p>
            <a:endParaRPr lang="en-US"/>
          </a:p>
        </p:txBody>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txBody>
          <a:bodyPr/>
          <a:lstStyle/>
          <a:p>
            <a:endParaRPr lang="en-US"/>
          </a:p>
        </p:txBody>
      </p:sp>
      <p:sp>
        <p:nvSpPr>
          <p:cNvPr id="6" name="Shape 4"/>
          <p:cNvSpPr/>
          <p:nvPr/>
        </p:nvSpPr>
        <p:spPr>
          <a:xfrm>
            <a:off x="7025842" y="1899377"/>
            <a:ext cx="3035808" cy="2431835"/>
          </a:xfrm>
          <a:prstGeom prst="roundRect">
            <a:avLst>
              <a:gd name="adj" fmla="val 2927"/>
            </a:avLst>
          </a:prstGeom>
          <a:solidFill>
            <a:srgbClr val="1E4768">
              <a:alpha val="27000"/>
            </a:srgbClr>
          </a:solidFill>
          <a:ln w="12700">
            <a:solidFill>
              <a:srgbClr val="5FBDBD">
                <a:alpha val="55000"/>
              </a:srgbClr>
            </a:solidFill>
            <a:prstDash val="solid"/>
          </a:ln>
        </p:spPr>
        <p:txBody>
          <a:bodyPr/>
          <a:lstStyle/>
          <a:p>
            <a:endParaRPr lang="en-US" dirty="0"/>
          </a:p>
        </p:txBody>
      </p:sp>
      <p:sp>
        <p:nvSpPr>
          <p:cNvPr id="7" name="Text 5"/>
          <p:cNvSpPr/>
          <p:nvPr/>
        </p:nvSpPr>
        <p:spPr>
          <a:xfrm>
            <a:off x="7323824" y="2097110"/>
            <a:ext cx="2724184" cy="258363"/>
          </a:xfrm>
          <a:prstGeom prst="rect">
            <a:avLst/>
          </a:prstGeom>
          <a:noFill/>
          <a:ln/>
        </p:spPr>
        <p:txBody>
          <a:bodyPr wrap="square" lIns="0" tIns="0" rIns="0" bIns="0" rtlCol="0" anchor="ctr"/>
          <a:lstStyle/>
          <a:p>
            <a:pPr marL="0" indent="0">
              <a:buNone/>
            </a:pPr>
            <a:r>
              <a:rPr lang="en-US" sz="1600" b="1" dirty="0">
                <a:solidFill>
                  <a:srgbClr val="F2B84B"/>
                </a:solidFill>
              </a:rPr>
              <a:t>Practical workshop focus</a:t>
            </a:r>
            <a:endParaRPr lang="en-US" sz="1600" dirty="0"/>
          </a:p>
        </p:txBody>
      </p:sp>
      <p:sp>
        <p:nvSpPr>
          <p:cNvPr id="8" name="Text 6"/>
          <p:cNvSpPr/>
          <p:nvPr/>
        </p:nvSpPr>
        <p:spPr>
          <a:xfrm>
            <a:off x="7636937" y="2630084"/>
            <a:ext cx="2014174" cy="1239425"/>
          </a:xfrm>
          <a:prstGeom prst="rect">
            <a:avLst/>
          </a:prstGeom>
          <a:noFill/>
          <a:ln/>
        </p:spPr>
        <p:txBody>
          <a:bodyPr wrap="square" lIns="254" tIns="254" rIns="254" bIns="254" rtlCol="0" anchor="ctr">
            <a:noAutofit/>
          </a:bodyPr>
          <a:lstStyle/>
          <a:p>
            <a:pPr marL="0" indent="0">
              <a:buNone/>
            </a:pPr>
            <a:r>
              <a:rPr lang="en-US" sz="1600" dirty="0">
                <a:solidFill>
                  <a:srgbClr val="D7EDEE"/>
                </a:solidFill>
              </a:rPr>
              <a:t>Client messages</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Lead follow-up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Listing prep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Appointment prep</a:t>
            </a:r>
            <a:endParaRPr lang="en-US" sz="1600" dirty="0"/>
          </a:p>
        </p:txBody>
      </p:sp>
      <p:sp>
        <p:nvSpPr>
          <p:cNvPr id="9" name="Text 7"/>
          <p:cNvSpPr/>
          <p:nvPr/>
        </p:nvSpPr>
        <p:spPr>
          <a:xfrm>
            <a:off x="615138" y="685800"/>
            <a:ext cx="6217920" cy="228600"/>
          </a:xfrm>
          <a:prstGeom prst="rect">
            <a:avLst/>
          </a:prstGeom>
          <a:noFill/>
          <a:ln/>
        </p:spPr>
        <p:txBody>
          <a:bodyPr wrap="square" lIns="0" tIns="0" rIns="0" bIns="0" rtlCol="0" anchor="ctr"/>
          <a:lstStyle/>
          <a:p>
            <a:pPr marL="0" indent="0">
              <a:buNone/>
            </a:pPr>
            <a:r>
              <a:rPr lang="en-US" sz="1100" b="1">
                <a:solidFill>
                  <a:srgbClr val="F2B84B"/>
                </a:solidFill>
              </a:rPr>
              <a:t>APPROVED REAL ESTATE EDUCATION COURSE</a:t>
            </a:r>
            <a:endParaRPr lang="en-US" sz="1100" dirty="0"/>
          </a:p>
        </p:txBody>
      </p:sp>
      <p:sp>
        <p:nvSpPr>
          <p:cNvPr id="10" name="Text 8"/>
          <p:cNvSpPr/>
          <p:nvPr/>
        </p:nvSpPr>
        <p:spPr>
          <a:xfrm>
            <a:off x="622894" y="956253"/>
            <a:ext cx="8961120" cy="960329"/>
          </a:xfrm>
          <a:prstGeom prst="rect">
            <a:avLst/>
          </a:prstGeom>
          <a:noFill/>
          <a:ln/>
        </p:spPr>
        <p:txBody>
          <a:bodyPr wrap="square" lIns="0" tIns="0" rIns="0" bIns="0" rtlCol="0" anchor="ctr">
            <a:normAutofit/>
          </a:bodyPr>
          <a:lstStyle/>
          <a:p>
            <a:pPr marL="0" indent="0">
              <a:buNone/>
            </a:pPr>
            <a:r>
              <a:rPr lang="en-US" sz="5000" b="1" dirty="0">
                <a:solidFill>
                  <a:srgbClr val="FFFFFF"/>
                </a:solidFill>
                <a:latin typeface="Aptos Display" pitchFamily="34" charset="0"/>
                <a:ea typeface="Aptos Display" pitchFamily="34" charset="-122"/>
                <a:cs typeface="Aptos Display" pitchFamily="34" charset="-120"/>
              </a:rPr>
              <a:t>AI for Real Estate Sales</a:t>
            </a:r>
            <a:endParaRPr lang="en-US" sz="5000" dirty="0"/>
          </a:p>
        </p:txBody>
      </p:sp>
      <p:sp>
        <p:nvSpPr>
          <p:cNvPr id="11" name="Text 9"/>
          <p:cNvSpPr/>
          <p:nvPr/>
        </p:nvSpPr>
        <p:spPr>
          <a:xfrm>
            <a:off x="607754" y="1888333"/>
            <a:ext cx="3822189" cy="411480"/>
          </a:xfrm>
          <a:prstGeom prst="rect">
            <a:avLst/>
          </a:prstGeom>
          <a:noFill/>
          <a:ln/>
        </p:spPr>
        <p:txBody>
          <a:bodyPr wrap="square" lIns="0" tIns="0" rIns="0" bIns="0" rtlCol="0" anchor="ctr"/>
          <a:lstStyle/>
          <a:p>
            <a:pPr marL="0" indent="0">
              <a:buNone/>
            </a:pPr>
            <a:r>
              <a:rPr lang="en-US" sz="2400" dirty="0">
                <a:solidFill>
                  <a:srgbClr val="D7EDEE"/>
                </a:solidFill>
              </a:rPr>
              <a:t>From Confusion to Daily Use</a:t>
            </a:r>
            <a:endParaRPr lang="en-US" sz="2400" dirty="0"/>
          </a:p>
        </p:txBody>
      </p:sp>
      <p:sp>
        <p:nvSpPr>
          <p:cNvPr id="12" name="Shape 10"/>
          <p:cNvSpPr/>
          <p:nvPr/>
        </p:nvSpPr>
        <p:spPr>
          <a:xfrm>
            <a:off x="624862" y="2483909"/>
            <a:ext cx="3035809" cy="16367"/>
          </a:xfrm>
          <a:prstGeom prst="line">
            <a:avLst/>
          </a:prstGeom>
          <a:noFill/>
          <a:ln w="50800">
            <a:solidFill>
              <a:srgbClr val="F45B69"/>
            </a:solidFill>
            <a:prstDash val="solid"/>
          </a:ln>
        </p:spPr>
        <p:txBody>
          <a:bodyPr/>
          <a:lstStyle/>
          <a:p>
            <a:endParaRPr lang="en-US"/>
          </a:p>
        </p:txBody>
      </p:sp>
      <p:sp>
        <p:nvSpPr>
          <p:cNvPr id="13" name="Shape 11"/>
          <p:cNvSpPr/>
          <p:nvPr/>
        </p:nvSpPr>
        <p:spPr>
          <a:xfrm>
            <a:off x="620552" y="3046489"/>
            <a:ext cx="2913418" cy="67665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4" name="Text 12"/>
          <p:cNvSpPr/>
          <p:nvPr/>
        </p:nvSpPr>
        <p:spPr>
          <a:xfrm>
            <a:off x="617344" y="3048891"/>
            <a:ext cx="2913418" cy="667511"/>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rPr>
              <a:t>LIVE WORKSHOP</a:t>
            </a:r>
            <a:endParaRPr lang="en-US" sz="2400" dirty="0"/>
          </a:p>
        </p:txBody>
      </p:sp>
      <p:sp>
        <p:nvSpPr>
          <p:cNvPr id="15" name="Text 13"/>
          <p:cNvSpPr/>
          <p:nvPr/>
        </p:nvSpPr>
        <p:spPr>
          <a:xfrm>
            <a:off x="7014591" y="4465335"/>
            <a:ext cx="3668853" cy="447847"/>
          </a:xfrm>
          <a:prstGeom prst="rect">
            <a:avLst/>
          </a:prstGeom>
          <a:noFill/>
          <a:ln/>
        </p:spPr>
        <p:txBody>
          <a:bodyPr wrap="square" lIns="0" tIns="0" rIns="0" bIns="0" rtlCol="0" anchor="ctr"/>
          <a:lstStyle/>
          <a:p>
            <a:pPr marL="0" indent="0">
              <a:buNone/>
            </a:pPr>
            <a:r>
              <a:rPr lang="en-US" b="1" dirty="0">
                <a:solidFill>
                  <a:srgbClr val="D7EDEE"/>
                </a:solidFill>
              </a:rPr>
              <a:t>Presented by Ian Burton Price</a:t>
            </a:r>
            <a:endParaRPr lang="en-US" dirty="0"/>
          </a:p>
        </p:txBody>
      </p:sp>
      <p:pic>
        <p:nvPicPr>
          <p:cNvPr id="16" name="Image 0"/>
          <p:cNvPicPr>
            <a:picLocks noChangeAspect="1"/>
          </p:cNvPicPr>
          <p:nvPr/>
        </p:nvPicPr>
        <p:blipFill>
          <a:blip r:embed="rId3"/>
          <a:srcRect/>
          <a:stretch/>
        </p:blipFill>
        <p:spPr>
          <a:xfrm>
            <a:off x="7014591" y="5017633"/>
            <a:ext cx="1950597" cy="408664"/>
          </a:xfrm>
          <a:prstGeom prst="rect">
            <a:avLst/>
          </a:prstGeom>
        </p:spPr>
      </p:pic>
      <p:sp>
        <p:nvSpPr>
          <p:cNvPr id="17" name="Shape 14"/>
          <p:cNvSpPr/>
          <p:nvPr/>
        </p:nvSpPr>
        <p:spPr>
          <a:xfrm>
            <a:off x="611817" y="3923609"/>
            <a:ext cx="4281587" cy="819302"/>
          </a:xfrm>
          <a:prstGeom prst="roundRect">
            <a:avLst>
              <a:gd name="adj" fmla="val 4464"/>
            </a:avLst>
          </a:prstGeom>
          <a:solidFill>
            <a:srgbClr val="FFFFFF">
              <a:alpha val="97000"/>
            </a:srgbClr>
          </a:solidFill>
          <a:ln w="7620">
            <a:solidFill>
              <a:srgbClr val="D7E4EA">
                <a:alpha val="75000"/>
              </a:srgbClr>
            </a:solidFill>
            <a:prstDash val="solid"/>
          </a:ln>
        </p:spPr>
        <p:txBody>
          <a:bodyPr/>
          <a:lstStyle/>
          <a:p>
            <a:endParaRPr lang="en-US"/>
          </a:p>
        </p:txBody>
      </p:sp>
      <p:pic>
        <p:nvPicPr>
          <p:cNvPr id="18" name="Image 1" descr="C:\Users\TR4_1950X\Documents\New project\assets\brand\miami-realtors-rworld-combined-logo.png"/>
          <p:cNvPicPr>
            <a:picLocks noChangeAspect="1"/>
          </p:cNvPicPr>
          <p:nvPr/>
        </p:nvPicPr>
        <p:blipFill>
          <a:blip r:embed="rId4"/>
          <a:stretch>
            <a:fillRect/>
          </a:stretch>
        </p:blipFill>
        <p:spPr>
          <a:xfrm>
            <a:off x="758121" y="4033337"/>
            <a:ext cx="3988979" cy="599846"/>
          </a:xfrm>
          <a:prstGeom prst="rect">
            <a:avLst/>
          </a:prstGeom>
        </p:spPr>
      </p:pic>
      <p:sp>
        <p:nvSpPr>
          <p:cNvPr id="19" name="Text 15"/>
          <p:cNvSpPr/>
          <p:nvPr/>
        </p:nvSpPr>
        <p:spPr>
          <a:xfrm>
            <a:off x="616800" y="5158049"/>
            <a:ext cx="6217920" cy="256032"/>
          </a:xfrm>
          <a:prstGeom prst="rect">
            <a:avLst/>
          </a:prstGeom>
          <a:noFill/>
          <a:ln/>
        </p:spPr>
        <p:txBody>
          <a:bodyPr wrap="square" lIns="0" tIns="0" rIns="0" bIns="0" rtlCol="0" anchor="ctr"/>
          <a:lstStyle/>
          <a:p>
            <a:r>
              <a:rPr lang="en-US" sz="1600" b="1" dirty="0">
                <a:solidFill>
                  <a:srgbClr val="D7EDEE"/>
                </a:solidFill>
              </a:rPr>
              <a:t>For MIAMI REALTORS® and </a:t>
            </a:r>
            <a:r>
              <a:rPr lang="en-US" sz="1600" b="1" dirty="0" err="1">
                <a:solidFill>
                  <a:srgbClr val="D7EDEE"/>
                </a:solidFill>
              </a:rPr>
              <a:t>RWorld</a:t>
            </a:r>
            <a:r>
              <a:rPr lang="en-US" sz="1600" b="1" dirty="0">
                <a:solidFill>
                  <a:srgbClr val="D7EDEE"/>
                </a:solidFill>
              </a:rPr>
              <a:t> members</a:t>
            </a:r>
            <a:endParaRPr lang="en-US" sz="1600" b="1" dirty="0"/>
          </a:p>
        </p:txBody>
      </p:sp>
      <p:sp>
        <p:nvSpPr>
          <p:cNvPr id="20" name="Text 16"/>
          <p:cNvSpPr/>
          <p:nvPr/>
        </p:nvSpPr>
        <p:spPr>
          <a:xfrm>
            <a:off x="616800" y="5478089"/>
            <a:ext cx="4937760" cy="201168"/>
          </a:xfrm>
          <a:prstGeom prst="rect">
            <a:avLst/>
          </a:prstGeom>
          <a:noFill/>
          <a:ln/>
        </p:spPr>
        <p:txBody>
          <a:bodyPr wrap="square" lIns="0" tIns="0" rIns="0" bIns="0" rtlCol="0" anchor="ctr"/>
          <a:lstStyle/>
          <a:p>
            <a:pPr marL="0" indent="0">
              <a:buNone/>
            </a:pPr>
            <a:r>
              <a:rPr lang="en-US" sz="1400" dirty="0">
                <a:solidFill>
                  <a:srgbClr val="AFC8CF"/>
                </a:solidFill>
              </a:rPr>
              <a:t>Practical AI Training for Real Estate Professionals</a:t>
            </a:r>
            <a:endParaRPr lang="en-US" sz="1400" dirty="0"/>
          </a:p>
        </p:txBody>
      </p:sp>
      <p:pic>
        <p:nvPicPr>
          <p:cNvPr id="22" name="Picture 21">
            <a:extLst>
              <a:ext uri="{FF2B5EF4-FFF2-40B4-BE49-F238E27FC236}">
                <a16:creationId xmlns:a16="http://schemas.microsoft.com/office/drawing/2014/main" id="{BD380F5A-5CFB-EDDD-D714-B8794312AB2C}"/>
              </a:ext>
            </a:extLst>
          </p:cNvPr>
          <p:cNvPicPr>
            <a:picLocks noChangeAspect="1"/>
          </p:cNvPicPr>
          <p:nvPr/>
        </p:nvPicPr>
        <p:blipFill>
          <a:blip r:embed="rId5"/>
          <a:stretch>
            <a:fillRect/>
          </a:stretch>
        </p:blipFill>
        <p:spPr>
          <a:xfrm>
            <a:off x="7243144" y="2517307"/>
            <a:ext cx="388459" cy="388459"/>
          </a:xfrm>
          <a:prstGeom prst="rect">
            <a:avLst/>
          </a:prstGeom>
        </p:spPr>
      </p:pic>
      <p:pic>
        <p:nvPicPr>
          <p:cNvPr id="26" name="Picture 25">
            <a:extLst>
              <a:ext uri="{FF2B5EF4-FFF2-40B4-BE49-F238E27FC236}">
                <a16:creationId xmlns:a16="http://schemas.microsoft.com/office/drawing/2014/main" id="{0975120D-DFFF-B0A5-CEAC-A17205BE9EDD}"/>
              </a:ext>
            </a:extLst>
          </p:cNvPr>
          <p:cNvPicPr>
            <a:picLocks noChangeAspect="1"/>
          </p:cNvPicPr>
          <p:nvPr/>
        </p:nvPicPr>
        <p:blipFill>
          <a:blip r:embed="rId5"/>
          <a:stretch>
            <a:fillRect/>
          </a:stretch>
        </p:blipFill>
        <p:spPr>
          <a:xfrm>
            <a:off x="7243144" y="2871497"/>
            <a:ext cx="388459" cy="388459"/>
          </a:xfrm>
          <a:prstGeom prst="rect">
            <a:avLst/>
          </a:prstGeom>
        </p:spPr>
      </p:pic>
      <p:pic>
        <p:nvPicPr>
          <p:cNvPr id="27" name="Picture 26">
            <a:extLst>
              <a:ext uri="{FF2B5EF4-FFF2-40B4-BE49-F238E27FC236}">
                <a16:creationId xmlns:a16="http://schemas.microsoft.com/office/drawing/2014/main" id="{EB38430E-F640-B4D5-9B81-3CA7DE21C590}"/>
              </a:ext>
            </a:extLst>
          </p:cNvPr>
          <p:cNvPicPr>
            <a:picLocks noChangeAspect="1"/>
          </p:cNvPicPr>
          <p:nvPr/>
        </p:nvPicPr>
        <p:blipFill>
          <a:blip r:embed="rId5"/>
          <a:stretch>
            <a:fillRect/>
          </a:stretch>
        </p:blipFill>
        <p:spPr>
          <a:xfrm>
            <a:off x="7243144" y="3240965"/>
            <a:ext cx="388459" cy="388459"/>
          </a:xfrm>
          <a:prstGeom prst="rect">
            <a:avLst/>
          </a:prstGeom>
        </p:spPr>
      </p:pic>
      <p:pic>
        <p:nvPicPr>
          <p:cNvPr id="28" name="Picture 27">
            <a:extLst>
              <a:ext uri="{FF2B5EF4-FFF2-40B4-BE49-F238E27FC236}">
                <a16:creationId xmlns:a16="http://schemas.microsoft.com/office/drawing/2014/main" id="{B5895A07-5DD3-2D52-4DFB-132DDFCA29C5}"/>
              </a:ext>
            </a:extLst>
          </p:cNvPr>
          <p:cNvPicPr>
            <a:picLocks noChangeAspect="1"/>
          </p:cNvPicPr>
          <p:nvPr/>
        </p:nvPicPr>
        <p:blipFill>
          <a:blip r:embed="rId5"/>
          <a:stretch>
            <a:fillRect/>
          </a:stretch>
        </p:blipFill>
        <p:spPr>
          <a:xfrm>
            <a:off x="7245833" y="3608939"/>
            <a:ext cx="388459" cy="388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731520" y="5806440"/>
            <a:ext cx="1554480" cy="1554480"/>
          </a:xfrm>
          <a:prstGeom prst="arc">
            <a:avLst/>
          </a:prstGeom>
          <a:noFill/>
          <a:ln w="19050">
            <a:solidFill>
              <a:srgbClr val="FFF4D9">
                <a:alpha val="9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Text 2"/>
          <p:cNvSpPr/>
          <p:nvPr/>
        </p:nvSpPr>
        <p:spPr>
          <a:xfrm>
            <a:off x="859536" y="448056"/>
            <a:ext cx="21945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8F8F"/>
                </a:solidFill>
                <a:effectLst/>
                <a:uLnTx/>
                <a:uFillTx/>
                <a:latin typeface="Aptos" pitchFamily="34" charset="0"/>
                <a:ea typeface="Aptos" pitchFamily="34" charset="-122"/>
                <a:cs typeface="Aptos" pitchFamily="34" charset="-120"/>
              </a:rPr>
              <a:t>MIAMI REALTORS ANTITRUST POLICY</a:t>
            </a:r>
            <a:endParaRPr kumimoji="0" lang="en-US" sz="10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Text 7"/>
          <p:cNvSpPr/>
          <p:nvPr/>
        </p:nvSpPr>
        <p:spPr>
          <a:xfrm>
            <a:off x="658368" y="932688"/>
            <a:ext cx="475488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02033"/>
                </a:solidFill>
                <a:effectLst/>
                <a:uLnTx/>
                <a:uFillTx/>
                <a:latin typeface="Aptos Display" pitchFamily="34" charset="0"/>
                <a:ea typeface="Aptos Display" pitchFamily="34" charset="-122"/>
                <a:cs typeface="Aptos Display" pitchFamily="34" charset="-120"/>
              </a:rPr>
              <a:t>Antitrust Policy</a:t>
            </a:r>
            <a:endParaRPr kumimoji="0" lang="en-US" sz="3000" b="0" i="0" u="none" strike="noStrike" kern="1200" cap="none" spc="0" normalizeH="0" baseline="0" noProof="0" dirty="0">
              <a:ln>
                <a:noFill/>
              </a:ln>
              <a:solidFill>
                <a:prstClr val="black"/>
              </a:solidFill>
              <a:effectLst/>
              <a:uLnTx/>
              <a:uFillTx/>
              <a:latin typeface="Aptos"/>
              <a:ea typeface="+mn-ea"/>
              <a:cs typeface="+mn-cs"/>
            </a:endParaRPr>
          </a:p>
        </p:txBody>
      </p:sp>
      <p:pic>
        <p:nvPicPr>
          <p:cNvPr id="11" name="Image 0"/>
          <p:cNvPicPr>
            <a:picLocks noChangeAspect="1"/>
          </p:cNvPicPr>
          <p:nvPr/>
        </p:nvPicPr>
        <p:blipFill>
          <a:blip r:embed="rId3"/>
          <a:srcRect/>
          <a:stretch/>
        </p:blipFill>
        <p:spPr>
          <a:xfrm>
            <a:off x="6978889" y="1059056"/>
            <a:ext cx="4560839" cy="625088"/>
          </a:xfrm>
          <a:prstGeom prst="rect">
            <a:avLst/>
          </a:prstGeom>
        </p:spPr>
      </p:pic>
      <p:sp>
        <p:nvSpPr>
          <p:cNvPr id="12" name="Shape 9"/>
          <p:cNvSpPr/>
          <p:nvPr/>
        </p:nvSpPr>
        <p:spPr>
          <a:xfrm>
            <a:off x="658368"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3" name="Shape 10"/>
          <p:cNvSpPr/>
          <p:nvPr/>
        </p:nvSpPr>
        <p:spPr>
          <a:xfrm>
            <a:off x="6245352"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Shape 11"/>
          <p:cNvSpPr/>
          <p:nvPr/>
        </p:nvSpPr>
        <p:spPr>
          <a:xfrm>
            <a:off x="658368" y="1938528"/>
            <a:ext cx="82296" cy="3054096"/>
          </a:xfrm>
          <a:prstGeom prst="rect">
            <a:avLst/>
          </a:prstGeom>
          <a:solidFill>
            <a:srgbClr val="008F8F"/>
          </a:solidFill>
          <a:ln w="12700">
            <a:solidFill>
              <a:srgbClr val="008F8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5" name="Shape 12"/>
          <p:cNvSpPr/>
          <p:nvPr/>
        </p:nvSpPr>
        <p:spPr>
          <a:xfrm>
            <a:off x="6245352" y="1938528"/>
            <a:ext cx="82296" cy="3054096"/>
          </a:xfrm>
          <a:prstGeom prst="rect">
            <a:avLst/>
          </a:prstGeom>
          <a:solidFill>
            <a:srgbClr val="2F80ED"/>
          </a:solidFill>
          <a:ln w="12700">
            <a:solidFill>
              <a:srgbClr val="2F80E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6" name="Text 13"/>
          <p:cNvSpPr/>
          <p:nvPr/>
        </p:nvSpPr>
        <p:spPr>
          <a:xfrm>
            <a:off x="932688" y="2212848"/>
            <a:ext cx="10972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Policy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7" name="Text 14"/>
          <p:cNvSpPr/>
          <p:nvPr/>
        </p:nvSpPr>
        <p:spPr>
          <a:xfrm>
            <a:off x="932688" y="2532888"/>
            <a:ext cx="4599432" cy="2077212"/>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The MIAMI Association of REALTORS® adheres to a strict policy of compliance with both federal and state antitrust laws. As such, any discussions or activities with potential anti-trust implications, including but not limited to commission price fixing, market allocation, customer allocation, bid rigging, or boycotts, are strictly prohibited. MIAMI REALTORS® strongly endorses a competitive marketplace, ensuring that competitors have the freedom to engage in business without artificial restrictions on competition.</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Text 15"/>
          <p:cNvSpPr/>
          <p:nvPr/>
        </p:nvSpPr>
        <p:spPr>
          <a:xfrm>
            <a:off x="6519672" y="2212848"/>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Política</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9" name="Text 16"/>
          <p:cNvSpPr/>
          <p:nvPr/>
        </p:nvSpPr>
        <p:spPr>
          <a:xfrm>
            <a:off x="6519672" y="2532887"/>
            <a:ext cx="4599432" cy="2282951"/>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La Asociación de REALTORS® de MIAMI se adhiere a una estricta política de cumplimiento con las leyes antimonopolio federales y estatales. Como tal, cualquier discusión o actividad con posibles implicaciones antimonopolio, incluyendo pero no limitándose a la fijación de precios de comisiones, la asignación de mercados, la asignación de clientes, la manipulación de ofertas o los boicots, están estrictamente prohibidas. MIAMI REALTORS® apoya firmemente un mercado competitivo asegurándose que competidores tengan la libertad de participar en negocios sin restricciones artificiales a la competencia.</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0" name="Shape 17"/>
          <p:cNvSpPr/>
          <p:nvPr/>
        </p:nvSpPr>
        <p:spPr>
          <a:xfrm>
            <a:off x="658368" y="5285232"/>
            <a:ext cx="10863072" cy="841248"/>
          </a:xfrm>
          <a:prstGeom prst="rect">
            <a:avLst/>
          </a:prstGeom>
          <a:solidFill>
            <a:srgbClr val="EAF7F7"/>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pic>
        <p:nvPicPr>
          <p:cNvPr id="21" name="Image 1" descr="C:\Users\TR4_1950X\Documents\New project\assets\brand\miami-realtors-antitrust-qr.png"/>
          <p:cNvPicPr>
            <a:picLocks noChangeAspect="1"/>
          </p:cNvPicPr>
          <p:nvPr/>
        </p:nvPicPr>
        <p:blipFill>
          <a:blip r:embed="rId4"/>
          <a:stretch>
            <a:fillRect/>
          </a:stretch>
        </p:blipFill>
        <p:spPr>
          <a:xfrm>
            <a:off x="896112" y="5422392"/>
            <a:ext cx="585216" cy="585216"/>
          </a:xfrm>
          <a:prstGeom prst="rect">
            <a:avLst/>
          </a:prstGeom>
        </p:spPr>
      </p:pic>
      <p:sp>
        <p:nvSpPr>
          <p:cNvPr id="22" name="Text 18"/>
          <p:cNvSpPr/>
          <p:nvPr/>
        </p:nvSpPr>
        <p:spPr>
          <a:xfrm>
            <a:off x="1664208" y="5494488"/>
            <a:ext cx="292608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Scan Here to KNOW THE FACTS</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Text 19"/>
          <p:cNvSpPr/>
          <p:nvPr/>
        </p:nvSpPr>
        <p:spPr>
          <a:xfrm>
            <a:off x="1664208" y="5768808"/>
            <a:ext cx="2286000" cy="14630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MiamiRealtors/Facts</a:t>
            </a:r>
            <a:endParaRPr kumimoji="0" lang="en-US" sz="1100" b="0" i="0" u="none" strike="noStrike" kern="1200" cap="none" spc="0" normalizeH="0" baseline="0" noProof="0" dirty="0">
              <a:ln>
                <a:noFill/>
              </a:ln>
              <a:solidFill>
                <a:prstClr val="black"/>
              </a:solidFill>
              <a:effectLst/>
              <a:uLnTx/>
              <a:uFillTx/>
              <a:latin typeface="Aptos"/>
              <a:ea typeface="+mn-ea"/>
              <a:cs typeface="+mn-cs"/>
            </a:endParaRPr>
          </a:p>
        </p:txBody>
      </p:sp>
      <p:sp>
        <p:nvSpPr>
          <p:cNvPr id="24" name="Text 20"/>
          <p:cNvSpPr/>
          <p:nvPr/>
        </p:nvSpPr>
        <p:spPr>
          <a:xfrm>
            <a:off x="4617720" y="5486400"/>
            <a:ext cx="6217920" cy="43891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02033"/>
                </a:solidFill>
                <a:effectLst/>
                <a:uLnTx/>
                <a:uFillTx/>
                <a:latin typeface="Aptos" pitchFamily="34" charset="0"/>
                <a:ea typeface="Aptos" pitchFamily="34" charset="-122"/>
                <a:cs typeface="Aptos" pitchFamily="34" charset="-120"/>
              </a:rPr>
              <a:t>Avoid discussion of commissions, market allocation, customer allocation, bid rigging, boycotts, or any activity that may restrict competition.</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1"/>
          <p:cNvSpPr/>
          <p:nvPr/>
        </p:nvSpPr>
        <p:spPr>
          <a:xfrm>
            <a:off x="502920" y="6492240"/>
            <a:ext cx="11201400" cy="0"/>
          </a:xfrm>
          <a:prstGeom prst="line">
            <a:avLst/>
          </a:prstGeom>
          <a:noFill/>
          <a:ln w="762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Text 22"/>
          <p:cNvSpPr/>
          <p:nvPr/>
        </p:nvSpPr>
        <p:spPr>
          <a:xfrm>
            <a:off x="502920" y="6601968"/>
            <a:ext cx="4297680" cy="1097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a:ln>
                  <a:noFill/>
                </a:ln>
                <a:solidFill>
                  <a:srgbClr val="52606D"/>
                </a:solidFill>
                <a:effectLst/>
                <a:uLnTx/>
                <a:uFillTx/>
                <a:latin typeface="Aptos" pitchFamily="34" charset="0"/>
                <a:ea typeface="Aptos" pitchFamily="34" charset="-122"/>
                <a:cs typeface="Aptos" pitchFamily="34" charset="-120"/>
              </a:rPr>
              <a:t>Approved real estate education course </a:t>
            </a: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 MIAMI REALTORS® + RWorld members</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27" name="Text 23"/>
          <p:cNvSpPr/>
          <p:nvPr/>
        </p:nvSpPr>
        <p:spPr>
          <a:xfrm>
            <a:off x="11393424" y="6601968"/>
            <a:ext cx="292608" cy="10972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2/47</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Shape 2">
            <a:extLst>
              <a:ext uri="{FF2B5EF4-FFF2-40B4-BE49-F238E27FC236}">
                <a16:creationId xmlns:a16="http://schemas.microsoft.com/office/drawing/2014/main" id="{7417F4F4-5232-164D-80D8-AB6403C51C6A}"/>
              </a:ext>
            </a:extLst>
          </p:cNvPr>
          <p:cNvSpPr/>
          <p:nvPr/>
        </p:nvSpPr>
        <p:spPr>
          <a:xfrm>
            <a:off x="9281160" y="493776"/>
            <a:ext cx="219456" cy="45719"/>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28" name="Shape 3">
            <a:extLst>
              <a:ext uri="{FF2B5EF4-FFF2-40B4-BE49-F238E27FC236}">
                <a16:creationId xmlns:a16="http://schemas.microsoft.com/office/drawing/2014/main" id="{E567BBD1-46EE-81DB-6057-C0D259998827}"/>
              </a:ext>
            </a:extLst>
          </p:cNvPr>
          <p:cNvSpPr/>
          <p:nvPr/>
        </p:nvSpPr>
        <p:spPr>
          <a:xfrm>
            <a:off x="9628632" y="493776"/>
            <a:ext cx="219456" cy="45719"/>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29" name="Shape 4">
            <a:extLst>
              <a:ext uri="{FF2B5EF4-FFF2-40B4-BE49-F238E27FC236}">
                <a16:creationId xmlns:a16="http://schemas.microsoft.com/office/drawing/2014/main" id="{1053210D-2FFE-C31A-38A9-C184C039F829}"/>
              </a:ext>
            </a:extLst>
          </p:cNvPr>
          <p:cNvSpPr/>
          <p:nvPr/>
        </p:nvSpPr>
        <p:spPr>
          <a:xfrm>
            <a:off x="9976104" y="493776"/>
            <a:ext cx="219456" cy="45719"/>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30" name="Shape 5">
            <a:extLst>
              <a:ext uri="{FF2B5EF4-FFF2-40B4-BE49-F238E27FC236}">
                <a16:creationId xmlns:a16="http://schemas.microsoft.com/office/drawing/2014/main" id="{956269A2-8BD3-F793-7EC2-E7775B0392E7}"/>
              </a:ext>
            </a:extLst>
          </p:cNvPr>
          <p:cNvSpPr/>
          <p:nvPr/>
        </p:nvSpPr>
        <p:spPr>
          <a:xfrm>
            <a:off x="10323576" y="493776"/>
            <a:ext cx="219456" cy="45719"/>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31" name="Shape 6">
            <a:extLst>
              <a:ext uri="{FF2B5EF4-FFF2-40B4-BE49-F238E27FC236}">
                <a16:creationId xmlns:a16="http://schemas.microsoft.com/office/drawing/2014/main" id="{89331CF9-E156-CA91-EE25-1368641D1825}"/>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AFC"/>
        </a:solidFill>
        <a:effectLst/>
      </p:bgPr>
    </p:bg>
    <p:spTree>
      <p:nvGrpSpPr>
        <p:cNvPr id="1" name=""/>
        <p:cNvGrpSpPr/>
        <p:nvPr/>
      </p:nvGrpSpPr>
      <p:grpSpPr>
        <a:xfrm>
          <a:off x="0" y="0"/>
          <a:ext cx="0" cy="0"/>
          <a:chOff x="0" y="0"/>
          <a:chExt cx="0" cy="0"/>
        </a:xfrm>
      </p:grpSpPr>
      <p:sp>
        <p:nvSpPr>
          <p:cNvPr id="13" name="Shape 11"/>
          <p:cNvSpPr/>
          <p:nvPr/>
        </p:nvSpPr>
        <p:spPr>
          <a:xfrm>
            <a:off x="7889611" y="2058889"/>
            <a:ext cx="3246120" cy="2788920"/>
          </a:xfrm>
          <a:prstGeom prst="roundRect">
            <a:avLst>
              <a:gd name="adj" fmla="val 1967"/>
            </a:avLst>
          </a:prstGeom>
          <a:solidFill>
            <a:srgbClr val="FFF0EF"/>
          </a:solidFill>
          <a:ln w="10160">
            <a:solidFill>
              <a:srgbClr val="F5C8C5"/>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r>
              <a:rPr lang="en-US" sz="1000" b="1" dirty="0">
                <a:solidFill>
                  <a:srgbClr val="008F8F"/>
                </a:solidFill>
                <a:latin typeface="Aptos"/>
              </a:rPr>
              <a:t>INSTRUCTOR</a:t>
            </a:r>
            <a:endParaRPr lang="en-US" sz="85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967061" y="1967449"/>
            <a:ext cx="6143906" cy="3195565"/>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dirty="0"/>
          </a:p>
        </p:txBody>
      </p:sp>
      <p:sp>
        <p:nvSpPr>
          <p:cNvPr id="12" name="Shape 10"/>
          <p:cNvSpPr/>
          <p:nvPr/>
        </p:nvSpPr>
        <p:spPr>
          <a:xfrm>
            <a:off x="7692715" y="1967449"/>
            <a:ext cx="91440" cy="2971800"/>
          </a:xfrm>
          <a:prstGeom prst="rect">
            <a:avLst/>
          </a:prstGeom>
          <a:solidFill>
            <a:srgbClr val="F45B69"/>
          </a:solidFill>
          <a:ln w="12700">
            <a:solidFill>
              <a:srgbClr val="F45B69"/>
            </a:solidFill>
            <a:prstDash val="solid"/>
          </a:ln>
        </p:spPr>
        <p:txBody>
          <a:bodyPr/>
          <a:lstStyle/>
          <a:p>
            <a:endParaRPr lang="en-US"/>
          </a:p>
        </p:txBody>
      </p:sp>
      <p:sp>
        <p:nvSpPr>
          <p:cNvPr id="14" name="Text 12"/>
          <p:cNvSpPr/>
          <p:nvPr/>
        </p:nvSpPr>
        <p:spPr>
          <a:xfrm>
            <a:off x="8254339" y="2234920"/>
            <a:ext cx="2606040" cy="530352"/>
          </a:xfrm>
          <a:prstGeom prst="rect">
            <a:avLst/>
          </a:prstGeom>
          <a:noFill/>
          <a:ln/>
        </p:spPr>
        <p:txBody>
          <a:bodyPr wrap="square" lIns="0" tIns="0" rIns="0" bIns="0" rtlCol="0" anchor="ctr">
            <a:normAutofit/>
          </a:bodyPr>
          <a:lstStyle/>
          <a:p>
            <a:pPr marL="0" indent="0">
              <a:buNone/>
            </a:pPr>
            <a:r>
              <a:rPr lang="en-US" sz="2400" b="1" dirty="0">
                <a:solidFill>
                  <a:srgbClr val="16324F"/>
                </a:solidFill>
              </a:rPr>
              <a:t>Workshop point</a:t>
            </a:r>
            <a:endParaRPr lang="en-US" sz="2400" dirty="0"/>
          </a:p>
        </p:txBody>
      </p:sp>
      <p:sp>
        <p:nvSpPr>
          <p:cNvPr id="15" name="Text 13"/>
          <p:cNvSpPr/>
          <p:nvPr/>
        </p:nvSpPr>
        <p:spPr>
          <a:xfrm>
            <a:off x="8254339" y="2872056"/>
            <a:ext cx="2514600" cy="1295177"/>
          </a:xfrm>
          <a:prstGeom prst="rect">
            <a:avLst/>
          </a:prstGeom>
          <a:noFill/>
          <a:ln/>
        </p:spPr>
        <p:txBody>
          <a:bodyPr wrap="square" lIns="508" tIns="508" rIns="508" bIns="508" rtlCol="0" anchor="ctr">
            <a:normAutofit/>
          </a:bodyPr>
          <a:lstStyle/>
          <a:p>
            <a:pPr marL="0" indent="0">
              <a:buNone/>
            </a:pPr>
            <a:r>
              <a:rPr lang="en-US" sz="2000" dirty="0">
                <a:solidFill>
                  <a:srgbClr val="102033"/>
                </a:solidFill>
              </a:rPr>
              <a:t>Connect the idea to a real client, lead, listing, or daily workflow.</a:t>
            </a:r>
            <a:endParaRPr lang="en-US" sz="20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3/47</a:t>
            </a:r>
            <a:endParaRPr lang="en-US" sz="720"/>
          </a:p>
        </p:txBody>
      </p:sp>
      <p:sp>
        <p:nvSpPr>
          <p:cNvPr id="16" name="Shape 14"/>
          <p:cNvSpPr/>
          <p:nvPr/>
        </p:nvSpPr>
        <p:spPr>
          <a:xfrm>
            <a:off x="8280169" y="4393129"/>
            <a:ext cx="1097280" cy="0"/>
          </a:xfrm>
          <a:prstGeom prst="line">
            <a:avLst/>
          </a:prstGeom>
          <a:noFill/>
          <a:ln w="38100">
            <a:solidFill>
              <a:srgbClr val="F45B69"/>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a:ea typeface="Aptos" pitchFamily="34" charset="-122"/>
                <a:cs typeface="Aptos" pitchFamily="34" charset="-120"/>
              </a:rPr>
              <a:t>ABOUT THE INSTRUCTOR</a:t>
            </a:r>
            <a:endParaRPr lang="en-US" sz="1000" dirty="0">
              <a:latin typeface="Aptos"/>
            </a:endParaRPr>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About the Instructor</a:t>
            </a:r>
            <a:endParaRPr lang="en-US" sz="3000"/>
          </a:p>
        </p:txBody>
      </p:sp>
      <p:sp>
        <p:nvSpPr>
          <p:cNvPr id="11" name="Shape 9"/>
          <p:cNvSpPr/>
          <p:nvPr/>
        </p:nvSpPr>
        <p:spPr>
          <a:xfrm>
            <a:off x="1173480" y="2034540"/>
            <a:ext cx="4800600" cy="3520440"/>
          </a:xfrm>
          <a:prstGeom prst="roundRect">
            <a:avLst>
              <a:gd name="adj" fmla="val 1558"/>
            </a:avLst>
          </a:prstGeom>
          <a:solidFill>
            <a:srgbClr val="FFFFFF"/>
          </a:solidFill>
          <a:ln w="10160">
            <a:solidFill>
              <a:srgbClr val="D8E6E8"/>
            </a:solidFill>
            <a:prstDash val="solid"/>
          </a:ln>
        </p:spPr>
        <p:txBody>
          <a:bodyPr/>
          <a:lstStyle/>
          <a:p>
            <a:endParaRPr lang="en-US"/>
          </a:p>
        </p:txBody>
      </p:sp>
      <p:sp>
        <p:nvSpPr>
          <p:cNvPr id="13" name="Text 11"/>
          <p:cNvSpPr/>
          <p:nvPr/>
        </p:nvSpPr>
        <p:spPr>
          <a:xfrm>
            <a:off x="1475232" y="2172872"/>
            <a:ext cx="4160520" cy="677008"/>
          </a:xfrm>
          <a:prstGeom prst="rect">
            <a:avLst/>
          </a:prstGeom>
          <a:noFill/>
          <a:ln/>
        </p:spPr>
        <p:txBody>
          <a:bodyPr wrap="square" lIns="0" tIns="0" rIns="0" bIns="0" rtlCol="0" anchor="ctr">
            <a:normAutofit/>
          </a:bodyPr>
          <a:lstStyle/>
          <a:p>
            <a:r>
              <a:rPr lang="en-US" sz="3000" b="1" dirty="0">
                <a:solidFill>
                  <a:srgbClr val="16324F"/>
                </a:solidFill>
              </a:rPr>
              <a:t>Ian Burton Price</a:t>
            </a:r>
            <a:endParaRPr lang="en-US" sz="3000" dirty="0"/>
          </a:p>
        </p:txBody>
      </p:sp>
      <p:sp>
        <p:nvSpPr>
          <p:cNvPr id="14" name="Text 12"/>
          <p:cNvSpPr/>
          <p:nvPr/>
        </p:nvSpPr>
        <p:spPr>
          <a:xfrm>
            <a:off x="1475232" y="2923032"/>
            <a:ext cx="4160520" cy="274320"/>
          </a:xfrm>
          <a:prstGeom prst="rect">
            <a:avLst/>
          </a:prstGeom>
          <a:noFill/>
          <a:ln/>
        </p:spPr>
        <p:txBody>
          <a:bodyPr wrap="square" lIns="0" tIns="0" rIns="0" bIns="0" rtlCol="0" anchor="ctr">
            <a:noAutofit/>
          </a:bodyPr>
          <a:lstStyle/>
          <a:p>
            <a:pPr marL="0" indent="0">
              <a:buNone/>
            </a:pPr>
            <a:r>
              <a:rPr lang="en-US" sz="950">
                <a:solidFill>
                  <a:srgbClr val="52606D"/>
                </a:solidFill>
              </a:rPr>
              <a:t>REALTOR® | Dalton Wade Real Estate Group</a:t>
            </a:r>
            <a:endParaRPr lang="en-US" sz="950" dirty="0"/>
          </a:p>
          <a:p>
            <a:pPr marL="0" indent="0">
              <a:buNone/>
            </a:pPr>
            <a:r>
              <a:rPr lang="en-US" sz="950" dirty="0">
                <a:solidFill>
                  <a:srgbClr val="52606D"/>
                </a:solidFill>
              </a:rPr>
              <a:t>V.P. of Growth and Partnerships | GoHouse.ai</a:t>
            </a:r>
            <a:endParaRPr lang="en-US" sz="950" dirty="0"/>
          </a:p>
        </p:txBody>
      </p:sp>
      <p:pic>
        <p:nvPicPr>
          <p:cNvPr id="15" name="Image 0" descr="C:\Users\TR4_1950X\Documents\New project\assets\brand\gohouse-logo-w-text-large-transparent.png"/>
          <p:cNvPicPr>
            <a:picLocks noChangeAspect="1"/>
          </p:cNvPicPr>
          <p:nvPr/>
        </p:nvPicPr>
        <p:blipFill>
          <a:blip r:embed="rId3"/>
          <a:stretch>
            <a:fillRect/>
          </a:stretch>
        </p:blipFill>
        <p:spPr>
          <a:xfrm>
            <a:off x="4652772" y="2941319"/>
            <a:ext cx="1078992" cy="215798"/>
          </a:xfrm>
          <a:prstGeom prst="rect">
            <a:avLst/>
          </a:prstGeom>
        </p:spPr>
      </p:pic>
      <p:sp>
        <p:nvSpPr>
          <p:cNvPr id="16" name="Shape 13"/>
          <p:cNvSpPr/>
          <p:nvPr/>
        </p:nvSpPr>
        <p:spPr>
          <a:xfrm>
            <a:off x="1475232" y="3398520"/>
            <a:ext cx="1234440" cy="0"/>
          </a:xfrm>
          <a:prstGeom prst="line">
            <a:avLst/>
          </a:prstGeom>
          <a:noFill/>
          <a:ln w="38100">
            <a:solidFill>
              <a:srgbClr val="F45B69"/>
            </a:solidFill>
            <a:prstDash val="solid"/>
          </a:ln>
        </p:spPr>
        <p:txBody>
          <a:bodyPr/>
          <a:lstStyle/>
          <a:p>
            <a:endParaRPr lang="en-US"/>
          </a:p>
        </p:txBody>
      </p:sp>
      <p:sp>
        <p:nvSpPr>
          <p:cNvPr id="17" name="Text 14"/>
          <p:cNvSpPr/>
          <p:nvPr/>
        </p:nvSpPr>
        <p:spPr>
          <a:xfrm>
            <a:off x="1475232" y="3449727"/>
            <a:ext cx="4069080" cy="1914748"/>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600" dirty="0"/>
          </a:p>
        </p:txBody>
      </p:sp>
      <p:sp>
        <p:nvSpPr>
          <p:cNvPr id="19" name="Shape 16"/>
          <p:cNvSpPr/>
          <p:nvPr/>
        </p:nvSpPr>
        <p:spPr>
          <a:xfrm>
            <a:off x="6580021" y="2034540"/>
            <a:ext cx="4434840" cy="3520440"/>
          </a:xfrm>
          <a:prstGeom prst="roundRect">
            <a:avLst>
              <a:gd name="adj" fmla="val 1558"/>
            </a:avLst>
          </a:prstGeom>
          <a:solidFill>
            <a:srgbClr val="EAF7F7"/>
          </a:solidFill>
          <a:ln w="10160">
            <a:solidFill>
              <a:srgbClr val="BFDADC"/>
            </a:solidFill>
            <a:prstDash val="solid"/>
          </a:ln>
        </p:spPr>
        <p:txBody>
          <a:bodyPr/>
          <a:lstStyle/>
          <a:p>
            <a:endParaRPr lang="en-US"/>
          </a:p>
        </p:txBody>
      </p:sp>
      <p:sp>
        <p:nvSpPr>
          <p:cNvPr id="20" name="Text 17"/>
          <p:cNvSpPr/>
          <p:nvPr/>
        </p:nvSpPr>
        <p:spPr>
          <a:xfrm>
            <a:off x="6865620" y="2336292"/>
            <a:ext cx="3017520" cy="347472"/>
          </a:xfrm>
          <a:prstGeom prst="rect">
            <a:avLst/>
          </a:prstGeom>
          <a:noFill/>
          <a:ln/>
        </p:spPr>
        <p:txBody>
          <a:bodyPr wrap="square" lIns="0" tIns="0" rIns="0" bIns="0" rtlCol="0" anchor="ctr"/>
          <a:lstStyle/>
          <a:p>
            <a:pPr marL="0" indent="0">
              <a:buNone/>
            </a:pPr>
            <a:r>
              <a:rPr lang="en-US" sz="3000" b="1" dirty="0">
                <a:solidFill>
                  <a:srgbClr val="16324F"/>
                </a:solidFill>
              </a:rPr>
              <a:t>Teaching Focus:</a:t>
            </a:r>
            <a:endParaRPr lang="en-US" sz="3000" dirty="0"/>
          </a:p>
        </p:txBody>
      </p:sp>
      <p:sp>
        <p:nvSpPr>
          <p:cNvPr id="21" name="Text 18"/>
          <p:cNvSpPr/>
          <p:nvPr/>
        </p:nvSpPr>
        <p:spPr>
          <a:xfrm>
            <a:off x="6865620" y="2793493"/>
            <a:ext cx="3520440" cy="1307592"/>
          </a:xfrm>
          <a:prstGeom prst="rect">
            <a:avLst/>
          </a:prstGeom>
          <a:noFill/>
          <a:ln/>
        </p:spPr>
        <p:txBody>
          <a:bodyPr wrap="square" lIns="254" tIns="254" rIns="254" bIns="254" rtlCol="0" anchor="ctr">
            <a:normAutofit/>
          </a:bodyPr>
          <a:lstStyle/>
          <a:p>
            <a:pPr marL="0" indent="0">
              <a:buNone/>
            </a:pPr>
            <a:r>
              <a:rPr lang="en-US" dirty="0">
                <a:solidFill>
                  <a:srgbClr val="102033"/>
                </a:solidFill>
              </a:rPr>
              <a:t>Practical, vendor-neutral AI workflows agents can understand, review, and apply without replacing their professional judgment.</a:t>
            </a:r>
            <a:endParaRPr lang="en-US" dirty="0"/>
          </a:p>
        </p:txBody>
      </p:sp>
      <p:sp>
        <p:nvSpPr>
          <p:cNvPr id="22" name="Shape 19"/>
          <p:cNvSpPr/>
          <p:nvPr/>
        </p:nvSpPr>
        <p:spPr>
          <a:xfrm>
            <a:off x="6865620" y="4192524"/>
            <a:ext cx="1097280" cy="0"/>
          </a:xfrm>
          <a:prstGeom prst="line">
            <a:avLst/>
          </a:prstGeom>
          <a:noFill/>
          <a:ln w="38100">
            <a:solidFill>
              <a:srgbClr val="008F8F"/>
            </a:solidFill>
            <a:prstDash val="solid"/>
          </a:ln>
        </p:spPr>
        <p:txBody>
          <a:bodyPr/>
          <a:lstStyle/>
          <a:p>
            <a:endParaRPr lang="en-US"/>
          </a:p>
        </p:txBody>
      </p:sp>
      <p:sp>
        <p:nvSpPr>
          <p:cNvPr id="23" name="Text 20"/>
          <p:cNvSpPr/>
          <p:nvPr/>
        </p:nvSpPr>
        <p:spPr>
          <a:xfrm>
            <a:off x="6865620" y="4521708"/>
            <a:ext cx="3520440" cy="502920"/>
          </a:xfrm>
          <a:prstGeom prst="rect">
            <a:avLst/>
          </a:prstGeom>
          <a:noFill/>
          <a:ln/>
        </p:spPr>
        <p:txBody>
          <a:bodyPr wrap="square" lIns="254" tIns="254" rIns="254" bIns="254" rtlCol="0" anchor="ctr">
            <a:normAutofit lnSpcReduction="10000"/>
          </a:bodyPr>
          <a:lstStyle/>
          <a:p>
            <a:pPr marL="0" indent="0">
              <a:buNone/>
            </a:pPr>
            <a:r>
              <a:rPr lang="en-US" sz="1200" b="1" dirty="0">
                <a:solidFill>
                  <a:srgbClr val="2E7D5B"/>
                </a:solidFill>
              </a:rPr>
              <a:t>GoHouse.ai is part of Ian's professional background. No GoHouse.ai product is required for this course.</a:t>
            </a:r>
            <a:endParaRPr lang="en-US" sz="1200" dirty="0"/>
          </a:p>
        </p:txBody>
      </p:sp>
      <p:sp>
        <p:nvSpPr>
          <p:cNvPr id="24"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5"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6"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4/47</a:t>
            </a:r>
            <a:endParaRPr lang="en-US" sz="72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COURSE PROMISE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1051560" y="1790217"/>
            <a:ext cx="6165063"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Draft clearer emails, texts, listing copy, and client updates.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Personalize buyer and seller communication using better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for appointments, objections, and follow-up conversations.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dirty="0"/>
          </a:p>
        </p:txBody>
      </p:sp>
      <p:sp>
        <p:nvSpPr>
          <p:cNvPr id="12" name="Shape 10"/>
          <p:cNvSpPr/>
          <p:nvPr/>
        </p:nvSpPr>
        <p:spPr>
          <a:xfrm>
            <a:off x="7673823" y="1965402"/>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77784" y="2056842"/>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52104" y="2376882"/>
            <a:ext cx="2606040" cy="530352"/>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16324F"/>
                </a:solidFill>
              </a:rPr>
              <a:t>Use it where work repeats</a:t>
            </a:r>
            <a:endParaRPr lang="en-US" sz="2000" dirty="0"/>
          </a:p>
        </p:txBody>
      </p:sp>
      <p:sp>
        <p:nvSpPr>
          <p:cNvPr id="15" name="Text 13"/>
          <p:cNvSpPr/>
          <p:nvPr/>
        </p:nvSpPr>
        <p:spPr>
          <a:xfrm>
            <a:off x="8152104" y="3172410"/>
            <a:ext cx="2514600" cy="960120"/>
          </a:xfrm>
          <a:prstGeom prst="rect">
            <a:avLst/>
          </a:prstGeom>
          <a:noFill/>
          <a:ln/>
        </p:spPr>
        <p:txBody>
          <a:bodyPr wrap="square" lIns="508" tIns="508" rIns="508" bIns="508" rtlCol="0" anchor="ctr">
            <a:normAutofit fontScale="92500"/>
          </a:bodyPr>
          <a:lstStyle/>
          <a:p>
            <a:pPr marL="0" indent="0">
              <a:buNone/>
            </a:pPr>
            <a:r>
              <a:rPr lang="en-US" dirty="0">
                <a:solidFill>
                  <a:srgbClr val="102033"/>
                </a:solidFill>
              </a:rPr>
              <a:t>Start with messages, notes, follow-up, and prep before chasing new tools.</a:t>
            </a:r>
            <a:endParaRPr lang="en-US" dirty="0"/>
          </a:p>
        </p:txBody>
      </p:sp>
      <p:sp>
        <p:nvSpPr>
          <p:cNvPr id="16" name="Shape 14"/>
          <p:cNvSpPr/>
          <p:nvPr/>
        </p:nvSpPr>
        <p:spPr>
          <a:xfrm>
            <a:off x="8152104" y="438856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84744"/>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76184"/>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76184"/>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5/47</a:t>
            </a:r>
            <a:endParaRPr lang="en-US" sz="72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SESSION MAP</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603013"/>
            <a:ext cx="5881116" cy="256249"/>
          </a:xfrm>
          <a:prstGeom prst="rect">
            <a:avLst/>
          </a:prstGeom>
          <a:noFill/>
          <a:ln/>
        </p:spPr>
        <p:txBody>
          <a:bodyPr wrap="square" lIns="0" tIns="0" rIns="0" bIns="0" rtlCol="0" anchor="ctr"/>
          <a:lstStyle/>
          <a:p>
            <a:pPr marL="0" indent="0">
              <a:buNone/>
            </a:pPr>
            <a:r>
              <a:rPr lang="en-US" dirty="0"/>
              <a:t>120 minutes: concept -&gt; example -&gt; practice -&gt; takeaway</a:t>
            </a:r>
          </a:p>
        </p:txBody>
      </p:sp>
      <p:sp>
        <p:nvSpPr>
          <p:cNvPr id="15" name="Text 13"/>
          <p:cNvSpPr/>
          <p:nvPr/>
        </p:nvSpPr>
        <p:spPr>
          <a:xfrm>
            <a:off x="1843135"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32" name="Shape 30"/>
          <p:cNvSpPr/>
          <p:nvPr/>
        </p:nvSpPr>
        <p:spPr>
          <a:xfrm>
            <a:off x="827118" y="6853350"/>
            <a:ext cx="2148840" cy="0"/>
          </a:xfrm>
          <a:prstGeom prst="line">
            <a:avLst/>
          </a:prstGeom>
          <a:noFill/>
          <a:ln w="12700">
            <a:solidFill>
              <a:srgbClr val="E7D9B6"/>
            </a:solidFill>
            <a:prstDash val="solid"/>
          </a:ln>
        </p:spPr>
        <p:txBody>
          <a:bodyPr/>
          <a:lstStyle/>
          <a:p>
            <a:endParaRPr lang="en-US" sz="2000"/>
          </a:p>
        </p:txBody>
      </p:sp>
      <p:sp>
        <p:nvSpPr>
          <p:cNvPr id="37" name="Shape 35"/>
          <p:cNvSpPr/>
          <p:nvPr/>
        </p:nvSpPr>
        <p:spPr>
          <a:xfrm>
            <a:off x="3616038" y="6853350"/>
            <a:ext cx="2148840" cy="0"/>
          </a:xfrm>
          <a:prstGeom prst="line">
            <a:avLst/>
          </a:prstGeom>
          <a:noFill/>
          <a:ln w="12700">
            <a:solidFill>
              <a:srgbClr val="E7D9B6"/>
            </a:solidFill>
            <a:prstDash val="solid"/>
          </a:ln>
        </p:spPr>
        <p:txBody>
          <a:bodyPr/>
          <a:lstStyle/>
          <a:p>
            <a:endParaRPr lang="en-US" sz="2000"/>
          </a:p>
        </p:txBody>
      </p:sp>
      <p:sp>
        <p:nvSpPr>
          <p:cNvPr id="42" name="Shape 40"/>
          <p:cNvSpPr/>
          <p:nvPr/>
        </p:nvSpPr>
        <p:spPr>
          <a:xfrm>
            <a:off x="6404958" y="6853350"/>
            <a:ext cx="2148840" cy="0"/>
          </a:xfrm>
          <a:prstGeom prst="line">
            <a:avLst/>
          </a:prstGeom>
          <a:noFill/>
          <a:ln w="12700">
            <a:solidFill>
              <a:srgbClr val="E7D9B6"/>
            </a:solidFill>
            <a:prstDash val="solid"/>
          </a:ln>
        </p:spPr>
        <p:txBody>
          <a:bodyPr/>
          <a:lstStyle/>
          <a:p>
            <a:endParaRPr lang="en-US" sz="2000"/>
          </a:p>
        </p:txBody>
      </p:sp>
      <p:sp>
        <p:nvSpPr>
          <p:cNvPr id="47" name="Shape 45"/>
          <p:cNvSpPr/>
          <p:nvPr/>
        </p:nvSpPr>
        <p:spPr>
          <a:xfrm>
            <a:off x="9193878" y="6853350"/>
            <a:ext cx="2148840" cy="0"/>
          </a:xfrm>
          <a:prstGeom prst="line">
            <a:avLst/>
          </a:prstGeom>
          <a:noFill/>
          <a:ln w="12700">
            <a:solidFill>
              <a:srgbClr val="E7D9B6"/>
            </a:solidFill>
            <a:prstDash val="solid"/>
          </a:ln>
        </p:spPr>
        <p:txBody>
          <a:bodyPr/>
          <a:lstStyle/>
          <a:p>
            <a:endParaRPr lang="en-US" sz="2000"/>
          </a:p>
        </p:txBody>
      </p:sp>
      <p:sp>
        <p:nvSpPr>
          <p:cNvPr id="52" name="Shape 5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53" name="Text 5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6/47</a:t>
            </a:r>
            <a:endParaRPr lang="en-US" sz="720"/>
          </a:p>
        </p:txBody>
      </p:sp>
      <p:sp>
        <p:nvSpPr>
          <p:cNvPr id="55" name="Shape 9">
            <a:extLst>
              <a:ext uri="{FF2B5EF4-FFF2-40B4-BE49-F238E27FC236}">
                <a16:creationId xmlns:a16="http://schemas.microsoft.com/office/drawing/2014/main" id="{D619CFEA-E77F-E694-5E4B-FFF0529733C0}"/>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56" name="Text 10">
            <a:extLst>
              <a:ext uri="{FF2B5EF4-FFF2-40B4-BE49-F238E27FC236}">
                <a16:creationId xmlns:a16="http://schemas.microsoft.com/office/drawing/2014/main" id="{CA1FF6F1-727C-A861-B3EA-98A4C0312AB8}"/>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57" name="Shape 11">
            <a:extLst>
              <a:ext uri="{FF2B5EF4-FFF2-40B4-BE49-F238E27FC236}">
                <a16:creationId xmlns:a16="http://schemas.microsoft.com/office/drawing/2014/main" id="{23E2E6E2-8406-7B8C-F487-BF15EFE13409}"/>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58" name="Shape 13">
            <a:extLst>
              <a:ext uri="{FF2B5EF4-FFF2-40B4-BE49-F238E27FC236}">
                <a16:creationId xmlns:a16="http://schemas.microsoft.com/office/drawing/2014/main" id="{C7D020AB-2B7F-E923-B679-A073E2F4C275}"/>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59" name="Text 14">
            <a:extLst>
              <a:ext uri="{FF2B5EF4-FFF2-40B4-BE49-F238E27FC236}">
                <a16:creationId xmlns:a16="http://schemas.microsoft.com/office/drawing/2014/main" id="{8901C757-D8B5-08D8-2961-73810DF3868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60" name="Shape 15">
            <a:extLst>
              <a:ext uri="{FF2B5EF4-FFF2-40B4-BE49-F238E27FC236}">
                <a16:creationId xmlns:a16="http://schemas.microsoft.com/office/drawing/2014/main" id="{3D09F95B-9213-A269-36EC-23D68C578575}"/>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61" name="Shape 17">
            <a:extLst>
              <a:ext uri="{FF2B5EF4-FFF2-40B4-BE49-F238E27FC236}">
                <a16:creationId xmlns:a16="http://schemas.microsoft.com/office/drawing/2014/main" id="{849762B6-E108-E123-CAC2-725913A9AE81}"/>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62" name="Text 18">
            <a:extLst>
              <a:ext uri="{FF2B5EF4-FFF2-40B4-BE49-F238E27FC236}">
                <a16:creationId xmlns:a16="http://schemas.microsoft.com/office/drawing/2014/main" id="{A27BC832-4249-180E-9416-A1D59D4D6D35}"/>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63" name="Shape 19">
            <a:extLst>
              <a:ext uri="{FF2B5EF4-FFF2-40B4-BE49-F238E27FC236}">
                <a16:creationId xmlns:a16="http://schemas.microsoft.com/office/drawing/2014/main" id="{751F0FC3-B040-A5DD-1A35-E3F6421E5B12}"/>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64" name="Shape 21">
            <a:extLst>
              <a:ext uri="{FF2B5EF4-FFF2-40B4-BE49-F238E27FC236}">
                <a16:creationId xmlns:a16="http://schemas.microsoft.com/office/drawing/2014/main" id="{703DD581-5DB9-8214-C12B-DF972ED1B8A6}"/>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65" name="Text 22">
            <a:extLst>
              <a:ext uri="{FF2B5EF4-FFF2-40B4-BE49-F238E27FC236}">
                <a16:creationId xmlns:a16="http://schemas.microsoft.com/office/drawing/2014/main" id="{3D3D32AE-4931-0211-5DED-427FE96EBDB4}"/>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66" name="Shape 23">
            <a:extLst>
              <a:ext uri="{FF2B5EF4-FFF2-40B4-BE49-F238E27FC236}">
                <a16:creationId xmlns:a16="http://schemas.microsoft.com/office/drawing/2014/main" id="{DB571C4D-4369-9CD3-D073-5106293F9CA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67" name="Shape 25">
            <a:extLst>
              <a:ext uri="{FF2B5EF4-FFF2-40B4-BE49-F238E27FC236}">
                <a16:creationId xmlns:a16="http://schemas.microsoft.com/office/drawing/2014/main" id="{D9FAF926-C735-E00A-3FE9-4DB63ABDD677}"/>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68" name="Text 26">
            <a:extLst>
              <a:ext uri="{FF2B5EF4-FFF2-40B4-BE49-F238E27FC236}">
                <a16:creationId xmlns:a16="http://schemas.microsoft.com/office/drawing/2014/main" id="{C571285B-D742-1AF0-5A9B-B8893A1130BD}"/>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69" name="Text 12">
            <a:extLst>
              <a:ext uri="{FF2B5EF4-FFF2-40B4-BE49-F238E27FC236}">
                <a16:creationId xmlns:a16="http://schemas.microsoft.com/office/drawing/2014/main" id="{7EC06F3B-BF74-759B-E43B-108D2D85BCBD}"/>
              </a:ext>
            </a:extLst>
          </p:cNvPr>
          <p:cNvSpPr/>
          <p:nvPr/>
        </p:nvSpPr>
        <p:spPr>
          <a:xfrm>
            <a:off x="1297453" y="3878199"/>
            <a:ext cx="1417320" cy="640080"/>
          </a:xfrm>
          <a:prstGeom prst="rect">
            <a:avLst/>
          </a:prstGeom>
          <a:noFill/>
          <a:ln/>
        </p:spPr>
        <p:txBody>
          <a:bodyPr wrap="square" lIns="0" tIns="0" rIns="0" bIns="0" rtlCol="0" anchor="ctr">
            <a:normAutofit/>
          </a:bodyPr>
          <a:lstStyle/>
          <a:p>
            <a:pPr algn="ctr"/>
            <a:r>
              <a:rPr lang="en-US" sz="2000" b="1" dirty="0"/>
              <a:t>AI Reality </a:t>
            </a:r>
            <a:endParaRPr lang="en-US" sz="2000" dirty="0"/>
          </a:p>
          <a:p>
            <a:pPr algn="ctr"/>
            <a:r>
              <a:rPr lang="en-US" sz="2000" b="1" dirty="0"/>
              <a:t>Check</a:t>
            </a:r>
            <a:endParaRPr lang="en-US" sz="2000" dirty="0"/>
          </a:p>
        </p:txBody>
      </p:sp>
      <p:sp>
        <p:nvSpPr>
          <p:cNvPr id="70" name="Text 16">
            <a:extLst>
              <a:ext uri="{FF2B5EF4-FFF2-40B4-BE49-F238E27FC236}">
                <a16:creationId xmlns:a16="http://schemas.microsoft.com/office/drawing/2014/main" id="{1569D22C-C74C-D9DC-6C9A-2BD2FCE3AF31}"/>
              </a:ext>
            </a:extLst>
          </p:cNvPr>
          <p:cNvSpPr/>
          <p:nvPr/>
        </p:nvSpPr>
        <p:spPr>
          <a:xfrm>
            <a:off x="3119120" y="3882937"/>
            <a:ext cx="1910080" cy="640080"/>
          </a:xfrm>
          <a:prstGeom prst="rect">
            <a:avLst/>
          </a:prstGeom>
          <a:noFill/>
          <a:ln/>
        </p:spPr>
        <p:txBody>
          <a:bodyPr wrap="square" lIns="0" tIns="0" rIns="0" bIns="0" rtlCol="0" anchor="ctr">
            <a:noAutofit/>
          </a:bodyPr>
          <a:lstStyle/>
          <a:p>
            <a:pPr algn="ctr"/>
            <a:r>
              <a:rPr lang="en-US" sz="2000" b="1" dirty="0"/>
              <a:t>Client Communication</a:t>
            </a:r>
            <a:endParaRPr lang="en-US" sz="2000" dirty="0"/>
          </a:p>
        </p:txBody>
      </p:sp>
      <p:sp>
        <p:nvSpPr>
          <p:cNvPr id="71" name="Text 20">
            <a:extLst>
              <a:ext uri="{FF2B5EF4-FFF2-40B4-BE49-F238E27FC236}">
                <a16:creationId xmlns:a16="http://schemas.microsoft.com/office/drawing/2014/main" id="{9320C3D1-3F0B-3EC8-3253-E001A259D97D}"/>
              </a:ext>
            </a:extLst>
          </p:cNvPr>
          <p:cNvSpPr/>
          <p:nvPr/>
        </p:nvSpPr>
        <p:spPr>
          <a:xfrm>
            <a:off x="5239522" y="3884022"/>
            <a:ext cx="1696720" cy="640080"/>
          </a:xfrm>
          <a:prstGeom prst="rect">
            <a:avLst/>
          </a:prstGeom>
          <a:noFill/>
          <a:ln/>
        </p:spPr>
        <p:txBody>
          <a:bodyPr wrap="square" lIns="0" tIns="0" rIns="0" bIns="0" rtlCol="0" anchor="ctr">
            <a:noAutofit/>
          </a:bodyPr>
          <a:lstStyle/>
          <a:p>
            <a:pPr algn="ctr"/>
            <a:r>
              <a:rPr lang="en-US" sz="2000" b="1" dirty="0"/>
              <a:t>Lead </a:t>
            </a:r>
            <a:endParaRPr lang="en-US" sz="2000" dirty="0"/>
          </a:p>
          <a:p>
            <a:pPr algn="ctr"/>
            <a:r>
              <a:rPr lang="en-US" sz="2000" b="1" dirty="0"/>
              <a:t>Follow-Up</a:t>
            </a:r>
            <a:endParaRPr lang="en-US" sz="2000" dirty="0"/>
          </a:p>
        </p:txBody>
      </p:sp>
      <p:sp>
        <p:nvSpPr>
          <p:cNvPr id="72" name="Text 24">
            <a:extLst>
              <a:ext uri="{FF2B5EF4-FFF2-40B4-BE49-F238E27FC236}">
                <a16:creationId xmlns:a16="http://schemas.microsoft.com/office/drawing/2014/main" id="{4BF9C009-C51B-E991-17CE-D421DFDDD7B1}"/>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2000" b="1" dirty="0"/>
              <a:t>Listings and Marketing</a:t>
            </a:r>
            <a:endParaRPr lang="en-US" sz="2000" dirty="0"/>
          </a:p>
        </p:txBody>
      </p:sp>
      <p:sp>
        <p:nvSpPr>
          <p:cNvPr id="73" name="Text 27">
            <a:extLst>
              <a:ext uri="{FF2B5EF4-FFF2-40B4-BE49-F238E27FC236}">
                <a16:creationId xmlns:a16="http://schemas.microsoft.com/office/drawing/2014/main" id="{581A6B35-901D-C5AA-BF4C-381E4FB8A7CA}"/>
              </a:ext>
            </a:extLst>
          </p:cNvPr>
          <p:cNvSpPr/>
          <p:nvPr/>
        </p:nvSpPr>
        <p:spPr>
          <a:xfrm>
            <a:off x="9331960" y="3884022"/>
            <a:ext cx="1750568" cy="640080"/>
          </a:xfrm>
          <a:prstGeom prst="rect">
            <a:avLst/>
          </a:prstGeom>
          <a:noFill/>
          <a:ln/>
        </p:spPr>
        <p:txBody>
          <a:bodyPr wrap="square" lIns="0" tIns="0" rIns="0" bIns="0" rtlCol="0" anchor="ctr">
            <a:normAutofit/>
          </a:bodyPr>
          <a:lstStyle/>
          <a:p>
            <a:pPr algn="ctr"/>
            <a:r>
              <a:rPr lang="en-US" sz="2000" b="1" dirty="0"/>
              <a:t>Daily Workflow and Guardrails</a:t>
            </a:r>
            <a:endParaRPr lang="en-US" sz="2000" dirty="0"/>
          </a:p>
        </p:txBody>
      </p:sp>
      <p:sp>
        <p:nvSpPr>
          <p:cNvPr id="74" name="Text 13">
            <a:extLst>
              <a:ext uri="{FF2B5EF4-FFF2-40B4-BE49-F238E27FC236}">
                <a16:creationId xmlns:a16="http://schemas.microsoft.com/office/drawing/2014/main" id="{D6C812FE-E93C-F3E3-4CD8-10A07F3553AA}"/>
              </a:ext>
            </a:extLst>
          </p:cNvPr>
          <p:cNvSpPr/>
          <p:nvPr/>
        </p:nvSpPr>
        <p:spPr>
          <a:xfrm>
            <a:off x="3919606"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75" name="Text 13">
            <a:extLst>
              <a:ext uri="{FF2B5EF4-FFF2-40B4-BE49-F238E27FC236}">
                <a16:creationId xmlns:a16="http://schemas.microsoft.com/office/drawing/2014/main" id="{2D0F89C2-4B22-9651-54FC-5480431A5FCF}"/>
              </a:ext>
            </a:extLst>
          </p:cNvPr>
          <p:cNvSpPr/>
          <p:nvPr/>
        </p:nvSpPr>
        <p:spPr>
          <a:xfrm>
            <a:off x="5941143" y="3298636"/>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
        <p:nvSpPr>
          <p:cNvPr id="76" name="Text 13">
            <a:extLst>
              <a:ext uri="{FF2B5EF4-FFF2-40B4-BE49-F238E27FC236}">
                <a16:creationId xmlns:a16="http://schemas.microsoft.com/office/drawing/2014/main" id="{E938C5E3-43C3-7115-7D73-9C351CE043ED}"/>
              </a:ext>
            </a:extLst>
          </p:cNvPr>
          <p:cNvSpPr/>
          <p:nvPr/>
        </p:nvSpPr>
        <p:spPr>
          <a:xfrm>
            <a:off x="7964918" y="3298629"/>
            <a:ext cx="366301" cy="256248"/>
          </a:xfrm>
          <a:prstGeom prst="rect">
            <a:avLst/>
          </a:prstGeom>
          <a:noFill/>
          <a:ln/>
        </p:spPr>
        <p:txBody>
          <a:bodyPr wrap="square" lIns="0" tIns="0" rIns="0" bIns="0" rtlCol="0" anchor="ctr"/>
          <a:lstStyle/>
          <a:p>
            <a:pPr marL="0" indent="0">
              <a:buNone/>
            </a:pPr>
            <a:r>
              <a:rPr lang="en-US" sz="1400" b="1" dirty="0"/>
              <a:t>30m</a:t>
            </a:r>
            <a:endParaRPr lang="en-US" sz="1400" dirty="0"/>
          </a:p>
        </p:txBody>
      </p:sp>
      <p:sp>
        <p:nvSpPr>
          <p:cNvPr id="77" name="Text 13">
            <a:extLst>
              <a:ext uri="{FF2B5EF4-FFF2-40B4-BE49-F238E27FC236}">
                <a16:creationId xmlns:a16="http://schemas.microsoft.com/office/drawing/2014/main" id="{F187F007-4198-876E-E25C-E411EB2B6AD9}"/>
              </a:ext>
            </a:extLst>
          </p:cNvPr>
          <p:cNvSpPr/>
          <p:nvPr/>
        </p:nvSpPr>
        <p:spPr>
          <a:xfrm>
            <a:off x="10020075" y="3296389"/>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01</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a:solidFill>
                  <a:srgbClr val="F2B84B"/>
                </a:solidFill>
              </a:rPr>
              <a:t>SECTION 1</a:t>
            </a:r>
            <a:endParaRPr lang="en-US" sz="120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a:solidFill>
                  <a:srgbClr val="FFFFFF"/>
                </a:solidFill>
                <a:latin typeface="Aptos Display" pitchFamily="34" charset="0"/>
                <a:ea typeface="Aptos Display" pitchFamily="34" charset="-122"/>
                <a:cs typeface="Aptos Display" pitchFamily="34" charset="-120"/>
              </a:rPr>
              <a:t>AI Reality Check</a:t>
            </a:r>
            <a:endParaRPr lang="en-US" sz="340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AI is useful when it supports work agents already do.</a:t>
            </a:r>
            <a:endParaRPr lang="en-US"/>
          </a:p>
        </p:txBody>
      </p:sp>
      <p:sp>
        <p:nvSpPr>
          <p:cNvPr id="8" name="Shape 6"/>
          <p:cNvSpPr/>
          <p:nvPr/>
        </p:nvSpPr>
        <p:spPr>
          <a:xfrm>
            <a:off x="749808" y="3657600"/>
            <a:ext cx="1828800" cy="0"/>
          </a:xfrm>
          <a:prstGeom prst="line">
            <a:avLst/>
          </a:prstGeom>
          <a:noFill/>
          <a:ln w="50800">
            <a:solidFill>
              <a:srgbClr val="008F8F"/>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WHY NOW</a:t>
            </a:r>
            <a:endParaRPr lang="en-US" sz="1000"/>
          </a:p>
        </p:txBody>
      </p:sp>
      <p:sp>
        <p:nvSpPr>
          <p:cNvPr id="10" name="Text 8"/>
          <p:cNvSpPr/>
          <p:nvPr/>
        </p:nvSpPr>
        <p:spPr>
          <a:xfrm>
            <a:off x="658368" y="786384"/>
            <a:ext cx="111145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200"/>
          </a:p>
        </p:txBody>
      </p:sp>
      <p:sp>
        <p:nvSpPr>
          <p:cNvPr id="11" name="Text 9"/>
          <p:cNvSpPr/>
          <p:nvPr/>
        </p:nvSpPr>
        <p:spPr>
          <a:xfrm>
            <a:off x="1062153" y="2101446"/>
            <a:ext cx="6400800" cy="283464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Consumers expect quick, clear responses across text, email, phone, and web inquiries.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Most agents have more follow-up tasks than hours in the day.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AI reduces blank-page time for common communication and prep tasks.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dirty="0"/>
          </a:p>
        </p:txBody>
      </p:sp>
      <p:sp>
        <p:nvSpPr>
          <p:cNvPr id="12" name="Shape 10"/>
          <p:cNvSpPr/>
          <p:nvPr/>
        </p:nvSpPr>
        <p:spPr>
          <a:xfrm>
            <a:off x="7673265" y="1964286"/>
            <a:ext cx="91440" cy="2971800"/>
          </a:xfrm>
          <a:prstGeom prst="rect">
            <a:avLst/>
          </a:prstGeom>
          <a:solidFill>
            <a:srgbClr val="F45B69"/>
          </a:solidFill>
          <a:ln w="12700">
            <a:solidFill>
              <a:srgbClr val="F45B69"/>
            </a:solidFill>
            <a:prstDash val="solid"/>
          </a:ln>
        </p:spPr>
        <p:txBody>
          <a:bodyPr/>
          <a:lstStyle/>
          <a:p>
            <a:endParaRPr lang="en-US"/>
          </a:p>
        </p:txBody>
      </p:sp>
      <p:sp>
        <p:nvSpPr>
          <p:cNvPr id="13" name="Shape 11"/>
          <p:cNvSpPr/>
          <p:nvPr/>
        </p:nvSpPr>
        <p:spPr>
          <a:xfrm>
            <a:off x="7869228" y="2055726"/>
            <a:ext cx="3246120" cy="2788920"/>
          </a:xfrm>
          <a:prstGeom prst="roundRect">
            <a:avLst>
              <a:gd name="adj" fmla="val 1967"/>
            </a:avLst>
          </a:prstGeom>
          <a:solidFill>
            <a:srgbClr val="FFF0EF"/>
          </a:solidFill>
          <a:ln w="10160">
            <a:solidFill>
              <a:srgbClr val="BFDADC"/>
            </a:solidFill>
            <a:prstDash val="solid"/>
          </a:ln>
        </p:spPr>
        <p:txBody>
          <a:bodyPr/>
          <a:lstStyle/>
          <a:p>
            <a:endParaRPr lang="en-US"/>
          </a:p>
        </p:txBody>
      </p:sp>
      <p:sp>
        <p:nvSpPr>
          <p:cNvPr id="14" name="Text 12"/>
          <p:cNvSpPr/>
          <p:nvPr/>
        </p:nvSpPr>
        <p:spPr>
          <a:xfrm>
            <a:off x="8143548" y="2375766"/>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Speed plus judgment</a:t>
            </a:r>
            <a:endParaRPr lang="en-US"/>
          </a:p>
        </p:txBody>
      </p:sp>
      <p:sp>
        <p:nvSpPr>
          <p:cNvPr id="15" name="Text 13"/>
          <p:cNvSpPr/>
          <p:nvPr/>
        </p:nvSpPr>
        <p:spPr>
          <a:xfrm>
            <a:off x="8143548" y="3171294"/>
            <a:ext cx="2514600" cy="960120"/>
          </a:xfrm>
          <a:prstGeom prst="rect">
            <a:avLst/>
          </a:prstGeom>
          <a:noFill/>
          <a:ln/>
        </p:spPr>
        <p:txBody>
          <a:bodyPr wrap="square" lIns="508" tIns="508" rIns="508" bIns="508" rtlCol="0" anchor="ctr">
            <a:normAutofit lnSpcReduction="10000"/>
          </a:bodyPr>
          <a:lstStyle/>
          <a:p>
            <a:pPr marL="0" indent="0">
              <a:buNone/>
            </a:pPr>
            <a:r>
              <a:rPr lang="en-US" sz="1600">
                <a:solidFill>
                  <a:srgbClr val="102033"/>
                </a:solidFill>
              </a:rPr>
              <a:t>AI can reduce blank-page time; the agent still owns accuracy and relationship quality.</a:t>
            </a:r>
            <a:endParaRPr lang="en-US" sz="1600"/>
          </a:p>
        </p:txBody>
      </p:sp>
      <p:sp>
        <p:nvSpPr>
          <p:cNvPr id="16" name="Shape 14"/>
          <p:cNvSpPr/>
          <p:nvPr/>
        </p:nvSpPr>
        <p:spPr>
          <a:xfrm>
            <a:off x="8143548" y="4387446"/>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95895"/>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87335"/>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87335"/>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8/47</a:t>
            </a:r>
            <a:endParaRPr lang="en-US" sz="72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880" b="1">
                <a:solidFill>
                  <a:srgbClr val="008F8F"/>
                </a:solidFill>
                <a:latin typeface="Aptos" pitchFamily="34" charset="0"/>
                <a:ea typeface="Aptos" pitchFamily="34" charset="-122"/>
                <a:cs typeface="Aptos" pitchFamily="34" charset="-120"/>
              </a:rPr>
              <a:t>SHIFT</a:t>
            </a:r>
            <a:endParaRPr lang="en-US" sz="88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a:p>
        </p:txBody>
      </p:sp>
      <p:sp>
        <p:nvSpPr>
          <p:cNvPr id="11" name="Shape 9"/>
          <p:cNvSpPr/>
          <p:nvPr/>
        </p:nvSpPr>
        <p:spPr>
          <a:xfrm>
            <a:off x="1074420" y="1981200"/>
            <a:ext cx="4754880" cy="2880358"/>
          </a:xfrm>
          <a:prstGeom prst="roundRect">
            <a:avLst>
              <a:gd name="adj" fmla="val 1600"/>
            </a:avLst>
          </a:prstGeom>
          <a:solidFill>
            <a:srgbClr val="FFF0EF"/>
          </a:solidFill>
          <a:ln w="10160">
            <a:solidFill>
              <a:srgbClr val="D8E6E8"/>
            </a:solidFill>
            <a:prstDash val="solid"/>
          </a:ln>
        </p:spPr>
        <p:txBody>
          <a:bodyPr/>
          <a:lstStyle/>
          <a:p>
            <a:endParaRPr lang="en-US" sz="2800"/>
          </a:p>
        </p:txBody>
      </p:sp>
      <p:sp>
        <p:nvSpPr>
          <p:cNvPr id="12" name="Text 10"/>
          <p:cNvSpPr/>
          <p:nvPr/>
        </p:nvSpPr>
        <p:spPr>
          <a:xfrm>
            <a:off x="136702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Random AI use</a:t>
            </a:r>
            <a:endParaRPr lang="en-US" sz="2400" dirty="0"/>
          </a:p>
        </p:txBody>
      </p:sp>
      <p:sp>
        <p:nvSpPr>
          <p:cNvPr id="13" name="Text 11"/>
          <p:cNvSpPr/>
          <p:nvPr/>
        </p:nvSpPr>
        <p:spPr>
          <a:xfrm>
            <a:off x="148590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One-off prompts</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Generic output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No saved process</a:t>
            </a:r>
            <a:endParaRPr lang="en-US" sz="2000" dirty="0"/>
          </a:p>
        </p:txBody>
      </p:sp>
      <p:sp>
        <p:nvSpPr>
          <p:cNvPr id="14" name="Shape 12"/>
          <p:cNvSpPr/>
          <p:nvPr/>
        </p:nvSpPr>
        <p:spPr>
          <a:xfrm>
            <a:off x="6377940" y="1981200"/>
            <a:ext cx="4754880" cy="2880358"/>
          </a:xfrm>
          <a:prstGeom prst="roundRect">
            <a:avLst>
              <a:gd name="adj" fmla="val 1600"/>
            </a:avLst>
          </a:prstGeom>
          <a:solidFill>
            <a:srgbClr val="EAF7F7"/>
          </a:solidFill>
          <a:ln w="10160">
            <a:solidFill>
              <a:srgbClr val="D8E6E8"/>
            </a:solidFill>
            <a:prstDash val="solid"/>
          </a:ln>
        </p:spPr>
        <p:txBody>
          <a:bodyPr/>
          <a:lstStyle/>
          <a:p>
            <a:endParaRPr lang="en-US" sz="2800"/>
          </a:p>
        </p:txBody>
      </p:sp>
      <p:sp>
        <p:nvSpPr>
          <p:cNvPr id="15" name="Text 13"/>
          <p:cNvSpPr/>
          <p:nvPr/>
        </p:nvSpPr>
        <p:spPr>
          <a:xfrm>
            <a:off x="667054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Repeatable workflow</a:t>
            </a:r>
            <a:endParaRPr lang="en-US" sz="2400" dirty="0"/>
          </a:p>
        </p:txBody>
      </p:sp>
      <p:sp>
        <p:nvSpPr>
          <p:cNvPr id="16" name="Text 14"/>
          <p:cNvSpPr/>
          <p:nvPr/>
        </p:nvSpPr>
        <p:spPr>
          <a:xfrm>
            <a:off x="678942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Known use case</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Context-rich prompt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Reviewed reusable output</a:t>
            </a:r>
            <a:endParaRPr lang="en-US" sz="2000" dirty="0"/>
          </a:p>
        </p:txBody>
      </p:sp>
      <p:sp>
        <p:nvSpPr>
          <p:cNvPr id="17" name="Shape 15"/>
          <p:cNvSpPr/>
          <p:nvPr/>
        </p:nvSpPr>
        <p:spPr>
          <a:xfrm>
            <a:off x="5856732" y="3169920"/>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9/47</a:t>
            </a:r>
            <a:endParaRPr lang="en-US" sz="72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44796" y="2176272"/>
            <a:ext cx="4064508" cy="2624327"/>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DISCUSSION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a:p>
        </p:txBody>
      </p:sp>
      <p:sp>
        <p:nvSpPr>
          <p:cNvPr id="11" name="Shape 9"/>
          <p:cNvSpPr/>
          <p:nvPr/>
        </p:nvSpPr>
        <p:spPr>
          <a:xfrm>
            <a:off x="1091565" y="1919859"/>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219581" y="2006727"/>
            <a:ext cx="1298448" cy="178308"/>
          </a:xfrm>
          <a:prstGeom prst="rect">
            <a:avLst/>
          </a:prstGeom>
          <a:solidFill>
            <a:srgbClr val="008F8F"/>
          </a:solidFill>
          <a:ln/>
        </p:spPr>
        <p:txBody>
          <a:bodyPr wrap="square" lIns="0" tIns="0" rIns="0" bIns="0" rtlCol="0" anchor="ctr">
            <a:normAutofit lnSpcReduction="10000"/>
          </a:bodyPr>
          <a:lstStyle/>
          <a:p>
            <a:pPr marL="0" indent="0" algn="ctr">
              <a:buNone/>
            </a:pPr>
            <a:r>
              <a:rPr lang="en-US" sz="1200" b="1">
                <a:solidFill>
                  <a:srgbClr val="FFFFFF"/>
                </a:solidFill>
              </a:rPr>
              <a:t>DISCUSS</a:t>
            </a:r>
            <a:endParaRPr lang="en-US" sz="1200"/>
          </a:p>
        </p:txBody>
      </p:sp>
      <p:sp>
        <p:nvSpPr>
          <p:cNvPr id="13" name="Shape 11"/>
          <p:cNvSpPr/>
          <p:nvPr/>
        </p:nvSpPr>
        <p:spPr>
          <a:xfrm>
            <a:off x="1086304" y="2203245"/>
            <a:ext cx="5303520" cy="102984"/>
          </a:xfrm>
          <a:prstGeom prst="rect">
            <a:avLst/>
          </a:prstGeom>
          <a:solidFill>
            <a:srgbClr val="008F8F"/>
          </a:solidFill>
          <a:ln w="12700">
            <a:noFill/>
            <a:prstDash val="solid"/>
          </a:ln>
        </p:spPr>
        <p:txBody>
          <a:bodyPr/>
          <a:lstStyle/>
          <a:p>
            <a:endParaRPr lang="en-US"/>
          </a:p>
        </p:txBody>
      </p:sp>
      <p:sp>
        <p:nvSpPr>
          <p:cNvPr id="14" name="Shape 12"/>
          <p:cNvSpPr/>
          <p:nvPr/>
        </p:nvSpPr>
        <p:spPr>
          <a:xfrm>
            <a:off x="1089660" y="224028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217676" y="2916936"/>
            <a:ext cx="5175504" cy="960120"/>
          </a:xfrm>
          <a:prstGeom prst="rect">
            <a:avLst/>
          </a:prstGeom>
          <a:noFill/>
          <a:ln/>
        </p:spPr>
        <p:txBody>
          <a:bodyPr wrap="square" lIns="0" tIns="0" rIns="0" bIns="0" rtlCol="0" anchor="ctr">
            <a:normAutofit/>
          </a:bodyPr>
          <a:lstStyle/>
          <a:p>
            <a:pPr marL="0" indent="0">
              <a:buNone/>
            </a:pPr>
            <a:r>
              <a:rPr lang="en-US" sz="2000">
                <a:solidFill>
                  <a:srgbClr val="52606D"/>
                </a:solidFill>
              </a:rPr>
              <a:t>Pick one task you delay because it is repetitive, awkward, or annoying.</a:t>
            </a:r>
            <a:endParaRPr lang="en-US" sz="2000"/>
          </a:p>
        </p:txBody>
      </p:sp>
      <p:sp>
        <p:nvSpPr>
          <p:cNvPr id="16" name="Text 14"/>
          <p:cNvSpPr/>
          <p:nvPr/>
        </p:nvSpPr>
        <p:spPr>
          <a:xfrm>
            <a:off x="1363980" y="4370832"/>
            <a:ext cx="2194560" cy="182880"/>
          </a:xfrm>
          <a:prstGeom prst="rect">
            <a:avLst/>
          </a:prstGeom>
          <a:noFill/>
          <a:ln/>
        </p:spPr>
        <p:txBody>
          <a:bodyPr wrap="square" lIns="0" tIns="0" rIns="0" bIns="0" rtlCol="0" anchor="ctr"/>
          <a:lstStyle/>
          <a:p>
            <a:pPr marL="0" indent="0">
              <a:buNone/>
            </a:pPr>
            <a:r>
              <a:rPr lang="en-US" sz="1200" b="1">
                <a:solidFill>
                  <a:srgbClr val="008F8F"/>
                </a:solidFill>
              </a:rPr>
              <a:t>Workshop canvas</a:t>
            </a:r>
            <a:endParaRPr lang="en-US" sz="1200"/>
          </a:p>
        </p:txBody>
      </p:sp>
      <p:sp>
        <p:nvSpPr>
          <p:cNvPr id="17" name="Shape 15"/>
          <p:cNvSpPr/>
          <p:nvPr/>
        </p:nvSpPr>
        <p:spPr>
          <a:xfrm>
            <a:off x="6667500" y="2176272"/>
            <a:ext cx="128016" cy="2624327"/>
          </a:xfrm>
          <a:prstGeom prst="rect">
            <a:avLst/>
          </a:prstGeom>
          <a:solidFill>
            <a:srgbClr val="008F8F"/>
          </a:solidFill>
          <a:ln w="12700">
            <a:solidFill>
              <a:srgbClr val="008F8F"/>
            </a:solidFill>
            <a:prstDash val="solid"/>
          </a:ln>
        </p:spPr>
        <p:txBody>
          <a:bodyPr/>
          <a:lstStyle/>
          <a:p>
            <a:endParaRPr lang="en-US"/>
          </a:p>
        </p:txBody>
      </p:sp>
      <p:sp>
        <p:nvSpPr>
          <p:cNvPr id="19" name="Text 17"/>
          <p:cNvSpPr/>
          <p:nvPr/>
        </p:nvSpPr>
        <p:spPr>
          <a:xfrm>
            <a:off x="7085376" y="2377440"/>
            <a:ext cx="3520440" cy="22860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Seller update after low activity</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Follow-up after a showing</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Open house recap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CRM note cleanup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Social caption from listing facts</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10/47</a:t>
            </a:r>
            <a:endParaRPr lang="en-US" sz="72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a:extLst>
            <a:ext uri="{FF2B5EF4-FFF2-40B4-BE49-F238E27FC236}">
              <a16:creationId xmlns:a16="http://schemas.microsoft.com/office/drawing/2014/main" id="{655EF897-DA99-5F6D-5DC2-08868F8F3FF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6281BFC-1F4F-1101-1967-3344E378E0AD}"/>
              </a:ext>
            </a:extLst>
          </p:cNvPr>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a:extLst>
              <a:ext uri="{FF2B5EF4-FFF2-40B4-BE49-F238E27FC236}">
                <a16:creationId xmlns:a16="http://schemas.microsoft.com/office/drawing/2014/main" id="{B658A437-D59C-DF0C-7060-16C16948D418}"/>
              </a:ext>
            </a:extLst>
          </p:cNvPr>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a:extLst>
              <a:ext uri="{FF2B5EF4-FFF2-40B4-BE49-F238E27FC236}">
                <a16:creationId xmlns:a16="http://schemas.microsoft.com/office/drawing/2014/main" id="{15ED3867-1106-795B-BE5E-35427220111C}"/>
              </a:ext>
            </a:extLst>
          </p:cNvPr>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a:extLst>
              <a:ext uri="{FF2B5EF4-FFF2-40B4-BE49-F238E27FC236}">
                <a16:creationId xmlns:a16="http://schemas.microsoft.com/office/drawing/2014/main" id="{8874E118-CBE0-1D14-5367-F4C9B476962C}"/>
              </a:ext>
            </a:extLst>
          </p:cNvPr>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a:extLst>
              <a:ext uri="{FF2B5EF4-FFF2-40B4-BE49-F238E27FC236}">
                <a16:creationId xmlns:a16="http://schemas.microsoft.com/office/drawing/2014/main" id="{624536F8-DBA6-1551-B21C-EC30CF7EF052}"/>
              </a:ext>
            </a:extLst>
          </p:cNvPr>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a:extLst>
              <a:ext uri="{FF2B5EF4-FFF2-40B4-BE49-F238E27FC236}">
                <a16:creationId xmlns:a16="http://schemas.microsoft.com/office/drawing/2014/main" id="{4825689F-201A-27B4-B6EA-3A85C795B6A5}"/>
              </a:ext>
            </a:extLst>
          </p:cNvPr>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a:extLst>
              <a:ext uri="{FF2B5EF4-FFF2-40B4-BE49-F238E27FC236}">
                <a16:creationId xmlns:a16="http://schemas.microsoft.com/office/drawing/2014/main" id="{A888EE76-DF8F-EE93-F289-C5D1758D98C4}"/>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a:extLst>
              <a:ext uri="{FF2B5EF4-FFF2-40B4-BE49-F238E27FC236}">
                <a16:creationId xmlns:a16="http://schemas.microsoft.com/office/drawing/2014/main" id="{5C1C6DCD-0ED6-6D18-D299-8ADAFB9F39BA}"/>
              </a:ext>
            </a:extLst>
          </p:cNvPr>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AI BASICS</a:t>
            </a:r>
            <a:endParaRPr lang="en-US" sz="1000"/>
          </a:p>
        </p:txBody>
      </p:sp>
      <p:sp>
        <p:nvSpPr>
          <p:cNvPr id="10" name="Text 8">
            <a:extLst>
              <a:ext uri="{FF2B5EF4-FFF2-40B4-BE49-F238E27FC236}">
                <a16:creationId xmlns:a16="http://schemas.microsoft.com/office/drawing/2014/main" id="{168F1DED-E314-7DD3-1144-73B203089198}"/>
              </a:ext>
            </a:extLst>
          </p:cNvPr>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a:extLst>
              <a:ext uri="{FF2B5EF4-FFF2-40B4-BE49-F238E27FC236}">
                <a16:creationId xmlns:a16="http://schemas.microsoft.com/office/drawing/2014/main" id="{26E2F0F6-B498-5D51-0B68-0B5FE7B8844F}"/>
              </a:ext>
            </a:extLst>
          </p:cNvPr>
          <p:cNvSpPr/>
          <p:nvPr/>
        </p:nvSpPr>
        <p:spPr>
          <a:xfrm>
            <a:off x="1115568" y="1973579"/>
            <a:ext cx="4709160" cy="4015737"/>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a:extLst>
              <a:ext uri="{FF2B5EF4-FFF2-40B4-BE49-F238E27FC236}">
                <a16:creationId xmlns:a16="http://schemas.microsoft.com/office/drawing/2014/main" id="{3B33D50A-B692-7E4A-95E7-A9BD6BA2AE49}"/>
              </a:ext>
            </a:extLst>
          </p:cNvPr>
          <p:cNvSpPr/>
          <p:nvPr/>
        </p:nvSpPr>
        <p:spPr>
          <a:xfrm>
            <a:off x="134416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Good at</a:t>
            </a:r>
            <a:endParaRPr lang="en-US" sz="2800" dirty="0"/>
          </a:p>
        </p:txBody>
      </p:sp>
      <p:sp>
        <p:nvSpPr>
          <p:cNvPr id="13" name="Text 11">
            <a:extLst>
              <a:ext uri="{FF2B5EF4-FFF2-40B4-BE49-F238E27FC236}">
                <a16:creationId xmlns:a16="http://schemas.microsoft.com/office/drawing/2014/main" id="{508C796E-9DA7-7DC7-9CB9-29B1AD974F81}"/>
              </a:ext>
            </a:extLst>
          </p:cNvPr>
          <p:cNvSpPr/>
          <p:nvPr/>
        </p:nvSpPr>
        <p:spPr>
          <a:xfrm>
            <a:off x="146304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Drafting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Rewriting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Summarizing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Brainstorming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Organizing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Role-play</a:t>
            </a:r>
            <a:endParaRPr lang="en-US" sz="2400" dirty="0">
              <a:latin typeface="Aptos"/>
            </a:endParaRPr>
          </a:p>
        </p:txBody>
      </p:sp>
      <p:sp>
        <p:nvSpPr>
          <p:cNvPr id="14" name="Shape 12">
            <a:extLst>
              <a:ext uri="{FF2B5EF4-FFF2-40B4-BE49-F238E27FC236}">
                <a16:creationId xmlns:a16="http://schemas.microsoft.com/office/drawing/2014/main" id="{C0D2FC08-8C9E-E593-3CAD-7B6FC66F5C1D}"/>
              </a:ext>
            </a:extLst>
          </p:cNvPr>
          <p:cNvSpPr/>
          <p:nvPr/>
        </p:nvSpPr>
        <p:spPr>
          <a:xfrm>
            <a:off x="6400800" y="1973579"/>
            <a:ext cx="4709160" cy="4015735"/>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a:extLst>
              <a:ext uri="{FF2B5EF4-FFF2-40B4-BE49-F238E27FC236}">
                <a16:creationId xmlns:a16="http://schemas.microsoft.com/office/drawing/2014/main" id="{2CF0DE81-E5DD-3C7B-06D8-4EC4F1F8BDA3}"/>
              </a:ext>
            </a:extLst>
          </p:cNvPr>
          <p:cNvSpPr/>
          <p:nvPr/>
        </p:nvSpPr>
        <p:spPr>
          <a:xfrm>
            <a:off x="664768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Not safe for</a:t>
            </a:r>
            <a:endParaRPr lang="en-US" sz="2800" dirty="0"/>
          </a:p>
        </p:txBody>
      </p:sp>
      <p:sp>
        <p:nvSpPr>
          <p:cNvPr id="16" name="Text 14">
            <a:extLst>
              <a:ext uri="{FF2B5EF4-FFF2-40B4-BE49-F238E27FC236}">
                <a16:creationId xmlns:a16="http://schemas.microsoft.com/office/drawing/2014/main" id="{35A5DB17-631C-1E70-9825-6B8F8AF294E6}"/>
              </a:ext>
            </a:extLst>
          </p:cNvPr>
          <p:cNvSpPr/>
          <p:nvPr/>
        </p:nvSpPr>
        <p:spPr>
          <a:xfrm>
            <a:off x="676656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Guaranteeing facts</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Legal advice</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Local market certainty</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MLS rule interpretation</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Fair Housing judgment</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Final decisions</a:t>
            </a:r>
            <a:endParaRPr lang="en-US" sz="2400" dirty="0">
              <a:latin typeface="Aptos"/>
            </a:endParaRPr>
          </a:p>
        </p:txBody>
      </p:sp>
      <p:sp>
        <p:nvSpPr>
          <p:cNvPr id="17" name="Shape 15">
            <a:extLst>
              <a:ext uri="{FF2B5EF4-FFF2-40B4-BE49-F238E27FC236}">
                <a16:creationId xmlns:a16="http://schemas.microsoft.com/office/drawing/2014/main" id="{C5FCCBDE-1D30-7FEC-6652-22A326D50149}"/>
              </a:ext>
            </a:extLst>
          </p:cNvPr>
          <p:cNvSpPr/>
          <p:nvPr/>
        </p:nvSpPr>
        <p:spPr>
          <a:xfrm>
            <a:off x="5893308" y="3712464"/>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a:extLst>
              <a:ext uri="{FF2B5EF4-FFF2-40B4-BE49-F238E27FC236}">
                <a16:creationId xmlns:a16="http://schemas.microsoft.com/office/drawing/2014/main" id="{030F4594-190C-56E9-5B24-8D4EC280DE56}"/>
              </a:ext>
            </a:extLst>
          </p:cNvPr>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a:extLst>
              <a:ext uri="{FF2B5EF4-FFF2-40B4-BE49-F238E27FC236}">
                <a16:creationId xmlns:a16="http://schemas.microsoft.com/office/drawing/2014/main" id="{2F09F609-BD85-B555-FE7A-F029F98C1E00}"/>
              </a:ext>
            </a:extLst>
          </p:cNvPr>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a:extLst>
              <a:ext uri="{FF2B5EF4-FFF2-40B4-BE49-F238E27FC236}">
                <a16:creationId xmlns:a16="http://schemas.microsoft.com/office/drawing/2014/main" id="{81B0F6DB-83F1-993C-F10D-A226D6F00015}"/>
              </a:ext>
            </a:extLst>
          </p:cNvPr>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11/47</a:t>
            </a:r>
            <a:endParaRPr lang="en-US" sz="720"/>
          </a:p>
        </p:txBody>
      </p:sp>
    </p:spTree>
    <p:extLst>
      <p:ext uri="{BB962C8B-B14F-4D97-AF65-F5344CB8AC3E}">
        <p14:creationId xmlns:p14="http://schemas.microsoft.com/office/powerpoint/2010/main" val="4051928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TOOL CHECK</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1059180" y="2046990"/>
            <a:ext cx="6400800" cy="29717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Check brokerage policy before using client or transaction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pasting private client details into public AI tools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Use verified property, MLS, and market data</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every message before sending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AI as a drafting assistant, not the final authority</a:t>
            </a:r>
            <a:endParaRPr lang="en-US" dirty="0"/>
          </a:p>
        </p:txBody>
      </p:sp>
      <p:sp>
        <p:nvSpPr>
          <p:cNvPr id="12" name="Shape 10"/>
          <p:cNvSpPr/>
          <p:nvPr/>
        </p:nvSpPr>
        <p:spPr>
          <a:xfrm>
            <a:off x="7670292" y="197079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886953" y="206223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161273" y="2382270"/>
            <a:ext cx="2606040" cy="530352"/>
          </a:xfrm>
          <a:prstGeom prst="rect">
            <a:avLst/>
          </a:prstGeom>
          <a:noFill/>
          <a:ln/>
        </p:spPr>
        <p:txBody>
          <a:bodyPr wrap="square" lIns="0" tIns="0" rIns="0" bIns="0" rtlCol="0" anchor="ctr">
            <a:normAutofit lnSpcReduction="10000"/>
          </a:bodyPr>
          <a:lstStyle/>
          <a:p>
            <a:pPr marL="0" indent="0">
              <a:buNone/>
            </a:pPr>
            <a:r>
              <a:rPr lang="en-US" b="1" dirty="0">
                <a:solidFill>
                  <a:srgbClr val="16324F"/>
                </a:solidFill>
              </a:rPr>
              <a:t>Private, verified, compliant, reviewed</a:t>
            </a:r>
            <a:endParaRPr lang="en-US" dirty="0"/>
          </a:p>
        </p:txBody>
      </p:sp>
      <p:sp>
        <p:nvSpPr>
          <p:cNvPr id="15" name="Text 13"/>
          <p:cNvSpPr/>
          <p:nvPr/>
        </p:nvSpPr>
        <p:spPr>
          <a:xfrm>
            <a:off x="8161273" y="3177798"/>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Treat public AI tools carefully and review every output before use.</a:t>
            </a:r>
            <a:endParaRPr lang="en-US" sz="1600" dirty="0"/>
          </a:p>
        </p:txBody>
      </p:sp>
      <p:sp>
        <p:nvSpPr>
          <p:cNvPr id="16" name="Shape 14"/>
          <p:cNvSpPr/>
          <p:nvPr/>
        </p:nvSpPr>
        <p:spPr>
          <a:xfrm>
            <a:off x="8161273" y="439395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12/47</a:t>
            </a:r>
            <a:endParaRPr lang="en-US" sz="72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REVIEW LENS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11849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13510" y="246215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413510" y="24621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20078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true?</a:t>
            </a:r>
            <a:endParaRPr lang="en-US" dirty="0"/>
          </a:p>
        </p:txBody>
      </p:sp>
      <p:sp>
        <p:nvSpPr>
          <p:cNvPr id="15" name="Text 13"/>
          <p:cNvSpPr/>
          <p:nvPr/>
        </p:nvSpPr>
        <p:spPr>
          <a:xfrm>
            <a:off x="20078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Verify property facts, stats, dates, and claims.</a:t>
            </a:r>
            <a:endParaRPr lang="en-US" sz="1400" dirty="0"/>
          </a:p>
        </p:txBody>
      </p:sp>
      <p:sp>
        <p:nvSpPr>
          <p:cNvPr id="16" name="Shape 14"/>
          <p:cNvSpPr/>
          <p:nvPr/>
        </p:nvSpPr>
        <p:spPr>
          <a:xfrm>
            <a:off x="64427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6671310" y="246215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71310" y="2453008"/>
            <a:ext cx="402336" cy="411480"/>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9" name="Text 17"/>
          <p:cNvSpPr/>
          <p:nvPr/>
        </p:nvSpPr>
        <p:spPr>
          <a:xfrm>
            <a:off x="72656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allowed?</a:t>
            </a:r>
            <a:endParaRPr lang="en-US" dirty="0"/>
          </a:p>
        </p:txBody>
      </p:sp>
      <p:sp>
        <p:nvSpPr>
          <p:cNvPr id="20" name="Text 18"/>
          <p:cNvSpPr/>
          <p:nvPr/>
        </p:nvSpPr>
        <p:spPr>
          <a:xfrm>
            <a:off x="72656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Check brokerage, MLS, advertising, and communication rules.</a:t>
            </a:r>
            <a:endParaRPr lang="en-US" sz="1400" dirty="0"/>
          </a:p>
        </p:txBody>
      </p:sp>
      <p:sp>
        <p:nvSpPr>
          <p:cNvPr id="21" name="Shape 19"/>
          <p:cNvSpPr/>
          <p:nvPr/>
        </p:nvSpPr>
        <p:spPr>
          <a:xfrm>
            <a:off x="11849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413510" y="4074964"/>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3" name="Text 21"/>
          <p:cNvSpPr/>
          <p:nvPr/>
        </p:nvSpPr>
        <p:spPr>
          <a:xfrm>
            <a:off x="1413510" y="4084108"/>
            <a:ext cx="402336" cy="374904"/>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20078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fair?</a:t>
            </a:r>
            <a:endParaRPr lang="en-US" dirty="0"/>
          </a:p>
        </p:txBody>
      </p:sp>
      <p:sp>
        <p:nvSpPr>
          <p:cNvPr id="25" name="Text 23"/>
          <p:cNvSpPr/>
          <p:nvPr/>
        </p:nvSpPr>
        <p:spPr>
          <a:xfrm>
            <a:off x="20078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Avoid protected-class language, steering, or discriminatory targeting.</a:t>
            </a:r>
            <a:endParaRPr lang="en-US" sz="1400" dirty="0"/>
          </a:p>
        </p:txBody>
      </p:sp>
      <p:sp>
        <p:nvSpPr>
          <p:cNvPr id="26" name="Shape 24"/>
          <p:cNvSpPr/>
          <p:nvPr/>
        </p:nvSpPr>
        <p:spPr>
          <a:xfrm>
            <a:off x="64427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6671310" y="407496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71310" y="4084108"/>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656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yours?</a:t>
            </a:r>
            <a:endParaRPr lang="en-US" dirty="0"/>
          </a:p>
        </p:txBody>
      </p:sp>
      <p:sp>
        <p:nvSpPr>
          <p:cNvPr id="30" name="Text 28"/>
          <p:cNvSpPr/>
          <p:nvPr/>
        </p:nvSpPr>
        <p:spPr>
          <a:xfrm>
            <a:off x="72656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Edit for your voice, judgment, and client relationship.</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13/47</a:t>
            </a:r>
            <a:endParaRPr lang="en-US" sz="72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39890" y="2260092"/>
            <a:ext cx="4206240" cy="2624328"/>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PRACTICE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1237972" y="1985816"/>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365988" y="1994960"/>
            <a:ext cx="1298448" cy="347472"/>
          </a:xfrm>
          <a:prstGeom prst="rect">
            <a:avLst/>
          </a:prstGeom>
          <a:solidFill>
            <a:srgbClr val="008F8F"/>
          </a:solidFill>
          <a:ln>
            <a:solidFill>
              <a:srgbClr val="008F8F"/>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600" dirty="0"/>
          </a:p>
        </p:txBody>
      </p:sp>
      <p:sp>
        <p:nvSpPr>
          <p:cNvPr id="13" name="Shape 11"/>
          <p:cNvSpPr/>
          <p:nvPr/>
        </p:nvSpPr>
        <p:spPr>
          <a:xfrm>
            <a:off x="1236038" y="2273577"/>
            <a:ext cx="5286150" cy="114573"/>
          </a:xfrm>
          <a:prstGeom prst="rect">
            <a:avLst/>
          </a:prstGeom>
          <a:solidFill>
            <a:srgbClr val="008F8F"/>
          </a:solidFill>
          <a:ln w="12700">
            <a:solidFill>
              <a:srgbClr val="008F8F"/>
            </a:solidFill>
            <a:prstDash val="solid"/>
          </a:ln>
        </p:spPr>
        <p:txBody>
          <a:bodyPr/>
          <a:lstStyle/>
          <a:p>
            <a:endParaRPr lang="en-US"/>
          </a:p>
        </p:txBody>
      </p:sp>
      <p:sp>
        <p:nvSpPr>
          <p:cNvPr id="14" name="Shape 12"/>
          <p:cNvSpPr/>
          <p:nvPr/>
        </p:nvSpPr>
        <p:spPr>
          <a:xfrm>
            <a:off x="1227812" y="23241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502132" y="2552700"/>
            <a:ext cx="4663440" cy="320040"/>
          </a:xfrm>
          <a:prstGeom prst="rect">
            <a:avLst/>
          </a:prstGeom>
          <a:noFill/>
          <a:ln/>
        </p:spPr>
        <p:txBody>
          <a:bodyPr wrap="square" lIns="0" tIns="0" rIns="0" bIns="0" rtlCol="0" anchor="ctr">
            <a:normAutofit/>
          </a:bodyPr>
          <a:lstStyle/>
          <a:p>
            <a:pPr marL="0" indent="0">
              <a:buNone/>
            </a:pPr>
            <a:r>
              <a:rPr lang="en-US" dirty="0">
                <a:solidFill>
                  <a:srgbClr val="52606D"/>
                </a:solidFill>
              </a:rPr>
              <a:t>Review this AI-generated sentence:</a:t>
            </a:r>
            <a:endParaRPr lang="en-US" dirty="0"/>
          </a:p>
        </p:txBody>
      </p:sp>
      <p:sp>
        <p:nvSpPr>
          <p:cNvPr id="16" name="Text 14"/>
          <p:cNvSpPr/>
          <p:nvPr/>
        </p:nvSpPr>
        <p:spPr>
          <a:xfrm>
            <a:off x="1502132" y="3028188"/>
            <a:ext cx="4663440" cy="1143000"/>
          </a:xfrm>
          <a:prstGeom prst="rect">
            <a:avLst/>
          </a:prstGeom>
          <a:noFill/>
          <a:ln/>
        </p:spPr>
        <p:txBody>
          <a:bodyPr wrap="square" lIns="381" tIns="381" rIns="381" bIns="381" rtlCol="0" anchor="ctr">
            <a:normAutofit/>
          </a:bodyPr>
          <a:lstStyle/>
          <a:p>
            <a:pPr marL="0" indent="0">
              <a:buNone/>
            </a:pPr>
            <a:r>
              <a:rPr lang="en-US" sz="2000" b="1" dirty="0">
                <a:solidFill>
                  <a:srgbClr val="16324F"/>
                </a:solidFill>
              </a:rPr>
              <a:t>This quiet family neighborhood is perfect for young professionals and has the best schools in the area.</a:t>
            </a:r>
            <a:endParaRPr lang="en-US" sz="2000" dirty="0"/>
          </a:p>
        </p:txBody>
      </p:sp>
      <p:sp>
        <p:nvSpPr>
          <p:cNvPr id="17" name="Text 15"/>
          <p:cNvSpPr/>
          <p:nvPr/>
        </p:nvSpPr>
        <p:spPr>
          <a:xfrm>
            <a:off x="1502132" y="44546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59880" y="2260092"/>
            <a:ext cx="128016" cy="2624328"/>
          </a:xfrm>
          <a:prstGeom prst="rect">
            <a:avLst/>
          </a:prstGeom>
          <a:solidFill>
            <a:srgbClr val="008F8F"/>
          </a:solidFill>
          <a:ln w="12700">
            <a:solidFill>
              <a:srgbClr val="008F8F"/>
            </a:solidFill>
            <a:prstDash val="solid"/>
          </a:ln>
        </p:spPr>
        <p:txBody>
          <a:bodyPr/>
          <a:lstStyle/>
          <a:p>
            <a:endParaRPr lang="en-US"/>
          </a:p>
        </p:txBody>
      </p:sp>
      <p:sp>
        <p:nvSpPr>
          <p:cNvPr id="20" name="Text 18"/>
          <p:cNvSpPr/>
          <p:nvPr/>
        </p:nvSpPr>
        <p:spPr>
          <a:xfrm>
            <a:off x="7071360" y="2899410"/>
            <a:ext cx="3520440" cy="1280160"/>
          </a:xfrm>
          <a:prstGeom prst="rect">
            <a:avLst/>
          </a:prstGeom>
          <a:noFill/>
          <a:ln/>
        </p:spPr>
        <p:txBody>
          <a:bodyPr wrap="square" lIns="254" tIns="254" rIns="254" bIns="254" rtlCol="0" anchor="t">
            <a:normAutofit lnSpcReduction="10000"/>
          </a:bodyPr>
          <a:lstStyle/>
          <a:p>
            <a:pPr marL="203200" indent="-203200">
              <a:buSzPct val="100000"/>
              <a:buChar char="•"/>
            </a:pPr>
            <a:r>
              <a:rPr lang="en-US" dirty="0">
                <a:solidFill>
                  <a:srgbClr val="102033"/>
                </a:solidFill>
                <a:ea typeface="Aptos" pitchFamily="34" charset="-122"/>
                <a:cs typeface="Aptos" pitchFamily="34" charset="-120"/>
              </a:rPr>
              <a:t>What could create risk?</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What facts need verification?</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How could it be rewritten safely?</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14/47</a:t>
            </a:r>
            <a:endParaRPr lang="en-US" sz="72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BEFORE / AFTER</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Autofit/>
          </a:bodyPr>
          <a:lstStyle/>
          <a:p>
            <a:pPr marL="0" indent="0">
              <a:buNone/>
            </a:pPr>
            <a:r>
              <a:rPr lang="en-US" dirty="0"/>
              <a:t>Better prompts reduce risk by giving AI facts, tone, boundaries, and review rules.</a:t>
            </a:r>
          </a:p>
        </p:txBody>
      </p:sp>
      <p:sp>
        <p:nvSpPr>
          <p:cNvPr id="12" name="Shape 10"/>
          <p:cNvSpPr/>
          <p:nvPr/>
        </p:nvSpPr>
        <p:spPr>
          <a:xfrm>
            <a:off x="1150620" y="206502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6172" y="232105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446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Write a listing description for a nice house in Coral Gables.</a:t>
            </a:r>
            <a:endParaRPr lang="en-US" dirty="0"/>
          </a:p>
        </p:txBody>
      </p:sp>
      <p:sp>
        <p:nvSpPr>
          <p:cNvPr id="15" name="Shape 13"/>
          <p:cNvSpPr/>
          <p:nvPr/>
        </p:nvSpPr>
        <p:spPr>
          <a:xfrm>
            <a:off x="6362700" y="206502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18732" y="232105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3702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15/47</a:t>
            </a:r>
            <a:endParaRPr lang="en-US" sz="72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02</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2</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Better context creates messages that sound more like a professional agent.</a:t>
            </a:r>
            <a:endParaRPr lang="en-US" dirty="0"/>
          </a:p>
        </p:txBody>
      </p:sp>
      <p:sp>
        <p:nvSpPr>
          <p:cNvPr id="8" name="Shape 6"/>
          <p:cNvSpPr/>
          <p:nvPr/>
        </p:nvSpPr>
        <p:spPr>
          <a:xfrm>
            <a:off x="749808" y="3657600"/>
            <a:ext cx="1828800" cy="0"/>
          </a:xfrm>
          <a:prstGeom prst="line">
            <a:avLst/>
          </a:prstGeom>
          <a:noFill/>
          <a:ln w="50800">
            <a:solidFill>
              <a:srgbClr val="2F80ED"/>
            </a:solidFill>
            <a:prstDash val="solid"/>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 FORMULA</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122986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2" name="Text 10"/>
          <p:cNvSpPr/>
          <p:nvPr/>
        </p:nvSpPr>
        <p:spPr>
          <a:xfrm>
            <a:off x="137617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Role</a:t>
            </a:r>
            <a:endParaRPr lang="en-US" sz="1600" dirty="0"/>
          </a:p>
        </p:txBody>
      </p:sp>
      <p:sp>
        <p:nvSpPr>
          <p:cNvPr id="13" name="Text 11"/>
          <p:cNvSpPr/>
          <p:nvPr/>
        </p:nvSpPr>
        <p:spPr>
          <a:xfrm>
            <a:off x="1376171" y="2439924"/>
            <a:ext cx="4243447"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You are helping me as a real estate professional</a:t>
            </a:r>
            <a:endParaRPr lang="en-US" sz="1600" dirty="0"/>
          </a:p>
        </p:txBody>
      </p:sp>
      <p:sp>
        <p:nvSpPr>
          <p:cNvPr id="14" name="Shape 12"/>
          <p:cNvSpPr/>
          <p:nvPr/>
        </p:nvSpPr>
        <p:spPr>
          <a:xfrm>
            <a:off x="639622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5" name="Text 13"/>
          <p:cNvSpPr/>
          <p:nvPr/>
        </p:nvSpPr>
        <p:spPr>
          <a:xfrm>
            <a:off x="654253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Task</a:t>
            </a:r>
            <a:endParaRPr lang="en-US" sz="1600" dirty="0"/>
          </a:p>
        </p:txBody>
      </p:sp>
      <p:sp>
        <p:nvSpPr>
          <p:cNvPr id="16" name="Text 14"/>
          <p:cNvSpPr/>
          <p:nvPr/>
        </p:nvSpPr>
        <p:spPr>
          <a:xfrm>
            <a:off x="6542532" y="2439924"/>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Draft a text / email / script / checklist</a:t>
            </a:r>
            <a:endParaRPr lang="en-US" sz="1600" dirty="0"/>
          </a:p>
        </p:txBody>
      </p:sp>
      <p:sp>
        <p:nvSpPr>
          <p:cNvPr id="17" name="Shape 15"/>
          <p:cNvSpPr/>
          <p:nvPr/>
        </p:nvSpPr>
        <p:spPr>
          <a:xfrm>
            <a:off x="122986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8" name="Text 16"/>
          <p:cNvSpPr/>
          <p:nvPr/>
        </p:nvSpPr>
        <p:spPr>
          <a:xfrm>
            <a:off x="137617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Context</a:t>
            </a:r>
            <a:endParaRPr lang="en-US" sz="1600" dirty="0"/>
          </a:p>
        </p:txBody>
      </p:sp>
      <p:sp>
        <p:nvSpPr>
          <p:cNvPr id="19" name="Text 17"/>
          <p:cNvSpPr/>
          <p:nvPr/>
        </p:nvSpPr>
        <p:spPr>
          <a:xfrm>
            <a:off x="137617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Client situation, property, timeline, concern</a:t>
            </a:r>
            <a:endParaRPr lang="en-US" sz="1600" dirty="0"/>
          </a:p>
        </p:txBody>
      </p:sp>
      <p:sp>
        <p:nvSpPr>
          <p:cNvPr id="20" name="Shape 18"/>
          <p:cNvSpPr/>
          <p:nvPr/>
        </p:nvSpPr>
        <p:spPr>
          <a:xfrm>
            <a:off x="639622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1" name="Text 19"/>
          <p:cNvSpPr/>
          <p:nvPr/>
        </p:nvSpPr>
        <p:spPr>
          <a:xfrm>
            <a:off x="654253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Tone</a:t>
            </a:r>
            <a:endParaRPr lang="en-US" sz="1600" dirty="0"/>
          </a:p>
        </p:txBody>
      </p:sp>
      <p:sp>
        <p:nvSpPr>
          <p:cNvPr id="22" name="Text 20"/>
          <p:cNvSpPr/>
          <p:nvPr/>
        </p:nvSpPr>
        <p:spPr>
          <a:xfrm>
            <a:off x="654253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Warm, concise, direct, educational</a:t>
            </a:r>
            <a:endParaRPr lang="en-US" sz="1600" dirty="0"/>
          </a:p>
        </p:txBody>
      </p:sp>
      <p:sp>
        <p:nvSpPr>
          <p:cNvPr id="23" name="Shape 21"/>
          <p:cNvSpPr/>
          <p:nvPr/>
        </p:nvSpPr>
        <p:spPr>
          <a:xfrm>
            <a:off x="122986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4" name="Text 22"/>
          <p:cNvSpPr/>
          <p:nvPr/>
        </p:nvSpPr>
        <p:spPr>
          <a:xfrm>
            <a:off x="137617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Constraints</a:t>
            </a:r>
            <a:endParaRPr lang="en-US" sz="1600" dirty="0"/>
          </a:p>
        </p:txBody>
      </p:sp>
      <p:sp>
        <p:nvSpPr>
          <p:cNvPr id="25" name="Text 23"/>
          <p:cNvSpPr/>
          <p:nvPr/>
        </p:nvSpPr>
        <p:spPr>
          <a:xfrm>
            <a:off x="137617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Avoid claims, private data, Fair Housing risk</a:t>
            </a:r>
            <a:endParaRPr lang="en-US" sz="1600" dirty="0"/>
          </a:p>
        </p:txBody>
      </p:sp>
      <p:sp>
        <p:nvSpPr>
          <p:cNvPr id="26" name="Shape 24"/>
          <p:cNvSpPr/>
          <p:nvPr/>
        </p:nvSpPr>
        <p:spPr>
          <a:xfrm>
            <a:off x="639622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7" name="Text 25"/>
          <p:cNvSpPr/>
          <p:nvPr/>
        </p:nvSpPr>
        <p:spPr>
          <a:xfrm>
            <a:off x="654253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Goal</a:t>
            </a:r>
            <a:endParaRPr lang="en-US" sz="1600" dirty="0"/>
          </a:p>
        </p:txBody>
      </p:sp>
      <p:sp>
        <p:nvSpPr>
          <p:cNvPr id="28" name="Text 26"/>
          <p:cNvSpPr/>
          <p:nvPr/>
        </p:nvSpPr>
        <p:spPr>
          <a:xfrm>
            <a:off x="654253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Reply, next step, clarity, appointment</a:t>
            </a:r>
            <a:endParaRPr lang="en-US" sz="1600" dirty="0"/>
          </a:p>
        </p:txBody>
      </p:sp>
      <p:sp>
        <p:nvSpPr>
          <p:cNvPr id="29" name="Shape 2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17/47</a:t>
            </a:r>
            <a:endParaRPr lang="en-US" sz="72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PROMPT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1150620" y="205740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1406652" y="231343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3" name="Text 11"/>
          <p:cNvSpPr/>
          <p:nvPr/>
        </p:nvSpPr>
        <p:spPr>
          <a:xfrm>
            <a:off x="1424940" y="2743200"/>
            <a:ext cx="4069080" cy="1828800"/>
          </a:xfrm>
          <a:prstGeom prst="rect">
            <a:avLst/>
          </a:prstGeom>
          <a:noFill/>
          <a:ln/>
        </p:spPr>
        <p:txBody>
          <a:bodyPr wrap="square" lIns="381" tIns="381" rIns="381" bIns="381" rtlCol="0" anchor="ctr">
            <a:normAutofit/>
          </a:bodyPr>
          <a:lstStyle/>
          <a:p>
            <a:pPr marL="0" indent="0">
              <a:buNone/>
            </a:pPr>
            <a:r>
              <a:rPr lang="en-US" sz="2000" dirty="0">
                <a:solidFill>
                  <a:srgbClr val="102033"/>
                </a:solidFill>
              </a:rPr>
              <a:t>Write a follow-up text for a buyer.</a:t>
            </a:r>
            <a:endParaRPr lang="en-US" sz="2000" dirty="0"/>
          </a:p>
        </p:txBody>
      </p:sp>
      <p:sp>
        <p:nvSpPr>
          <p:cNvPr id="14" name="Shape 12"/>
          <p:cNvSpPr/>
          <p:nvPr/>
        </p:nvSpPr>
        <p:spPr>
          <a:xfrm>
            <a:off x="6362700" y="205740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18732" y="231343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6" name="Text 14"/>
          <p:cNvSpPr/>
          <p:nvPr/>
        </p:nvSpPr>
        <p:spPr>
          <a:xfrm>
            <a:off x="6637020" y="2743200"/>
            <a:ext cx="4069080" cy="18288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6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18/47</a:t>
            </a:r>
            <a:endParaRPr lang="en-US" sz="72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BUYER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Buyer follow-up: clear, short, useful</a:t>
            </a:r>
            <a:endParaRPr lang="en-US" dirty="0"/>
          </a:p>
        </p:txBody>
      </p:sp>
      <p:sp>
        <p:nvSpPr>
          <p:cNvPr id="12" name="Shape 10"/>
          <p:cNvSpPr/>
          <p:nvPr/>
        </p:nvSpPr>
        <p:spPr>
          <a:xfrm>
            <a:off x="1201805" y="2057392"/>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3" name="Shape 11"/>
          <p:cNvSpPr/>
          <p:nvPr/>
        </p:nvSpPr>
        <p:spPr>
          <a:xfrm>
            <a:off x="1476125" y="2606030"/>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4" name="Text 12"/>
          <p:cNvSpPr/>
          <p:nvPr/>
        </p:nvSpPr>
        <p:spPr>
          <a:xfrm>
            <a:off x="1569142" y="2697470"/>
            <a:ext cx="2339602" cy="850392"/>
          </a:xfrm>
          <a:prstGeom prst="rect">
            <a:avLst/>
          </a:prstGeom>
          <a:noFill/>
          <a:ln/>
        </p:spPr>
        <p:txBody>
          <a:bodyPr wrap="square" lIns="381" tIns="381" rIns="381" bIns="381" rtlCol="0" anchor="ctr">
            <a:noAutofit/>
          </a:bodyPr>
          <a:lstStyle/>
          <a:p>
            <a:pPr marL="0" indent="0">
              <a:buNone/>
            </a:pPr>
            <a:r>
              <a:rPr lang="en-US" sz="1600" b="1" dirty="0">
                <a:solidFill>
                  <a:srgbClr val="16324F"/>
                </a:solidFill>
              </a:rPr>
              <a:t>A buyer toured two condos, liked one, but is worried about monthly payment.</a:t>
            </a:r>
            <a:endParaRPr lang="en-US" sz="1600" dirty="0"/>
          </a:p>
        </p:txBody>
      </p:sp>
      <p:sp>
        <p:nvSpPr>
          <p:cNvPr id="15" name="Text 13"/>
          <p:cNvSpPr/>
          <p:nvPr/>
        </p:nvSpPr>
        <p:spPr>
          <a:xfrm>
            <a:off x="1476125" y="4361680"/>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6" name="Shape 14"/>
          <p:cNvSpPr/>
          <p:nvPr/>
        </p:nvSpPr>
        <p:spPr>
          <a:xfrm>
            <a:off x="4905125" y="2057392"/>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7" name="Shape 15"/>
          <p:cNvSpPr/>
          <p:nvPr/>
        </p:nvSpPr>
        <p:spPr>
          <a:xfrm>
            <a:off x="5225165" y="2441440"/>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8" name="Text 16"/>
          <p:cNvSpPr/>
          <p:nvPr/>
        </p:nvSpPr>
        <p:spPr>
          <a:xfrm>
            <a:off x="5499485" y="2606032"/>
            <a:ext cx="4892040" cy="1307592"/>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600" dirty="0"/>
          </a:p>
        </p:txBody>
      </p:sp>
      <p:sp>
        <p:nvSpPr>
          <p:cNvPr id="19" name="Text 17"/>
          <p:cNvSpPr/>
          <p:nvPr/>
        </p:nvSpPr>
        <p:spPr>
          <a:xfrm>
            <a:off x="5225165" y="4361680"/>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20" name="Shape 1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1" name="Text 1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19/47</a:t>
            </a:r>
            <a:endParaRPr lang="en-US" sz="72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SELLER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Shape 9"/>
          <p:cNvSpPr/>
          <p:nvPr/>
        </p:nvSpPr>
        <p:spPr>
          <a:xfrm>
            <a:off x="1205521" y="2047428"/>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9841" y="2612597"/>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62721" y="2612597"/>
            <a:ext cx="2148840" cy="105156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A listing had showings but no offers this week.</a:t>
            </a:r>
            <a:endParaRPr lang="en-US" dirty="0"/>
          </a:p>
        </p:txBody>
      </p:sp>
      <p:sp>
        <p:nvSpPr>
          <p:cNvPr id="14" name="Text 12"/>
          <p:cNvSpPr/>
          <p:nvPr/>
        </p:nvSpPr>
        <p:spPr>
          <a:xfrm>
            <a:off x="1479841" y="4355233"/>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8841" y="2047428"/>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8881" y="2431476"/>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3201" y="2458908"/>
            <a:ext cx="4892040" cy="1572768"/>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600" dirty="0"/>
          </a:p>
        </p:txBody>
      </p:sp>
      <p:sp>
        <p:nvSpPr>
          <p:cNvPr id="18" name="Text 16"/>
          <p:cNvSpPr/>
          <p:nvPr/>
        </p:nvSpPr>
        <p:spPr>
          <a:xfrm>
            <a:off x="5228881" y="4351716"/>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20/47</a:t>
            </a:r>
            <a:endParaRPr lang="en-US" sz="720"/>
          </a:p>
        </p:txBody>
      </p:sp>
      <p:sp>
        <p:nvSpPr>
          <p:cNvPr id="22" name="Text 9">
            <a:extLst>
              <a:ext uri="{FF2B5EF4-FFF2-40B4-BE49-F238E27FC236}">
                <a16:creationId xmlns:a16="http://schemas.microsoft.com/office/drawing/2014/main" id="{A4A06875-411A-A97B-2745-C0030B28DEDE}"/>
              </a:ext>
            </a:extLst>
          </p:cNvPr>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Seller update: honest without sounding negative</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26146" y="2290135"/>
            <a:ext cx="4206240" cy="2624328"/>
          </a:xfrm>
          <a:prstGeom prst="roundRect">
            <a:avLst>
              <a:gd name="adj" fmla="val 2034"/>
            </a:avLst>
          </a:prstGeom>
          <a:solidFill>
            <a:srgbClr val="2F80ED">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1176906" y="2014747"/>
            <a:ext cx="1572768" cy="310896"/>
          </a:xfrm>
          <a:prstGeom prst="roundRect">
            <a:avLst>
              <a:gd name="adj" fmla="val 11765"/>
            </a:avLst>
          </a:prstGeom>
          <a:solidFill>
            <a:srgbClr val="2F80ED"/>
          </a:solidFill>
          <a:ln w="12700">
            <a:solidFill>
              <a:srgbClr val="2F80ED"/>
            </a:solidFill>
            <a:prstDash val="solid"/>
          </a:ln>
        </p:spPr>
        <p:txBody>
          <a:bodyPr/>
          <a:lstStyle/>
          <a:p>
            <a:endParaRPr lang="en-US"/>
          </a:p>
        </p:txBody>
      </p:sp>
      <p:sp>
        <p:nvSpPr>
          <p:cNvPr id="12" name="Text 10"/>
          <p:cNvSpPr/>
          <p:nvPr/>
        </p:nvSpPr>
        <p:spPr>
          <a:xfrm>
            <a:off x="1302027" y="2014747"/>
            <a:ext cx="1298448" cy="31089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1200" b="1">
                <a:solidFill>
                  <a:srgbClr val="FFFFFF"/>
                </a:solidFill>
              </a:rPr>
              <a:t>PRACTICE</a:t>
            </a:r>
            <a:endParaRPr lang="en-US" sz="1200"/>
          </a:p>
        </p:txBody>
      </p:sp>
      <p:sp>
        <p:nvSpPr>
          <p:cNvPr id="13" name="Shape 11"/>
          <p:cNvSpPr/>
          <p:nvPr/>
        </p:nvSpPr>
        <p:spPr>
          <a:xfrm>
            <a:off x="1170696" y="2289564"/>
            <a:ext cx="5264775" cy="86336"/>
          </a:xfrm>
          <a:prstGeom prst="rect">
            <a:avLst/>
          </a:prstGeom>
          <a:solidFill>
            <a:srgbClr val="2F80ED"/>
          </a:solidFill>
          <a:ln w="12700">
            <a:noFill/>
            <a:prstDash val="solid"/>
          </a:ln>
        </p:spPr>
        <p:txBody>
          <a:bodyPr/>
          <a:lstStyle/>
          <a:p>
            <a:endParaRPr lang="en-US"/>
          </a:p>
        </p:txBody>
      </p:sp>
      <p:sp>
        <p:nvSpPr>
          <p:cNvPr id="14" name="Shape 12"/>
          <p:cNvSpPr/>
          <p:nvPr/>
        </p:nvSpPr>
        <p:spPr>
          <a:xfrm>
            <a:off x="1170696" y="2341228"/>
            <a:ext cx="5264775" cy="2573235"/>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40711" y="2582743"/>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Original message:</a:t>
            </a:r>
            <a:endParaRPr lang="en-US" sz="1600" dirty="0"/>
          </a:p>
        </p:txBody>
      </p:sp>
      <p:sp>
        <p:nvSpPr>
          <p:cNvPr id="16" name="Text 14"/>
          <p:cNvSpPr/>
          <p:nvPr/>
        </p:nvSpPr>
        <p:spPr>
          <a:xfrm>
            <a:off x="1440711" y="3058231"/>
            <a:ext cx="495300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Just checking in to see if you are still interested.</a:t>
            </a:r>
            <a:endParaRPr lang="en-US" dirty="0"/>
          </a:p>
        </p:txBody>
      </p:sp>
      <p:sp>
        <p:nvSpPr>
          <p:cNvPr id="17" name="Text 15"/>
          <p:cNvSpPr/>
          <p:nvPr/>
        </p:nvSpPr>
        <p:spPr>
          <a:xfrm>
            <a:off x="1440711" y="4484695"/>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44231" y="2290135"/>
            <a:ext cx="128016" cy="2624328"/>
          </a:xfrm>
          <a:prstGeom prst="rect">
            <a:avLst/>
          </a:prstGeom>
          <a:solidFill>
            <a:srgbClr val="2F80ED"/>
          </a:solidFill>
          <a:ln w="12700">
            <a:solidFill>
              <a:srgbClr val="2F80ED"/>
            </a:solidFill>
            <a:prstDash val="solid"/>
          </a:ln>
        </p:spPr>
        <p:txBody>
          <a:bodyPr/>
          <a:lstStyle/>
          <a:p>
            <a:endParaRPr lang="en-US"/>
          </a:p>
        </p:txBody>
      </p:sp>
      <p:sp>
        <p:nvSpPr>
          <p:cNvPr id="20" name="Text 18"/>
          <p:cNvSpPr/>
          <p:nvPr/>
        </p:nvSpPr>
        <p:spPr>
          <a:xfrm>
            <a:off x="7155711" y="2628463"/>
            <a:ext cx="3520440" cy="2039112"/>
          </a:xfrm>
          <a:prstGeom prst="rect">
            <a:avLst/>
          </a:prstGeom>
          <a:noFill/>
          <a:ln/>
        </p:spPr>
        <p:txBody>
          <a:bodyPr wrap="square" lIns="254" tIns="254" rIns="254" bIns="254" rtlCol="0" anchor="t">
            <a:normAutofit/>
          </a:bodyPr>
          <a:lstStyle/>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Give the lead a reason to reply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Ask one specific question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it under 45 words</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21/47</a:t>
            </a:r>
            <a:endParaRPr lang="en-US" sz="72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12" name="Shape 10"/>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14" name="Text 12"/>
          <p:cNvSpPr/>
          <p:nvPr/>
        </p:nvSpPr>
        <p:spPr>
          <a:xfrm>
            <a:off x="1935367" y="1908048"/>
            <a:ext cx="8549640" cy="608076"/>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Rewrite this text so it </a:t>
            </a:r>
            <a:r>
              <a:rPr lang="en-US" sz="1600">
                <a:solidFill>
                  <a:srgbClr val="102033"/>
                </a:solidFill>
              </a:rPr>
              <a:t>sounds warm, concise, and natural for a Real Estate Agent: </a:t>
            </a:r>
            <a:r>
              <a:rPr lang="en-US" sz="1600" dirty="0">
                <a:solidFill>
                  <a:srgbClr val="102033"/>
                </a:solidFill>
              </a:rPr>
              <a:t>[draft]</a:t>
            </a:r>
            <a:endParaRPr lang="en-US" sz="1600" dirty="0"/>
          </a:p>
        </p:txBody>
      </p:sp>
      <p:sp>
        <p:nvSpPr>
          <p:cNvPr id="15" name="Shape 13"/>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35367" y="3116522"/>
            <a:ext cx="9070848" cy="621792"/>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Create a buyer follow-up email based on these call notes: [notes]. Ask one clear next-step question.</a:t>
            </a:r>
            <a:endParaRPr lang="en-US" sz="1600" dirty="0"/>
          </a:p>
        </p:txBody>
      </p:sp>
      <p:sp>
        <p:nvSpPr>
          <p:cNvPr id="19" name="Shape 17"/>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0" name="Shape 18"/>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35367" y="4348699"/>
            <a:ext cx="8549640" cy="621792"/>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Draft a seller update after a quiet week. Be honest, professional, and solution-oriented.</a:t>
            </a:r>
            <a:endParaRPr lang="en-US" sz="16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22/47</a:t>
            </a:r>
            <a:endParaRPr lang="en-US" sz="72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23/47</a:t>
            </a:r>
            <a:endParaRPr lang="en-US" sz="720"/>
          </a:p>
        </p:txBody>
      </p:sp>
      <p:sp>
        <p:nvSpPr>
          <p:cNvPr id="26" name="Shape 9">
            <a:extLst>
              <a:ext uri="{FF2B5EF4-FFF2-40B4-BE49-F238E27FC236}">
                <a16:creationId xmlns:a16="http://schemas.microsoft.com/office/drawing/2014/main" id="{645FC5DE-4EEC-4C47-ECAE-988DA534C2EE}"/>
              </a:ext>
            </a:extLst>
          </p:cNvPr>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7" name="Shape 10">
            <a:extLst>
              <a:ext uri="{FF2B5EF4-FFF2-40B4-BE49-F238E27FC236}">
                <a16:creationId xmlns:a16="http://schemas.microsoft.com/office/drawing/2014/main" id="{D163CB90-9D93-EF52-DCA1-2C51A9538756}"/>
              </a:ext>
            </a:extLst>
          </p:cNvPr>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28" name="Text 11">
            <a:extLst>
              <a:ext uri="{FF2B5EF4-FFF2-40B4-BE49-F238E27FC236}">
                <a16:creationId xmlns:a16="http://schemas.microsoft.com/office/drawing/2014/main" id="{3EF9B92A-EDF3-8D7C-8C69-7F3B8E52FF6D}"/>
              </a:ext>
            </a:extLst>
          </p:cNvPr>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29" name="Text 12">
            <a:extLst>
              <a:ext uri="{FF2B5EF4-FFF2-40B4-BE49-F238E27FC236}">
                <a16:creationId xmlns:a16="http://schemas.microsoft.com/office/drawing/2014/main" id="{12B1438D-6446-5652-2FAA-FC6EC2767ED0}"/>
              </a:ext>
            </a:extLst>
          </p:cNvPr>
          <p:cNvSpPr/>
          <p:nvPr/>
        </p:nvSpPr>
        <p:spPr>
          <a:xfrm>
            <a:off x="1935367" y="1908048"/>
            <a:ext cx="8549640" cy="608076"/>
          </a:xfrm>
          <a:prstGeom prst="rect">
            <a:avLst/>
          </a:prstGeom>
          <a:noFill/>
          <a:ln/>
        </p:spPr>
        <p:txBody>
          <a:bodyPr wrap="square" lIns="254" tIns="254" rIns="254" bIns="254" rtlCol="0" anchor="ctr">
            <a:normAutofit/>
          </a:bodyPr>
          <a:lstStyle/>
          <a:p>
            <a:r>
              <a:rPr lang="en-US" sz="1600" dirty="0">
                <a:solidFill>
                  <a:srgbClr val="102033"/>
                </a:solidFill>
              </a:rPr>
              <a:t>Create three versions of this follow-up: text, email, and voicemail.</a:t>
            </a:r>
            <a:endParaRPr lang="en-US" sz="1600" dirty="0"/>
          </a:p>
        </p:txBody>
      </p:sp>
      <p:sp>
        <p:nvSpPr>
          <p:cNvPr id="30" name="Shape 13">
            <a:extLst>
              <a:ext uri="{FF2B5EF4-FFF2-40B4-BE49-F238E27FC236}">
                <a16:creationId xmlns:a16="http://schemas.microsoft.com/office/drawing/2014/main" id="{8DD94027-774D-DFA7-0EE1-28B4623C6864}"/>
              </a:ext>
            </a:extLst>
          </p:cNvPr>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31" name="Shape 14">
            <a:extLst>
              <a:ext uri="{FF2B5EF4-FFF2-40B4-BE49-F238E27FC236}">
                <a16:creationId xmlns:a16="http://schemas.microsoft.com/office/drawing/2014/main" id="{55D32BD6-388D-F6D7-8585-FCA9CA4196AF}"/>
              </a:ext>
            </a:extLst>
          </p:cNvPr>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32" name="Text 15">
            <a:extLst>
              <a:ext uri="{FF2B5EF4-FFF2-40B4-BE49-F238E27FC236}">
                <a16:creationId xmlns:a16="http://schemas.microsoft.com/office/drawing/2014/main" id="{B9E8CA50-34FE-A334-6A3D-B60598A98C7B}"/>
              </a:ext>
            </a:extLst>
          </p:cNvPr>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33" name="Text 16">
            <a:extLst>
              <a:ext uri="{FF2B5EF4-FFF2-40B4-BE49-F238E27FC236}">
                <a16:creationId xmlns:a16="http://schemas.microsoft.com/office/drawing/2014/main" id="{ABF3CCA4-F3BC-0788-178B-49F602D21A61}"/>
              </a:ext>
            </a:extLst>
          </p:cNvPr>
          <p:cNvSpPr/>
          <p:nvPr/>
        </p:nvSpPr>
        <p:spPr>
          <a:xfrm>
            <a:off x="1935367" y="3116522"/>
            <a:ext cx="9070848" cy="621792"/>
          </a:xfrm>
          <a:prstGeom prst="rect">
            <a:avLst/>
          </a:prstGeom>
          <a:noFill/>
          <a:ln/>
        </p:spPr>
        <p:txBody>
          <a:bodyPr wrap="square" lIns="254" tIns="254" rIns="254" bIns="254" rtlCol="0" anchor="ctr">
            <a:noAutofit/>
          </a:bodyPr>
          <a:lstStyle/>
          <a:p>
            <a:r>
              <a:rPr lang="en-US" sz="1600" dirty="0">
                <a:solidFill>
                  <a:srgbClr val="102033"/>
                </a:solidFill>
              </a:rPr>
              <a:t>Review this message for accuracy, Fair Housing risk, and claims I should verify.</a:t>
            </a:r>
            <a:endParaRPr lang="en-US" sz="1600" dirty="0"/>
          </a:p>
        </p:txBody>
      </p:sp>
      <p:sp>
        <p:nvSpPr>
          <p:cNvPr id="34" name="Shape 17">
            <a:extLst>
              <a:ext uri="{FF2B5EF4-FFF2-40B4-BE49-F238E27FC236}">
                <a16:creationId xmlns:a16="http://schemas.microsoft.com/office/drawing/2014/main" id="{E7133BE9-A045-389D-32E1-3254EE7CE396}"/>
              </a:ext>
            </a:extLst>
          </p:cNvPr>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35" name="Shape 18">
            <a:extLst>
              <a:ext uri="{FF2B5EF4-FFF2-40B4-BE49-F238E27FC236}">
                <a16:creationId xmlns:a16="http://schemas.microsoft.com/office/drawing/2014/main" id="{E97F475D-9A61-A486-7448-CBAD0B4FCE8B}"/>
              </a:ext>
            </a:extLst>
          </p:cNvPr>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36" name="Text 19">
            <a:extLst>
              <a:ext uri="{FF2B5EF4-FFF2-40B4-BE49-F238E27FC236}">
                <a16:creationId xmlns:a16="http://schemas.microsoft.com/office/drawing/2014/main" id="{C564EC1C-8C58-6BBF-1EDF-9666B3BF40DE}"/>
              </a:ext>
            </a:extLst>
          </p:cNvPr>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37" name="Text 20">
            <a:extLst>
              <a:ext uri="{FF2B5EF4-FFF2-40B4-BE49-F238E27FC236}">
                <a16:creationId xmlns:a16="http://schemas.microsoft.com/office/drawing/2014/main" id="{32B8F4AD-61CD-C2C3-2565-E897450D548B}"/>
              </a:ext>
            </a:extLst>
          </p:cNvPr>
          <p:cNvSpPr/>
          <p:nvPr/>
        </p:nvSpPr>
        <p:spPr>
          <a:xfrm>
            <a:off x="1935367" y="4348699"/>
            <a:ext cx="8549640" cy="621792"/>
          </a:xfrm>
          <a:prstGeom prst="rect">
            <a:avLst/>
          </a:prstGeom>
          <a:noFill/>
          <a:ln/>
        </p:spPr>
        <p:txBody>
          <a:bodyPr wrap="square" lIns="254" tIns="254" rIns="254" bIns="254" rtlCol="0" anchor="ctr">
            <a:normAutofit/>
          </a:bodyPr>
          <a:lstStyle/>
          <a:p>
            <a:r>
              <a:rPr lang="en-US" sz="1600" dirty="0">
                <a:solidFill>
                  <a:srgbClr val="102033"/>
                </a:solidFill>
              </a:rPr>
              <a:t>Give me three tone options: concise, reassuring, and more direct.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03</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3</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Context before cadence: different lead sources need different first responses.</a:t>
            </a:r>
            <a:endParaRPr lang="en-US" dirty="0"/>
          </a:p>
        </p:txBody>
      </p:sp>
      <p:sp>
        <p:nvSpPr>
          <p:cNvPr id="8" name="Shape 6"/>
          <p:cNvSpPr/>
          <p:nvPr/>
        </p:nvSpPr>
        <p:spPr>
          <a:xfrm>
            <a:off x="749808" y="3657600"/>
            <a:ext cx="1828800" cy="0"/>
          </a:xfrm>
          <a:prstGeom prst="line">
            <a:avLst/>
          </a:prstGeom>
          <a:noFill/>
          <a:ln w="50800">
            <a:solidFill>
              <a:srgbClr val="F45B69"/>
            </a:solidFill>
            <a:prstDash val="solid"/>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LEAD REALITY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3200" dirty="0"/>
          </a:p>
        </p:txBody>
      </p:sp>
      <p:sp>
        <p:nvSpPr>
          <p:cNvPr id="11" name="Text 9"/>
          <p:cNvSpPr/>
          <p:nvPr/>
        </p:nvSpPr>
        <p:spPr>
          <a:xfrm>
            <a:off x="1070901" y="2039630"/>
            <a:ext cx="6400800" cy="3066587"/>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Many leads arrive with limited context, whether they come from portals, IDX, open houses, referrals, social media, sign calls, or past database activity.</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Speed matters, but fast and generic still feels automated.</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Different lead sources need different first responses because the relationship context is different.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Useful follow-up gives the person a reason to continue the conversation.</a:t>
            </a:r>
            <a:endParaRPr lang="en-US" dirty="0"/>
          </a:p>
        </p:txBody>
      </p:sp>
      <p:sp>
        <p:nvSpPr>
          <p:cNvPr id="12" name="Shape 10"/>
          <p:cNvSpPr/>
          <p:nvPr/>
        </p:nvSpPr>
        <p:spPr>
          <a:xfrm>
            <a:off x="7682013" y="1948191"/>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93849" y="2039631"/>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68169" y="2359671"/>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Useful beats frequent</a:t>
            </a:r>
            <a:endParaRPr lang="en-US" dirty="0"/>
          </a:p>
        </p:txBody>
      </p:sp>
      <p:sp>
        <p:nvSpPr>
          <p:cNvPr id="15" name="Text 13"/>
          <p:cNvSpPr/>
          <p:nvPr/>
        </p:nvSpPr>
        <p:spPr>
          <a:xfrm>
            <a:off x="8168169" y="3155199"/>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Better follow-up gives the lead a reason to respond and a clear next step.</a:t>
            </a:r>
            <a:endParaRPr lang="en-US" sz="1600" dirty="0"/>
          </a:p>
        </p:txBody>
      </p:sp>
      <p:sp>
        <p:nvSpPr>
          <p:cNvPr id="16" name="Shape 14"/>
          <p:cNvSpPr/>
          <p:nvPr/>
        </p:nvSpPr>
        <p:spPr>
          <a:xfrm>
            <a:off x="8168169" y="4371351"/>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25/47</a:t>
            </a:r>
            <a:endParaRPr lang="en-US" sz="72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CRM VS AI</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1684917" y="2004886"/>
            <a:ext cx="4146923" cy="2843783"/>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200495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CRM template</a:t>
            </a:r>
            <a:endParaRPr lang="en-US" sz="2000" dirty="0"/>
          </a:p>
        </p:txBody>
      </p:sp>
      <p:sp>
        <p:nvSpPr>
          <p:cNvPr id="13" name="Text 11"/>
          <p:cNvSpPr/>
          <p:nvPr/>
        </p:nvSpPr>
        <p:spPr>
          <a:xfrm>
            <a:off x="212382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Saved message</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Same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Fast but generic</a:t>
            </a:r>
            <a:endParaRPr lang="en-US" dirty="0"/>
          </a:p>
        </p:txBody>
      </p:sp>
      <p:sp>
        <p:nvSpPr>
          <p:cNvPr id="14" name="Shape 12"/>
          <p:cNvSpPr/>
          <p:nvPr/>
        </p:nvSpPr>
        <p:spPr>
          <a:xfrm>
            <a:off x="6365629" y="2004886"/>
            <a:ext cx="4146923" cy="2843783"/>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5823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AI-assisted draft</a:t>
            </a:r>
            <a:endParaRPr lang="en-US" sz="2000" dirty="0"/>
          </a:p>
        </p:txBody>
      </p:sp>
      <p:sp>
        <p:nvSpPr>
          <p:cNvPr id="16" name="Text 14"/>
          <p:cNvSpPr/>
          <p:nvPr/>
        </p:nvSpPr>
        <p:spPr>
          <a:xfrm>
            <a:off x="677710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Source + context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Situation-aware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Agent-reviewed before sending</a:t>
            </a:r>
            <a:endParaRPr lang="en-US" dirty="0"/>
          </a:p>
        </p:txBody>
      </p:sp>
      <p:sp>
        <p:nvSpPr>
          <p:cNvPr id="17" name="Shape 15"/>
          <p:cNvSpPr/>
          <p:nvPr/>
        </p:nvSpPr>
        <p:spPr>
          <a:xfrm>
            <a:off x="5880616" y="3193606"/>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26/47</a:t>
            </a:r>
            <a:endParaRPr lang="en-US" sz="72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WORKFLOW</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109955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00718" y="243789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00718" y="2445512"/>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849358" y="2125980"/>
            <a:ext cx="2176272" cy="1031748"/>
          </a:xfrm>
          <a:prstGeom prst="rect">
            <a:avLst/>
          </a:prstGeom>
          <a:noFill/>
          <a:ln/>
        </p:spPr>
        <p:txBody>
          <a:bodyPr wrap="square" lIns="0" tIns="0" rIns="0" bIns="0" rtlCol="0" anchor="ctr">
            <a:noAutofit/>
          </a:bodyPr>
          <a:lstStyle/>
          <a:p>
            <a:pPr marL="0" indent="0">
              <a:buNone/>
            </a:pPr>
            <a:r>
              <a:rPr lang="en-US" sz="1600" b="1" dirty="0">
                <a:solidFill>
                  <a:srgbClr val="102033"/>
                </a:solidFill>
              </a:rPr>
              <a:t>Capture source, context, and recent activity</a:t>
            </a:r>
            <a:endParaRPr lang="en-US" sz="1600" dirty="0"/>
          </a:p>
        </p:txBody>
      </p:sp>
      <p:sp>
        <p:nvSpPr>
          <p:cNvPr id="15" name="Shape 13"/>
          <p:cNvSpPr/>
          <p:nvPr/>
        </p:nvSpPr>
        <p:spPr>
          <a:xfrm>
            <a:off x="4619990" y="212598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4821158" y="2437892"/>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4821158" y="244551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5369798" y="2125980"/>
            <a:ext cx="2176272"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Identify likely intent without assuming certainty</a:t>
            </a:r>
            <a:endParaRPr lang="en-US" sz="1600" dirty="0"/>
          </a:p>
        </p:txBody>
      </p:sp>
      <p:sp>
        <p:nvSpPr>
          <p:cNvPr id="19" name="Shape 17"/>
          <p:cNvSpPr/>
          <p:nvPr/>
        </p:nvSpPr>
        <p:spPr>
          <a:xfrm>
            <a:off x="814551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0" name="Shape 18"/>
          <p:cNvSpPr/>
          <p:nvPr/>
        </p:nvSpPr>
        <p:spPr>
          <a:xfrm>
            <a:off x="8346678" y="2437892"/>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8346678" y="2437892"/>
            <a:ext cx="402336" cy="40995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8895318" y="2125980"/>
            <a:ext cx="2179320"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Choose the best channel</a:t>
            </a:r>
            <a:endParaRPr lang="en-US" sz="1600" dirty="0"/>
          </a:p>
        </p:txBody>
      </p:sp>
      <p:sp>
        <p:nvSpPr>
          <p:cNvPr id="23" name="Shape 21"/>
          <p:cNvSpPr/>
          <p:nvPr/>
        </p:nvSpPr>
        <p:spPr>
          <a:xfrm>
            <a:off x="1099550" y="3774440"/>
            <a:ext cx="2926080" cy="1024128"/>
          </a:xfrm>
          <a:prstGeom prst="roundRect">
            <a:avLst>
              <a:gd name="adj" fmla="val 5357"/>
            </a:avLst>
          </a:prstGeom>
          <a:solidFill>
            <a:srgbClr val="FFFFFF"/>
          </a:solidFill>
          <a:ln w="10160">
            <a:solidFill>
              <a:srgbClr val="D8E6E8"/>
            </a:solidFill>
            <a:prstDash val="solid"/>
          </a:ln>
        </p:spPr>
        <p:txBody>
          <a:bodyPr/>
          <a:lstStyle/>
          <a:p>
            <a:endParaRPr lang="en-US" sz="1600"/>
          </a:p>
        </p:txBody>
      </p:sp>
      <p:sp>
        <p:nvSpPr>
          <p:cNvPr id="24" name="Shape 22"/>
          <p:cNvSpPr/>
          <p:nvPr/>
        </p:nvSpPr>
        <p:spPr>
          <a:xfrm>
            <a:off x="1300718" y="4030472"/>
            <a:ext cx="402336" cy="402336"/>
          </a:xfrm>
          <a:prstGeom prst="ellipse">
            <a:avLst/>
          </a:prstGeom>
          <a:solidFill>
            <a:srgbClr val="2E7D5B"/>
          </a:solidFill>
          <a:ln w="12700">
            <a:solidFill>
              <a:srgbClr val="2E7D5B"/>
            </a:solidFill>
            <a:prstDash val="solid"/>
          </a:ln>
        </p:spPr>
        <p:txBody>
          <a:bodyPr/>
          <a:lstStyle/>
          <a:p>
            <a:endParaRPr lang="en-US"/>
          </a:p>
        </p:txBody>
      </p:sp>
      <p:sp>
        <p:nvSpPr>
          <p:cNvPr id="25" name="Text 23"/>
          <p:cNvSpPr/>
          <p:nvPr/>
        </p:nvSpPr>
        <p:spPr>
          <a:xfrm>
            <a:off x="130071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84935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Draft one useful message</a:t>
            </a:r>
            <a:endParaRPr lang="en-US" sz="1600" dirty="0"/>
          </a:p>
        </p:txBody>
      </p:sp>
      <p:sp>
        <p:nvSpPr>
          <p:cNvPr id="27" name="Shape 25"/>
          <p:cNvSpPr/>
          <p:nvPr/>
        </p:nvSpPr>
        <p:spPr>
          <a:xfrm>
            <a:off x="4619990" y="371856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8" name="Shape 26"/>
          <p:cNvSpPr/>
          <p:nvPr/>
        </p:nvSpPr>
        <p:spPr>
          <a:xfrm>
            <a:off x="4821158" y="4030472"/>
            <a:ext cx="402336" cy="402336"/>
          </a:xfrm>
          <a:prstGeom prst="ellipse">
            <a:avLst/>
          </a:prstGeom>
          <a:solidFill>
            <a:srgbClr val="F2B84B"/>
          </a:solidFill>
          <a:ln w="12700">
            <a:solidFill>
              <a:srgbClr val="F2B84B"/>
            </a:solidFill>
            <a:prstDash val="solid"/>
          </a:ln>
        </p:spPr>
        <p:txBody>
          <a:bodyPr/>
          <a:lstStyle/>
          <a:p>
            <a:endParaRPr lang="en-US"/>
          </a:p>
        </p:txBody>
      </p:sp>
      <p:sp>
        <p:nvSpPr>
          <p:cNvPr id="29" name="Text 27"/>
          <p:cNvSpPr/>
          <p:nvPr/>
        </p:nvSpPr>
        <p:spPr>
          <a:xfrm>
            <a:off x="4821158" y="4038092"/>
            <a:ext cx="402336" cy="394716"/>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536979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Review for accuracy and tone</a:t>
            </a:r>
            <a:endParaRPr lang="en-US" sz="1600" dirty="0"/>
          </a:p>
        </p:txBody>
      </p:sp>
      <p:sp>
        <p:nvSpPr>
          <p:cNvPr id="31" name="Shape 29"/>
          <p:cNvSpPr/>
          <p:nvPr/>
        </p:nvSpPr>
        <p:spPr>
          <a:xfrm>
            <a:off x="8145510" y="371856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32" name="Shape 30"/>
          <p:cNvSpPr/>
          <p:nvPr/>
        </p:nvSpPr>
        <p:spPr>
          <a:xfrm>
            <a:off x="8346678" y="4030472"/>
            <a:ext cx="402336" cy="402336"/>
          </a:xfrm>
          <a:prstGeom prst="ellipse">
            <a:avLst/>
          </a:prstGeom>
          <a:solidFill>
            <a:srgbClr val="16324F"/>
          </a:solidFill>
          <a:ln w="12700">
            <a:solidFill>
              <a:srgbClr val="16324F"/>
            </a:solidFill>
            <a:prstDash val="solid"/>
          </a:ln>
        </p:spPr>
        <p:txBody>
          <a:bodyPr/>
          <a:lstStyle/>
          <a:p>
            <a:endParaRPr lang="en-US"/>
          </a:p>
        </p:txBody>
      </p:sp>
      <p:sp>
        <p:nvSpPr>
          <p:cNvPr id="33" name="Text 31"/>
          <p:cNvSpPr/>
          <p:nvPr/>
        </p:nvSpPr>
        <p:spPr>
          <a:xfrm>
            <a:off x="834667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6</a:t>
            </a:r>
            <a:endParaRPr lang="en-US" sz="1200"/>
          </a:p>
        </p:txBody>
      </p:sp>
      <p:sp>
        <p:nvSpPr>
          <p:cNvPr id="34" name="Text 32"/>
          <p:cNvSpPr/>
          <p:nvPr/>
        </p:nvSpPr>
        <p:spPr>
          <a:xfrm>
            <a:off x="8895318" y="3726179"/>
            <a:ext cx="2179320"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Send and log next step</a:t>
            </a:r>
            <a:endParaRPr lang="en-US" sz="1600" dirty="0"/>
          </a:p>
        </p:txBody>
      </p:sp>
      <p:sp>
        <p:nvSpPr>
          <p:cNvPr id="35" name="Shape 3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6" name="Text 3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27/47</a:t>
            </a:r>
            <a:endParaRPr lang="en-US" sz="72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SAMPLE LEAD</a:t>
            </a:r>
            <a:endParaRPr lang="en-US" sz="1000" dirty="0"/>
          </a:p>
        </p:txBody>
      </p:sp>
      <p:sp>
        <p:nvSpPr>
          <p:cNvPr id="10" name="Text 8"/>
          <p:cNvSpPr/>
          <p:nvPr/>
        </p:nvSpPr>
        <p:spPr>
          <a:xfrm>
            <a:off x="658368" y="786384"/>
            <a:ext cx="110002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3200"/>
          </a:p>
        </p:txBody>
      </p:sp>
      <p:sp>
        <p:nvSpPr>
          <p:cNvPr id="11" name="Shape 9"/>
          <p:cNvSpPr/>
          <p:nvPr/>
        </p:nvSpPr>
        <p:spPr>
          <a:xfrm>
            <a:off x="1202785" y="1828800"/>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7105" y="2212848"/>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59985" y="2212848"/>
            <a:ext cx="2148840" cy="1051560"/>
          </a:xfrm>
          <a:prstGeom prst="rect">
            <a:avLst/>
          </a:prstGeom>
          <a:noFill/>
          <a:ln/>
        </p:spPr>
        <p:txBody>
          <a:bodyPr wrap="square" lIns="381" tIns="381" rIns="381" bIns="381" rtlCol="0" anchor="ctr">
            <a:noAutofit/>
          </a:bodyPr>
          <a:lstStyle/>
          <a:p>
            <a:pPr marL="0" indent="0">
              <a:buNone/>
            </a:pPr>
            <a:r>
              <a:rPr lang="en-US" b="1" dirty="0">
                <a:solidFill>
                  <a:srgbClr val="16324F"/>
                </a:solidFill>
              </a:rPr>
              <a:t>Lead asked: "Is the condo on Brickell still available?"</a:t>
            </a:r>
            <a:endParaRPr lang="en-US" dirty="0"/>
          </a:p>
        </p:txBody>
      </p:sp>
      <p:sp>
        <p:nvSpPr>
          <p:cNvPr id="14" name="Text 12"/>
          <p:cNvSpPr/>
          <p:nvPr/>
        </p:nvSpPr>
        <p:spPr>
          <a:xfrm>
            <a:off x="1499965" y="4133088"/>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6105" y="1828800"/>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6145" y="2212848"/>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0465" y="2212848"/>
            <a:ext cx="4892040" cy="16002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Weak: "Yes, it is available. Let me know if you want to see it."</a:t>
            </a:r>
            <a:endParaRPr lang="en-US" sz="1600" dirty="0"/>
          </a:p>
          <a:p>
            <a:pPr marL="0" indent="0">
              <a:buNone/>
            </a:pPr>
            <a:endParaRPr lang="en-US" sz="1600" dirty="0"/>
          </a:p>
          <a:p>
            <a:pPr marL="0" indent="0">
              <a:buNone/>
            </a:pPr>
            <a:r>
              <a:rPr lang="en-US" sz="1600" dirty="0">
                <a:solidFill>
                  <a:srgbClr val="102033"/>
                </a:solidFill>
              </a:rPr>
              <a:t>Better: "I can verify the latest status for you. Are you focused only on Brickell, or would similar buildings with strong amenities also be worth sending over?"</a:t>
            </a:r>
            <a:endParaRPr lang="en-US" sz="1600" dirty="0"/>
          </a:p>
        </p:txBody>
      </p:sp>
      <p:sp>
        <p:nvSpPr>
          <p:cNvPr id="18" name="Text 16"/>
          <p:cNvSpPr/>
          <p:nvPr/>
        </p:nvSpPr>
        <p:spPr>
          <a:xfrm>
            <a:off x="5226145" y="4133088"/>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28/47</a:t>
            </a:r>
            <a:endParaRPr lang="en-US" sz="72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39245" y="1977560"/>
            <a:ext cx="4206240" cy="2624327"/>
          </a:xfrm>
          <a:prstGeom prst="roundRect">
            <a:avLst>
              <a:gd name="adj" fmla="val 2034"/>
            </a:avLst>
          </a:prstGeom>
          <a:solidFill>
            <a:srgbClr val="F45B69">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Build a first-response set</a:t>
            </a:r>
            <a:endParaRPr lang="en-US" sz="3000"/>
          </a:p>
        </p:txBody>
      </p:sp>
      <p:sp>
        <p:nvSpPr>
          <p:cNvPr id="11" name="Shape 9"/>
          <p:cNvSpPr/>
          <p:nvPr/>
        </p:nvSpPr>
        <p:spPr>
          <a:xfrm>
            <a:off x="1185205" y="1710352"/>
            <a:ext cx="1572768" cy="310896"/>
          </a:xfrm>
          <a:prstGeom prst="roundRect">
            <a:avLst>
              <a:gd name="adj" fmla="val 11765"/>
            </a:avLst>
          </a:prstGeom>
          <a:solidFill>
            <a:srgbClr val="F45B69"/>
          </a:solidFill>
          <a:ln w="12700">
            <a:solidFill>
              <a:srgbClr val="F45B69"/>
            </a:solidFill>
            <a:prstDash val="solid"/>
          </a:ln>
        </p:spPr>
        <p:txBody>
          <a:bodyPr/>
          <a:lstStyle/>
          <a:p>
            <a:endParaRPr lang="en-US"/>
          </a:p>
        </p:txBody>
      </p:sp>
      <p:sp>
        <p:nvSpPr>
          <p:cNvPr id="12" name="Text 10"/>
          <p:cNvSpPr/>
          <p:nvPr/>
        </p:nvSpPr>
        <p:spPr>
          <a:xfrm>
            <a:off x="1313221" y="1710351"/>
            <a:ext cx="1298448" cy="338329"/>
          </a:xfrm>
          <a:prstGeom prst="rect">
            <a:avLst/>
          </a:prstGeom>
          <a:solidFill>
            <a:srgbClr val="F45B69"/>
          </a:solidFill>
          <a:ln>
            <a:solidFill>
              <a:srgbClr val="F45B69"/>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85205" y="1998304"/>
            <a:ext cx="5293350" cy="70696"/>
          </a:xfrm>
          <a:prstGeom prst="rect">
            <a:avLst/>
          </a:prstGeom>
          <a:solidFill>
            <a:srgbClr val="F45B69"/>
          </a:solidFill>
          <a:ln w="12700">
            <a:solidFill>
              <a:srgbClr val="F45B69"/>
            </a:solidFill>
            <a:prstDash val="solid"/>
          </a:ln>
        </p:spPr>
        <p:txBody>
          <a:bodyPr/>
          <a:lstStyle/>
          <a:p>
            <a:endParaRPr lang="en-US"/>
          </a:p>
        </p:txBody>
      </p:sp>
      <p:sp>
        <p:nvSpPr>
          <p:cNvPr id="14" name="Shape 12"/>
          <p:cNvSpPr/>
          <p:nvPr/>
        </p:nvSpPr>
        <p:spPr>
          <a:xfrm>
            <a:off x="1185205" y="2041568"/>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59525" y="2270168"/>
            <a:ext cx="4663440" cy="320040"/>
          </a:xfrm>
          <a:prstGeom prst="rect">
            <a:avLst/>
          </a:prstGeom>
          <a:noFill/>
          <a:ln/>
        </p:spPr>
        <p:txBody>
          <a:bodyPr wrap="square" lIns="0" tIns="0" rIns="0" bIns="0" rtlCol="0" anchor="ctr">
            <a:noAutofit/>
          </a:bodyPr>
          <a:lstStyle/>
          <a:p>
            <a:pPr marL="0" indent="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459525" y="2745656"/>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CRM templates repeat a saved message. AI helps adapt the message to the situation, then you review it before sending.</a:t>
            </a:r>
            <a:endParaRPr lang="en-US" dirty="0"/>
          </a:p>
        </p:txBody>
      </p:sp>
      <p:sp>
        <p:nvSpPr>
          <p:cNvPr id="17" name="Text 15"/>
          <p:cNvSpPr/>
          <p:nvPr/>
        </p:nvSpPr>
        <p:spPr>
          <a:xfrm>
            <a:off x="1459525" y="4172120"/>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63045" y="1977560"/>
            <a:ext cx="128016" cy="2624327"/>
          </a:xfrm>
          <a:prstGeom prst="rect">
            <a:avLst/>
          </a:prstGeom>
          <a:solidFill>
            <a:srgbClr val="F45B69"/>
          </a:solidFill>
          <a:ln w="12700">
            <a:solidFill>
              <a:srgbClr val="F45B69"/>
            </a:solidFill>
            <a:prstDash val="solid"/>
          </a:ln>
        </p:spPr>
        <p:txBody>
          <a:bodyPr/>
          <a:lstStyle/>
          <a:p>
            <a:endParaRPr lang="en-US"/>
          </a:p>
        </p:txBody>
      </p:sp>
      <p:sp>
        <p:nvSpPr>
          <p:cNvPr id="20" name="Text 18"/>
          <p:cNvSpPr/>
          <p:nvPr/>
        </p:nvSpPr>
        <p:spPr>
          <a:xfrm>
            <a:off x="7174525" y="2361608"/>
            <a:ext cx="3787140"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text message</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short email</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voicemail opener</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one appointment-oriented next step</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29/47</a:t>
            </a:r>
            <a:endParaRPr lang="en-US" sz="72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MEASURE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11582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386840" y="249123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8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19812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Response rate</a:t>
            </a:r>
            <a:endParaRPr lang="en-US" sz="2000" dirty="0"/>
          </a:p>
        </p:txBody>
      </p:sp>
      <p:sp>
        <p:nvSpPr>
          <p:cNvPr id="15" name="Text 13"/>
          <p:cNvSpPr/>
          <p:nvPr/>
        </p:nvSpPr>
        <p:spPr>
          <a:xfrm>
            <a:off x="19812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more leads replying?</a:t>
            </a:r>
            <a:endParaRPr lang="en-US" dirty="0"/>
          </a:p>
        </p:txBody>
      </p:sp>
      <p:sp>
        <p:nvSpPr>
          <p:cNvPr id="16" name="Shape 14"/>
          <p:cNvSpPr/>
          <p:nvPr/>
        </p:nvSpPr>
        <p:spPr>
          <a:xfrm>
            <a:off x="64160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17" name="Shape 15"/>
          <p:cNvSpPr/>
          <p:nvPr/>
        </p:nvSpPr>
        <p:spPr>
          <a:xfrm>
            <a:off x="6644640" y="249123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446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800"/>
          </a:p>
        </p:txBody>
      </p:sp>
      <p:sp>
        <p:nvSpPr>
          <p:cNvPr id="19" name="Text 17"/>
          <p:cNvSpPr/>
          <p:nvPr/>
        </p:nvSpPr>
        <p:spPr>
          <a:xfrm>
            <a:off x="72390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Contact rate</a:t>
            </a:r>
            <a:endParaRPr lang="en-US" sz="2000" dirty="0"/>
          </a:p>
        </p:txBody>
      </p:sp>
      <p:sp>
        <p:nvSpPr>
          <p:cNvPr id="20" name="Text 18"/>
          <p:cNvSpPr/>
          <p:nvPr/>
        </p:nvSpPr>
        <p:spPr>
          <a:xfrm>
            <a:off x="72390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conversations starting?</a:t>
            </a:r>
            <a:endParaRPr lang="en-US" dirty="0"/>
          </a:p>
        </p:txBody>
      </p:sp>
      <p:sp>
        <p:nvSpPr>
          <p:cNvPr id="21" name="Shape 19"/>
          <p:cNvSpPr/>
          <p:nvPr/>
        </p:nvSpPr>
        <p:spPr>
          <a:xfrm>
            <a:off x="11582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386840" y="4099052"/>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13868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19812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 rate</a:t>
            </a:r>
            <a:endParaRPr lang="en-US" sz="2000" dirty="0"/>
          </a:p>
        </p:txBody>
      </p:sp>
      <p:sp>
        <p:nvSpPr>
          <p:cNvPr id="25" name="Text 23"/>
          <p:cNvSpPr/>
          <p:nvPr/>
        </p:nvSpPr>
        <p:spPr>
          <a:xfrm>
            <a:off x="1981200" y="42976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replies becoming meetings?</a:t>
            </a:r>
            <a:endParaRPr lang="en-US" dirty="0"/>
          </a:p>
        </p:txBody>
      </p:sp>
      <p:sp>
        <p:nvSpPr>
          <p:cNvPr id="26" name="Shape 24"/>
          <p:cNvSpPr/>
          <p:nvPr/>
        </p:nvSpPr>
        <p:spPr>
          <a:xfrm>
            <a:off x="64160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27" name="Shape 25"/>
          <p:cNvSpPr/>
          <p:nvPr/>
        </p:nvSpPr>
        <p:spPr>
          <a:xfrm>
            <a:off x="6644640" y="4099052"/>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446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390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Appointments / 100 leads</a:t>
            </a:r>
            <a:endParaRPr lang="en-US" sz="2000" dirty="0"/>
          </a:p>
        </p:txBody>
      </p:sp>
      <p:sp>
        <p:nvSpPr>
          <p:cNvPr id="30" name="Text 28"/>
          <p:cNvSpPr/>
          <p:nvPr/>
        </p:nvSpPr>
        <p:spPr>
          <a:xfrm>
            <a:off x="7239000" y="4297680"/>
            <a:ext cx="3474720" cy="347472"/>
          </a:xfrm>
          <a:prstGeom prst="rect">
            <a:avLst/>
          </a:prstGeom>
          <a:noFill/>
          <a:ln/>
        </p:spPr>
        <p:txBody>
          <a:bodyPr wrap="square" lIns="0" tIns="0" rIns="0" bIns="0" rtlCol="0" anchor="ctr">
            <a:normAutofit fontScale="92500"/>
          </a:bodyPr>
          <a:lstStyle/>
          <a:p>
            <a:pPr marL="0" indent="0">
              <a:buNone/>
            </a:pPr>
            <a:r>
              <a:rPr lang="en-US" dirty="0">
                <a:solidFill>
                  <a:srgbClr val="52606D"/>
                </a:solidFill>
              </a:rPr>
              <a:t>Is the source becoming more useful?</a:t>
            </a:r>
            <a:endParaRPr lang="en-US"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30/47</a:t>
            </a:r>
            <a:endParaRPr lang="en-US" sz="72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04</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4</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Facts first. Polish second. Human review always.</a:t>
            </a:r>
            <a:endParaRPr lang="en-US"/>
          </a:p>
        </p:txBody>
      </p:sp>
      <p:sp>
        <p:nvSpPr>
          <p:cNvPr id="8" name="Shape 6"/>
          <p:cNvSpPr/>
          <p:nvPr/>
        </p:nvSpPr>
        <p:spPr>
          <a:xfrm>
            <a:off x="749808" y="3657600"/>
            <a:ext cx="1828800" cy="0"/>
          </a:xfrm>
          <a:prstGeom prst="line">
            <a:avLst/>
          </a:prstGeom>
          <a:noFill/>
          <a:ln w="50800">
            <a:solidFill>
              <a:srgbClr val="2E7D5B"/>
            </a:solidFill>
            <a:prstDash val="solid"/>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LISTING PREP</a:t>
            </a:r>
            <a:endParaRPr lang="en-US" sz="1000" dirty="0"/>
          </a:p>
        </p:txBody>
      </p:sp>
      <p:sp>
        <p:nvSpPr>
          <p:cNvPr id="10" name="Text 8"/>
          <p:cNvSpPr/>
          <p:nvPr/>
        </p:nvSpPr>
        <p:spPr>
          <a:xfrm>
            <a:off x="658368" y="786384"/>
            <a:ext cx="1094232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3200" dirty="0"/>
          </a:p>
        </p:txBody>
      </p:sp>
      <p:sp>
        <p:nvSpPr>
          <p:cNvPr id="11" name="Text 9"/>
          <p:cNvSpPr/>
          <p:nvPr/>
        </p:nvSpPr>
        <p:spPr>
          <a:xfrm>
            <a:off x="1106072" y="2080260"/>
            <a:ext cx="6400800" cy="27431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Property features and improvements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Showing feedback and buyer questions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Seller goals and timing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Factual neighborhood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Desired tone and format</a:t>
            </a:r>
            <a:endParaRPr lang="en-US" dirty="0"/>
          </a:p>
        </p:txBody>
      </p:sp>
      <p:sp>
        <p:nvSpPr>
          <p:cNvPr id="12" name="Shape 10"/>
          <p:cNvSpPr/>
          <p:nvPr/>
        </p:nvSpPr>
        <p:spPr>
          <a:xfrm>
            <a:off x="7717184" y="194310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29020" y="203454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3340" y="2354580"/>
            <a:ext cx="2606040" cy="530352"/>
          </a:xfrm>
          <a:prstGeom prst="rect">
            <a:avLst/>
          </a:prstGeom>
          <a:noFill/>
          <a:ln/>
        </p:spPr>
        <p:txBody>
          <a:bodyPr wrap="square" lIns="0" tIns="0" rIns="0" bIns="0" rtlCol="0" anchor="ctr">
            <a:normAutofit/>
          </a:bodyPr>
          <a:lstStyle/>
          <a:p>
            <a:pPr marL="0" indent="0">
              <a:buNone/>
            </a:pPr>
            <a:r>
              <a:rPr lang="en-US" sz="2000" b="1" dirty="0">
                <a:solidFill>
                  <a:srgbClr val="16324F"/>
                </a:solidFill>
              </a:rPr>
              <a:t>Facts first</a:t>
            </a:r>
            <a:endParaRPr lang="en-US" sz="2000" dirty="0"/>
          </a:p>
        </p:txBody>
      </p:sp>
      <p:sp>
        <p:nvSpPr>
          <p:cNvPr id="15" name="Text 13"/>
          <p:cNvSpPr/>
          <p:nvPr/>
        </p:nvSpPr>
        <p:spPr>
          <a:xfrm>
            <a:off x="8203340" y="2985516"/>
            <a:ext cx="2514600" cy="1124712"/>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Use verified facts and tell AI not to invent missing details.</a:t>
            </a:r>
            <a:endParaRPr lang="en-US" sz="1600" dirty="0"/>
          </a:p>
        </p:txBody>
      </p:sp>
      <p:sp>
        <p:nvSpPr>
          <p:cNvPr id="16" name="Shape 14"/>
          <p:cNvSpPr/>
          <p:nvPr/>
        </p:nvSpPr>
        <p:spPr>
          <a:xfrm>
            <a:off x="8203340" y="436626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32/47</a:t>
            </a:r>
            <a:endParaRPr lang="en-US" sz="72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LISTING COPY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a:p>
        </p:txBody>
      </p:sp>
      <p:sp>
        <p:nvSpPr>
          <p:cNvPr id="11" name="Text 9"/>
          <p:cNvSpPr/>
          <p:nvPr/>
        </p:nvSpPr>
        <p:spPr>
          <a:xfrm>
            <a:off x="868680" y="1417320"/>
            <a:ext cx="9784080" cy="356616"/>
          </a:xfrm>
          <a:prstGeom prst="rect">
            <a:avLst/>
          </a:prstGeom>
          <a:noFill/>
          <a:ln/>
        </p:spPr>
        <p:txBody>
          <a:bodyPr wrap="square" lIns="0" tIns="0" rIns="0" bIns="0" rtlCol="0" anchor="ctr">
            <a:normAutofit/>
          </a:bodyPr>
          <a:lstStyle/>
          <a:p>
            <a:pPr marL="0" indent="0">
              <a:buNone/>
            </a:pPr>
            <a:r>
              <a:rPr lang="en-US" dirty="0"/>
              <a:t>Better copy adds warmth without inventing facts.</a:t>
            </a:r>
          </a:p>
        </p:txBody>
      </p:sp>
      <p:sp>
        <p:nvSpPr>
          <p:cNvPr id="12" name="Shape 10"/>
          <p:cNvSpPr/>
          <p:nvPr/>
        </p:nvSpPr>
        <p:spPr>
          <a:xfrm>
            <a:off x="1123656" y="1947672"/>
            <a:ext cx="4663440" cy="3922776"/>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9688" y="2072640"/>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7976" y="2295144"/>
            <a:ext cx="4069080" cy="3227832"/>
          </a:xfrm>
          <a:prstGeom prst="rect">
            <a:avLst/>
          </a:prstGeom>
          <a:noFill/>
          <a:ln/>
        </p:spPr>
        <p:txBody>
          <a:bodyPr wrap="square" lIns="381" tIns="381" rIns="381" bIns="381" rtlCol="0" anchor="ctr">
            <a:noAutofit/>
          </a:bodyPr>
          <a:lstStyle/>
          <a:p>
            <a:pPr marL="0" indent="0">
              <a:buNone/>
            </a:pPr>
            <a:r>
              <a:rPr lang="en-US" sz="1400" dirty="0">
                <a:solidFill>
                  <a:srgbClr val="102033"/>
                </a:solidFill>
              </a:rPr>
              <a:t>3 bedrooms / 2 bathrooms</a:t>
            </a:r>
            <a:endParaRPr lang="en-US" sz="1400" dirty="0"/>
          </a:p>
          <a:p>
            <a:pPr marL="0" indent="0">
              <a:buNone/>
            </a:pPr>
            <a:r>
              <a:rPr lang="en-US" sz="1400" dirty="0">
                <a:solidFill>
                  <a:srgbClr val="102033"/>
                </a:solidFill>
              </a:rPr>
              <a:t>Updated kitchen</a:t>
            </a:r>
            <a:endParaRPr lang="en-US" sz="1400" dirty="0"/>
          </a:p>
          <a:p>
            <a:pPr marL="0" indent="0">
              <a:buNone/>
            </a:pPr>
            <a:r>
              <a:rPr lang="en-US" sz="1400" dirty="0">
                <a:solidFill>
                  <a:srgbClr val="102033"/>
                </a:solidFill>
              </a:rPr>
              <a:t>Covered patio</a:t>
            </a:r>
            <a:endParaRPr lang="en-US" sz="1400" dirty="0"/>
          </a:p>
          <a:p>
            <a:pPr marL="0" indent="0">
              <a:buNone/>
            </a:pPr>
            <a:r>
              <a:rPr lang="en-US" sz="1400" dirty="0">
                <a:solidFill>
                  <a:srgbClr val="102033"/>
                </a:solidFill>
              </a:rPr>
              <a:t>2-car garage</a:t>
            </a:r>
            <a:endParaRPr lang="en-US" sz="1400" dirty="0"/>
          </a:p>
          <a:p>
            <a:r>
              <a:rPr lang="en-US" sz="1400" dirty="0">
                <a:solidFill>
                  <a:srgbClr val="102033"/>
                </a:solidFill>
              </a:rPr>
              <a:t>Nearby dining, parks, and everyday amenities</a:t>
            </a:r>
            <a:br>
              <a:rPr lang="en-US" sz="1400" dirty="0">
                <a:solidFill>
                  <a:srgbClr val="102033"/>
                </a:solidFill>
              </a:rPr>
            </a:br>
            <a:br>
              <a:rPr lang="en-US" sz="1400" dirty="0">
                <a:solidFill>
                  <a:srgbClr val="102033"/>
                </a:solidFill>
              </a:rPr>
            </a:br>
            <a:r>
              <a:rPr lang="en-US" sz="1400" b="1" dirty="0">
                <a:solidFill>
                  <a:srgbClr val="102033"/>
                </a:solidFill>
              </a:rPr>
              <a:t>Basic Human Rewrite</a:t>
            </a:r>
            <a:br>
              <a:rPr lang="en-US" sz="1400" b="1" dirty="0">
                <a:solidFill>
                  <a:srgbClr val="102033"/>
                </a:solidFill>
              </a:rPr>
            </a:br>
            <a:r>
              <a:rPr lang="en-US" sz="1400" dirty="0"/>
              <a:t>This 3-bedroom, 2-bath home offers an updated kitchen, practical everyday layout, covered patio space, and a 2-car garage. The location provides convenient access to nearby dining, parks, and local amenities.</a:t>
            </a:r>
          </a:p>
        </p:txBody>
      </p:sp>
      <p:sp>
        <p:nvSpPr>
          <p:cNvPr id="15" name="Shape 13"/>
          <p:cNvSpPr/>
          <p:nvPr/>
        </p:nvSpPr>
        <p:spPr>
          <a:xfrm>
            <a:off x="6335736" y="1947671"/>
            <a:ext cx="4663440" cy="3922775"/>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03960" y="2072640"/>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03960" y="2295144"/>
            <a:ext cx="4187952" cy="3227832"/>
          </a:xfrm>
          <a:prstGeom prst="rect">
            <a:avLst/>
          </a:prstGeom>
          <a:noFill/>
          <a:ln/>
        </p:spPr>
        <p:txBody>
          <a:bodyPr wrap="square" lIns="381" tIns="381" rIns="381" bIns="381" rtlCol="0" anchor="ctr">
            <a:normAutofit/>
          </a:bodyPr>
          <a:lstStyle/>
          <a:p>
            <a:r>
              <a:rPr lang="en-US" altLang="en-US" sz="1400" dirty="0">
                <a:latin typeface="Arial" panose="020B0604020202020204" pitchFamily="34" charset="0"/>
              </a:rPr>
              <a:t>Comfort, functionality, and convenience come together in this 3-bedroom, 2-bath home. The updated kitchen provides a refreshed centerpiece for daily living, while the covered patio extends the usable space outdoors for relaxing, dining, or entertaining. A 2-car garage adds valuable parking and storage, and the home’s location keeps dining, parks, and everyday amenities within easy reach.</a:t>
            </a:r>
            <a:br>
              <a:rPr lang="en-US" altLang="en-US" sz="1500" dirty="0">
                <a:latin typeface="Arial" panose="020B0604020202020204" pitchFamily="34" charset="0"/>
              </a:rPr>
            </a:br>
            <a:endParaRPr lang="en-US" sz="1200"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33/47</a:t>
            </a:r>
            <a:endParaRPr lang="en-US" sz="7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a:effectLst/>
      </p:bgPr>
    </p:bg>
    <p:spTree>
      <p:nvGrpSpPr>
        <p:cNvPr id="1" name=""/>
        <p:cNvGrpSpPr/>
        <p:nvPr/>
      </p:nvGrpSpPr>
      <p:grpSpPr>
        <a:xfrm>
          <a:off x="0" y="0"/>
          <a:ext cx="0" cy="0"/>
          <a:chOff x="0" y="0"/>
          <a:chExt cx="0" cy="0"/>
        </a:xfrm>
      </p:grpSpPr>
      <p:cxnSp>
        <p:nvCxnSpPr>
          <p:cNvPr id="47" name="Straight Arrow Connector 46">
            <a:extLst>
              <a:ext uri="{FF2B5EF4-FFF2-40B4-BE49-F238E27FC236}">
                <a16:creationId xmlns:a16="http://schemas.microsoft.com/office/drawing/2014/main" id="{7E408AF9-5DF3-405C-4903-88BF16994689}"/>
              </a:ext>
            </a:extLst>
          </p:cNvPr>
          <p:cNvCxnSpPr/>
          <p:nvPr/>
        </p:nvCxnSpPr>
        <p:spPr>
          <a:xfrm>
            <a:off x="6233160" y="2380649"/>
            <a:ext cx="0"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SOURCE FACTS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91135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2" name="Text 10"/>
          <p:cNvSpPr/>
          <p:nvPr/>
        </p:nvSpPr>
        <p:spPr>
          <a:xfrm>
            <a:off x="1139952" y="3188247"/>
            <a:ext cx="2743200" cy="182880"/>
          </a:xfrm>
          <a:prstGeom prst="rect">
            <a:avLst/>
          </a:prstGeom>
          <a:noFill/>
          <a:ln/>
        </p:spPr>
        <p:txBody>
          <a:bodyPr wrap="square" lIns="0" tIns="0" rIns="0" bIns="0" rtlCol="0" anchor="ctr"/>
          <a:lstStyle/>
          <a:p>
            <a:r>
              <a:rPr lang="en-US" b="1" dirty="0">
                <a:solidFill>
                  <a:srgbClr val="16324F"/>
                </a:solidFill>
              </a:rPr>
              <a:t>Listing description</a:t>
            </a:r>
            <a:endParaRPr lang="en-US" dirty="0"/>
          </a:p>
        </p:txBody>
      </p:sp>
      <p:sp>
        <p:nvSpPr>
          <p:cNvPr id="13" name="Text 11"/>
          <p:cNvSpPr/>
          <p:nvPr/>
        </p:nvSpPr>
        <p:spPr>
          <a:xfrm>
            <a:off x="1139952" y="3508287"/>
            <a:ext cx="2743200" cy="182880"/>
          </a:xfrm>
          <a:prstGeom prst="rect">
            <a:avLst/>
          </a:prstGeom>
          <a:noFill/>
          <a:ln/>
        </p:spPr>
        <p:txBody>
          <a:bodyPr wrap="square" lIns="0" tIns="0" rIns="0" bIns="0" rtlCol="0" anchor="ctr"/>
          <a:lstStyle/>
          <a:p>
            <a:r>
              <a:rPr lang="en-US" sz="1400" dirty="0">
                <a:solidFill>
                  <a:srgbClr val="52606D"/>
                </a:solidFill>
              </a:rPr>
              <a:t>Polished narrative</a:t>
            </a:r>
            <a:endParaRPr lang="en-US" sz="1400" dirty="0"/>
          </a:p>
        </p:txBody>
      </p:sp>
      <p:sp>
        <p:nvSpPr>
          <p:cNvPr id="14" name="Shape 12"/>
          <p:cNvSpPr/>
          <p:nvPr/>
        </p:nvSpPr>
        <p:spPr>
          <a:xfrm>
            <a:off x="452323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4751832" y="3188247"/>
            <a:ext cx="2743200" cy="182880"/>
          </a:xfrm>
          <a:prstGeom prst="rect">
            <a:avLst/>
          </a:prstGeom>
          <a:noFill/>
          <a:ln/>
        </p:spPr>
        <p:txBody>
          <a:bodyPr wrap="square" lIns="0" tIns="0" rIns="0" bIns="0" rtlCol="0" anchor="ctr"/>
          <a:lstStyle/>
          <a:p>
            <a:r>
              <a:rPr lang="en-US" b="1" dirty="0">
                <a:solidFill>
                  <a:srgbClr val="16324F"/>
                </a:solidFill>
              </a:rPr>
              <a:t>Open house invite</a:t>
            </a:r>
            <a:endParaRPr lang="en-US" dirty="0"/>
          </a:p>
        </p:txBody>
      </p:sp>
      <p:sp>
        <p:nvSpPr>
          <p:cNvPr id="16" name="Text 14"/>
          <p:cNvSpPr/>
          <p:nvPr/>
        </p:nvSpPr>
        <p:spPr>
          <a:xfrm>
            <a:off x="4751832" y="3508287"/>
            <a:ext cx="2743200" cy="182880"/>
          </a:xfrm>
          <a:prstGeom prst="rect">
            <a:avLst/>
          </a:prstGeom>
          <a:noFill/>
          <a:ln/>
        </p:spPr>
        <p:txBody>
          <a:bodyPr wrap="square" lIns="0" tIns="0" rIns="0" bIns="0" rtlCol="0" anchor="ctr"/>
          <a:lstStyle/>
          <a:p>
            <a:r>
              <a:rPr lang="en-US" sz="1400" dirty="0">
                <a:solidFill>
                  <a:srgbClr val="52606D"/>
                </a:solidFill>
              </a:rPr>
              <a:t>Short event copy</a:t>
            </a:r>
            <a:endParaRPr lang="en-US" sz="1400" dirty="0"/>
          </a:p>
        </p:txBody>
      </p:sp>
      <p:sp>
        <p:nvSpPr>
          <p:cNvPr id="17" name="Shape 15"/>
          <p:cNvSpPr/>
          <p:nvPr/>
        </p:nvSpPr>
        <p:spPr>
          <a:xfrm>
            <a:off x="813511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8" name="Text 16"/>
          <p:cNvSpPr/>
          <p:nvPr/>
        </p:nvSpPr>
        <p:spPr>
          <a:xfrm>
            <a:off x="8363712" y="3188247"/>
            <a:ext cx="2743200" cy="182880"/>
          </a:xfrm>
          <a:prstGeom prst="rect">
            <a:avLst/>
          </a:prstGeom>
          <a:noFill/>
          <a:ln/>
        </p:spPr>
        <p:txBody>
          <a:bodyPr wrap="square" lIns="0" tIns="0" rIns="0" bIns="0" rtlCol="0" anchor="ctr"/>
          <a:lstStyle/>
          <a:p>
            <a:r>
              <a:rPr lang="en-US" b="1" dirty="0">
                <a:solidFill>
                  <a:srgbClr val="16324F"/>
                </a:solidFill>
              </a:rPr>
              <a:t>Seller update</a:t>
            </a:r>
            <a:endParaRPr lang="en-US" dirty="0"/>
          </a:p>
        </p:txBody>
      </p:sp>
      <p:sp>
        <p:nvSpPr>
          <p:cNvPr id="19" name="Text 17"/>
          <p:cNvSpPr/>
          <p:nvPr/>
        </p:nvSpPr>
        <p:spPr>
          <a:xfrm>
            <a:off x="8363712" y="3508287"/>
            <a:ext cx="2743200" cy="182880"/>
          </a:xfrm>
          <a:prstGeom prst="rect">
            <a:avLst/>
          </a:prstGeom>
          <a:noFill/>
          <a:ln/>
        </p:spPr>
        <p:txBody>
          <a:bodyPr wrap="square" lIns="0" tIns="0" rIns="0" bIns="0" rtlCol="0" anchor="ctr"/>
          <a:lstStyle/>
          <a:p>
            <a:r>
              <a:rPr lang="en-US" sz="1400" dirty="0">
                <a:solidFill>
                  <a:srgbClr val="52606D"/>
                </a:solidFill>
              </a:rPr>
              <a:t>Activity summary</a:t>
            </a:r>
            <a:endParaRPr lang="en-US" sz="1400" dirty="0"/>
          </a:p>
        </p:txBody>
      </p:sp>
      <p:sp>
        <p:nvSpPr>
          <p:cNvPr id="20" name="Shape 18"/>
          <p:cNvSpPr/>
          <p:nvPr/>
        </p:nvSpPr>
        <p:spPr>
          <a:xfrm>
            <a:off x="91135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113995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Social post</a:t>
            </a:r>
            <a:endParaRPr lang="en-US" dirty="0"/>
          </a:p>
        </p:txBody>
      </p:sp>
      <p:sp>
        <p:nvSpPr>
          <p:cNvPr id="22" name="Text 20"/>
          <p:cNvSpPr/>
          <p:nvPr/>
        </p:nvSpPr>
        <p:spPr>
          <a:xfrm>
            <a:off x="113995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Caption + hook</a:t>
            </a:r>
            <a:endParaRPr lang="en-US" sz="1400" dirty="0"/>
          </a:p>
        </p:txBody>
      </p:sp>
      <p:sp>
        <p:nvSpPr>
          <p:cNvPr id="23" name="Shape 21"/>
          <p:cNvSpPr/>
          <p:nvPr/>
        </p:nvSpPr>
        <p:spPr>
          <a:xfrm>
            <a:off x="452323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4" name="Text 22"/>
          <p:cNvSpPr/>
          <p:nvPr/>
        </p:nvSpPr>
        <p:spPr>
          <a:xfrm>
            <a:off x="475183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Video script</a:t>
            </a:r>
            <a:endParaRPr lang="en-US" dirty="0"/>
          </a:p>
        </p:txBody>
      </p:sp>
      <p:sp>
        <p:nvSpPr>
          <p:cNvPr id="25" name="Text 23"/>
          <p:cNvSpPr/>
          <p:nvPr/>
        </p:nvSpPr>
        <p:spPr>
          <a:xfrm>
            <a:off x="475183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30-second talking points</a:t>
            </a:r>
            <a:endParaRPr lang="en-US" sz="1400" dirty="0"/>
          </a:p>
        </p:txBody>
      </p:sp>
      <p:sp>
        <p:nvSpPr>
          <p:cNvPr id="26" name="Shape 24"/>
          <p:cNvSpPr/>
          <p:nvPr/>
        </p:nvSpPr>
        <p:spPr>
          <a:xfrm>
            <a:off x="813511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7" name="Text 25"/>
          <p:cNvSpPr/>
          <p:nvPr/>
        </p:nvSpPr>
        <p:spPr>
          <a:xfrm>
            <a:off x="8363712" y="4840263"/>
            <a:ext cx="2743200" cy="182880"/>
          </a:xfrm>
          <a:prstGeom prst="rect">
            <a:avLst/>
          </a:prstGeom>
          <a:noFill/>
          <a:ln/>
        </p:spPr>
        <p:txBody>
          <a:bodyPr wrap="square" lIns="0" tIns="0" rIns="0" bIns="0" rtlCol="0" anchor="ctr"/>
          <a:lstStyle/>
          <a:p>
            <a:r>
              <a:rPr lang="en-US" b="1" dirty="0">
                <a:solidFill>
                  <a:srgbClr val="16324F"/>
                </a:solidFill>
              </a:rPr>
              <a:t>Newsletter blurb</a:t>
            </a:r>
            <a:endParaRPr lang="en-US" dirty="0"/>
          </a:p>
        </p:txBody>
      </p:sp>
      <p:sp>
        <p:nvSpPr>
          <p:cNvPr id="28" name="Text 26"/>
          <p:cNvSpPr/>
          <p:nvPr/>
        </p:nvSpPr>
        <p:spPr>
          <a:xfrm>
            <a:off x="8363712" y="5160303"/>
            <a:ext cx="2743200" cy="182880"/>
          </a:xfrm>
          <a:prstGeom prst="rect">
            <a:avLst/>
          </a:prstGeom>
          <a:noFill/>
          <a:ln/>
        </p:spPr>
        <p:txBody>
          <a:bodyPr wrap="square" lIns="0" tIns="0" rIns="0" bIns="0" rtlCol="0" anchor="ctr"/>
          <a:lstStyle/>
          <a:p>
            <a:r>
              <a:rPr lang="en-US" sz="1400" dirty="0">
                <a:solidFill>
                  <a:srgbClr val="52606D"/>
                </a:solidFill>
              </a:rPr>
              <a:t>Market-facing note</a:t>
            </a:r>
            <a:endParaRPr lang="en-US" sz="1400" dirty="0"/>
          </a:p>
        </p:txBody>
      </p:sp>
      <p:sp>
        <p:nvSpPr>
          <p:cNvPr id="29" name="Shape 27"/>
          <p:cNvSpPr/>
          <p:nvPr/>
        </p:nvSpPr>
        <p:spPr>
          <a:xfrm>
            <a:off x="502920" y="658571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a:t>
            </a:r>
            <a:r>
              <a:rPr lang="en-US" sz="720" dirty="0">
                <a:solidFill>
                  <a:srgbClr val="52606D"/>
                </a:solidFill>
                <a:latin typeface="Aptos" pitchFamily="34" charset="0"/>
                <a:ea typeface="Aptos" pitchFamily="34" charset="-122"/>
                <a:cs typeface="Aptos" pitchFamily="34" charset="-120"/>
              </a:rPr>
              <a:t>| MIAMI REALTORS® + </a:t>
            </a:r>
            <a:r>
              <a:rPr lang="en-US" sz="720" dirty="0" err="1">
                <a:solidFill>
                  <a:srgbClr val="52606D"/>
                </a:solidFill>
                <a:latin typeface="Aptos" pitchFamily="34" charset="0"/>
                <a:ea typeface="Aptos" pitchFamily="34" charset="-122"/>
                <a:cs typeface="Aptos" pitchFamily="34" charset="-120"/>
              </a:rPr>
              <a:t>RWorld</a:t>
            </a:r>
            <a:r>
              <a:rPr lang="en-US" sz="720" dirty="0">
                <a:solidFill>
                  <a:srgbClr val="52606D"/>
                </a:solidFill>
                <a:latin typeface="Aptos" pitchFamily="34" charset="0"/>
                <a:ea typeface="Aptos" pitchFamily="34" charset="-122"/>
                <a:cs typeface="Aptos" pitchFamily="34" charset="-120"/>
              </a:rPr>
              <a:t>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dirty="0">
                <a:solidFill>
                  <a:srgbClr val="52606D"/>
                </a:solidFill>
                <a:latin typeface="Aptos" pitchFamily="34" charset="0"/>
                <a:ea typeface="Aptos" pitchFamily="34" charset="-122"/>
                <a:cs typeface="Aptos" pitchFamily="34" charset="-120"/>
              </a:rPr>
              <a:t>34/47</a:t>
            </a:r>
            <a:endParaRPr lang="en-US" sz="720" dirty="0"/>
          </a:p>
        </p:txBody>
      </p:sp>
      <p:sp>
        <p:nvSpPr>
          <p:cNvPr id="33" name="Shape 9">
            <a:extLst>
              <a:ext uri="{FF2B5EF4-FFF2-40B4-BE49-F238E27FC236}">
                <a16:creationId xmlns:a16="http://schemas.microsoft.com/office/drawing/2014/main" id="{077D899A-E9CF-E0FC-A721-CBEB1967505C}"/>
              </a:ext>
            </a:extLst>
          </p:cNvPr>
          <p:cNvSpPr/>
          <p:nvPr/>
        </p:nvSpPr>
        <p:spPr>
          <a:xfrm>
            <a:off x="4527920" y="1466249"/>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34" name="Text 10">
            <a:extLst>
              <a:ext uri="{FF2B5EF4-FFF2-40B4-BE49-F238E27FC236}">
                <a16:creationId xmlns:a16="http://schemas.microsoft.com/office/drawing/2014/main" id="{65F3FFAD-6D46-3219-8D94-AB3467D12EE3}"/>
              </a:ext>
            </a:extLst>
          </p:cNvPr>
          <p:cNvSpPr/>
          <p:nvPr/>
        </p:nvSpPr>
        <p:spPr>
          <a:xfrm>
            <a:off x="4756520" y="1630841"/>
            <a:ext cx="2743200" cy="182880"/>
          </a:xfrm>
          <a:prstGeom prst="rect">
            <a:avLst/>
          </a:prstGeom>
          <a:noFill/>
          <a:ln/>
        </p:spPr>
        <p:txBody>
          <a:bodyPr wrap="square" lIns="0" tIns="0" rIns="0" bIns="0" rtlCol="0" anchor="ctr"/>
          <a:lstStyle/>
          <a:p>
            <a:pPr marL="0" indent="0">
              <a:buNone/>
            </a:pPr>
            <a:r>
              <a:rPr lang="en-US" b="1" dirty="0">
                <a:solidFill>
                  <a:srgbClr val="16324F"/>
                </a:solidFill>
              </a:rPr>
              <a:t>Source facts</a:t>
            </a:r>
            <a:endParaRPr lang="en-US" dirty="0"/>
          </a:p>
        </p:txBody>
      </p:sp>
      <p:sp>
        <p:nvSpPr>
          <p:cNvPr id="35" name="Text 11">
            <a:extLst>
              <a:ext uri="{FF2B5EF4-FFF2-40B4-BE49-F238E27FC236}">
                <a16:creationId xmlns:a16="http://schemas.microsoft.com/office/drawing/2014/main" id="{185A40C5-B54E-FFB9-E274-A2439151A051}"/>
              </a:ext>
            </a:extLst>
          </p:cNvPr>
          <p:cNvSpPr/>
          <p:nvPr/>
        </p:nvSpPr>
        <p:spPr>
          <a:xfrm>
            <a:off x="4756520" y="1950881"/>
            <a:ext cx="2743200" cy="182880"/>
          </a:xfrm>
          <a:prstGeom prst="rect">
            <a:avLst/>
          </a:prstGeom>
          <a:noFill/>
          <a:ln/>
        </p:spPr>
        <p:txBody>
          <a:bodyPr wrap="square" lIns="0" tIns="0" rIns="0" bIns="0" rtlCol="0" anchor="ctr"/>
          <a:lstStyle/>
          <a:p>
            <a:pPr marL="0" indent="0">
              <a:buNone/>
            </a:pPr>
            <a:r>
              <a:rPr lang="en-US" sz="1400" dirty="0">
                <a:solidFill>
                  <a:srgbClr val="52606D"/>
                </a:solidFill>
              </a:rPr>
              <a:t>Verified details kept in the chat</a:t>
            </a:r>
            <a:endParaRPr lang="en-US" sz="1400" dirty="0"/>
          </a:p>
        </p:txBody>
      </p:sp>
      <p:cxnSp>
        <p:nvCxnSpPr>
          <p:cNvPr id="37" name="Straight Arrow Connector 36">
            <a:extLst>
              <a:ext uri="{FF2B5EF4-FFF2-40B4-BE49-F238E27FC236}">
                <a16:creationId xmlns:a16="http://schemas.microsoft.com/office/drawing/2014/main" id="{C3187A9C-0233-A07F-ECD3-2D3D867569FF}"/>
              </a:ext>
            </a:extLst>
          </p:cNvPr>
          <p:cNvCxnSpPr>
            <a:endCxn id="11" idx="0"/>
          </p:cNvCxnSpPr>
          <p:nvPr/>
        </p:nvCxnSpPr>
        <p:spPr>
          <a:xfrm flipH="1">
            <a:off x="2488692" y="2377440"/>
            <a:ext cx="2039228"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B041455-B1AB-43EA-CBD2-DA3BBE0A674D}"/>
              </a:ext>
            </a:extLst>
          </p:cNvPr>
          <p:cNvCxnSpPr/>
          <p:nvPr/>
        </p:nvCxnSpPr>
        <p:spPr>
          <a:xfrm flipH="1">
            <a:off x="3883152" y="2380649"/>
            <a:ext cx="873368"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67C82973-0A58-C5A8-E330-842C64315A93}"/>
              </a:ext>
            </a:extLst>
          </p:cNvPr>
          <p:cNvCxnSpPr>
            <a:cxnSpLocks/>
          </p:cNvCxnSpPr>
          <p:nvPr/>
        </p:nvCxnSpPr>
        <p:spPr>
          <a:xfrm flipH="1">
            <a:off x="5986859" y="2380649"/>
            <a:ext cx="4688" cy="643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1FF3A208-F802-91D9-7712-6EDA796D9793}"/>
              </a:ext>
            </a:extLst>
          </p:cNvPr>
          <p:cNvCxnSpPr>
            <a:cxnSpLocks/>
          </p:cNvCxnSpPr>
          <p:nvPr/>
        </p:nvCxnSpPr>
        <p:spPr>
          <a:xfrm>
            <a:off x="7429500" y="2377440"/>
            <a:ext cx="871220" cy="229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97C3525-00DC-E570-ABE7-24D66F0EB662}"/>
              </a:ext>
            </a:extLst>
          </p:cNvPr>
          <p:cNvCxnSpPr>
            <a:endCxn id="17" idx="0"/>
          </p:cNvCxnSpPr>
          <p:nvPr/>
        </p:nvCxnSpPr>
        <p:spPr>
          <a:xfrm>
            <a:off x="7682600" y="2377440"/>
            <a:ext cx="2029852"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68903" y="222961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1114863" y="1942719"/>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42879" y="1942718"/>
            <a:ext cx="1298448" cy="347473"/>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14863" y="2229612"/>
            <a:ext cx="5303520" cy="107971"/>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14863" y="229362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80391" y="3779520"/>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Use only verified facts. Do not invent features.</a:t>
            </a:r>
            <a:endParaRPr lang="en-US" sz="1600" dirty="0"/>
          </a:p>
        </p:txBody>
      </p:sp>
      <p:sp>
        <p:nvSpPr>
          <p:cNvPr id="16" name="Text 14"/>
          <p:cNvSpPr/>
          <p:nvPr/>
        </p:nvSpPr>
        <p:spPr>
          <a:xfrm>
            <a:off x="1389183" y="2584471"/>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Now try the same process with three high-use formats.</a:t>
            </a:r>
            <a:endParaRPr lang="en-US" dirty="0"/>
          </a:p>
        </p:txBody>
      </p:sp>
      <p:sp>
        <p:nvSpPr>
          <p:cNvPr id="17" name="Text 15"/>
          <p:cNvSpPr/>
          <p:nvPr/>
        </p:nvSpPr>
        <p:spPr>
          <a:xfrm>
            <a:off x="1389183" y="442417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92703" y="2229612"/>
            <a:ext cx="128016" cy="2624328"/>
          </a:xfrm>
          <a:prstGeom prst="rect">
            <a:avLst/>
          </a:prstGeom>
          <a:solidFill>
            <a:srgbClr val="2E7D5B"/>
          </a:solidFill>
          <a:ln w="12700">
            <a:solidFill>
              <a:srgbClr val="2E7D5B"/>
            </a:solidFill>
            <a:prstDash val="solid"/>
          </a:ln>
        </p:spPr>
        <p:txBody>
          <a:bodyPr/>
          <a:lstStyle/>
          <a:p>
            <a:endParaRPr lang="en-US"/>
          </a:p>
        </p:txBody>
      </p:sp>
      <p:sp>
        <p:nvSpPr>
          <p:cNvPr id="20" name="Text 18"/>
          <p:cNvSpPr/>
          <p:nvPr/>
        </p:nvSpPr>
        <p:spPr>
          <a:xfrm>
            <a:off x="7104183" y="2720340"/>
            <a:ext cx="3520440" cy="1676400"/>
          </a:xfrm>
          <a:prstGeom prst="rect">
            <a:avLst/>
          </a:prstGeom>
          <a:noFill/>
          <a:ln/>
        </p:spPr>
        <p:txBody>
          <a:bodyPr wrap="square" lIns="254" tIns="254" rIns="254" bIns="254" rtlCol="0" anchor="t">
            <a:normAutofit/>
          </a:bodyPr>
          <a:lstStyle/>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One listing paragraph</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35-word social caption</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open house invite</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35/47</a:t>
            </a:r>
            <a:endParaRPr lang="en-US" sz="72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APPOINTMENT PREP</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1070902" y="2038248"/>
            <a:ext cx="6400800" cy="2788921"/>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Build buyer consultation and listing appointment agendas.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Create discovery questions from client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Practice common objections before the live conversation.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Explain market conditions in plain language, with verified facts.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follow-up after the appointment.</a:t>
            </a:r>
            <a:endParaRPr lang="en-US" dirty="0"/>
          </a:p>
        </p:txBody>
      </p:sp>
      <p:sp>
        <p:nvSpPr>
          <p:cNvPr id="12" name="Shape 10"/>
          <p:cNvSpPr/>
          <p:nvPr/>
        </p:nvSpPr>
        <p:spPr>
          <a:xfrm>
            <a:off x="7682014" y="1946808"/>
            <a:ext cx="91440" cy="2971800"/>
          </a:xfrm>
          <a:prstGeom prst="rect">
            <a:avLst/>
          </a:prstGeom>
          <a:solidFill>
            <a:srgbClr val="008F8F"/>
          </a:solidFill>
          <a:ln w="12700">
            <a:solidFill>
              <a:srgbClr val="008F8F"/>
            </a:solidFill>
            <a:prstDash val="solid"/>
          </a:ln>
        </p:spPr>
        <p:txBody>
          <a:bodyPr/>
          <a:lstStyle/>
          <a:p>
            <a:endParaRPr lang="en-US"/>
          </a:p>
        </p:txBody>
      </p:sp>
      <p:sp>
        <p:nvSpPr>
          <p:cNvPr id="13" name="Shape 11"/>
          <p:cNvSpPr/>
          <p:nvPr/>
        </p:nvSpPr>
        <p:spPr>
          <a:xfrm>
            <a:off x="7901470" y="2038248"/>
            <a:ext cx="3246120" cy="2788920"/>
          </a:xfrm>
          <a:prstGeom prst="roundRect">
            <a:avLst>
              <a:gd name="adj" fmla="val 1967"/>
            </a:avLst>
          </a:prstGeom>
          <a:solidFill>
            <a:srgbClr val="EAF7F7"/>
          </a:solidFill>
          <a:ln w="10160">
            <a:solidFill>
              <a:srgbClr val="BFDADC"/>
            </a:solidFill>
            <a:prstDash val="solid"/>
          </a:ln>
        </p:spPr>
        <p:txBody>
          <a:bodyPr/>
          <a:lstStyle/>
          <a:p>
            <a:endParaRPr lang="en-US"/>
          </a:p>
        </p:txBody>
      </p:sp>
      <p:sp>
        <p:nvSpPr>
          <p:cNvPr id="14" name="Text 12"/>
          <p:cNvSpPr/>
          <p:nvPr/>
        </p:nvSpPr>
        <p:spPr>
          <a:xfrm>
            <a:off x="8175790" y="2358288"/>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Practice before pressure</a:t>
            </a:r>
            <a:endParaRPr lang="en-US"/>
          </a:p>
        </p:txBody>
      </p:sp>
      <p:sp>
        <p:nvSpPr>
          <p:cNvPr id="15" name="Text 13"/>
          <p:cNvSpPr/>
          <p:nvPr/>
        </p:nvSpPr>
        <p:spPr>
          <a:xfrm>
            <a:off x="8175790" y="3153816"/>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Role-play makes client conversations clearer and less reactive.</a:t>
            </a:r>
            <a:endParaRPr lang="en-US" sz="1600" dirty="0"/>
          </a:p>
        </p:txBody>
      </p:sp>
      <p:sp>
        <p:nvSpPr>
          <p:cNvPr id="16" name="Shape 14"/>
          <p:cNvSpPr/>
          <p:nvPr/>
        </p:nvSpPr>
        <p:spPr>
          <a:xfrm>
            <a:off x="8175790" y="4369968"/>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36/47</a:t>
            </a:r>
            <a:endParaRPr lang="en-US" sz="72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Seller wants to overprice</a:t>
            </a:r>
            <a:endParaRPr lang="en-US" sz="3000"/>
          </a:p>
        </p:txBody>
      </p:sp>
      <p:sp>
        <p:nvSpPr>
          <p:cNvPr id="11" name="Shape 9"/>
          <p:cNvSpPr/>
          <p:nvPr/>
        </p:nvSpPr>
        <p:spPr>
          <a:xfrm>
            <a:off x="1178169"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49"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29" y="2212848"/>
            <a:ext cx="8549640" cy="1417320"/>
          </a:xfrm>
          <a:prstGeom prst="rect">
            <a:avLst/>
          </a:prstGeom>
          <a:noFill/>
          <a:ln/>
        </p:spPr>
        <p:txBody>
          <a:bodyPr wrap="square" lIns="381" tIns="381" rIns="381" bIns="381" rtlCol="0" anchor="ctr">
            <a:normAutofit/>
          </a:bodyPr>
          <a:lstStyle/>
          <a:p>
            <a:pPr marL="0" indent="0">
              <a:buNone/>
            </a:pPr>
            <a:r>
              <a:rPr lang="en-US" sz="200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2000" dirty="0"/>
          </a:p>
        </p:txBody>
      </p:sp>
      <p:sp>
        <p:nvSpPr>
          <p:cNvPr id="14" name="Text 12"/>
          <p:cNvSpPr/>
          <p:nvPr/>
        </p:nvSpPr>
        <p:spPr>
          <a:xfrm>
            <a:off x="1772529"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37/47</a:t>
            </a:r>
            <a:endParaRPr lang="en-US" sz="72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1178171"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51"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31" y="2212848"/>
            <a:ext cx="8549640" cy="1417320"/>
          </a:xfrm>
          <a:prstGeom prst="rect">
            <a:avLst/>
          </a:prstGeom>
          <a:noFill/>
          <a:ln/>
        </p:spPr>
        <p:txBody>
          <a:bodyPr wrap="square" lIns="381" tIns="381" rIns="381" bIns="381" rtlCol="0" anchor="ctr">
            <a:normAutofit/>
          </a:bodyPr>
          <a:lstStyle/>
          <a:p>
            <a:r>
              <a:rPr lang="en-US" sz="2000" i="1" dirty="0">
                <a:solidFill>
                  <a:srgbClr val="102033"/>
                </a:solidFill>
              </a:rPr>
              <a:t>“Act as a cautious buyer who wants to wait for rates to drop. Help me respond in a way that is educational, not pushy. Challenge any claims that sound too certain. Help me practice the conversation without making predictions or giving financial advice."</a:t>
            </a:r>
            <a:endParaRPr lang="en-US" sz="2000" dirty="0"/>
          </a:p>
        </p:txBody>
      </p:sp>
      <p:sp>
        <p:nvSpPr>
          <p:cNvPr id="14" name="Text 12"/>
          <p:cNvSpPr/>
          <p:nvPr/>
        </p:nvSpPr>
        <p:spPr>
          <a:xfrm>
            <a:off x="1772531"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38/47</a:t>
            </a:r>
            <a:endParaRPr lang="en-US" sz="72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815211" y="235153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1164981" y="2062734"/>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92997" y="2062734"/>
            <a:ext cx="1298448" cy="292608"/>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65859" y="2351532"/>
            <a:ext cx="5298831" cy="109728"/>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61171" y="241554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64156" y="3436292"/>
            <a:ext cx="4953000" cy="320040"/>
          </a:xfrm>
          <a:prstGeom prst="rect">
            <a:avLst/>
          </a:prstGeom>
          <a:noFill/>
          <a:ln/>
        </p:spPr>
        <p:txBody>
          <a:bodyPr wrap="square" lIns="0" tIns="0" rIns="0" bIns="0" rtlCol="0" anchor="ctr">
            <a:normAutofit/>
          </a:bodyPr>
          <a:lstStyle/>
          <a:p>
            <a:pPr marL="0" indent="0">
              <a:buNone/>
            </a:pPr>
            <a:r>
              <a:rPr lang="en-US" dirty="0">
                <a:solidFill>
                  <a:srgbClr val="52606D"/>
                </a:solidFill>
              </a:rPr>
              <a:t>Choose buyer consultation or listing appointment.</a:t>
            </a:r>
            <a:endParaRPr lang="en-US" dirty="0"/>
          </a:p>
        </p:txBody>
      </p:sp>
      <p:sp>
        <p:nvSpPr>
          <p:cNvPr id="16" name="Text 14"/>
          <p:cNvSpPr/>
          <p:nvPr/>
        </p:nvSpPr>
        <p:spPr>
          <a:xfrm>
            <a:off x="1435491" y="454609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39011" y="2351532"/>
            <a:ext cx="128016" cy="2624328"/>
          </a:xfrm>
          <a:prstGeom prst="rect">
            <a:avLst/>
          </a:prstGeom>
          <a:solidFill>
            <a:srgbClr val="2E7D5B"/>
          </a:solidFill>
          <a:ln w="12700">
            <a:solidFill>
              <a:srgbClr val="2E7D5B"/>
            </a:solidFill>
            <a:prstDash val="solid"/>
          </a:ln>
        </p:spPr>
        <p:txBody>
          <a:bodyPr/>
          <a:lstStyle/>
          <a:p>
            <a:endParaRPr lang="en-US"/>
          </a:p>
        </p:txBody>
      </p:sp>
      <p:sp>
        <p:nvSpPr>
          <p:cNvPr id="19" name="Text 17"/>
          <p:cNvSpPr/>
          <p:nvPr/>
        </p:nvSpPr>
        <p:spPr>
          <a:xfrm>
            <a:off x="7150491" y="2761488"/>
            <a:ext cx="3520440" cy="1757172"/>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5-part agenda</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5 discovery questions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3 likely objections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follow-up email template</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39/47</a:t>
            </a:r>
            <a:endParaRPr lang="en-US" sz="72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05</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5</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Attach AI to the day, not to a vague intention.</a:t>
            </a:r>
            <a:endParaRPr lang="en-US" dirty="0"/>
          </a:p>
        </p:txBody>
      </p:sp>
      <p:sp>
        <p:nvSpPr>
          <p:cNvPr id="8" name="Shape 6"/>
          <p:cNvSpPr/>
          <p:nvPr/>
        </p:nvSpPr>
        <p:spPr>
          <a:xfrm>
            <a:off x="749808" y="3657600"/>
            <a:ext cx="1828800" cy="0"/>
          </a:xfrm>
          <a:prstGeom prst="line">
            <a:avLst/>
          </a:prstGeom>
          <a:noFill/>
          <a:ln w="50800">
            <a:solidFill>
              <a:srgbClr val="F2B84B"/>
            </a:solidFill>
            <a:prstDash val="solid"/>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DAILY RHYTHM</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1115110" y="2244494"/>
            <a:ext cx="2148840" cy="2377440"/>
          </a:xfrm>
          <a:prstGeom prst="roundRect">
            <a:avLst>
              <a:gd name="adj" fmla="val 2553"/>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43710" y="2518814"/>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4371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34371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Morning</a:t>
            </a:r>
            <a:endParaRPr lang="en-US" dirty="0"/>
          </a:p>
        </p:txBody>
      </p:sp>
      <p:sp>
        <p:nvSpPr>
          <p:cNvPr id="15" name="Text 13"/>
          <p:cNvSpPr/>
          <p:nvPr/>
        </p:nvSpPr>
        <p:spPr>
          <a:xfrm>
            <a:off x="134371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Prioritize tasks and prepare calls</a:t>
            </a:r>
            <a:endParaRPr lang="en-US" sz="1400" dirty="0"/>
          </a:p>
        </p:txBody>
      </p:sp>
      <p:sp>
        <p:nvSpPr>
          <p:cNvPr id="16" name="Shape 14"/>
          <p:cNvSpPr/>
          <p:nvPr/>
        </p:nvSpPr>
        <p:spPr>
          <a:xfrm>
            <a:off x="372115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3949750" y="2518814"/>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394975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9" name="Text 17"/>
          <p:cNvSpPr/>
          <p:nvPr/>
        </p:nvSpPr>
        <p:spPr>
          <a:xfrm>
            <a:off x="394975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Midday</a:t>
            </a:r>
            <a:endParaRPr lang="en-US" dirty="0"/>
          </a:p>
        </p:txBody>
      </p:sp>
      <p:sp>
        <p:nvSpPr>
          <p:cNvPr id="20" name="Text 18"/>
          <p:cNvSpPr/>
          <p:nvPr/>
        </p:nvSpPr>
        <p:spPr>
          <a:xfrm>
            <a:off x="394975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Draft follow-up and client updates</a:t>
            </a:r>
            <a:endParaRPr lang="en-US" sz="1400" dirty="0"/>
          </a:p>
        </p:txBody>
      </p:sp>
      <p:sp>
        <p:nvSpPr>
          <p:cNvPr id="21" name="Shape 19"/>
          <p:cNvSpPr/>
          <p:nvPr/>
        </p:nvSpPr>
        <p:spPr>
          <a:xfrm>
            <a:off x="6327190" y="2244494"/>
            <a:ext cx="2148840" cy="2377440"/>
          </a:xfrm>
          <a:prstGeom prst="roundRect">
            <a:avLst>
              <a:gd name="adj" fmla="val 2553"/>
            </a:avLst>
          </a:prstGeom>
          <a:solidFill>
            <a:srgbClr val="F45B69">
              <a:alpha val="18000"/>
            </a:srgbClr>
          </a:solidFill>
          <a:ln w="10160">
            <a:solidFill>
              <a:srgbClr val="F45B69">
                <a:alpha val="25000"/>
              </a:srgbClr>
            </a:solidFill>
            <a:prstDash val="solid"/>
          </a:ln>
        </p:spPr>
        <p:txBody>
          <a:bodyPr/>
          <a:lstStyle/>
          <a:p>
            <a:endParaRPr lang="en-US"/>
          </a:p>
        </p:txBody>
      </p:sp>
      <p:sp>
        <p:nvSpPr>
          <p:cNvPr id="22" name="Shape 20"/>
          <p:cNvSpPr/>
          <p:nvPr/>
        </p:nvSpPr>
        <p:spPr>
          <a:xfrm>
            <a:off x="6555790" y="2518814"/>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655579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4" name="Text 22"/>
          <p:cNvSpPr/>
          <p:nvPr/>
        </p:nvSpPr>
        <p:spPr>
          <a:xfrm>
            <a:off x="655579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Afternoon</a:t>
            </a:r>
            <a:endParaRPr lang="en-US" dirty="0"/>
          </a:p>
        </p:txBody>
      </p:sp>
      <p:sp>
        <p:nvSpPr>
          <p:cNvPr id="25" name="Text 23"/>
          <p:cNvSpPr/>
          <p:nvPr/>
        </p:nvSpPr>
        <p:spPr>
          <a:xfrm>
            <a:off x="655579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Create listing/content drafts</a:t>
            </a:r>
            <a:endParaRPr lang="en-US" sz="1400" dirty="0"/>
          </a:p>
        </p:txBody>
      </p:sp>
      <p:sp>
        <p:nvSpPr>
          <p:cNvPr id="26" name="Shape 24"/>
          <p:cNvSpPr/>
          <p:nvPr/>
        </p:nvSpPr>
        <p:spPr>
          <a:xfrm>
            <a:off x="893323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9161830" y="251881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916183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9" name="Text 27"/>
          <p:cNvSpPr/>
          <p:nvPr/>
        </p:nvSpPr>
        <p:spPr>
          <a:xfrm>
            <a:off x="916183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End of day</a:t>
            </a:r>
            <a:endParaRPr lang="en-US" dirty="0"/>
          </a:p>
        </p:txBody>
      </p:sp>
      <p:sp>
        <p:nvSpPr>
          <p:cNvPr id="30" name="Text 28"/>
          <p:cNvSpPr/>
          <p:nvPr/>
        </p:nvSpPr>
        <p:spPr>
          <a:xfrm>
            <a:off x="916183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Summarize notes and next steps</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41/47</a:t>
            </a:r>
            <a:endParaRPr lang="en-US" sz="72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GUARDRAILS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1114865" y="1606890"/>
            <a:ext cx="6400800"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Protect private client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Do not paste confidential data without authorization and safeguards.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all output before use.</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Follow brokerage policies, MLS rules, and advertising requirements.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discriminatory targeting or language.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Use AI to support professional judgment, not replace it.</a:t>
            </a:r>
            <a:endParaRPr lang="en-US" dirty="0"/>
          </a:p>
        </p:txBody>
      </p:sp>
      <p:sp>
        <p:nvSpPr>
          <p:cNvPr id="12" name="Shape 10"/>
          <p:cNvSpPr/>
          <p:nvPr/>
        </p:nvSpPr>
        <p:spPr>
          <a:xfrm>
            <a:off x="7725977" y="1949232"/>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30193" y="2040672"/>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4513" y="2360712"/>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Review before use</a:t>
            </a:r>
            <a:endParaRPr lang="en-US" dirty="0"/>
          </a:p>
        </p:txBody>
      </p:sp>
      <p:sp>
        <p:nvSpPr>
          <p:cNvPr id="15" name="Text 13"/>
          <p:cNvSpPr/>
          <p:nvPr/>
        </p:nvSpPr>
        <p:spPr>
          <a:xfrm>
            <a:off x="8204513" y="3156240"/>
            <a:ext cx="2660904"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Private data, brokerage policy, MLS rules, advertising, and Fair Housing still apply.</a:t>
            </a:r>
            <a:endParaRPr lang="en-US" sz="1600" dirty="0"/>
          </a:p>
        </p:txBody>
      </p:sp>
      <p:sp>
        <p:nvSpPr>
          <p:cNvPr id="16" name="Shape 14"/>
          <p:cNvSpPr/>
          <p:nvPr/>
        </p:nvSpPr>
        <p:spPr>
          <a:xfrm>
            <a:off x="8204513" y="437239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42/47</a:t>
            </a:r>
            <a:endParaRPr lang="en-US" sz="72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BROKERAGE + MLS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1303177" y="211381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2" name="Text 10"/>
          <p:cNvSpPr/>
          <p:nvPr/>
        </p:nvSpPr>
        <p:spPr>
          <a:xfrm>
            <a:off x="1559209" y="2225362"/>
            <a:ext cx="3931920" cy="292608"/>
          </a:xfrm>
          <a:prstGeom prst="rect">
            <a:avLst/>
          </a:prstGeom>
          <a:noFill/>
          <a:ln/>
        </p:spPr>
        <p:txBody>
          <a:bodyPr wrap="square" lIns="0" tIns="0" rIns="0" bIns="0" rtlCol="0" anchor="ctr">
            <a:normAutofit/>
          </a:bodyPr>
          <a:lstStyle/>
          <a:p>
            <a:pPr marL="0" indent="0">
              <a:buNone/>
            </a:pPr>
            <a:r>
              <a:rPr lang="en-US" sz="1600" b="1">
                <a:solidFill>
                  <a:srgbClr val="008F8F"/>
                </a:solidFill>
              </a:rPr>
              <a:t>Private data</a:t>
            </a:r>
            <a:endParaRPr lang="en-US" sz="1600"/>
          </a:p>
        </p:txBody>
      </p:sp>
      <p:sp>
        <p:nvSpPr>
          <p:cNvPr id="13" name="Text 11"/>
          <p:cNvSpPr/>
          <p:nvPr/>
        </p:nvSpPr>
        <p:spPr>
          <a:xfrm>
            <a:off x="155920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Remove names, contact info, financial details, and sensitive context before using public tools.</a:t>
            </a:r>
            <a:endParaRPr lang="en-US" sz="1400" dirty="0"/>
          </a:p>
        </p:txBody>
      </p:sp>
      <p:sp>
        <p:nvSpPr>
          <p:cNvPr id="14" name="Shape 12"/>
          <p:cNvSpPr/>
          <p:nvPr/>
        </p:nvSpPr>
        <p:spPr>
          <a:xfrm>
            <a:off x="6378097" y="211381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6634129" y="2225362"/>
            <a:ext cx="3931920" cy="292608"/>
          </a:xfrm>
          <a:prstGeom prst="rect">
            <a:avLst/>
          </a:prstGeom>
          <a:noFill/>
          <a:ln/>
        </p:spPr>
        <p:txBody>
          <a:bodyPr wrap="square" lIns="0" tIns="0" rIns="0" bIns="0" rtlCol="0" anchor="ctr">
            <a:normAutofit/>
          </a:bodyPr>
          <a:lstStyle/>
          <a:p>
            <a:pPr marL="0" indent="0">
              <a:buNone/>
            </a:pPr>
            <a:r>
              <a:rPr lang="en-US" sz="1600" b="1" dirty="0">
                <a:solidFill>
                  <a:srgbClr val="008F8F"/>
                </a:solidFill>
              </a:rPr>
              <a:t>Advertising</a:t>
            </a:r>
            <a:endParaRPr lang="en-US" sz="1600" dirty="0"/>
          </a:p>
        </p:txBody>
      </p:sp>
      <p:sp>
        <p:nvSpPr>
          <p:cNvPr id="16" name="Text 14"/>
          <p:cNvSpPr/>
          <p:nvPr/>
        </p:nvSpPr>
        <p:spPr>
          <a:xfrm>
            <a:off x="663412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Review claims, disclosures, brokerage rules, and platform requirements.</a:t>
            </a:r>
            <a:endParaRPr lang="en-US" sz="1400" dirty="0"/>
          </a:p>
        </p:txBody>
      </p:sp>
      <p:sp>
        <p:nvSpPr>
          <p:cNvPr id="17" name="Shape 15"/>
          <p:cNvSpPr/>
          <p:nvPr/>
        </p:nvSpPr>
        <p:spPr>
          <a:xfrm>
            <a:off x="1303177" y="373865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8" name="Text 16"/>
          <p:cNvSpPr/>
          <p:nvPr/>
        </p:nvSpPr>
        <p:spPr>
          <a:xfrm>
            <a:off x="155920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MLS</a:t>
            </a:r>
            <a:endParaRPr lang="en-US" sz="1600" dirty="0"/>
          </a:p>
        </p:txBody>
      </p:sp>
      <p:sp>
        <p:nvSpPr>
          <p:cNvPr id="19" name="Text 17"/>
          <p:cNvSpPr/>
          <p:nvPr/>
        </p:nvSpPr>
        <p:spPr>
          <a:xfrm>
            <a:off x="155920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Follow MLS rules for listing data, remarks, photos, and public display.</a:t>
            </a:r>
            <a:endParaRPr lang="en-US" sz="1400" dirty="0"/>
          </a:p>
        </p:txBody>
      </p:sp>
      <p:sp>
        <p:nvSpPr>
          <p:cNvPr id="20" name="Shape 18"/>
          <p:cNvSpPr/>
          <p:nvPr/>
        </p:nvSpPr>
        <p:spPr>
          <a:xfrm>
            <a:off x="6378097" y="373865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663412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Consumer communication</a:t>
            </a:r>
            <a:endParaRPr lang="en-US" sz="1600" dirty="0"/>
          </a:p>
        </p:txBody>
      </p:sp>
      <p:sp>
        <p:nvSpPr>
          <p:cNvPr id="22" name="Text 20"/>
          <p:cNvSpPr/>
          <p:nvPr/>
        </p:nvSpPr>
        <p:spPr>
          <a:xfrm>
            <a:off x="663412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Keep records, respect opt-outs, and do not automate beyond policy.</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43/47</a:t>
            </a:r>
            <a:endParaRPr lang="en-US" sz="72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99091" y="2298192"/>
            <a:ext cx="4206240" cy="2624328"/>
          </a:xfrm>
          <a:prstGeom prst="roundRect">
            <a:avLst>
              <a:gd name="adj" fmla="val 2034"/>
            </a:avLst>
          </a:prstGeom>
          <a:solidFill>
            <a:srgbClr val="F2B84B">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1140606" y="2018284"/>
            <a:ext cx="1572768" cy="310896"/>
          </a:xfrm>
          <a:prstGeom prst="roundRect">
            <a:avLst>
              <a:gd name="adj" fmla="val 11765"/>
            </a:avLst>
          </a:prstGeom>
          <a:solidFill>
            <a:srgbClr val="F2B84B"/>
          </a:solidFill>
          <a:ln w="12700">
            <a:solidFill>
              <a:srgbClr val="F2B84B"/>
            </a:solidFill>
            <a:prstDash val="solid"/>
          </a:ln>
        </p:spPr>
        <p:txBody>
          <a:bodyPr/>
          <a:lstStyle/>
          <a:p>
            <a:endParaRPr lang="en-US"/>
          </a:p>
        </p:txBody>
      </p:sp>
      <p:sp>
        <p:nvSpPr>
          <p:cNvPr id="12" name="Text 10"/>
          <p:cNvSpPr/>
          <p:nvPr/>
        </p:nvSpPr>
        <p:spPr>
          <a:xfrm>
            <a:off x="1268622" y="2018283"/>
            <a:ext cx="1298448" cy="356617"/>
          </a:xfrm>
          <a:prstGeom prst="rect">
            <a:avLst/>
          </a:prstGeom>
          <a:solidFill>
            <a:srgbClr val="F2B84B"/>
          </a:solidFill>
          <a:ln>
            <a:solidFill>
              <a:srgbClr val="F2B84B"/>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41241" y="2298192"/>
            <a:ext cx="5303520" cy="109728"/>
          </a:xfrm>
          <a:prstGeom prst="rect">
            <a:avLst/>
          </a:prstGeom>
          <a:solidFill>
            <a:srgbClr val="F2B84B"/>
          </a:solidFill>
          <a:ln w="12700">
            <a:solidFill>
              <a:srgbClr val="F2B84B"/>
            </a:solidFill>
            <a:prstDash val="solid"/>
          </a:ln>
        </p:spPr>
        <p:txBody>
          <a:bodyPr/>
          <a:lstStyle/>
          <a:p>
            <a:endParaRPr lang="en-US"/>
          </a:p>
        </p:txBody>
      </p:sp>
      <p:sp>
        <p:nvSpPr>
          <p:cNvPr id="14" name="Shape 12"/>
          <p:cNvSpPr/>
          <p:nvPr/>
        </p:nvSpPr>
        <p:spPr>
          <a:xfrm>
            <a:off x="1141241" y="23622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22046" y="3304160"/>
            <a:ext cx="4905602" cy="511936"/>
          </a:xfrm>
          <a:prstGeom prst="rect">
            <a:avLst/>
          </a:prstGeom>
          <a:noFill/>
          <a:ln/>
        </p:spPr>
        <p:txBody>
          <a:bodyPr wrap="square" lIns="0" tIns="0" rIns="0" bIns="0" rtlCol="0" anchor="ctr">
            <a:normAutofit/>
          </a:bodyPr>
          <a:lstStyle/>
          <a:p>
            <a:pPr marL="0" indent="0">
              <a:buNone/>
            </a:pPr>
            <a:r>
              <a:rPr lang="en-US" sz="2400" dirty="0">
                <a:solidFill>
                  <a:srgbClr val="52606D"/>
                </a:solidFill>
              </a:rPr>
              <a:t>Pick one task in each part of the day.</a:t>
            </a:r>
            <a:endParaRPr lang="en-US" sz="2400" dirty="0"/>
          </a:p>
        </p:txBody>
      </p:sp>
      <p:sp>
        <p:nvSpPr>
          <p:cNvPr id="16" name="Text 14"/>
          <p:cNvSpPr/>
          <p:nvPr/>
        </p:nvSpPr>
        <p:spPr>
          <a:xfrm>
            <a:off x="1415561" y="44927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19081" y="2298192"/>
            <a:ext cx="128016" cy="2624328"/>
          </a:xfrm>
          <a:prstGeom prst="rect">
            <a:avLst/>
          </a:prstGeom>
          <a:solidFill>
            <a:srgbClr val="F2B84B"/>
          </a:solidFill>
          <a:ln w="12700">
            <a:solidFill>
              <a:srgbClr val="F2B84B"/>
            </a:solidFill>
            <a:prstDash val="solid"/>
          </a:ln>
        </p:spPr>
        <p:txBody>
          <a:bodyPr/>
          <a:lstStyle/>
          <a:p>
            <a:endParaRPr lang="en-US"/>
          </a:p>
        </p:txBody>
      </p:sp>
      <p:sp>
        <p:nvSpPr>
          <p:cNvPr id="19" name="Text 17"/>
          <p:cNvSpPr/>
          <p:nvPr/>
        </p:nvSpPr>
        <p:spPr>
          <a:xfrm>
            <a:off x="7130560" y="2636520"/>
            <a:ext cx="3874851"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ea typeface="Aptos" pitchFamily="34" charset="-122"/>
                <a:cs typeface="Aptos" pitchFamily="34" charset="-120"/>
              </a:rPr>
              <a:t>Morning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Midday follow-up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Afternoon marketing/client update task</a:t>
            </a:r>
            <a:endParaRPr lang="en-US" sz="1600" dirty="0"/>
          </a:p>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End-of-day CRM or notes task</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44/47</a:t>
            </a:r>
            <a:endParaRPr lang="en-US" sz="72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STARTER LIBRARY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1141240" y="1789408"/>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12" name="Shape 10"/>
          <p:cNvSpPr/>
          <p:nvPr/>
        </p:nvSpPr>
        <p:spPr>
          <a:xfrm>
            <a:off x="1351552" y="1848439"/>
            <a:ext cx="402336" cy="402336"/>
          </a:xfrm>
          <a:prstGeom prst="ellipse">
            <a:avLst/>
          </a:prstGeom>
          <a:solidFill>
            <a:srgbClr val="008F8F"/>
          </a:solidFill>
          <a:ln w="12700">
            <a:solidFill>
              <a:srgbClr val="008F8F"/>
            </a:solidFill>
            <a:prstDash val="solid"/>
          </a:ln>
        </p:spPr>
        <p:txBody>
          <a:bodyPr/>
          <a:lstStyle/>
          <a:p>
            <a:endParaRPr lang="en-US" sz="1200"/>
          </a:p>
        </p:txBody>
      </p:sp>
      <p:sp>
        <p:nvSpPr>
          <p:cNvPr id="13" name="Text 11"/>
          <p:cNvSpPr/>
          <p:nvPr/>
        </p:nvSpPr>
        <p:spPr>
          <a:xfrm>
            <a:off x="1351552" y="1848439"/>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900192" y="1803124"/>
            <a:ext cx="8549640" cy="516636"/>
          </a:xfrm>
          <a:prstGeom prst="rect">
            <a:avLst/>
          </a:prstGeom>
          <a:noFill/>
          <a:ln/>
        </p:spPr>
        <p:txBody>
          <a:bodyPr wrap="square" lIns="254" tIns="254" rIns="254" bIns="254" rtlCol="0" anchor="ctr">
            <a:noAutofit/>
          </a:bodyPr>
          <a:lstStyle/>
          <a:p>
            <a:pPr marL="0" indent="0">
              <a:buNone/>
            </a:pPr>
            <a:r>
              <a:rPr lang="en-US">
                <a:solidFill>
                  <a:srgbClr val="102033"/>
                </a:solidFill>
              </a:rPr>
              <a:t>Draft a client message from these notes: [notes]. Make it concise, warm, and specific.</a:t>
            </a:r>
            <a:endParaRPr lang="en-US"/>
          </a:p>
        </p:txBody>
      </p:sp>
      <p:sp>
        <p:nvSpPr>
          <p:cNvPr id="15" name="Shape 13"/>
          <p:cNvSpPr/>
          <p:nvPr/>
        </p:nvSpPr>
        <p:spPr>
          <a:xfrm>
            <a:off x="1141240" y="2466064"/>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16" name="Shape 14"/>
          <p:cNvSpPr/>
          <p:nvPr/>
        </p:nvSpPr>
        <p:spPr>
          <a:xfrm>
            <a:off x="1351552" y="2528905"/>
            <a:ext cx="402336" cy="402336"/>
          </a:xfrm>
          <a:prstGeom prst="ellipse">
            <a:avLst/>
          </a:prstGeom>
          <a:solidFill>
            <a:srgbClr val="2F80ED"/>
          </a:solidFill>
          <a:ln w="12700">
            <a:solidFill>
              <a:srgbClr val="2F80ED"/>
            </a:solidFill>
            <a:prstDash val="solid"/>
          </a:ln>
        </p:spPr>
        <p:txBody>
          <a:bodyPr/>
          <a:lstStyle/>
          <a:p>
            <a:endParaRPr lang="en-US" sz="1200"/>
          </a:p>
        </p:txBody>
      </p:sp>
      <p:sp>
        <p:nvSpPr>
          <p:cNvPr id="17" name="Text 15"/>
          <p:cNvSpPr/>
          <p:nvPr/>
        </p:nvSpPr>
        <p:spPr>
          <a:xfrm>
            <a:off x="1351552" y="2520926"/>
            <a:ext cx="402336" cy="410315"/>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00192" y="2466064"/>
            <a:ext cx="8549640" cy="530351"/>
          </a:xfrm>
          <a:prstGeom prst="rect">
            <a:avLst/>
          </a:prstGeom>
          <a:noFill/>
          <a:ln/>
        </p:spPr>
        <p:txBody>
          <a:bodyPr wrap="square" lIns="254" tIns="254" rIns="254" bIns="254" rtlCol="0" anchor="ctr">
            <a:noAutofit/>
          </a:bodyPr>
          <a:lstStyle/>
          <a:p>
            <a:pPr marL="0" indent="0">
              <a:buNone/>
            </a:pPr>
            <a:r>
              <a:rPr lang="en-US">
                <a:solidFill>
                  <a:srgbClr val="102033"/>
                </a:solidFill>
              </a:rPr>
              <a:t>Create three versions of this follow-up: text, email, and voicemail.</a:t>
            </a:r>
            <a:endParaRPr lang="en-US"/>
          </a:p>
        </p:txBody>
      </p:sp>
      <p:sp>
        <p:nvSpPr>
          <p:cNvPr id="19" name="Shape 17"/>
          <p:cNvSpPr/>
          <p:nvPr/>
        </p:nvSpPr>
        <p:spPr>
          <a:xfrm>
            <a:off x="1141240" y="3142720"/>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0" name="Shape 18"/>
          <p:cNvSpPr/>
          <p:nvPr/>
        </p:nvSpPr>
        <p:spPr>
          <a:xfrm>
            <a:off x="1351552" y="3205561"/>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1" name="Text 19"/>
          <p:cNvSpPr/>
          <p:nvPr/>
        </p:nvSpPr>
        <p:spPr>
          <a:xfrm>
            <a:off x="1351552" y="319758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00192" y="3142720"/>
            <a:ext cx="8549640" cy="538330"/>
          </a:xfrm>
          <a:prstGeom prst="rect">
            <a:avLst/>
          </a:prstGeom>
          <a:noFill/>
          <a:ln/>
        </p:spPr>
        <p:txBody>
          <a:bodyPr wrap="square" lIns="254" tIns="254" rIns="254" bIns="254" rtlCol="0" anchor="ctr">
            <a:normAutofit/>
          </a:bodyPr>
          <a:lstStyle/>
          <a:p>
            <a:pPr marL="0" indent="0">
              <a:buNone/>
            </a:pPr>
            <a:r>
              <a:rPr lang="en-US">
                <a:solidFill>
                  <a:srgbClr val="102033"/>
                </a:solidFill>
              </a:rPr>
              <a:t>Review this message for accuracy, Fair Housing risk, and claims I should verify.</a:t>
            </a:r>
            <a:endParaRPr lang="en-US"/>
          </a:p>
        </p:txBody>
      </p:sp>
      <p:sp>
        <p:nvSpPr>
          <p:cNvPr id="23" name="Shape 21"/>
          <p:cNvSpPr/>
          <p:nvPr/>
        </p:nvSpPr>
        <p:spPr>
          <a:xfrm>
            <a:off x="1141240" y="3819376"/>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24" name="Shape 22"/>
          <p:cNvSpPr/>
          <p:nvPr/>
        </p:nvSpPr>
        <p:spPr>
          <a:xfrm>
            <a:off x="1351552" y="3882217"/>
            <a:ext cx="402336" cy="402336"/>
          </a:xfrm>
          <a:prstGeom prst="ellipse">
            <a:avLst/>
          </a:prstGeom>
          <a:solidFill>
            <a:srgbClr val="2E7D5B"/>
          </a:solidFill>
          <a:ln w="12700">
            <a:solidFill>
              <a:srgbClr val="2E7D5B"/>
            </a:solidFill>
            <a:prstDash val="solid"/>
          </a:ln>
        </p:spPr>
        <p:txBody>
          <a:bodyPr/>
          <a:lstStyle/>
          <a:p>
            <a:endParaRPr lang="en-US" sz="1200"/>
          </a:p>
        </p:txBody>
      </p:sp>
      <p:sp>
        <p:nvSpPr>
          <p:cNvPr id="25" name="Text 23"/>
          <p:cNvSpPr/>
          <p:nvPr/>
        </p:nvSpPr>
        <p:spPr>
          <a:xfrm>
            <a:off x="1351552" y="3882216"/>
            <a:ext cx="402336" cy="402335"/>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900192" y="3819376"/>
            <a:ext cx="9070848" cy="522375"/>
          </a:xfrm>
          <a:prstGeom prst="rect">
            <a:avLst/>
          </a:prstGeom>
          <a:noFill/>
          <a:ln/>
        </p:spPr>
        <p:txBody>
          <a:bodyPr wrap="square" lIns="254" tIns="254" rIns="254" bIns="254" rtlCol="0" anchor="ctr">
            <a:noAutofit/>
          </a:bodyPr>
          <a:lstStyle/>
          <a:p>
            <a:pPr marL="0" indent="0">
              <a:buNone/>
            </a:pPr>
            <a:r>
              <a:rPr lang="en-US">
                <a:solidFill>
                  <a:srgbClr val="102033"/>
                </a:solidFill>
              </a:rPr>
              <a:t>Turn these verified listing facts into a listing paragraph, social caption, and open house invite.</a:t>
            </a:r>
            <a:endParaRPr lang="en-US"/>
          </a:p>
        </p:txBody>
      </p:sp>
      <p:sp>
        <p:nvSpPr>
          <p:cNvPr id="27" name="Shape 25"/>
          <p:cNvSpPr/>
          <p:nvPr/>
        </p:nvSpPr>
        <p:spPr>
          <a:xfrm>
            <a:off x="1141240" y="4496032"/>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8" name="Shape 26"/>
          <p:cNvSpPr/>
          <p:nvPr/>
        </p:nvSpPr>
        <p:spPr>
          <a:xfrm>
            <a:off x="1351552" y="4558873"/>
            <a:ext cx="402336" cy="402336"/>
          </a:xfrm>
          <a:prstGeom prst="ellipse">
            <a:avLst/>
          </a:prstGeom>
          <a:solidFill>
            <a:srgbClr val="F2B84B"/>
          </a:solidFill>
          <a:ln w="12700">
            <a:solidFill>
              <a:srgbClr val="F2B84B"/>
            </a:solidFill>
            <a:prstDash val="solid"/>
          </a:ln>
        </p:spPr>
        <p:txBody>
          <a:bodyPr/>
          <a:lstStyle/>
          <a:p>
            <a:endParaRPr lang="en-US" sz="1200"/>
          </a:p>
        </p:txBody>
      </p:sp>
      <p:sp>
        <p:nvSpPr>
          <p:cNvPr id="29" name="Text 27"/>
          <p:cNvSpPr/>
          <p:nvPr/>
        </p:nvSpPr>
        <p:spPr>
          <a:xfrm>
            <a:off x="1351552" y="455887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1900192" y="4488054"/>
            <a:ext cx="8549640" cy="530351"/>
          </a:xfrm>
          <a:prstGeom prst="rect">
            <a:avLst/>
          </a:prstGeom>
          <a:noFill/>
          <a:ln/>
        </p:spPr>
        <p:txBody>
          <a:bodyPr wrap="square" lIns="254" tIns="254" rIns="254" bIns="254" rtlCol="0" anchor="ctr">
            <a:normAutofit/>
          </a:bodyPr>
          <a:lstStyle/>
          <a:p>
            <a:pPr marL="0" indent="0">
              <a:buNone/>
            </a:pPr>
            <a:r>
              <a:rPr lang="en-US">
                <a:solidFill>
                  <a:srgbClr val="102033"/>
                </a:solidFill>
              </a:rPr>
              <a:t>Role-play as [buyer/seller type] and help me practice responding professionally.</a:t>
            </a:r>
            <a:endParaRPr lang="en-US"/>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45/47</a:t>
            </a:r>
            <a:endParaRPr lang="en-US" sz="72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a:effectLst/>
      </p:bgPr>
    </p:bg>
    <p:spTree>
      <p:nvGrpSpPr>
        <p:cNvPr id="1" name=""/>
        <p:cNvGrpSpPr/>
        <p:nvPr/>
      </p:nvGrpSpPr>
      <p:grpSpPr>
        <a:xfrm>
          <a:off x="0" y="0"/>
          <a:ext cx="0" cy="0"/>
          <a:chOff x="0" y="0"/>
          <a:chExt cx="0" cy="0"/>
        </a:xfrm>
      </p:grpSpPr>
      <p:pic>
        <p:nvPicPr>
          <p:cNvPr id="46" name="Graphic 45" descr="Document outline">
            <a:extLst>
              <a:ext uri="{FF2B5EF4-FFF2-40B4-BE49-F238E27FC236}">
                <a16:creationId xmlns:a16="http://schemas.microsoft.com/office/drawing/2014/main" id="{9B235865-0EC8-E342-0FD3-97C297A8FA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98864" y="3127203"/>
            <a:ext cx="594722" cy="594722"/>
          </a:xfrm>
          <a:prstGeom prst="rect">
            <a:avLst/>
          </a:prstGeom>
        </p:spPr>
      </p:pic>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SAVE CONTEXT</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12" name="Text 10"/>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3" name="Shape 11"/>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14" name="Text 12"/>
          <p:cNvSpPr/>
          <p:nvPr/>
        </p:nvSpPr>
        <p:spPr>
          <a:xfrm>
            <a:off x="1314201" y="385354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Save the best prompt</a:t>
            </a:r>
            <a:endParaRPr lang="en-US" sz="1600" dirty="0"/>
          </a:p>
        </p:txBody>
      </p:sp>
      <p:sp>
        <p:nvSpPr>
          <p:cNvPr id="15" name="Shape 13"/>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16" name="Text 14"/>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17" name="Shape 15"/>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18" name="Text 16"/>
          <p:cNvSpPr/>
          <p:nvPr/>
        </p:nvSpPr>
        <p:spPr>
          <a:xfrm>
            <a:off x="3220720" y="38586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verified fact block</a:t>
            </a:r>
            <a:endParaRPr lang="en-US" sz="1600" dirty="0"/>
          </a:p>
        </p:txBody>
      </p:sp>
      <p:sp>
        <p:nvSpPr>
          <p:cNvPr id="19" name="Shape 17"/>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20" name="Text 18"/>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1" name="Shape 19"/>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22" name="Text 20"/>
          <p:cNvSpPr/>
          <p:nvPr/>
        </p:nvSpPr>
        <p:spPr>
          <a:xfrm>
            <a:off x="5239522" y="38840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final reviewed version</a:t>
            </a:r>
            <a:endParaRPr lang="en-US" sz="1600" dirty="0"/>
          </a:p>
        </p:txBody>
      </p:sp>
      <p:sp>
        <p:nvSpPr>
          <p:cNvPr id="23" name="Shape 21"/>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24" name="Text 22"/>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25" name="Shape 23"/>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26" name="Text 24"/>
          <p:cNvSpPr/>
          <p:nvPr/>
        </p:nvSpPr>
        <p:spPr>
          <a:xfrm>
            <a:off x="7425441" y="386878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Note what worked</a:t>
            </a:r>
            <a:endParaRPr lang="en-US" sz="1600" dirty="0"/>
          </a:p>
        </p:txBody>
      </p:sp>
      <p:sp>
        <p:nvSpPr>
          <p:cNvPr id="27" name="Shape 25"/>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28" name="Text 26"/>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29" name="Text 27"/>
          <p:cNvSpPr/>
          <p:nvPr/>
        </p:nvSpPr>
        <p:spPr>
          <a:xfrm>
            <a:off x="9331960" y="3884022"/>
            <a:ext cx="1750568"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Reuse as a template next time</a:t>
            </a:r>
            <a:endParaRPr lang="en-US" sz="1600" dirty="0"/>
          </a:p>
        </p:txBody>
      </p:sp>
      <p:sp>
        <p:nvSpPr>
          <p:cNvPr id="30" name="Shape 2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1" name="Text 2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46/47</a:t>
            </a:r>
            <a:endParaRPr lang="en-US" sz="720"/>
          </a:p>
        </p:txBody>
      </p:sp>
      <p:pic>
        <p:nvPicPr>
          <p:cNvPr id="36" name="Graphic 35" descr="Shield Tick with solid fill">
            <a:extLst>
              <a:ext uri="{FF2B5EF4-FFF2-40B4-BE49-F238E27FC236}">
                <a16:creationId xmlns:a16="http://schemas.microsoft.com/office/drawing/2014/main" id="{A37B9EDA-A8B5-539E-3E21-77F66C9E3D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82900" y="3111501"/>
            <a:ext cx="594722" cy="594722"/>
          </a:xfrm>
          <a:prstGeom prst="rect">
            <a:avLst/>
          </a:prstGeom>
        </p:spPr>
      </p:pic>
      <p:pic>
        <p:nvPicPr>
          <p:cNvPr id="38" name="Graphic 37" descr="Document outline">
            <a:extLst>
              <a:ext uri="{FF2B5EF4-FFF2-40B4-BE49-F238E27FC236}">
                <a16:creationId xmlns:a16="http://schemas.microsoft.com/office/drawing/2014/main" id="{0CD67CA6-170D-5EF6-7758-B6772524BB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08448" y="3116916"/>
            <a:ext cx="594722" cy="594722"/>
          </a:xfrm>
          <a:prstGeom prst="rect">
            <a:avLst/>
          </a:prstGeom>
        </p:spPr>
      </p:pic>
      <p:sp>
        <p:nvSpPr>
          <p:cNvPr id="45" name="Pentagon 44">
            <a:extLst>
              <a:ext uri="{FF2B5EF4-FFF2-40B4-BE49-F238E27FC236}">
                <a16:creationId xmlns:a16="http://schemas.microsoft.com/office/drawing/2014/main" id="{AD9F78F7-8408-4852-6D95-BD017B1E852F}"/>
              </a:ext>
            </a:extLst>
          </p:cNvPr>
          <p:cNvSpPr/>
          <p:nvPr/>
        </p:nvSpPr>
        <p:spPr>
          <a:xfrm>
            <a:off x="2010889" y="3398520"/>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Graphic 39" descr="Star outline">
            <a:extLst>
              <a:ext uri="{FF2B5EF4-FFF2-40B4-BE49-F238E27FC236}">
                <a16:creationId xmlns:a16="http://schemas.microsoft.com/office/drawing/2014/main" id="{FCE693AE-0EB3-424D-9326-AAB4481FBA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5164" y="3431539"/>
            <a:ext cx="234741" cy="234741"/>
          </a:xfrm>
          <a:prstGeom prst="rect">
            <a:avLst/>
          </a:prstGeom>
        </p:spPr>
      </p:pic>
      <p:sp>
        <p:nvSpPr>
          <p:cNvPr id="47" name="Pentagon 46">
            <a:extLst>
              <a:ext uri="{FF2B5EF4-FFF2-40B4-BE49-F238E27FC236}">
                <a16:creationId xmlns:a16="http://schemas.microsoft.com/office/drawing/2014/main" id="{CAC2E022-8F0E-A1A3-BA33-018CE4F17A39}"/>
              </a:ext>
            </a:extLst>
          </p:cNvPr>
          <p:cNvSpPr/>
          <p:nvPr/>
        </p:nvSpPr>
        <p:spPr>
          <a:xfrm>
            <a:off x="6101305" y="3408807"/>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Badge Tick1 with solid fill">
            <a:extLst>
              <a:ext uri="{FF2B5EF4-FFF2-40B4-BE49-F238E27FC236}">
                <a16:creationId xmlns:a16="http://schemas.microsoft.com/office/drawing/2014/main" id="{6964E52C-12CD-5821-CF7A-0466B22710C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18949" y="3444757"/>
            <a:ext cx="234742" cy="234742"/>
          </a:xfrm>
          <a:prstGeom prst="rect">
            <a:avLst/>
          </a:prstGeom>
        </p:spPr>
      </p:pic>
      <p:pic>
        <p:nvPicPr>
          <p:cNvPr id="52" name="Graphic 51" descr="Clipboard outline">
            <a:extLst>
              <a:ext uri="{FF2B5EF4-FFF2-40B4-BE49-F238E27FC236}">
                <a16:creationId xmlns:a16="http://schemas.microsoft.com/office/drawing/2014/main" id="{A8E0AA20-572A-7C4E-222A-1ABB088EB3C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28509" y="3132156"/>
            <a:ext cx="578745" cy="578745"/>
          </a:xfrm>
          <a:prstGeom prst="rect">
            <a:avLst/>
          </a:prstGeom>
        </p:spPr>
      </p:pic>
      <p:pic>
        <p:nvPicPr>
          <p:cNvPr id="54" name="Graphic 53" descr="Arrow circle outline">
            <a:extLst>
              <a:ext uri="{FF2B5EF4-FFF2-40B4-BE49-F238E27FC236}">
                <a16:creationId xmlns:a16="http://schemas.microsoft.com/office/drawing/2014/main" id="{D2588B03-D00B-8A28-DB47-A37A468045A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799158" y="3048509"/>
            <a:ext cx="778251" cy="778251"/>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a:effectLst/>
      </p:bgPr>
    </p:bg>
    <p:spTree>
      <p:nvGrpSpPr>
        <p:cNvPr id="1" name=""/>
        <p:cNvGrpSpPr/>
        <p:nvPr/>
      </p:nvGrpSpPr>
      <p:grpSpPr>
        <a:xfrm>
          <a:off x="0" y="0"/>
          <a:ext cx="0" cy="0"/>
          <a:chOff x="0" y="0"/>
          <a:chExt cx="0" cy="0"/>
        </a:xfrm>
      </p:grpSpPr>
      <p:pic>
        <p:nvPicPr>
          <p:cNvPr id="70" name="Graphic 69" descr="Users outline">
            <a:extLst>
              <a:ext uri="{FF2B5EF4-FFF2-40B4-BE49-F238E27FC236}">
                <a16:creationId xmlns:a16="http://schemas.microsoft.com/office/drawing/2014/main" id="{5E38CFC5-2611-B38F-820C-4C9DF706DB6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67748" y="3100748"/>
            <a:ext cx="623379" cy="623379"/>
          </a:xfrm>
          <a:prstGeom prst="rect">
            <a:avLst/>
          </a:prstGeom>
        </p:spPr>
      </p:pic>
      <p:pic>
        <p:nvPicPr>
          <p:cNvPr id="66" name="Graphic 65" descr="Bullseye outline">
            <a:extLst>
              <a:ext uri="{FF2B5EF4-FFF2-40B4-BE49-F238E27FC236}">
                <a16:creationId xmlns:a16="http://schemas.microsoft.com/office/drawing/2014/main" id="{EADABA51-5FC4-3928-D140-CDA5BCA8A9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95829" y="3111501"/>
            <a:ext cx="623379" cy="623379"/>
          </a:xfrm>
          <a:prstGeom prst="rect">
            <a:avLst/>
          </a:prstGeom>
        </p:spPr>
      </p:pic>
      <p:sp>
        <p:nvSpPr>
          <p:cNvPr id="53" name="Text 24">
            <a:extLst>
              <a:ext uri="{FF2B5EF4-FFF2-40B4-BE49-F238E27FC236}">
                <a16:creationId xmlns:a16="http://schemas.microsoft.com/office/drawing/2014/main" id="{1671685A-C764-DD5B-B208-466D156D0C53}"/>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Save what worked</a:t>
            </a:r>
            <a:endParaRPr lang="en-US" sz="1600" dirty="0"/>
          </a:p>
        </p:txBody>
      </p:sp>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FINAL ACTION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 + contact</a:t>
            </a:r>
            <a:endParaRPr lang="en-US" sz="3000" dirty="0"/>
          </a:p>
        </p:txBody>
      </p:sp>
      <p:sp>
        <p:nvSpPr>
          <p:cNvPr id="30" name="Shape 28"/>
          <p:cNvSpPr/>
          <p:nvPr/>
        </p:nvSpPr>
        <p:spPr>
          <a:xfrm>
            <a:off x="1182243" y="5090160"/>
            <a:ext cx="9829800" cy="1024128"/>
          </a:xfrm>
          <a:prstGeom prst="roundRect">
            <a:avLst>
              <a:gd name="adj" fmla="val 5357"/>
            </a:avLst>
          </a:prstGeom>
          <a:solidFill>
            <a:srgbClr val="FFFFFF"/>
          </a:solidFill>
          <a:ln w="10160">
            <a:solidFill>
              <a:srgbClr val="C9DFE5"/>
            </a:solidFill>
            <a:prstDash val="solid"/>
          </a:ln>
        </p:spPr>
        <p:txBody>
          <a:bodyPr/>
          <a:lstStyle/>
          <a:p>
            <a:endParaRPr lang="en-US"/>
          </a:p>
        </p:txBody>
      </p:sp>
      <p:sp>
        <p:nvSpPr>
          <p:cNvPr id="31" name="Text 29"/>
          <p:cNvSpPr/>
          <p:nvPr/>
        </p:nvSpPr>
        <p:spPr>
          <a:xfrm>
            <a:off x="1456563" y="5300472"/>
            <a:ext cx="3246120" cy="182880"/>
          </a:xfrm>
          <a:prstGeom prst="rect">
            <a:avLst/>
          </a:prstGeom>
          <a:noFill/>
          <a:ln/>
        </p:spPr>
        <p:txBody>
          <a:bodyPr wrap="square" lIns="0" tIns="0" rIns="0" bIns="0" rtlCol="0" anchor="ctr"/>
          <a:lstStyle/>
          <a:p>
            <a:pPr marL="0" indent="0">
              <a:buNone/>
            </a:pPr>
            <a:r>
              <a:rPr lang="en-US" sz="1180" b="1" dirty="0">
                <a:solidFill>
                  <a:srgbClr val="16324F"/>
                </a:solidFill>
              </a:rPr>
              <a:t>Presented by Ian Burton Price</a:t>
            </a:r>
            <a:endParaRPr lang="en-US" sz="1180" dirty="0"/>
          </a:p>
        </p:txBody>
      </p:sp>
      <p:sp>
        <p:nvSpPr>
          <p:cNvPr id="32" name="Text 30"/>
          <p:cNvSpPr/>
          <p:nvPr/>
        </p:nvSpPr>
        <p:spPr>
          <a:xfrm>
            <a:off x="1456563" y="5574792"/>
            <a:ext cx="4206240" cy="329184"/>
          </a:xfrm>
          <a:prstGeom prst="rect">
            <a:avLst/>
          </a:prstGeom>
          <a:noFill/>
          <a:ln/>
        </p:spPr>
        <p:txBody>
          <a:bodyPr wrap="square" lIns="0" tIns="0" rIns="0" bIns="0" rtlCol="0" anchor="ctr">
            <a:normAutofit/>
          </a:bodyPr>
          <a:lstStyle/>
          <a:p>
            <a:pPr marL="0" indent="0">
              <a:buNone/>
            </a:pPr>
            <a:r>
              <a:rPr lang="en-US" sz="980">
                <a:solidFill>
                  <a:srgbClr val="52606D"/>
                </a:solidFill>
              </a:rPr>
              <a:t>REALTOR® | Dalton Wade Real Estate Group</a:t>
            </a:r>
            <a:endParaRPr lang="en-US" sz="980" dirty="0"/>
          </a:p>
          <a:p>
            <a:pPr marL="0" indent="0">
              <a:buNone/>
            </a:pPr>
            <a:r>
              <a:rPr lang="en-US" sz="980" dirty="0">
                <a:solidFill>
                  <a:srgbClr val="52606D"/>
                </a:solidFill>
              </a:rPr>
              <a:t>V.P. of Growth and Partnerships | GoHouse.ai</a:t>
            </a:r>
            <a:endParaRPr lang="en-US" sz="980" dirty="0"/>
          </a:p>
        </p:txBody>
      </p:sp>
      <p:pic>
        <p:nvPicPr>
          <p:cNvPr id="33" name="Image 0" descr="C:\Users\TR4_1950X\Documents\New project\assets\brand\gohouse-logo-w-text-large-transparent.png"/>
          <p:cNvPicPr>
            <a:picLocks noChangeAspect="1"/>
          </p:cNvPicPr>
          <p:nvPr/>
        </p:nvPicPr>
        <p:blipFill>
          <a:blip r:embed="rId5"/>
          <a:stretch>
            <a:fillRect/>
          </a:stretch>
        </p:blipFill>
        <p:spPr>
          <a:xfrm>
            <a:off x="8250555" y="5410200"/>
            <a:ext cx="1965960" cy="393192"/>
          </a:xfrm>
          <a:prstGeom prst="rect">
            <a:avLst/>
          </a:prstGeom>
        </p:spPr>
      </p:pic>
      <p:sp>
        <p:nvSpPr>
          <p:cNvPr id="34" name="Shape 3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5" name="Text 3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6" name="Text 3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47/47</a:t>
            </a:r>
            <a:endParaRPr lang="en-US" sz="720"/>
          </a:p>
        </p:txBody>
      </p:sp>
      <p:sp>
        <p:nvSpPr>
          <p:cNvPr id="38" name="Shape 9">
            <a:extLst>
              <a:ext uri="{FF2B5EF4-FFF2-40B4-BE49-F238E27FC236}">
                <a16:creationId xmlns:a16="http://schemas.microsoft.com/office/drawing/2014/main" id="{7BC8DF3F-A63F-F1D6-E6AB-025C5682DE75}"/>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39" name="Text 10">
            <a:extLst>
              <a:ext uri="{FF2B5EF4-FFF2-40B4-BE49-F238E27FC236}">
                <a16:creationId xmlns:a16="http://schemas.microsoft.com/office/drawing/2014/main" id="{879D7FE8-20D1-EB67-7B79-A1BBFF1B7756}"/>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40" name="Shape 11">
            <a:extLst>
              <a:ext uri="{FF2B5EF4-FFF2-40B4-BE49-F238E27FC236}">
                <a16:creationId xmlns:a16="http://schemas.microsoft.com/office/drawing/2014/main" id="{2B942183-0F46-A7F9-03E5-AB87947E6C0C}"/>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41" name="Text 12">
            <a:extLst>
              <a:ext uri="{FF2B5EF4-FFF2-40B4-BE49-F238E27FC236}">
                <a16:creationId xmlns:a16="http://schemas.microsoft.com/office/drawing/2014/main" id="{86BB6B95-7220-1188-CD48-96590D9EC97B}"/>
              </a:ext>
            </a:extLst>
          </p:cNvPr>
          <p:cNvSpPr/>
          <p:nvPr/>
        </p:nvSpPr>
        <p:spPr>
          <a:xfrm>
            <a:off x="1314201" y="385354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Choose one workflow</a:t>
            </a:r>
            <a:endParaRPr lang="en-US" sz="1600" dirty="0"/>
          </a:p>
        </p:txBody>
      </p:sp>
      <p:sp>
        <p:nvSpPr>
          <p:cNvPr id="42" name="Shape 13">
            <a:extLst>
              <a:ext uri="{FF2B5EF4-FFF2-40B4-BE49-F238E27FC236}">
                <a16:creationId xmlns:a16="http://schemas.microsoft.com/office/drawing/2014/main" id="{CD26EF73-B58D-6435-3617-65BAD6F095CA}"/>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43" name="Text 14">
            <a:extLst>
              <a:ext uri="{FF2B5EF4-FFF2-40B4-BE49-F238E27FC236}">
                <a16:creationId xmlns:a16="http://schemas.microsoft.com/office/drawing/2014/main" id="{9F19A20B-6A7C-C7FF-DE37-98C9ED41D59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44" name="Shape 15">
            <a:extLst>
              <a:ext uri="{FF2B5EF4-FFF2-40B4-BE49-F238E27FC236}">
                <a16:creationId xmlns:a16="http://schemas.microsoft.com/office/drawing/2014/main" id="{48347CB6-36EF-3C6B-5C1D-BCD11E9CC6E0}"/>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45" name="Text 16">
            <a:extLst>
              <a:ext uri="{FF2B5EF4-FFF2-40B4-BE49-F238E27FC236}">
                <a16:creationId xmlns:a16="http://schemas.microsoft.com/office/drawing/2014/main" id="{317E5AD8-D204-DD6B-2AF2-010D7D435890}"/>
              </a:ext>
            </a:extLst>
          </p:cNvPr>
          <p:cNvSpPr/>
          <p:nvPr/>
        </p:nvSpPr>
        <p:spPr>
          <a:xfrm>
            <a:off x="3241040" y="3858622"/>
            <a:ext cx="1727200" cy="640080"/>
          </a:xfrm>
          <a:prstGeom prst="rect">
            <a:avLst/>
          </a:prstGeom>
          <a:noFill/>
          <a:ln/>
        </p:spPr>
        <p:txBody>
          <a:bodyPr wrap="square" lIns="0" tIns="0" rIns="0" bIns="0" rtlCol="0" anchor="ctr">
            <a:noAutofit/>
          </a:bodyPr>
          <a:lstStyle/>
          <a:p>
            <a:pPr algn="ctr"/>
            <a:r>
              <a:rPr lang="en-US" sz="1600" b="1" dirty="0">
                <a:solidFill>
                  <a:srgbClr val="102033"/>
                </a:solidFill>
              </a:rPr>
              <a:t>Write one reusable prompt</a:t>
            </a:r>
            <a:endParaRPr lang="en-US" sz="1600" dirty="0"/>
          </a:p>
        </p:txBody>
      </p:sp>
      <p:sp>
        <p:nvSpPr>
          <p:cNvPr id="46" name="Shape 17">
            <a:extLst>
              <a:ext uri="{FF2B5EF4-FFF2-40B4-BE49-F238E27FC236}">
                <a16:creationId xmlns:a16="http://schemas.microsoft.com/office/drawing/2014/main" id="{4B7189B6-1C55-5C05-D600-B5F1914A3973}"/>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47" name="Text 18">
            <a:extLst>
              <a:ext uri="{FF2B5EF4-FFF2-40B4-BE49-F238E27FC236}">
                <a16:creationId xmlns:a16="http://schemas.microsoft.com/office/drawing/2014/main" id="{E65A8906-C4FD-8235-9EDF-977045AFF358}"/>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48" name="Shape 19">
            <a:extLst>
              <a:ext uri="{FF2B5EF4-FFF2-40B4-BE49-F238E27FC236}">
                <a16:creationId xmlns:a16="http://schemas.microsoft.com/office/drawing/2014/main" id="{577642D2-5D7B-DE45-0DC4-BBC7B2CB130D}"/>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49" name="Text 20">
            <a:extLst>
              <a:ext uri="{FF2B5EF4-FFF2-40B4-BE49-F238E27FC236}">
                <a16:creationId xmlns:a16="http://schemas.microsoft.com/office/drawing/2014/main" id="{31C0B51B-BADD-6F2F-860A-2D496F4B872B}"/>
              </a:ext>
            </a:extLst>
          </p:cNvPr>
          <p:cNvSpPr/>
          <p:nvPr/>
        </p:nvSpPr>
        <p:spPr>
          <a:xfrm>
            <a:off x="5390901" y="3884022"/>
            <a:ext cx="1417320" cy="640080"/>
          </a:xfrm>
          <a:prstGeom prst="rect">
            <a:avLst/>
          </a:prstGeom>
          <a:noFill/>
          <a:ln/>
        </p:spPr>
        <p:txBody>
          <a:bodyPr wrap="square" lIns="0" tIns="0" rIns="0" bIns="0" rtlCol="0" anchor="ctr">
            <a:noAutofit/>
          </a:bodyPr>
          <a:lstStyle/>
          <a:p>
            <a:pPr algn="ctr"/>
            <a:r>
              <a:rPr lang="en-US" sz="1600" b="1" dirty="0">
                <a:solidFill>
                  <a:srgbClr val="102033"/>
                </a:solidFill>
              </a:rPr>
              <a:t>Use it three times</a:t>
            </a:r>
            <a:endParaRPr lang="en-US" sz="1600" dirty="0"/>
          </a:p>
        </p:txBody>
      </p:sp>
      <p:sp>
        <p:nvSpPr>
          <p:cNvPr id="50" name="Shape 21">
            <a:extLst>
              <a:ext uri="{FF2B5EF4-FFF2-40B4-BE49-F238E27FC236}">
                <a16:creationId xmlns:a16="http://schemas.microsoft.com/office/drawing/2014/main" id="{3437ECB7-6364-5225-4CCA-23CC41166F83}"/>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51" name="Text 22">
            <a:extLst>
              <a:ext uri="{FF2B5EF4-FFF2-40B4-BE49-F238E27FC236}">
                <a16:creationId xmlns:a16="http://schemas.microsoft.com/office/drawing/2014/main" id="{1E191D64-51BC-6906-6B93-5DCB8E85569A}"/>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52" name="Shape 23">
            <a:extLst>
              <a:ext uri="{FF2B5EF4-FFF2-40B4-BE49-F238E27FC236}">
                <a16:creationId xmlns:a16="http://schemas.microsoft.com/office/drawing/2014/main" id="{64FD0804-7ADD-7F1F-C947-22E59369E02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54" name="Shape 25">
            <a:extLst>
              <a:ext uri="{FF2B5EF4-FFF2-40B4-BE49-F238E27FC236}">
                <a16:creationId xmlns:a16="http://schemas.microsoft.com/office/drawing/2014/main" id="{A732572E-55E2-2F53-30E6-9E92155FF718}"/>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55" name="Text 26">
            <a:extLst>
              <a:ext uri="{FF2B5EF4-FFF2-40B4-BE49-F238E27FC236}">
                <a16:creationId xmlns:a16="http://schemas.microsoft.com/office/drawing/2014/main" id="{6346FEC9-1A35-CE18-8213-0E772DAF630E}"/>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56" name="Text 27">
            <a:extLst>
              <a:ext uri="{FF2B5EF4-FFF2-40B4-BE49-F238E27FC236}">
                <a16:creationId xmlns:a16="http://schemas.microsoft.com/office/drawing/2014/main" id="{7DFCEEEB-E4CC-371A-4565-E3B2604794AF}"/>
              </a:ext>
            </a:extLst>
          </p:cNvPr>
          <p:cNvSpPr/>
          <p:nvPr/>
        </p:nvSpPr>
        <p:spPr>
          <a:xfrm>
            <a:off x="9265422" y="3884022"/>
            <a:ext cx="1890258" cy="640080"/>
          </a:xfrm>
          <a:prstGeom prst="rect">
            <a:avLst/>
          </a:prstGeom>
          <a:noFill/>
          <a:ln/>
        </p:spPr>
        <p:txBody>
          <a:bodyPr wrap="square" lIns="0" tIns="0" rIns="0" bIns="0" rtlCol="0" anchor="ctr">
            <a:normAutofit/>
          </a:bodyPr>
          <a:lstStyle/>
          <a:p>
            <a:pPr algn="ctr"/>
            <a:r>
              <a:rPr lang="en-US" sz="1600" b="1" dirty="0">
                <a:solidFill>
                  <a:srgbClr val="102033"/>
                </a:solidFill>
              </a:rPr>
              <a:t>Review before using with clients</a:t>
            </a:r>
            <a:endParaRPr lang="en-US" sz="1600" dirty="0"/>
          </a:p>
        </p:txBody>
      </p:sp>
      <p:pic>
        <p:nvPicPr>
          <p:cNvPr id="68" name="Graphic 67" descr="Pencil outline">
            <a:extLst>
              <a:ext uri="{FF2B5EF4-FFF2-40B4-BE49-F238E27FC236}">
                <a16:creationId xmlns:a16="http://schemas.microsoft.com/office/drawing/2014/main" id="{5AD04963-CCD1-5357-ABCD-DAE258CA34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97360" y="3074415"/>
            <a:ext cx="609600" cy="609600"/>
          </a:xfrm>
          <a:prstGeom prst="rect">
            <a:avLst/>
          </a:prstGeom>
        </p:spPr>
      </p:pic>
      <p:pic>
        <p:nvPicPr>
          <p:cNvPr id="72" name="Graphic 71" descr="Folder outline">
            <a:extLst>
              <a:ext uri="{FF2B5EF4-FFF2-40B4-BE49-F238E27FC236}">
                <a16:creationId xmlns:a16="http://schemas.microsoft.com/office/drawing/2014/main" id="{9ABCEC08-A83A-1F3F-EC8D-D8C6F8B1557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18120" y="3100748"/>
            <a:ext cx="609600" cy="609600"/>
          </a:xfrm>
          <a:prstGeom prst="rect">
            <a:avLst/>
          </a:prstGeom>
        </p:spPr>
      </p:pic>
      <p:pic>
        <p:nvPicPr>
          <p:cNvPr id="73" name="Graphic 72" descr="Shield Tick with solid fill">
            <a:extLst>
              <a:ext uri="{FF2B5EF4-FFF2-40B4-BE49-F238E27FC236}">
                <a16:creationId xmlns:a16="http://schemas.microsoft.com/office/drawing/2014/main" id="{D6F457BA-5CAC-CFBD-0E1A-AEFCC5592D3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90922" y="3100748"/>
            <a:ext cx="594722" cy="594722"/>
          </a:xfrm>
          <a:prstGeom prst="rect">
            <a:avLst/>
          </a:prstGeom>
        </p:spPr>
      </p:pic>
      <p:pic>
        <p:nvPicPr>
          <p:cNvPr id="77" name="Graphic 76" descr="Star outline">
            <a:extLst>
              <a:ext uri="{FF2B5EF4-FFF2-40B4-BE49-F238E27FC236}">
                <a16:creationId xmlns:a16="http://schemas.microsoft.com/office/drawing/2014/main" id="{DCC8A758-A0C8-9CF5-0619-E0A2297EE93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15814" y="3328774"/>
            <a:ext cx="204261" cy="20426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429</TotalTime>
  <Words>4998</Words>
  <Application>Microsoft Office PowerPoint</Application>
  <PresentationFormat>Widescreen</PresentationFormat>
  <Paragraphs>693</Paragraphs>
  <Slides>47</Slides>
  <Notes>47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Office</cp:lastModifiedBy>
  <cp:revision>19</cp:revision>
  <dcterms:created xsi:type="dcterms:W3CDTF">2026-06-05T14:56:03Z</dcterms:created>
  <dcterms:modified xsi:type="dcterms:W3CDTF">2026-06-25T18:16:16Z</dcterms:modified>
</cp:coreProperties>
</file>