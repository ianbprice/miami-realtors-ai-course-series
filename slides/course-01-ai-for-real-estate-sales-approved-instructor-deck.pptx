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 and vendor-neutral.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instructor context brief. Mention GoHouse.ai only as professional background, not as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Ian Burton Price is a REALTOR with Dalton Wade Real Estate Group and serves as V.P. of Growth and Partnerships at GoHouse.ai. His work focuses on practical AI adoption, buyer-intent intelligence, lead follow-up, agent productivity, and business development within the real estate industry.
Ian brings experience across real estate sales, online lead generation, call systems, CRM-adjacent workflows, automation, and client communication systems. His teaching approach is practical and workflow-driven, helping agents understand how AI can support everyday tasks such as follow-up, listing preparation, client updates, appointment preparation, and business operations.
Rather than treating AI as a replacement for professional judgment, Ian emphasizes responsible use, human review, privacy awareness, Fair Housing sensitivity, and brokerage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approved learning objectives, rewritten for a live workshop slide. The formal objectives remain preserved in the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timing as the approved two-hour path. The segments total 120 minutes. Exercises may expand or compress slightly, but keep the overall class within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 referral, social media lead, and sign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 Different lead sources need different first responses because the relationship context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 This is a sample lead created for classroom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 Add appointments per 100 leads as an optional metric for teams or brokers.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 MLS information still requires human review because MLS data is entered by people and can contain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language, exaggerated claims, or unsupported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agents to preserve a clean source facts block manually in the same chat or notes. Do not claim AI memory is reliable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that this is an objection-practice example, not a rate prediction slide. 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 Encourage attendees to customize the bracketed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AI output repeatable, save the prompt, the verified fact block, the tone instruction, the final reviewed version, and the reason it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course provides general education, not legal, financial, brokerage, MLS, or Fair Housing advice. Point attendees to brokerage AI policies, Fair Housing and advertising guidance, MLS rules, and appropriate professionals when needed. Close on action, not a generic thank-you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Shape 4"/>
          <p:cNvSpPr/>
          <p:nvPr/>
        </p:nvSpPr>
        <p:spPr>
          <a:xfrm>
            <a:off x="7315200" y="2057400"/>
            <a:ext cx="2697480" cy="2606040"/>
          </a:xfrm>
          <a:prstGeom prst="roundRect">
            <a:avLst>
              <a:gd name="adj" fmla="val 2105"/>
            </a:avLst>
          </a:prstGeom>
          <a:solidFill>
            <a:srgbClr val="1E4768">
              <a:alpha val="82000"/>
            </a:srgbClr>
          </a:solidFill>
          <a:ln w="12700">
            <a:solidFill>
              <a:srgbClr val="5FBDBD">
                <a:alpha val="65000"/>
              </a:srgbClr>
            </a:solidFill>
            <a:prstDash val="solid"/>
          </a:ln>
        </p:spPr>
      </p:sp>
      <p:sp>
        <p:nvSpPr>
          <p:cNvPr id="7" name="Shape 5"/>
          <p:cNvSpPr/>
          <p:nvPr/>
        </p:nvSpPr>
        <p:spPr>
          <a:xfrm>
            <a:off x="7863840" y="2715768"/>
            <a:ext cx="1005840" cy="365760"/>
          </a:xfrm>
          <a:prstGeom prst="line">
            <a:avLst/>
          </a:prstGeom>
          <a:noFill/>
          <a:ln w="16510">
            <a:solidFill>
              <a:srgbClr val="BFDADC"/>
            </a:solidFill>
            <a:prstDash val="solid"/>
          </a:ln>
        </p:spPr>
      </p:sp>
      <p:sp>
        <p:nvSpPr>
          <p:cNvPr id="8" name="Shape 6"/>
          <p:cNvSpPr/>
          <p:nvPr/>
        </p:nvSpPr>
        <p:spPr>
          <a:xfrm>
            <a:off x="8869680" y="2715768"/>
            <a:ext cx="1097280" cy="502920"/>
          </a:xfrm>
          <a:prstGeom prst="line">
            <a:avLst/>
          </a:prstGeom>
          <a:noFill/>
          <a:ln w="16510">
            <a:solidFill>
              <a:srgbClr val="BFDADC"/>
            </a:solidFill>
            <a:prstDash val="solid"/>
          </a:ln>
        </p:spPr>
      </p:sp>
      <p:sp>
        <p:nvSpPr>
          <p:cNvPr id="9" name="Shape 7"/>
          <p:cNvSpPr/>
          <p:nvPr/>
        </p:nvSpPr>
        <p:spPr>
          <a:xfrm>
            <a:off x="7863840" y="3081528"/>
            <a:ext cx="548640" cy="914400"/>
          </a:xfrm>
          <a:prstGeom prst="line">
            <a:avLst/>
          </a:prstGeom>
          <a:noFill/>
          <a:ln w="16510">
            <a:solidFill>
              <a:srgbClr val="BFDADC"/>
            </a:solidFill>
            <a:prstDash val="solid"/>
          </a:ln>
        </p:spPr>
      </p:sp>
      <p:sp>
        <p:nvSpPr>
          <p:cNvPr id="10" name="Shape 8"/>
          <p:cNvSpPr/>
          <p:nvPr/>
        </p:nvSpPr>
        <p:spPr>
          <a:xfrm>
            <a:off x="8412480" y="2715768"/>
            <a:ext cx="457200" cy="1280160"/>
          </a:xfrm>
          <a:prstGeom prst="line">
            <a:avLst/>
          </a:prstGeom>
          <a:noFill/>
          <a:ln w="16510">
            <a:solidFill>
              <a:srgbClr val="BFDADC"/>
            </a:solidFill>
            <a:prstDash val="solid"/>
          </a:ln>
        </p:spPr>
      </p:sp>
      <p:sp>
        <p:nvSpPr>
          <p:cNvPr id="11" name="Shape 9"/>
          <p:cNvSpPr/>
          <p:nvPr/>
        </p:nvSpPr>
        <p:spPr>
          <a:xfrm>
            <a:off x="9555480" y="3218688"/>
            <a:ext cx="411480" cy="960120"/>
          </a:xfrm>
          <a:prstGeom prst="line">
            <a:avLst/>
          </a:prstGeom>
          <a:noFill/>
          <a:ln w="16510">
            <a:solidFill>
              <a:srgbClr val="BFDADC"/>
            </a:solidFill>
            <a:prstDash val="solid"/>
          </a:ln>
        </p:spPr>
      </p:sp>
      <p:sp>
        <p:nvSpPr>
          <p:cNvPr id="12" name="Shape 10"/>
          <p:cNvSpPr/>
          <p:nvPr/>
        </p:nvSpPr>
        <p:spPr>
          <a:xfrm>
            <a:off x="8412480" y="3995928"/>
            <a:ext cx="1143000" cy="182880"/>
          </a:xfrm>
          <a:prstGeom prst="line">
            <a:avLst/>
          </a:prstGeom>
          <a:noFill/>
          <a:ln w="16510">
            <a:solidFill>
              <a:srgbClr val="BFDADC"/>
            </a:solidFill>
            <a:prstDash val="solid"/>
          </a:ln>
        </p:spPr>
      </p:sp>
      <p:sp>
        <p:nvSpPr>
          <p:cNvPr id="13" name="Shape 11"/>
          <p:cNvSpPr/>
          <p:nvPr/>
        </p:nvSpPr>
        <p:spPr>
          <a:xfrm>
            <a:off x="9555480" y="3721608"/>
            <a:ext cx="868680" cy="457200"/>
          </a:xfrm>
          <a:prstGeom prst="line">
            <a:avLst/>
          </a:prstGeom>
          <a:noFill/>
          <a:ln w="16510">
            <a:solidFill>
              <a:srgbClr val="BFDADC"/>
            </a:solidFill>
            <a:prstDash val="solid"/>
          </a:ln>
        </p:spPr>
      </p:sp>
      <p:sp>
        <p:nvSpPr>
          <p:cNvPr id="14" name="Shape 12"/>
          <p:cNvSpPr/>
          <p:nvPr/>
        </p:nvSpPr>
        <p:spPr>
          <a:xfrm>
            <a:off x="9966960" y="3218688"/>
            <a:ext cx="457200" cy="502920"/>
          </a:xfrm>
          <a:prstGeom prst="line">
            <a:avLst/>
          </a:prstGeom>
          <a:noFill/>
          <a:ln w="16510">
            <a:solidFill>
              <a:srgbClr val="BFDADC"/>
            </a:solidFill>
            <a:prstDash val="solid"/>
          </a:ln>
        </p:spPr>
      </p:sp>
      <p:sp>
        <p:nvSpPr>
          <p:cNvPr id="15" name="Shape 13"/>
          <p:cNvSpPr/>
          <p:nvPr/>
        </p:nvSpPr>
        <p:spPr>
          <a:xfrm>
            <a:off x="7781544" y="2999232"/>
            <a:ext cx="164592" cy="164592"/>
          </a:xfrm>
          <a:prstGeom prst="ellipse">
            <a:avLst/>
          </a:prstGeom>
          <a:solidFill>
            <a:srgbClr val="008F8F"/>
          </a:solidFill>
          <a:ln w="12700">
            <a:solidFill>
              <a:srgbClr val="FFFFFF"/>
            </a:solidFill>
            <a:prstDash val="solid"/>
          </a:ln>
        </p:spPr>
      </p:sp>
      <p:sp>
        <p:nvSpPr>
          <p:cNvPr id="16" name="Shape 14"/>
          <p:cNvSpPr/>
          <p:nvPr/>
        </p:nvSpPr>
        <p:spPr>
          <a:xfrm>
            <a:off x="8787384" y="2633472"/>
            <a:ext cx="164592" cy="164592"/>
          </a:xfrm>
          <a:prstGeom prst="ellipse">
            <a:avLst/>
          </a:prstGeom>
          <a:solidFill>
            <a:srgbClr val="F45B69"/>
          </a:solidFill>
          <a:ln w="12700">
            <a:solidFill>
              <a:srgbClr val="FFFFFF"/>
            </a:solidFill>
            <a:prstDash val="solid"/>
          </a:ln>
        </p:spPr>
      </p:sp>
      <p:sp>
        <p:nvSpPr>
          <p:cNvPr id="17" name="Shape 15"/>
          <p:cNvSpPr/>
          <p:nvPr/>
        </p:nvSpPr>
        <p:spPr>
          <a:xfrm>
            <a:off x="9884664" y="3136392"/>
            <a:ext cx="164592" cy="164592"/>
          </a:xfrm>
          <a:prstGeom prst="ellipse">
            <a:avLst/>
          </a:prstGeom>
          <a:solidFill>
            <a:srgbClr val="008F8F"/>
          </a:solidFill>
          <a:ln w="12700">
            <a:solidFill>
              <a:srgbClr val="FFFFFF"/>
            </a:solidFill>
            <a:prstDash val="solid"/>
          </a:ln>
        </p:spPr>
      </p:sp>
      <p:sp>
        <p:nvSpPr>
          <p:cNvPr id="18" name="Shape 16"/>
          <p:cNvSpPr/>
          <p:nvPr/>
        </p:nvSpPr>
        <p:spPr>
          <a:xfrm>
            <a:off x="8330184" y="3913632"/>
            <a:ext cx="164592" cy="164592"/>
          </a:xfrm>
          <a:prstGeom prst="ellipse">
            <a:avLst/>
          </a:prstGeom>
          <a:solidFill>
            <a:srgbClr val="008F8F"/>
          </a:solidFill>
          <a:ln w="12700">
            <a:solidFill>
              <a:srgbClr val="FFFFFF"/>
            </a:solidFill>
            <a:prstDash val="solid"/>
          </a:ln>
        </p:spPr>
      </p:sp>
      <p:sp>
        <p:nvSpPr>
          <p:cNvPr id="19" name="Shape 17"/>
          <p:cNvSpPr/>
          <p:nvPr/>
        </p:nvSpPr>
        <p:spPr>
          <a:xfrm>
            <a:off x="9473184" y="4096512"/>
            <a:ext cx="164592" cy="164592"/>
          </a:xfrm>
          <a:prstGeom prst="ellipse">
            <a:avLst/>
          </a:prstGeom>
          <a:solidFill>
            <a:srgbClr val="008F8F"/>
          </a:solidFill>
          <a:ln w="12700">
            <a:solidFill>
              <a:srgbClr val="FFFFFF"/>
            </a:solidFill>
            <a:prstDash val="solid"/>
          </a:ln>
        </p:spPr>
      </p:sp>
      <p:sp>
        <p:nvSpPr>
          <p:cNvPr id="20" name="Shape 18"/>
          <p:cNvSpPr/>
          <p:nvPr/>
        </p:nvSpPr>
        <p:spPr>
          <a:xfrm>
            <a:off x="10341864" y="3639312"/>
            <a:ext cx="164592" cy="164592"/>
          </a:xfrm>
          <a:prstGeom prst="ellipse">
            <a:avLst/>
          </a:prstGeom>
          <a:solidFill>
            <a:srgbClr val="008F8F"/>
          </a:solidFill>
          <a:ln w="12700">
            <a:solidFill>
              <a:srgbClr val="FFFFFF"/>
            </a:solidFill>
            <a:prstDash val="solid"/>
          </a:ln>
        </p:spPr>
      </p:sp>
      <p:sp>
        <p:nvSpPr>
          <p:cNvPr id="21" name="Text 19"/>
          <p:cNvSpPr/>
          <p:nvPr/>
        </p:nvSpPr>
        <p:spPr>
          <a:xfrm>
            <a:off x="7699248" y="4078224"/>
            <a:ext cx="1874520" cy="164592"/>
          </a:xfrm>
          <a:prstGeom prst="rect">
            <a:avLst/>
          </a:prstGeom>
          <a:noFill/>
          <a:ln/>
        </p:spPr>
        <p:txBody>
          <a:bodyPr wrap="square" lIns="0" tIns="0" rIns="0" bIns="0" rtlCol="0" anchor="ctr"/>
          <a:lstStyle/>
          <a:p>
            <a:pPr algn="ctr" indent="0" marL="0">
              <a:buNone/>
            </a:pPr>
            <a:r>
              <a:rPr lang="en-US" sz="1050" b="1" dirty="0">
                <a:solidFill>
                  <a:srgbClr val="D7EDEE"/>
                </a:solidFill>
              </a:rPr>
              <a:t>AI workflow</a:t>
            </a:r>
            <a:endParaRPr lang="en-US" sz="1050" dirty="0"/>
          </a:p>
        </p:txBody>
      </p:sp>
      <p:sp>
        <p:nvSpPr>
          <p:cNvPr id="22" name="Text 20"/>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23" name="Text 21"/>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24" name="Text 22"/>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25" name="Shape 23"/>
          <p:cNvSpPr/>
          <p:nvPr/>
        </p:nvSpPr>
        <p:spPr>
          <a:xfrm>
            <a:off x="749808" y="3054096"/>
            <a:ext cx="2011680" cy="0"/>
          </a:xfrm>
          <a:prstGeom prst="line">
            <a:avLst/>
          </a:prstGeom>
          <a:noFill/>
          <a:ln w="50800">
            <a:solidFill>
              <a:srgbClr val="F45B69"/>
            </a:solidFill>
            <a:prstDash val="solid"/>
          </a:ln>
        </p:spPr>
      </p:sp>
      <p:sp>
        <p:nvSpPr>
          <p:cNvPr id="26" name="Shape 24"/>
          <p:cNvSpPr/>
          <p:nvPr/>
        </p:nvSpPr>
        <p:spPr>
          <a:xfrm>
            <a:off x="749808" y="3346704"/>
            <a:ext cx="1572768" cy="310896"/>
          </a:xfrm>
          <a:prstGeom prst="roundRect">
            <a:avLst>
              <a:gd name="adj" fmla="val 11765"/>
            </a:avLst>
          </a:prstGeom>
          <a:solidFill>
            <a:srgbClr val="008F8F"/>
          </a:solidFill>
          <a:ln w="12700">
            <a:solidFill>
              <a:srgbClr val="008F8F"/>
            </a:solidFill>
            <a:prstDash val="solid"/>
          </a:ln>
        </p:spPr>
      </p:sp>
      <p:sp>
        <p:nvSpPr>
          <p:cNvPr id="27" name="Text 25"/>
          <p:cNvSpPr/>
          <p:nvPr/>
        </p:nvSpPr>
        <p:spPr>
          <a:xfrm>
            <a:off x="877824" y="34335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28" name="Text 26"/>
          <p:cNvSpPr/>
          <p:nvPr/>
        </p:nvSpPr>
        <p:spPr>
          <a:xfrm>
            <a:off x="2487168" y="3401568"/>
            <a:ext cx="4023360" cy="146304"/>
          </a:xfrm>
          <a:prstGeom prst="rect">
            <a:avLst/>
          </a:prstGeom>
          <a:noFill/>
          <a:ln/>
        </p:spPr>
        <p:txBody>
          <a:bodyPr wrap="square" lIns="0" tIns="0" rIns="0" bIns="0" rtlCol="0" anchor="ctr"/>
          <a:lstStyle/>
          <a:p>
            <a:pPr indent="0" marL="0">
              <a:buNone/>
            </a:pPr>
            <a:r>
              <a:rPr lang="en-US" sz="1030" b="1" dirty="0">
                <a:solidFill>
                  <a:srgbClr val="D7EDEE"/>
                </a:solidFill>
              </a:rPr>
              <a:t>Presented by Ian Burton Price | GoHouse.ai</a:t>
            </a:r>
            <a:endParaRPr lang="en-US" sz="1030" dirty="0"/>
          </a:p>
        </p:txBody>
      </p:sp>
      <p:sp>
        <p:nvSpPr>
          <p:cNvPr id="29" name="Shape 27"/>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30" name="Image 0" descr="C:\Users\TR4_1950X\Documents\New project\assets\brand\miami-realtors-rworld-combined-logo.png">    </p:cNvPr>
          <p:cNvPicPr>
            <a:picLocks noChangeAspect="1"/>
          </p:cNvPicPr>
          <p:nvPr/>
        </p:nvPicPr>
        <p:blipFill>
          <a:blip r:embed="rId1"/>
          <a:stretch>
            <a:fillRect/>
          </a:stretch>
        </p:blipFill>
        <p:spPr>
          <a:xfrm>
            <a:off x="749808" y="4315968"/>
            <a:ext cx="3988979" cy="599846"/>
          </a:xfrm>
          <a:prstGeom prst="rect">
            <a:avLst/>
          </a:prstGeom>
        </p:spPr>
      </p:pic>
      <p:sp>
        <p:nvSpPr>
          <p:cNvPr id="31" name="Text 28"/>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32" name="Text 29"/>
          <p:cNvSpPr/>
          <p:nvPr/>
        </p:nvSpPr>
        <p:spPr>
          <a:xfrm>
            <a:off x="749808" y="5760720"/>
            <a:ext cx="4937760" cy="201168"/>
          </a:xfrm>
          <a:prstGeom prst="rect">
            <a:avLst/>
          </a:prstGeom>
          <a:noFill/>
          <a:ln/>
        </p:spPr>
        <p:txBody>
          <a:bodyPr wrap="square" lIns="0" tIns="0" rIns="0" bIns="0" rtlCol="0" anchor="ctr"/>
          <a:lstStyle/>
          <a:p>
            <a:pPr indent="0" marL="0">
              <a:buNone/>
            </a:pPr>
            <a:r>
              <a:rPr lang="en-US" sz="950" dirty="0">
                <a:solidFill>
                  <a:srgbClr val="AFC8CF"/>
                </a:solidFill>
              </a:rPr>
              <a:t>Practical AI Training for Real Estate Professionals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sz="1720" dirty="0"/>
          </a:p>
        </p:txBody>
      </p:sp>
      <p:sp>
        <p:nvSpPr>
          <p:cNvPr id="12" name="Shape 10"/>
          <p:cNvSpPr/>
          <p:nvPr/>
        </p:nvSpPr>
        <p:spPr>
          <a:xfrm>
            <a:off x="7571232" y="1682496"/>
            <a:ext cx="91440" cy="3291840"/>
          </a:xfrm>
          <a:prstGeom prst="rect">
            <a:avLst/>
          </a:prstGeom>
          <a:solidFill>
            <a:srgbClr val="F45B69"/>
          </a:solidFill>
          <a:ln w="12700">
            <a:solidFill>
              <a:srgbClr val="F45B69"/>
            </a:solidFill>
            <a:prstDash val="solid"/>
          </a:ln>
        </p:spPr>
      </p:sp>
      <p:sp>
        <p:nvSpPr>
          <p:cNvPr id="13" name="Shape 11"/>
          <p:cNvSpPr/>
          <p:nvPr/>
        </p:nvSpPr>
        <p:spPr>
          <a:xfrm>
            <a:off x="7754112" y="1783080"/>
            <a:ext cx="3063240" cy="3063240"/>
          </a:xfrm>
          <a:prstGeom prst="roundRect">
            <a:avLst>
              <a:gd name="adj" fmla="val 1791"/>
            </a:avLst>
          </a:prstGeom>
          <a:solidFill>
            <a:srgbClr val="E9F8F0"/>
          </a:solidFill>
          <a:ln w="10160">
            <a:solidFill>
              <a:srgbClr val="C9DFE5"/>
            </a:solidFill>
            <a:prstDash val="solid"/>
          </a:ln>
        </p:spPr>
      </p:sp>
      <p:sp>
        <p:nvSpPr>
          <p:cNvPr id="14" name="Shape 12"/>
          <p:cNvSpPr/>
          <p:nvPr/>
        </p:nvSpPr>
        <p:spPr>
          <a:xfrm>
            <a:off x="8119872" y="2148840"/>
            <a:ext cx="2487168" cy="2148840"/>
          </a:xfrm>
          <a:prstGeom prst="roundRect">
            <a:avLst>
              <a:gd name="adj" fmla="val 2553"/>
            </a:avLst>
          </a:prstGeom>
          <a:solidFill>
            <a:srgbClr val="FFFFFF"/>
          </a:solidFill>
          <a:ln w="10160">
            <a:solidFill>
              <a:srgbClr val="C9DFE5"/>
            </a:solidFill>
            <a:prstDash val="solid"/>
          </a:ln>
        </p:spPr>
      </p:sp>
      <p:sp>
        <p:nvSpPr>
          <p:cNvPr id="15" name="Shape 13"/>
          <p:cNvSpPr/>
          <p:nvPr/>
        </p:nvSpPr>
        <p:spPr>
          <a:xfrm>
            <a:off x="8119872" y="2148840"/>
            <a:ext cx="2487168" cy="457200"/>
          </a:xfrm>
          <a:prstGeom prst="rect">
            <a:avLst/>
          </a:prstGeom>
          <a:solidFill>
            <a:srgbClr val="16324F"/>
          </a:solidFill>
          <a:ln w="12700">
            <a:solidFill>
              <a:srgbClr val="16324F"/>
            </a:solidFill>
            <a:prstDash val="solid"/>
          </a:ln>
        </p:spPr>
      </p:sp>
      <p:sp>
        <p:nvSpPr>
          <p:cNvPr id="16" name="Shape 14"/>
          <p:cNvSpPr/>
          <p:nvPr/>
        </p:nvSpPr>
        <p:spPr>
          <a:xfrm>
            <a:off x="8467344" y="2898648"/>
            <a:ext cx="420624" cy="237744"/>
          </a:xfrm>
          <a:prstGeom prst="roundRect">
            <a:avLst>
              <a:gd name="adj" fmla="val 7692"/>
            </a:avLst>
          </a:prstGeom>
          <a:solidFill>
            <a:srgbClr val="F7FAFC"/>
          </a:solidFill>
          <a:ln w="6350">
            <a:solidFill>
              <a:srgbClr val="D8E6E8"/>
            </a:solidFill>
            <a:prstDash val="solid"/>
          </a:ln>
        </p:spPr>
      </p:sp>
      <p:sp>
        <p:nvSpPr>
          <p:cNvPr id="17" name="Shape 15"/>
          <p:cNvSpPr/>
          <p:nvPr/>
        </p:nvSpPr>
        <p:spPr>
          <a:xfrm>
            <a:off x="9125712" y="2898648"/>
            <a:ext cx="420624" cy="237744"/>
          </a:xfrm>
          <a:prstGeom prst="roundRect">
            <a:avLst>
              <a:gd name="adj" fmla="val 7692"/>
            </a:avLst>
          </a:prstGeom>
          <a:solidFill>
            <a:srgbClr val="F7FAFC"/>
          </a:solidFill>
          <a:ln w="6350">
            <a:solidFill>
              <a:srgbClr val="D8E6E8"/>
            </a:solidFill>
            <a:prstDash val="solid"/>
          </a:ln>
        </p:spPr>
      </p:sp>
      <p:sp>
        <p:nvSpPr>
          <p:cNvPr id="18" name="Shape 16"/>
          <p:cNvSpPr/>
          <p:nvPr/>
        </p:nvSpPr>
        <p:spPr>
          <a:xfrm>
            <a:off x="9784080" y="2898648"/>
            <a:ext cx="420624" cy="237744"/>
          </a:xfrm>
          <a:prstGeom prst="roundRect">
            <a:avLst>
              <a:gd name="adj" fmla="val 7692"/>
            </a:avLst>
          </a:prstGeom>
          <a:solidFill>
            <a:srgbClr val="F7FAFC"/>
          </a:solidFill>
          <a:ln w="6350">
            <a:solidFill>
              <a:srgbClr val="D8E6E8"/>
            </a:solidFill>
            <a:prstDash val="solid"/>
          </a:ln>
        </p:spPr>
      </p:sp>
      <p:sp>
        <p:nvSpPr>
          <p:cNvPr id="19" name="Shape 17"/>
          <p:cNvSpPr/>
          <p:nvPr/>
        </p:nvSpPr>
        <p:spPr>
          <a:xfrm>
            <a:off x="10442448" y="2898648"/>
            <a:ext cx="420624" cy="237744"/>
          </a:xfrm>
          <a:prstGeom prst="roundRect">
            <a:avLst>
              <a:gd name="adj" fmla="val 7692"/>
            </a:avLst>
          </a:prstGeom>
          <a:solidFill>
            <a:srgbClr val="F7FAFC"/>
          </a:solidFill>
          <a:ln w="6350">
            <a:solidFill>
              <a:srgbClr val="D8E6E8"/>
            </a:solidFill>
            <a:prstDash val="solid"/>
          </a:ln>
        </p:spPr>
      </p:sp>
      <p:sp>
        <p:nvSpPr>
          <p:cNvPr id="20" name="Shape 18"/>
          <p:cNvSpPr/>
          <p:nvPr/>
        </p:nvSpPr>
        <p:spPr>
          <a:xfrm>
            <a:off x="8467344" y="3337560"/>
            <a:ext cx="420624" cy="237744"/>
          </a:xfrm>
          <a:prstGeom prst="roundRect">
            <a:avLst>
              <a:gd name="adj" fmla="val 7692"/>
            </a:avLst>
          </a:prstGeom>
          <a:solidFill>
            <a:srgbClr val="F7FAFC"/>
          </a:solidFill>
          <a:ln w="6350">
            <a:solidFill>
              <a:srgbClr val="D8E6E8"/>
            </a:solidFill>
            <a:prstDash val="solid"/>
          </a:ln>
        </p:spPr>
      </p:sp>
      <p:sp>
        <p:nvSpPr>
          <p:cNvPr id="21" name="Shape 19"/>
          <p:cNvSpPr/>
          <p:nvPr/>
        </p:nvSpPr>
        <p:spPr>
          <a:xfrm>
            <a:off x="9125712" y="3337560"/>
            <a:ext cx="420624" cy="237744"/>
          </a:xfrm>
          <a:prstGeom prst="roundRect">
            <a:avLst>
              <a:gd name="adj" fmla="val 7692"/>
            </a:avLst>
          </a:prstGeom>
          <a:solidFill>
            <a:srgbClr val="EAF7F7"/>
          </a:solidFill>
          <a:ln w="6350">
            <a:solidFill>
              <a:srgbClr val="D8E6E8"/>
            </a:solidFill>
            <a:prstDash val="solid"/>
          </a:ln>
        </p:spPr>
      </p:sp>
      <p:sp>
        <p:nvSpPr>
          <p:cNvPr id="22" name="Shape 20"/>
          <p:cNvSpPr/>
          <p:nvPr/>
        </p:nvSpPr>
        <p:spPr>
          <a:xfrm>
            <a:off x="9784080" y="3337560"/>
            <a:ext cx="420624" cy="237744"/>
          </a:xfrm>
          <a:prstGeom prst="roundRect">
            <a:avLst>
              <a:gd name="adj" fmla="val 7692"/>
            </a:avLst>
          </a:prstGeom>
          <a:solidFill>
            <a:srgbClr val="F7FAFC"/>
          </a:solidFill>
          <a:ln w="6350">
            <a:solidFill>
              <a:srgbClr val="D8E6E8"/>
            </a:solidFill>
            <a:prstDash val="solid"/>
          </a:ln>
        </p:spPr>
      </p:sp>
      <p:sp>
        <p:nvSpPr>
          <p:cNvPr id="23" name="Shape 21"/>
          <p:cNvSpPr/>
          <p:nvPr/>
        </p:nvSpPr>
        <p:spPr>
          <a:xfrm>
            <a:off x="10442448" y="3337560"/>
            <a:ext cx="420624" cy="237744"/>
          </a:xfrm>
          <a:prstGeom prst="roundRect">
            <a:avLst>
              <a:gd name="adj" fmla="val 7692"/>
            </a:avLst>
          </a:prstGeom>
          <a:solidFill>
            <a:srgbClr val="F7FAFC"/>
          </a:solidFill>
          <a:ln w="6350">
            <a:solidFill>
              <a:srgbClr val="D8E6E8"/>
            </a:solidFill>
            <a:prstDash val="solid"/>
          </a:ln>
        </p:spPr>
      </p:sp>
      <p:sp>
        <p:nvSpPr>
          <p:cNvPr id="24" name="Shape 22"/>
          <p:cNvSpPr/>
          <p:nvPr/>
        </p:nvSpPr>
        <p:spPr>
          <a:xfrm>
            <a:off x="8467344" y="3776472"/>
            <a:ext cx="420624" cy="237744"/>
          </a:xfrm>
          <a:prstGeom prst="roundRect">
            <a:avLst>
              <a:gd name="adj" fmla="val 7692"/>
            </a:avLst>
          </a:prstGeom>
          <a:solidFill>
            <a:srgbClr val="F7FAFC"/>
          </a:solidFill>
          <a:ln w="6350">
            <a:solidFill>
              <a:srgbClr val="D8E6E8"/>
            </a:solidFill>
            <a:prstDash val="solid"/>
          </a:ln>
        </p:spPr>
      </p:sp>
      <p:sp>
        <p:nvSpPr>
          <p:cNvPr id="25" name="Shape 23"/>
          <p:cNvSpPr/>
          <p:nvPr/>
        </p:nvSpPr>
        <p:spPr>
          <a:xfrm>
            <a:off x="9125712" y="3776472"/>
            <a:ext cx="420624" cy="237744"/>
          </a:xfrm>
          <a:prstGeom prst="roundRect">
            <a:avLst>
              <a:gd name="adj" fmla="val 7692"/>
            </a:avLst>
          </a:prstGeom>
          <a:solidFill>
            <a:srgbClr val="F7FAFC"/>
          </a:solidFill>
          <a:ln w="6350">
            <a:solidFill>
              <a:srgbClr val="D8E6E8"/>
            </a:solidFill>
            <a:prstDash val="solid"/>
          </a:ln>
        </p:spPr>
      </p:sp>
      <p:sp>
        <p:nvSpPr>
          <p:cNvPr id="26" name="Shape 24"/>
          <p:cNvSpPr/>
          <p:nvPr/>
        </p:nvSpPr>
        <p:spPr>
          <a:xfrm>
            <a:off x="9784080" y="3776472"/>
            <a:ext cx="420624" cy="237744"/>
          </a:xfrm>
          <a:prstGeom prst="roundRect">
            <a:avLst>
              <a:gd name="adj" fmla="val 7692"/>
            </a:avLst>
          </a:prstGeom>
          <a:solidFill>
            <a:srgbClr val="F7FAFC"/>
          </a:solidFill>
          <a:ln w="6350">
            <a:solidFill>
              <a:srgbClr val="D8E6E8"/>
            </a:solidFill>
            <a:prstDash val="solid"/>
          </a:ln>
        </p:spPr>
      </p:sp>
      <p:sp>
        <p:nvSpPr>
          <p:cNvPr id="27" name="Shape 25"/>
          <p:cNvSpPr/>
          <p:nvPr/>
        </p:nvSpPr>
        <p:spPr>
          <a:xfrm>
            <a:off x="10442448" y="3776472"/>
            <a:ext cx="420624" cy="237744"/>
          </a:xfrm>
          <a:prstGeom prst="roundRect">
            <a:avLst>
              <a:gd name="adj" fmla="val 7692"/>
            </a:avLst>
          </a:prstGeom>
          <a:solidFill>
            <a:srgbClr val="EAF7F7"/>
          </a:solidFill>
          <a:ln w="6350">
            <a:solidFill>
              <a:srgbClr val="D8E6E8"/>
            </a:solidFill>
            <a:prstDash val="solid"/>
          </a:ln>
        </p:spPr>
      </p:sp>
      <p:sp>
        <p:nvSpPr>
          <p:cNvPr id="28" name="Text 26"/>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Small daily rhythm</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2/40</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ABOUT THE 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About the Instructor</a:t>
            </a:r>
            <a:endParaRPr lang="en-US" sz="3000" dirty="0"/>
          </a:p>
        </p:txBody>
      </p:sp>
      <p:sp>
        <p:nvSpPr>
          <p:cNvPr id="11" name="Shape 9"/>
          <p:cNvSpPr/>
          <p:nvPr/>
        </p:nvSpPr>
        <p:spPr>
          <a:xfrm>
            <a:off x="868680" y="1828800"/>
            <a:ext cx="4800600" cy="3520440"/>
          </a:xfrm>
          <a:prstGeom prst="roundRect">
            <a:avLst>
              <a:gd name="adj" fmla="val 1558"/>
            </a:avLst>
          </a:prstGeom>
          <a:solidFill>
            <a:srgbClr val="FFFFFF"/>
          </a:solidFill>
          <a:ln w="10160">
            <a:solidFill>
              <a:srgbClr val="D8E6E8"/>
            </a:solidFill>
            <a:prstDash val="solid"/>
          </a:ln>
        </p:spPr>
      </p:sp>
      <p:sp>
        <p:nvSpPr>
          <p:cNvPr id="12" name="Text 10"/>
          <p:cNvSpPr/>
          <p:nvPr/>
        </p:nvSpPr>
        <p:spPr>
          <a:xfrm>
            <a:off x="1170432" y="2084832"/>
            <a:ext cx="1280160" cy="164592"/>
          </a:xfrm>
          <a:prstGeom prst="rect">
            <a:avLst/>
          </a:prstGeom>
          <a:noFill/>
          <a:ln/>
        </p:spPr>
        <p:txBody>
          <a:bodyPr wrap="square" lIns="0" tIns="0" rIns="0" bIns="0" rtlCol="0" anchor="ctr"/>
          <a:lstStyle/>
          <a:p>
            <a:pPr indent="0" marL="0">
              <a:buNone/>
            </a:pPr>
            <a:r>
              <a:rPr lang="en-US" sz="950" b="1" dirty="0">
                <a:solidFill>
                  <a:srgbClr val="008F8F"/>
                </a:solidFill>
              </a:rPr>
              <a:t>Instructor</a:t>
            </a:r>
            <a:endParaRPr lang="en-US" sz="950" dirty="0"/>
          </a:p>
        </p:txBody>
      </p:sp>
      <p:sp>
        <p:nvSpPr>
          <p:cNvPr id="13" name="Text 11"/>
          <p:cNvSpPr/>
          <p:nvPr/>
        </p:nvSpPr>
        <p:spPr>
          <a:xfrm>
            <a:off x="1170432" y="2395728"/>
            <a:ext cx="4160520" cy="347472"/>
          </a:xfrm>
          <a:prstGeom prst="rect">
            <a:avLst/>
          </a:prstGeom>
          <a:noFill/>
          <a:ln/>
        </p:spPr>
        <p:txBody>
          <a:bodyPr wrap="square" lIns="0" tIns="0" rIns="0" bIns="0" rtlCol="0" anchor="ctr">
            <a:normAutofit/>
          </a:bodyPr>
          <a:lstStyle/>
          <a:p>
            <a:pPr indent="0" marL="0">
              <a:buNone/>
            </a:pPr>
            <a:r>
              <a:rPr lang="en-US" sz="2200" b="1" dirty="0">
                <a:solidFill>
                  <a:srgbClr val="16324F"/>
                </a:solidFill>
              </a:rPr>
              <a:t>Ian Burton Price</a:t>
            </a:r>
            <a:endParaRPr lang="en-US" sz="2200" dirty="0"/>
          </a:p>
        </p:txBody>
      </p:sp>
      <p:sp>
        <p:nvSpPr>
          <p:cNvPr id="14" name="Text 12"/>
          <p:cNvSpPr/>
          <p:nvPr/>
        </p:nvSpPr>
        <p:spPr>
          <a:xfrm>
            <a:off x="1170432" y="2816352"/>
            <a:ext cx="4160520" cy="274320"/>
          </a:xfrm>
          <a:prstGeom prst="rect">
            <a:avLst/>
          </a:prstGeom>
          <a:noFill/>
          <a:ln/>
        </p:spPr>
        <p:txBody>
          <a:bodyPr wrap="square" lIns="0" tIns="0" rIns="0" bIns="0" rtlCol="0" anchor="ctr">
            <a:normAutofit/>
          </a:bodyPr>
          <a:lstStyle/>
          <a:p>
            <a:pPr indent="0" marL="0">
              <a:buNone/>
            </a:pPr>
            <a:r>
              <a:rPr lang="en-US" sz="1280" dirty="0">
                <a:solidFill>
                  <a:srgbClr val="52606D"/>
                </a:solidFill>
              </a:rPr>
              <a:t>REALTOR | Dalton Wade Real Estate Group</a:t>
            </a:r>
            <a:endParaRPr lang="en-US" sz="1280" dirty="0"/>
          </a:p>
          <a:p>
            <a:pPr indent="0" marL="0">
              <a:buNone/>
            </a:pPr>
            <a:r>
              <a:rPr lang="en-US" sz="1280" dirty="0">
                <a:solidFill>
                  <a:srgbClr val="52606D"/>
                </a:solidFill>
              </a:rPr>
              <a:t>V.P. of Growth and Partnerships | GoHouse.ai</a:t>
            </a:r>
            <a:endParaRPr lang="en-US" sz="1280" dirty="0"/>
          </a:p>
        </p:txBody>
      </p:sp>
      <p:sp>
        <p:nvSpPr>
          <p:cNvPr id="15" name="Shape 13"/>
          <p:cNvSpPr/>
          <p:nvPr/>
        </p:nvSpPr>
        <p:spPr>
          <a:xfrm>
            <a:off x="1170432" y="3291840"/>
            <a:ext cx="1234440" cy="0"/>
          </a:xfrm>
          <a:prstGeom prst="line">
            <a:avLst/>
          </a:prstGeom>
          <a:noFill/>
          <a:ln w="38100">
            <a:solidFill>
              <a:srgbClr val="F45B69"/>
            </a:solidFill>
            <a:prstDash val="solid"/>
          </a:ln>
        </p:spPr>
      </p:sp>
      <p:sp>
        <p:nvSpPr>
          <p:cNvPr id="16" name="Text 14"/>
          <p:cNvSpPr/>
          <p:nvPr/>
        </p:nvSpPr>
        <p:spPr>
          <a:xfrm>
            <a:off x="1170432" y="3584448"/>
            <a:ext cx="4069080" cy="1005840"/>
          </a:xfrm>
          <a:prstGeom prst="rect">
            <a:avLst/>
          </a:prstGeom>
          <a:noFill/>
          <a:ln/>
        </p:spPr>
        <p:txBody>
          <a:bodyPr wrap="square" lIns="254" tIns="254" rIns="254" bIns="254" rtlCol="0" anchor="t">
            <a:normAutofit/>
          </a:bodyPr>
          <a:lstStyle/>
          <a:p>
            <a:pPr marL="203200" indent="-203200">
              <a:buSzPct val="100000"/>
              <a:buChar char="•"/>
            </a:pPr>
            <a:r>
              <a:rPr lang="en-US" sz="1170" dirty="0">
                <a:solidFill>
                  <a:srgbClr val="102033"/>
                </a:solidFill>
                <a:latin typeface="Aptos" pitchFamily="34" charset="0"/>
                <a:ea typeface="Aptos" pitchFamily="34" charset="-122"/>
                <a:cs typeface="Aptos" pitchFamily="34" charset="-120"/>
              </a:rPr>
              <a:t>Ian works at the intersection of real estate, AI, lead follow-up, and practical business systems.</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His focus is helping real estate professionals use technology responsibly to improve communication, prioritize follow-up, prepare for client conversations, and build more consistent daily workflows.</a:t>
            </a:r>
            <a:endParaRPr lang="en-US" sz="1170" dirty="0"/>
          </a:p>
        </p:txBody>
      </p:sp>
      <p:sp>
        <p:nvSpPr>
          <p:cNvPr id="17" name="Shape 15"/>
          <p:cNvSpPr/>
          <p:nvPr/>
        </p:nvSpPr>
        <p:spPr>
          <a:xfrm>
            <a:off x="6172200" y="1737360"/>
            <a:ext cx="128016" cy="3657600"/>
          </a:xfrm>
          <a:prstGeom prst="rect">
            <a:avLst/>
          </a:prstGeom>
          <a:solidFill>
            <a:srgbClr val="008F8F"/>
          </a:solidFill>
          <a:ln w="12700">
            <a:solidFill>
              <a:srgbClr val="008F8F"/>
            </a:solidFill>
            <a:prstDash val="solid"/>
          </a:ln>
        </p:spPr>
      </p:sp>
      <p:sp>
        <p:nvSpPr>
          <p:cNvPr id="18" name="Shape 16"/>
          <p:cNvSpPr/>
          <p:nvPr/>
        </p:nvSpPr>
        <p:spPr>
          <a:xfrm>
            <a:off x="6309360" y="1828800"/>
            <a:ext cx="4434840" cy="3520440"/>
          </a:xfrm>
          <a:prstGeom prst="roundRect">
            <a:avLst>
              <a:gd name="adj" fmla="val 1558"/>
            </a:avLst>
          </a:prstGeom>
          <a:solidFill>
            <a:srgbClr val="EAF7F7"/>
          </a:solidFill>
          <a:ln w="10160">
            <a:solidFill>
              <a:srgbClr val="BFDADC"/>
            </a:solidFill>
            <a:prstDash val="solid"/>
          </a:ln>
        </p:spPr>
      </p:sp>
      <p:sp>
        <p:nvSpPr>
          <p:cNvPr id="19" name="Text 17"/>
          <p:cNvSpPr/>
          <p:nvPr/>
        </p:nvSpPr>
        <p:spPr>
          <a:xfrm>
            <a:off x="6629400" y="2130552"/>
            <a:ext cx="2743200" cy="347472"/>
          </a:xfrm>
          <a:prstGeom prst="rect">
            <a:avLst/>
          </a:prstGeom>
          <a:noFill/>
          <a:ln/>
        </p:spPr>
        <p:txBody>
          <a:bodyPr wrap="square" lIns="0" tIns="0" rIns="0" bIns="0" rtlCol="0" anchor="ctr"/>
          <a:lstStyle/>
          <a:p>
            <a:pPr indent="0" marL="0">
              <a:buNone/>
            </a:pPr>
            <a:r>
              <a:rPr lang="en-US" sz="2200" b="1" dirty="0">
                <a:solidFill>
                  <a:srgbClr val="16324F"/>
                </a:solidFill>
              </a:rPr>
              <a:t>Teaching Focus</a:t>
            </a:r>
            <a:endParaRPr lang="en-US" sz="2200" dirty="0"/>
          </a:p>
        </p:txBody>
      </p:sp>
      <p:sp>
        <p:nvSpPr>
          <p:cNvPr id="20" name="Text 18"/>
          <p:cNvSpPr/>
          <p:nvPr/>
        </p:nvSpPr>
        <p:spPr>
          <a:xfrm>
            <a:off x="6629400" y="2606040"/>
            <a:ext cx="3566160" cy="201168"/>
          </a:xfrm>
          <a:prstGeom prst="rect">
            <a:avLst/>
          </a:prstGeom>
          <a:noFill/>
          <a:ln/>
        </p:spPr>
        <p:txBody>
          <a:bodyPr wrap="square" lIns="0" tIns="0" rIns="0" bIns="0" rtlCol="0" anchor="ctr"/>
          <a:lstStyle/>
          <a:p>
            <a:pPr indent="0" marL="0">
              <a:buNone/>
            </a:pPr>
            <a:r>
              <a:rPr lang="en-US" sz="1050" b="1" dirty="0">
                <a:solidFill>
                  <a:srgbClr val="008F8F"/>
                </a:solidFill>
              </a:rPr>
              <a:t>Practical, vendor-neutral AI workflows</a:t>
            </a:r>
            <a:endParaRPr lang="en-US" sz="1050" dirty="0"/>
          </a:p>
        </p:txBody>
      </p:sp>
      <p:sp>
        <p:nvSpPr>
          <p:cNvPr id="21" name="Text 19"/>
          <p:cNvSpPr/>
          <p:nvPr/>
        </p:nvSpPr>
        <p:spPr>
          <a:xfrm>
            <a:off x="6629400" y="3090672"/>
            <a:ext cx="3657600" cy="1325880"/>
          </a:xfrm>
          <a:prstGeom prst="rect">
            <a:avLst/>
          </a:prstGeom>
          <a:noFill/>
          <a:ln/>
        </p:spPr>
        <p:txBody>
          <a:bodyPr wrap="square" lIns="254" tIns="254" rIns="254" bIns="254" rtlCol="0" anchor="t">
            <a:normAutofit/>
          </a:bodyPr>
          <a:lstStyle/>
          <a:p>
            <a:pPr marL="203200" indent="-203200">
              <a:buSzPct val="100000"/>
              <a:buChar char="•"/>
            </a:pPr>
            <a:r>
              <a:rPr lang="en-US" sz="1170" dirty="0">
                <a:solidFill>
                  <a:srgbClr val="102033"/>
                </a:solidFill>
                <a:latin typeface="Aptos" pitchFamily="34" charset="0"/>
                <a:ea typeface="Aptos" pitchFamily="34" charset="-122"/>
                <a:cs typeface="Aptos" pitchFamily="34" charset="-120"/>
              </a:rPr>
              <a:t>This class is vendor-neutral. GoHouse.ai is part of Ian's professional background; no GoHouse.ai product is required for the course.</a:t>
            </a:r>
            <a:endParaRPr lang="en-US" sz="1170" dirty="0"/>
          </a:p>
        </p:txBody>
      </p:sp>
      <p:sp>
        <p:nvSpPr>
          <p:cNvPr id="22" name="Text 20"/>
          <p:cNvSpPr/>
          <p:nvPr/>
        </p:nvSpPr>
        <p:spPr>
          <a:xfrm>
            <a:off x="6629400" y="4800600"/>
            <a:ext cx="3200400" cy="164592"/>
          </a:xfrm>
          <a:prstGeom prst="rect">
            <a:avLst/>
          </a:prstGeom>
          <a:noFill/>
          <a:ln/>
        </p:spPr>
        <p:txBody>
          <a:bodyPr wrap="square" lIns="0" tIns="0" rIns="0" bIns="0" rtlCol="0" anchor="ctr"/>
          <a:lstStyle/>
          <a:p>
            <a:pPr indent="0" marL="0">
              <a:buNone/>
            </a:pPr>
            <a:r>
              <a:rPr lang="en-US" sz="950" b="1" dirty="0">
                <a:solidFill>
                  <a:srgbClr val="2E7D5B"/>
                </a:solidFill>
              </a:rPr>
              <a:t>Instructor context, not a product requirement</a:t>
            </a:r>
            <a:endParaRPr lang="en-US" sz="95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3/40</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520" dirty="0">
                <a:solidFill>
                  <a:srgbClr val="102033"/>
                </a:solidFill>
                <a:latin typeface="Aptos" pitchFamily="34" charset="0"/>
                <a:ea typeface="Aptos" pitchFamily="34" charset="-122"/>
                <a:cs typeface="Aptos" pitchFamily="34" charset="-120"/>
              </a:rPr>
              <a:t>Draft clearer emails, texts, listing copy, and client updates.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Personalize buyer and seller communication using better context.</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Prepare for appointments, objections, and follow-up conversations.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sz="1520" dirty="0"/>
          </a:p>
        </p:txBody>
      </p:sp>
      <p:sp>
        <p:nvSpPr>
          <p:cNvPr id="12" name="Shape 10"/>
          <p:cNvSpPr/>
          <p:nvPr/>
        </p:nvSpPr>
        <p:spPr>
          <a:xfrm>
            <a:off x="7571232" y="1682496"/>
            <a:ext cx="91440" cy="3291840"/>
          </a:xfrm>
          <a:prstGeom prst="rect">
            <a:avLst/>
          </a:prstGeom>
          <a:solidFill>
            <a:srgbClr val="2E7D5B"/>
          </a:solidFill>
          <a:ln w="12700">
            <a:solidFill>
              <a:srgbClr val="2E7D5B"/>
            </a:solidFill>
            <a:prstDash val="solid"/>
          </a:ln>
        </p:spPr>
      </p:sp>
      <p:sp>
        <p:nvSpPr>
          <p:cNvPr id="13" name="Shape 11"/>
          <p:cNvSpPr/>
          <p:nvPr/>
        </p:nvSpPr>
        <p:spPr>
          <a:xfrm>
            <a:off x="7754112" y="1783080"/>
            <a:ext cx="3063240" cy="3063240"/>
          </a:xfrm>
          <a:prstGeom prst="roundRect">
            <a:avLst>
              <a:gd name="adj" fmla="val 1791"/>
            </a:avLst>
          </a:prstGeom>
          <a:solidFill>
            <a:srgbClr val="FFF0EF"/>
          </a:solidFill>
          <a:ln w="10160">
            <a:solidFill>
              <a:srgbClr val="C9DFE5"/>
            </a:solidFill>
            <a:prstDash val="solid"/>
          </a:ln>
        </p:spPr>
      </p:sp>
      <p:sp>
        <p:nvSpPr>
          <p:cNvPr id="14" name="Shape 12"/>
          <p:cNvSpPr/>
          <p:nvPr/>
        </p:nvSpPr>
        <p:spPr>
          <a:xfrm>
            <a:off x="8348472" y="2386584"/>
            <a:ext cx="1005840" cy="365760"/>
          </a:xfrm>
          <a:prstGeom prst="line">
            <a:avLst/>
          </a:prstGeom>
          <a:noFill/>
          <a:ln w="16510">
            <a:solidFill>
              <a:srgbClr val="BFDADC"/>
            </a:solidFill>
            <a:prstDash val="solid"/>
          </a:ln>
        </p:spPr>
      </p:sp>
      <p:sp>
        <p:nvSpPr>
          <p:cNvPr id="15" name="Shape 13"/>
          <p:cNvSpPr/>
          <p:nvPr/>
        </p:nvSpPr>
        <p:spPr>
          <a:xfrm>
            <a:off x="9354312" y="2386584"/>
            <a:ext cx="1097280" cy="502920"/>
          </a:xfrm>
          <a:prstGeom prst="line">
            <a:avLst/>
          </a:prstGeom>
          <a:noFill/>
          <a:ln w="16510">
            <a:solidFill>
              <a:srgbClr val="BFDADC"/>
            </a:solidFill>
            <a:prstDash val="solid"/>
          </a:ln>
        </p:spPr>
      </p:sp>
      <p:sp>
        <p:nvSpPr>
          <p:cNvPr id="16" name="Shape 14"/>
          <p:cNvSpPr/>
          <p:nvPr/>
        </p:nvSpPr>
        <p:spPr>
          <a:xfrm>
            <a:off x="8348472" y="2752344"/>
            <a:ext cx="548640" cy="914400"/>
          </a:xfrm>
          <a:prstGeom prst="line">
            <a:avLst/>
          </a:prstGeom>
          <a:noFill/>
          <a:ln w="16510">
            <a:solidFill>
              <a:srgbClr val="BFDADC"/>
            </a:solidFill>
            <a:prstDash val="solid"/>
          </a:ln>
        </p:spPr>
      </p:sp>
      <p:sp>
        <p:nvSpPr>
          <p:cNvPr id="17" name="Shape 15"/>
          <p:cNvSpPr/>
          <p:nvPr/>
        </p:nvSpPr>
        <p:spPr>
          <a:xfrm>
            <a:off x="8897112" y="2386584"/>
            <a:ext cx="457200" cy="1280160"/>
          </a:xfrm>
          <a:prstGeom prst="line">
            <a:avLst/>
          </a:prstGeom>
          <a:noFill/>
          <a:ln w="16510">
            <a:solidFill>
              <a:srgbClr val="BFDADC"/>
            </a:solidFill>
            <a:prstDash val="solid"/>
          </a:ln>
        </p:spPr>
      </p:sp>
      <p:sp>
        <p:nvSpPr>
          <p:cNvPr id="18" name="Shape 16"/>
          <p:cNvSpPr/>
          <p:nvPr/>
        </p:nvSpPr>
        <p:spPr>
          <a:xfrm>
            <a:off x="10040112" y="2889504"/>
            <a:ext cx="411480" cy="960120"/>
          </a:xfrm>
          <a:prstGeom prst="line">
            <a:avLst/>
          </a:prstGeom>
          <a:noFill/>
          <a:ln w="16510">
            <a:solidFill>
              <a:srgbClr val="BFDADC"/>
            </a:solidFill>
            <a:prstDash val="solid"/>
          </a:ln>
        </p:spPr>
      </p:sp>
      <p:sp>
        <p:nvSpPr>
          <p:cNvPr id="19" name="Shape 17"/>
          <p:cNvSpPr/>
          <p:nvPr/>
        </p:nvSpPr>
        <p:spPr>
          <a:xfrm>
            <a:off x="8897112" y="3666744"/>
            <a:ext cx="1143000" cy="182880"/>
          </a:xfrm>
          <a:prstGeom prst="line">
            <a:avLst/>
          </a:prstGeom>
          <a:noFill/>
          <a:ln w="16510">
            <a:solidFill>
              <a:srgbClr val="BFDADC"/>
            </a:solidFill>
            <a:prstDash val="solid"/>
          </a:ln>
        </p:spPr>
      </p:sp>
      <p:sp>
        <p:nvSpPr>
          <p:cNvPr id="20" name="Shape 18"/>
          <p:cNvSpPr/>
          <p:nvPr/>
        </p:nvSpPr>
        <p:spPr>
          <a:xfrm>
            <a:off x="10040112" y="3392424"/>
            <a:ext cx="868680" cy="457200"/>
          </a:xfrm>
          <a:prstGeom prst="line">
            <a:avLst/>
          </a:prstGeom>
          <a:noFill/>
          <a:ln w="16510">
            <a:solidFill>
              <a:srgbClr val="BFDADC"/>
            </a:solidFill>
            <a:prstDash val="solid"/>
          </a:ln>
        </p:spPr>
      </p:sp>
      <p:sp>
        <p:nvSpPr>
          <p:cNvPr id="21" name="Shape 19"/>
          <p:cNvSpPr/>
          <p:nvPr/>
        </p:nvSpPr>
        <p:spPr>
          <a:xfrm>
            <a:off x="10451592" y="2889504"/>
            <a:ext cx="457200" cy="502920"/>
          </a:xfrm>
          <a:prstGeom prst="line">
            <a:avLst/>
          </a:prstGeom>
          <a:noFill/>
          <a:ln w="16510">
            <a:solidFill>
              <a:srgbClr val="BFDADC"/>
            </a:solidFill>
            <a:prstDash val="solid"/>
          </a:ln>
        </p:spPr>
      </p:sp>
      <p:sp>
        <p:nvSpPr>
          <p:cNvPr id="22" name="Shape 20"/>
          <p:cNvSpPr/>
          <p:nvPr/>
        </p:nvSpPr>
        <p:spPr>
          <a:xfrm>
            <a:off x="8266176" y="2670048"/>
            <a:ext cx="164592" cy="164592"/>
          </a:xfrm>
          <a:prstGeom prst="ellipse">
            <a:avLst/>
          </a:prstGeom>
          <a:solidFill>
            <a:srgbClr val="2E7D5B"/>
          </a:solidFill>
          <a:ln w="12700">
            <a:solidFill>
              <a:srgbClr val="FFFFFF"/>
            </a:solidFill>
            <a:prstDash val="solid"/>
          </a:ln>
        </p:spPr>
      </p:sp>
      <p:sp>
        <p:nvSpPr>
          <p:cNvPr id="23" name="Shape 21"/>
          <p:cNvSpPr/>
          <p:nvPr/>
        </p:nvSpPr>
        <p:spPr>
          <a:xfrm>
            <a:off x="9272016" y="2304288"/>
            <a:ext cx="164592" cy="164592"/>
          </a:xfrm>
          <a:prstGeom prst="ellipse">
            <a:avLst/>
          </a:prstGeom>
          <a:solidFill>
            <a:srgbClr val="F45B69"/>
          </a:solidFill>
          <a:ln w="12700">
            <a:solidFill>
              <a:srgbClr val="FFFFFF"/>
            </a:solidFill>
            <a:prstDash val="solid"/>
          </a:ln>
        </p:spPr>
      </p:sp>
      <p:sp>
        <p:nvSpPr>
          <p:cNvPr id="24" name="Shape 22"/>
          <p:cNvSpPr/>
          <p:nvPr/>
        </p:nvSpPr>
        <p:spPr>
          <a:xfrm>
            <a:off x="10369296" y="2807208"/>
            <a:ext cx="164592" cy="164592"/>
          </a:xfrm>
          <a:prstGeom prst="ellipse">
            <a:avLst/>
          </a:prstGeom>
          <a:solidFill>
            <a:srgbClr val="2E7D5B"/>
          </a:solidFill>
          <a:ln w="12700">
            <a:solidFill>
              <a:srgbClr val="FFFFFF"/>
            </a:solidFill>
            <a:prstDash val="solid"/>
          </a:ln>
        </p:spPr>
      </p:sp>
      <p:sp>
        <p:nvSpPr>
          <p:cNvPr id="25" name="Shape 23"/>
          <p:cNvSpPr/>
          <p:nvPr/>
        </p:nvSpPr>
        <p:spPr>
          <a:xfrm>
            <a:off x="8814816" y="3584448"/>
            <a:ext cx="164592" cy="164592"/>
          </a:xfrm>
          <a:prstGeom prst="ellipse">
            <a:avLst/>
          </a:prstGeom>
          <a:solidFill>
            <a:srgbClr val="2E7D5B"/>
          </a:solidFill>
          <a:ln w="12700">
            <a:solidFill>
              <a:srgbClr val="FFFFFF"/>
            </a:solidFill>
            <a:prstDash val="solid"/>
          </a:ln>
        </p:spPr>
      </p:sp>
      <p:sp>
        <p:nvSpPr>
          <p:cNvPr id="26" name="Shape 24"/>
          <p:cNvSpPr/>
          <p:nvPr/>
        </p:nvSpPr>
        <p:spPr>
          <a:xfrm>
            <a:off x="9957816" y="3767328"/>
            <a:ext cx="164592" cy="164592"/>
          </a:xfrm>
          <a:prstGeom prst="ellipse">
            <a:avLst/>
          </a:prstGeom>
          <a:solidFill>
            <a:srgbClr val="2E7D5B"/>
          </a:solidFill>
          <a:ln w="12700">
            <a:solidFill>
              <a:srgbClr val="FFFFFF"/>
            </a:solidFill>
            <a:prstDash val="solid"/>
          </a:ln>
        </p:spPr>
      </p:sp>
      <p:sp>
        <p:nvSpPr>
          <p:cNvPr id="27" name="Shape 25"/>
          <p:cNvSpPr/>
          <p:nvPr/>
        </p:nvSpPr>
        <p:spPr>
          <a:xfrm>
            <a:off x="10826496" y="3310128"/>
            <a:ext cx="164592" cy="164592"/>
          </a:xfrm>
          <a:prstGeom prst="ellipse">
            <a:avLst/>
          </a:prstGeom>
          <a:solidFill>
            <a:srgbClr val="2E7D5B"/>
          </a:solidFill>
          <a:ln w="12700">
            <a:solidFill>
              <a:srgbClr val="FFFFFF"/>
            </a:solidFill>
            <a:prstDash val="solid"/>
          </a:ln>
        </p:spPr>
      </p:sp>
      <p:sp>
        <p:nvSpPr>
          <p:cNvPr id="28" name="Text 26"/>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Repeatable workflow</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4/40</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444752"/>
            <a:ext cx="5303520" cy="201168"/>
          </a:xfrm>
          <a:prstGeom prst="rect">
            <a:avLst/>
          </a:prstGeom>
          <a:noFill/>
          <a:ln/>
        </p:spPr>
        <p:txBody>
          <a:bodyPr wrap="square" lIns="0" tIns="0" rIns="0" bIns="0" rtlCol="0" anchor="ctr"/>
          <a:lstStyle/>
          <a:p>
            <a:pPr indent="0" marL="0">
              <a:buNone/>
            </a:pPr>
            <a:r>
              <a:rPr lang="en-US" sz="1050" b="1" dirty="0">
                <a:solidFill>
                  <a:srgbClr val="52606D"/>
                </a:solidFill>
              </a:rPr>
              <a:t>120 minutes: 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22m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13m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 / wrap-up</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5/40</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0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Consumers expect quick, clear responses across text, email, phone, and web inquiries.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Most agents have more follow-up tasks than hours in the day.</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AI reduces blank-page time for common communication and prep tasks.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sz="1720" dirty="0"/>
          </a:p>
        </p:txBody>
      </p:sp>
      <p:sp>
        <p:nvSpPr>
          <p:cNvPr id="12" name="Shape 10"/>
          <p:cNvSpPr/>
          <p:nvPr/>
        </p:nvSpPr>
        <p:spPr>
          <a:xfrm>
            <a:off x="7571232" y="1682496"/>
            <a:ext cx="91440" cy="3291840"/>
          </a:xfrm>
          <a:prstGeom prst="rect">
            <a:avLst/>
          </a:prstGeom>
          <a:solidFill>
            <a:srgbClr val="2F80ED"/>
          </a:solidFill>
          <a:ln w="12700">
            <a:solidFill>
              <a:srgbClr val="2F80ED"/>
            </a:solidFill>
            <a:prstDash val="solid"/>
          </a:ln>
        </p:spPr>
      </p:sp>
      <p:sp>
        <p:nvSpPr>
          <p:cNvPr id="13" name="Shape 11"/>
          <p:cNvSpPr/>
          <p:nvPr/>
        </p:nvSpPr>
        <p:spPr>
          <a:xfrm>
            <a:off x="7754112" y="1783080"/>
            <a:ext cx="3063240" cy="3063240"/>
          </a:xfrm>
          <a:prstGeom prst="roundRect">
            <a:avLst>
              <a:gd name="adj" fmla="val 1791"/>
            </a:avLst>
          </a:prstGeom>
          <a:solidFill>
            <a:srgbClr val="FFF4D9"/>
          </a:solidFill>
          <a:ln w="10160">
            <a:solidFill>
              <a:srgbClr val="C9DFE5"/>
            </a:solidFill>
            <a:prstDash val="solid"/>
          </a:ln>
        </p:spPr>
      </p:sp>
      <p:sp>
        <p:nvSpPr>
          <p:cNvPr id="14" name="Shape 12"/>
          <p:cNvSpPr/>
          <p:nvPr/>
        </p:nvSpPr>
        <p:spPr>
          <a:xfrm>
            <a:off x="8348472" y="2386584"/>
            <a:ext cx="1005840" cy="365760"/>
          </a:xfrm>
          <a:prstGeom prst="line">
            <a:avLst/>
          </a:prstGeom>
          <a:noFill/>
          <a:ln w="16510">
            <a:solidFill>
              <a:srgbClr val="BFDADC"/>
            </a:solidFill>
            <a:prstDash val="solid"/>
          </a:ln>
        </p:spPr>
      </p:sp>
      <p:sp>
        <p:nvSpPr>
          <p:cNvPr id="15" name="Shape 13"/>
          <p:cNvSpPr/>
          <p:nvPr/>
        </p:nvSpPr>
        <p:spPr>
          <a:xfrm>
            <a:off x="9354312" y="2386584"/>
            <a:ext cx="1097280" cy="502920"/>
          </a:xfrm>
          <a:prstGeom prst="line">
            <a:avLst/>
          </a:prstGeom>
          <a:noFill/>
          <a:ln w="16510">
            <a:solidFill>
              <a:srgbClr val="BFDADC"/>
            </a:solidFill>
            <a:prstDash val="solid"/>
          </a:ln>
        </p:spPr>
      </p:sp>
      <p:sp>
        <p:nvSpPr>
          <p:cNvPr id="16" name="Shape 14"/>
          <p:cNvSpPr/>
          <p:nvPr/>
        </p:nvSpPr>
        <p:spPr>
          <a:xfrm>
            <a:off x="8348472" y="2752344"/>
            <a:ext cx="548640" cy="914400"/>
          </a:xfrm>
          <a:prstGeom prst="line">
            <a:avLst/>
          </a:prstGeom>
          <a:noFill/>
          <a:ln w="16510">
            <a:solidFill>
              <a:srgbClr val="BFDADC"/>
            </a:solidFill>
            <a:prstDash val="solid"/>
          </a:ln>
        </p:spPr>
      </p:sp>
      <p:sp>
        <p:nvSpPr>
          <p:cNvPr id="17" name="Shape 15"/>
          <p:cNvSpPr/>
          <p:nvPr/>
        </p:nvSpPr>
        <p:spPr>
          <a:xfrm>
            <a:off x="8897112" y="2386584"/>
            <a:ext cx="457200" cy="1280160"/>
          </a:xfrm>
          <a:prstGeom prst="line">
            <a:avLst/>
          </a:prstGeom>
          <a:noFill/>
          <a:ln w="16510">
            <a:solidFill>
              <a:srgbClr val="BFDADC"/>
            </a:solidFill>
            <a:prstDash val="solid"/>
          </a:ln>
        </p:spPr>
      </p:sp>
      <p:sp>
        <p:nvSpPr>
          <p:cNvPr id="18" name="Shape 16"/>
          <p:cNvSpPr/>
          <p:nvPr/>
        </p:nvSpPr>
        <p:spPr>
          <a:xfrm>
            <a:off x="10040112" y="2889504"/>
            <a:ext cx="411480" cy="960120"/>
          </a:xfrm>
          <a:prstGeom prst="line">
            <a:avLst/>
          </a:prstGeom>
          <a:noFill/>
          <a:ln w="16510">
            <a:solidFill>
              <a:srgbClr val="BFDADC"/>
            </a:solidFill>
            <a:prstDash val="solid"/>
          </a:ln>
        </p:spPr>
      </p:sp>
      <p:sp>
        <p:nvSpPr>
          <p:cNvPr id="19" name="Shape 17"/>
          <p:cNvSpPr/>
          <p:nvPr/>
        </p:nvSpPr>
        <p:spPr>
          <a:xfrm>
            <a:off x="8897112" y="3666744"/>
            <a:ext cx="1143000" cy="182880"/>
          </a:xfrm>
          <a:prstGeom prst="line">
            <a:avLst/>
          </a:prstGeom>
          <a:noFill/>
          <a:ln w="16510">
            <a:solidFill>
              <a:srgbClr val="BFDADC"/>
            </a:solidFill>
            <a:prstDash val="solid"/>
          </a:ln>
        </p:spPr>
      </p:sp>
      <p:sp>
        <p:nvSpPr>
          <p:cNvPr id="20" name="Shape 18"/>
          <p:cNvSpPr/>
          <p:nvPr/>
        </p:nvSpPr>
        <p:spPr>
          <a:xfrm>
            <a:off x="10040112" y="3392424"/>
            <a:ext cx="868680" cy="457200"/>
          </a:xfrm>
          <a:prstGeom prst="line">
            <a:avLst/>
          </a:prstGeom>
          <a:noFill/>
          <a:ln w="16510">
            <a:solidFill>
              <a:srgbClr val="BFDADC"/>
            </a:solidFill>
            <a:prstDash val="solid"/>
          </a:ln>
        </p:spPr>
      </p:sp>
      <p:sp>
        <p:nvSpPr>
          <p:cNvPr id="21" name="Shape 19"/>
          <p:cNvSpPr/>
          <p:nvPr/>
        </p:nvSpPr>
        <p:spPr>
          <a:xfrm>
            <a:off x="10451592" y="2889504"/>
            <a:ext cx="457200" cy="502920"/>
          </a:xfrm>
          <a:prstGeom prst="line">
            <a:avLst/>
          </a:prstGeom>
          <a:noFill/>
          <a:ln w="16510">
            <a:solidFill>
              <a:srgbClr val="BFDADC"/>
            </a:solidFill>
            <a:prstDash val="solid"/>
          </a:ln>
        </p:spPr>
      </p:sp>
      <p:sp>
        <p:nvSpPr>
          <p:cNvPr id="22" name="Shape 20"/>
          <p:cNvSpPr/>
          <p:nvPr/>
        </p:nvSpPr>
        <p:spPr>
          <a:xfrm>
            <a:off x="8266176" y="2670048"/>
            <a:ext cx="164592" cy="164592"/>
          </a:xfrm>
          <a:prstGeom prst="ellipse">
            <a:avLst/>
          </a:prstGeom>
          <a:solidFill>
            <a:srgbClr val="2F80ED"/>
          </a:solidFill>
          <a:ln w="12700">
            <a:solidFill>
              <a:srgbClr val="FFFFFF"/>
            </a:solidFill>
            <a:prstDash val="solid"/>
          </a:ln>
        </p:spPr>
      </p:sp>
      <p:sp>
        <p:nvSpPr>
          <p:cNvPr id="23" name="Shape 21"/>
          <p:cNvSpPr/>
          <p:nvPr/>
        </p:nvSpPr>
        <p:spPr>
          <a:xfrm>
            <a:off x="9272016" y="2304288"/>
            <a:ext cx="164592" cy="164592"/>
          </a:xfrm>
          <a:prstGeom prst="ellipse">
            <a:avLst/>
          </a:prstGeom>
          <a:solidFill>
            <a:srgbClr val="F45B69"/>
          </a:solidFill>
          <a:ln w="12700">
            <a:solidFill>
              <a:srgbClr val="FFFFFF"/>
            </a:solidFill>
            <a:prstDash val="solid"/>
          </a:ln>
        </p:spPr>
      </p:sp>
      <p:sp>
        <p:nvSpPr>
          <p:cNvPr id="24" name="Shape 22"/>
          <p:cNvSpPr/>
          <p:nvPr/>
        </p:nvSpPr>
        <p:spPr>
          <a:xfrm>
            <a:off x="10369296" y="2807208"/>
            <a:ext cx="164592" cy="164592"/>
          </a:xfrm>
          <a:prstGeom prst="ellipse">
            <a:avLst/>
          </a:prstGeom>
          <a:solidFill>
            <a:srgbClr val="2F80ED"/>
          </a:solidFill>
          <a:ln w="12700">
            <a:solidFill>
              <a:srgbClr val="FFFFFF"/>
            </a:solidFill>
            <a:prstDash val="solid"/>
          </a:ln>
        </p:spPr>
      </p:sp>
      <p:sp>
        <p:nvSpPr>
          <p:cNvPr id="25" name="Shape 23"/>
          <p:cNvSpPr/>
          <p:nvPr/>
        </p:nvSpPr>
        <p:spPr>
          <a:xfrm>
            <a:off x="8814816" y="3584448"/>
            <a:ext cx="164592" cy="164592"/>
          </a:xfrm>
          <a:prstGeom prst="ellipse">
            <a:avLst/>
          </a:prstGeom>
          <a:solidFill>
            <a:srgbClr val="2F80ED"/>
          </a:solidFill>
          <a:ln w="12700">
            <a:solidFill>
              <a:srgbClr val="FFFFFF"/>
            </a:solidFill>
            <a:prstDash val="solid"/>
          </a:ln>
        </p:spPr>
      </p:sp>
      <p:sp>
        <p:nvSpPr>
          <p:cNvPr id="26" name="Shape 24"/>
          <p:cNvSpPr/>
          <p:nvPr/>
        </p:nvSpPr>
        <p:spPr>
          <a:xfrm>
            <a:off x="9957816" y="3767328"/>
            <a:ext cx="164592" cy="164592"/>
          </a:xfrm>
          <a:prstGeom prst="ellipse">
            <a:avLst/>
          </a:prstGeom>
          <a:solidFill>
            <a:srgbClr val="2F80ED"/>
          </a:solidFill>
          <a:ln w="12700">
            <a:solidFill>
              <a:srgbClr val="FFFFFF"/>
            </a:solidFill>
            <a:prstDash val="solid"/>
          </a:ln>
        </p:spPr>
      </p:sp>
      <p:sp>
        <p:nvSpPr>
          <p:cNvPr id="27" name="Shape 25"/>
          <p:cNvSpPr/>
          <p:nvPr/>
        </p:nvSpPr>
        <p:spPr>
          <a:xfrm>
            <a:off x="10826496" y="3310128"/>
            <a:ext cx="164592" cy="164592"/>
          </a:xfrm>
          <a:prstGeom prst="ellipse">
            <a:avLst/>
          </a:prstGeom>
          <a:solidFill>
            <a:srgbClr val="2F80ED"/>
          </a:solidFill>
          <a:ln w="12700">
            <a:solidFill>
              <a:srgbClr val="FFFFFF"/>
            </a:solidFill>
            <a:prstDash val="solid"/>
          </a:ln>
        </p:spPr>
      </p:sp>
      <p:sp>
        <p:nvSpPr>
          <p:cNvPr id="28" name="Text 26"/>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Repeatable workflow</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6/40</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7/40</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8/40</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9/40</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TOOL CHECK</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Check brokerage policy before using client or transaction information</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Avoid pasting private client details into public AI tools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Use verified property, MLS, and market data</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Review every message before sending</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Keep AI as a drafting assistant, not the final authority</a:t>
            </a:r>
            <a:endParaRPr lang="en-US" sz="1720" dirty="0"/>
          </a:p>
        </p:txBody>
      </p:sp>
      <p:sp>
        <p:nvSpPr>
          <p:cNvPr id="12" name="Shape 10"/>
          <p:cNvSpPr/>
          <p:nvPr/>
        </p:nvSpPr>
        <p:spPr>
          <a:xfrm>
            <a:off x="7571232" y="1682496"/>
            <a:ext cx="91440" cy="3291840"/>
          </a:xfrm>
          <a:prstGeom prst="rect">
            <a:avLst/>
          </a:prstGeom>
          <a:solidFill>
            <a:srgbClr val="008F8F"/>
          </a:solidFill>
          <a:ln w="12700">
            <a:solidFill>
              <a:srgbClr val="008F8F"/>
            </a:solidFill>
            <a:prstDash val="solid"/>
          </a:ln>
        </p:spPr>
      </p:sp>
      <p:sp>
        <p:nvSpPr>
          <p:cNvPr id="13" name="Shape 11"/>
          <p:cNvSpPr/>
          <p:nvPr/>
        </p:nvSpPr>
        <p:spPr>
          <a:xfrm>
            <a:off x="7754112" y="1783080"/>
            <a:ext cx="3063240" cy="3063240"/>
          </a:xfrm>
          <a:prstGeom prst="roundRect">
            <a:avLst>
              <a:gd name="adj" fmla="val 1791"/>
            </a:avLst>
          </a:prstGeom>
          <a:solidFill>
            <a:srgbClr val="EAF7F7"/>
          </a:solidFill>
          <a:ln w="10160">
            <a:solidFill>
              <a:srgbClr val="C9DFE5"/>
            </a:solidFill>
            <a:prstDash val="solid"/>
          </a:ln>
        </p:spPr>
      </p:sp>
      <p:sp>
        <p:nvSpPr>
          <p:cNvPr id="14" name="Shape 12"/>
          <p:cNvSpPr/>
          <p:nvPr/>
        </p:nvSpPr>
        <p:spPr>
          <a:xfrm>
            <a:off x="8138160" y="2148840"/>
            <a:ext cx="2468880" cy="2194560"/>
          </a:xfrm>
          <a:prstGeom prst="roundRect">
            <a:avLst>
              <a:gd name="adj" fmla="val 2500"/>
            </a:avLst>
          </a:prstGeom>
          <a:solidFill>
            <a:srgbClr val="FFFFFF"/>
          </a:solidFill>
          <a:ln w="10160">
            <a:solidFill>
              <a:srgbClr val="C9DFE5"/>
            </a:solidFill>
            <a:prstDash val="solid"/>
          </a:ln>
        </p:spPr>
      </p:sp>
      <p:sp>
        <p:nvSpPr>
          <p:cNvPr id="15" name="Shape 13"/>
          <p:cNvSpPr/>
          <p:nvPr/>
        </p:nvSpPr>
        <p:spPr>
          <a:xfrm>
            <a:off x="8430768" y="2496312"/>
            <a:ext cx="219456" cy="219456"/>
          </a:xfrm>
          <a:prstGeom prst="roundRect">
            <a:avLst>
              <a:gd name="adj" fmla="val 12500"/>
            </a:avLst>
          </a:prstGeom>
          <a:solidFill>
            <a:srgbClr val="008F8F"/>
          </a:solidFill>
          <a:ln w="12700">
            <a:solidFill>
              <a:srgbClr val="008F8F"/>
            </a:solidFill>
            <a:prstDash val="solid"/>
          </a:ln>
        </p:spPr>
      </p:sp>
      <p:sp>
        <p:nvSpPr>
          <p:cNvPr id="16" name="Text 14"/>
          <p:cNvSpPr/>
          <p:nvPr/>
        </p:nvSpPr>
        <p:spPr>
          <a:xfrm>
            <a:off x="8823960" y="2523744"/>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Private</a:t>
            </a:r>
            <a:endParaRPr lang="en-US" sz="1050" dirty="0"/>
          </a:p>
        </p:txBody>
      </p:sp>
      <p:sp>
        <p:nvSpPr>
          <p:cNvPr id="17" name="Shape 15"/>
          <p:cNvSpPr/>
          <p:nvPr/>
        </p:nvSpPr>
        <p:spPr>
          <a:xfrm>
            <a:off x="8430768" y="2935224"/>
            <a:ext cx="219456" cy="219456"/>
          </a:xfrm>
          <a:prstGeom prst="roundRect">
            <a:avLst>
              <a:gd name="adj" fmla="val 12500"/>
            </a:avLst>
          </a:prstGeom>
          <a:solidFill>
            <a:srgbClr val="008F8F"/>
          </a:solidFill>
          <a:ln w="12700">
            <a:solidFill>
              <a:srgbClr val="008F8F"/>
            </a:solidFill>
            <a:prstDash val="solid"/>
          </a:ln>
        </p:spPr>
      </p:sp>
      <p:sp>
        <p:nvSpPr>
          <p:cNvPr id="18" name="Text 16"/>
          <p:cNvSpPr/>
          <p:nvPr/>
        </p:nvSpPr>
        <p:spPr>
          <a:xfrm>
            <a:off x="8823960" y="2962656"/>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Verified</a:t>
            </a:r>
            <a:endParaRPr lang="en-US" sz="1050" dirty="0"/>
          </a:p>
        </p:txBody>
      </p:sp>
      <p:sp>
        <p:nvSpPr>
          <p:cNvPr id="19" name="Shape 17"/>
          <p:cNvSpPr/>
          <p:nvPr/>
        </p:nvSpPr>
        <p:spPr>
          <a:xfrm>
            <a:off x="8430768" y="3374136"/>
            <a:ext cx="219456" cy="219456"/>
          </a:xfrm>
          <a:prstGeom prst="roundRect">
            <a:avLst>
              <a:gd name="adj" fmla="val 12500"/>
            </a:avLst>
          </a:prstGeom>
          <a:solidFill>
            <a:srgbClr val="008F8F"/>
          </a:solidFill>
          <a:ln w="12700">
            <a:solidFill>
              <a:srgbClr val="008F8F"/>
            </a:solidFill>
            <a:prstDash val="solid"/>
          </a:ln>
        </p:spPr>
      </p:sp>
      <p:sp>
        <p:nvSpPr>
          <p:cNvPr id="20" name="Text 18"/>
          <p:cNvSpPr/>
          <p:nvPr/>
        </p:nvSpPr>
        <p:spPr>
          <a:xfrm>
            <a:off x="8823960" y="3401568"/>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Compliant</a:t>
            </a:r>
            <a:endParaRPr lang="en-US" sz="1050" dirty="0"/>
          </a:p>
        </p:txBody>
      </p:sp>
      <p:sp>
        <p:nvSpPr>
          <p:cNvPr id="21" name="Shape 19"/>
          <p:cNvSpPr/>
          <p:nvPr/>
        </p:nvSpPr>
        <p:spPr>
          <a:xfrm>
            <a:off x="8430768" y="3813048"/>
            <a:ext cx="219456" cy="219456"/>
          </a:xfrm>
          <a:prstGeom prst="roundRect">
            <a:avLst>
              <a:gd name="adj" fmla="val 12500"/>
            </a:avLst>
          </a:prstGeom>
          <a:solidFill>
            <a:srgbClr val="F2B84B"/>
          </a:solidFill>
          <a:ln w="12700">
            <a:solidFill>
              <a:srgbClr val="F2B84B"/>
            </a:solidFill>
            <a:prstDash val="solid"/>
          </a:ln>
        </p:spPr>
      </p:sp>
      <p:sp>
        <p:nvSpPr>
          <p:cNvPr id="22" name="Text 20"/>
          <p:cNvSpPr/>
          <p:nvPr/>
        </p:nvSpPr>
        <p:spPr>
          <a:xfrm>
            <a:off x="8823960" y="3840480"/>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Reviewed</a:t>
            </a:r>
            <a:endParaRPr lang="en-US" sz="1050" dirty="0"/>
          </a:p>
        </p:txBody>
      </p:sp>
      <p:sp>
        <p:nvSpPr>
          <p:cNvPr id="23" name="Text 21"/>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Privacy first</a:t>
            </a:r>
            <a:endParaRPr lang="en-US" sz="1050" dirty="0"/>
          </a:p>
        </p:txBody>
      </p:sp>
      <p:sp>
        <p:nvSpPr>
          <p:cNvPr id="24" name="Shape 22"/>
          <p:cNvSpPr/>
          <p:nvPr/>
        </p:nvSpPr>
        <p:spPr>
          <a:xfrm>
            <a:off x="502920" y="6473952"/>
            <a:ext cx="11201400" cy="0"/>
          </a:xfrm>
          <a:prstGeom prst="line">
            <a:avLst/>
          </a:prstGeom>
          <a:noFill/>
          <a:ln w="9525">
            <a:solidFill>
              <a:srgbClr val="D8E6E8"/>
            </a:solidFill>
            <a:prstDash val="solid"/>
          </a:ln>
        </p:spPr>
      </p:sp>
      <p:sp>
        <p:nvSpPr>
          <p:cNvPr id="25" name="Text 2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6" name="Text 2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10/40</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11/40</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PRACTICE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12/40</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prompts reduce risk by giving AI facts, tone, boundaries, and review rules.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listing description for a nice house in Coral Gables.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13/40</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13" name="Text 11"/>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 estate professional</a:t>
            </a:r>
            <a:endParaRPr lang="en-US" sz="1150" dirty="0"/>
          </a:p>
        </p:txBody>
      </p:sp>
      <p:sp>
        <p:nvSpPr>
          <p:cNvPr id="14" name="Shape 12"/>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6" name="Text 14"/>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7" name="Shape 15"/>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9" name="Text 17"/>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20" name="Shape 18"/>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22" name="Text 20"/>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23" name="Shape 21"/>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4" name="Text 22"/>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5" name="Text 23"/>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6" name="Shape 24"/>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7" name="Text 25"/>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8" name="Text 26"/>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14/40</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Now apply the formula to a real client communication moment.</a:t>
            </a:r>
            <a:endParaRPr lang="en-US" sz="1250" dirty="0"/>
          </a:p>
        </p:txBody>
      </p:sp>
      <p:sp>
        <p:nvSpPr>
          <p:cNvPr id="12" name="Shape 10"/>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3" name="Shape 11"/>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4" name="Text 12"/>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buyer toured two condos, liked one, but is worried about monthly payment.</a:t>
            </a:r>
            <a:endParaRPr lang="en-US" sz="1330" dirty="0"/>
          </a:p>
        </p:txBody>
      </p:sp>
      <p:sp>
        <p:nvSpPr>
          <p:cNvPr id="15" name="Text 13"/>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6" name="Shape 14"/>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7" name="Shape 15"/>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8" name="Text 16"/>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80" dirty="0"/>
          </a:p>
        </p:txBody>
      </p:sp>
      <p:sp>
        <p:nvSpPr>
          <p:cNvPr id="19" name="Text 17"/>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20" name="Shape 18"/>
          <p:cNvSpPr/>
          <p:nvPr/>
        </p:nvSpPr>
        <p:spPr>
          <a:xfrm>
            <a:off x="502920" y="6473952"/>
            <a:ext cx="11201400" cy="0"/>
          </a:xfrm>
          <a:prstGeom prst="line">
            <a:avLst/>
          </a:prstGeom>
          <a:noFill/>
          <a:ln w="9525">
            <a:solidFill>
              <a:srgbClr val="D8E6E8"/>
            </a:solidFill>
            <a:prstDash val="solid"/>
          </a:ln>
        </p:spPr>
      </p:sp>
      <p:sp>
        <p:nvSpPr>
          <p:cNvPr id="21" name="Text 1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15/40</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30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listing had showings but no offers this week.</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16/40</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17/40</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a:t>
            </a:r>
            <a:endParaRPr lang="en-US" sz="30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18/40</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4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Many leads arrive with limited context, whether they come from portals, IDX, open houses, referrals, social media, sign calls, or past database activity.</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Speed matters, but fast and generic still feels automated.</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Different lead sources need different first responses because the relationship context is different.</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Useful follow-up gives the person a reason to continue the conversation.</a:t>
            </a:r>
            <a:endParaRPr lang="en-US" sz="1720" dirty="0"/>
          </a:p>
        </p:txBody>
      </p:sp>
      <p:sp>
        <p:nvSpPr>
          <p:cNvPr id="12" name="Shape 10"/>
          <p:cNvSpPr/>
          <p:nvPr/>
        </p:nvSpPr>
        <p:spPr>
          <a:xfrm>
            <a:off x="7571232" y="1682496"/>
            <a:ext cx="91440" cy="3291840"/>
          </a:xfrm>
          <a:prstGeom prst="rect">
            <a:avLst/>
          </a:prstGeom>
          <a:solidFill>
            <a:srgbClr val="2E7D5B"/>
          </a:solidFill>
          <a:ln w="12700">
            <a:solidFill>
              <a:srgbClr val="2E7D5B"/>
            </a:solidFill>
            <a:prstDash val="solid"/>
          </a:ln>
        </p:spPr>
      </p:sp>
      <p:sp>
        <p:nvSpPr>
          <p:cNvPr id="13" name="Shape 11"/>
          <p:cNvSpPr/>
          <p:nvPr/>
        </p:nvSpPr>
        <p:spPr>
          <a:xfrm>
            <a:off x="7754112" y="1783080"/>
            <a:ext cx="3063240" cy="3063240"/>
          </a:xfrm>
          <a:prstGeom prst="roundRect">
            <a:avLst>
              <a:gd name="adj" fmla="val 1791"/>
            </a:avLst>
          </a:prstGeom>
          <a:solidFill>
            <a:srgbClr val="FFF0EF"/>
          </a:solidFill>
          <a:ln w="10160">
            <a:solidFill>
              <a:srgbClr val="C9DFE5"/>
            </a:solidFill>
            <a:prstDash val="solid"/>
          </a:ln>
        </p:spPr>
      </p:sp>
      <p:sp>
        <p:nvSpPr>
          <p:cNvPr id="14" name="Shape 12"/>
          <p:cNvSpPr/>
          <p:nvPr/>
        </p:nvSpPr>
        <p:spPr>
          <a:xfrm>
            <a:off x="8092440" y="2176272"/>
            <a:ext cx="1986991" cy="502920"/>
          </a:xfrm>
          <a:prstGeom prst="roundRect">
            <a:avLst>
              <a:gd name="adj" fmla="val 10909"/>
            </a:avLst>
          </a:prstGeom>
          <a:solidFill>
            <a:srgbClr val="FFFFFF"/>
          </a:solidFill>
          <a:ln w="10160">
            <a:solidFill>
              <a:srgbClr val="C9DFE5"/>
            </a:solidFill>
            <a:prstDash val="solid"/>
          </a:ln>
        </p:spPr>
      </p:sp>
      <p:sp>
        <p:nvSpPr>
          <p:cNvPr id="15" name="Text 13"/>
          <p:cNvSpPr/>
          <p:nvPr/>
        </p:nvSpPr>
        <p:spPr>
          <a:xfrm>
            <a:off x="8293608" y="2331720"/>
            <a:ext cx="1575054" cy="109728"/>
          </a:xfrm>
          <a:prstGeom prst="rect">
            <a:avLst/>
          </a:prstGeom>
          <a:noFill/>
          <a:ln/>
        </p:spPr>
        <p:txBody>
          <a:bodyPr wrap="square" lIns="0" tIns="0" rIns="0" bIns="0" rtlCol="0" anchor="ctr"/>
          <a:lstStyle/>
          <a:p>
            <a:pPr indent="0" marL="0">
              <a:buNone/>
            </a:pPr>
            <a:r>
              <a:rPr lang="en-US" sz="850" b="1" dirty="0">
                <a:solidFill>
                  <a:srgbClr val="52606D"/>
                </a:solidFill>
              </a:rPr>
              <a:t>Client context</a:t>
            </a:r>
            <a:endParaRPr lang="en-US" sz="850" dirty="0"/>
          </a:p>
        </p:txBody>
      </p:sp>
      <p:sp>
        <p:nvSpPr>
          <p:cNvPr id="16" name="Shape 14"/>
          <p:cNvSpPr/>
          <p:nvPr/>
        </p:nvSpPr>
        <p:spPr>
          <a:xfrm>
            <a:off x="8439912" y="2953512"/>
            <a:ext cx="2132381" cy="658368"/>
          </a:xfrm>
          <a:prstGeom prst="roundRect">
            <a:avLst>
              <a:gd name="adj" fmla="val 8333"/>
            </a:avLst>
          </a:prstGeom>
          <a:solidFill>
            <a:srgbClr val="EAF7F7"/>
          </a:solidFill>
          <a:ln w="10160">
            <a:solidFill>
              <a:srgbClr val="BFDADC"/>
            </a:solidFill>
            <a:prstDash val="solid"/>
          </a:ln>
        </p:spPr>
      </p:sp>
      <p:sp>
        <p:nvSpPr>
          <p:cNvPr id="17" name="Text 15"/>
          <p:cNvSpPr/>
          <p:nvPr/>
        </p:nvSpPr>
        <p:spPr>
          <a:xfrm>
            <a:off x="8659368" y="3182112"/>
            <a:ext cx="1211580" cy="109728"/>
          </a:xfrm>
          <a:prstGeom prst="rect">
            <a:avLst/>
          </a:prstGeom>
          <a:noFill/>
          <a:ln/>
        </p:spPr>
        <p:txBody>
          <a:bodyPr wrap="square" lIns="0" tIns="0" rIns="0" bIns="0" rtlCol="0" anchor="ctr"/>
          <a:lstStyle/>
          <a:p>
            <a:pPr indent="0" marL="0">
              <a:buNone/>
            </a:pPr>
            <a:r>
              <a:rPr lang="en-US" sz="900" b="1" dirty="0">
                <a:solidFill>
                  <a:srgbClr val="008F8F"/>
                </a:solidFill>
              </a:rPr>
              <a:t>AI draft</a:t>
            </a:r>
            <a:endParaRPr lang="en-US" sz="900" dirty="0"/>
          </a:p>
        </p:txBody>
      </p:sp>
      <p:sp>
        <p:nvSpPr>
          <p:cNvPr id="18" name="Shape 16"/>
          <p:cNvSpPr/>
          <p:nvPr/>
        </p:nvSpPr>
        <p:spPr>
          <a:xfrm>
            <a:off x="8138160" y="3931920"/>
            <a:ext cx="2302002" cy="658368"/>
          </a:xfrm>
          <a:prstGeom prst="roundRect">
            <a:avLst>
              <a:gd name="adj" fmla="val 8333"/>
            </a:avLst>
          </a:prstGeom>
          <a:solidFill>
            <a:srgbClr val="E9F8F0"/>
          </a:solidFill>
          <a:ln w="10160">
            <a:solidFill>
              <a:srgbClr val="BBDCC9"/>
            </a:solidFill>
            <a:prstDash val="solid"/>
          </a:ln>
        </p:spPr>
      </p:sp>
      <p:sp>
        <p:nvSpPr>
          <p:cNvPr id="19" name="Text 17"/>
          <p:cNvSpPr/>
          <p:nvPr/>
        </p:nvSpPr>
        <p:spPr>
          <a:xfrm>
            <a:off x="8385048" y="4169664"/>
            <a:ext cx="1502359" cy="109728"/>
          </a:xfrm>
          <a:prstGeom prst="rect">
            <a:avLst/>
          </a:prstGeom>
          <a:noFill/>
          <a:ln/>
        </p:spPr>
        <p:txBody>
          <a:bodyPr wrap="square" lIns="0" tIns="0" rIns="0" bIns="0" rtlCol="0" anchor="ctr"/>
          <a:lstStyle/>
          <a:p>
            <a:pPr indent="0" marL="0">
              <a:buNone/>
            </a:pPr>
            <a:r>
              <a:rPr lang="en-US" sz="900" b="1" dirty="0">
                <a:solidFill>
                  <a:srgbClr val="2E7D5B"/>
                </a:solidFill>
              </a:rPr>
              <a:t>Agent review</a:t>
            </a:r>
            <a:endParaRPr lang="en-US" sz="900" dirty="0"/>
          </a:p>
        </p:txBody>
      </p:sp>
      <p:sp>
        <p:nvSpPr>
          <p:cNvPr id="20" name="Text 18"/>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Context before cadence</a:t>
            </a:r>
            <a:endParaRPr lang="en-US" sz="10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19/40</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CRM VS AI</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CRM template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Saved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Same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Fast but generic</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AI-assisted draft</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Source + context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Situation-aware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Agent-reviewed before sending</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20/40</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context, and recent activity</a:t>
            </a:r>
            <a:endParaRPr lang="en-US" sz="1150" dirty="0"/>
          </a:p>
        </p:txBody>
      </p:sp>
      <p:sp>
        <p:nvSpPr>
          <p:cNvPr id="15" name="Shape 13"/>
          <p:cNvSpPr/>
          <p:nvPr/>
        </p:nvSpPr>
        <p:spPr>
          <a:xfrm>
            <a:off x="246888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2880360" y="2532888"/>
            <a:ext cx="1115568" cy="0"/>
          </a:xfrm>
          <a:prstGeom prst="line">
            <a:avLst/>
          </a:prstGeom>
          <a:noFill/>
          <a:ln w="17780">
            <a:solidFill>
              <a:srgbClr val="D8E6E8"/>
            </a:solidFill>
            <a:prstDash val="solid"/>
            <a:tailEnd type="triangle"/>
          </a:ln>
        </p:spPr>
      </p:sp>
      <p:sp>
        <p:nvSpPr>
          <p:cNvPr id="18" name="Text 16"/>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 without assuming certainty</a:t>
            </a:r>
            <a:endParaRPr lang="en-US" sz="1150" dirty="0"/>
          </a:p>
        </p:txBody>
      </p:sp>
      <p:sp>
        <p:nvSpPr>
          <p:cNvPr id="19" name="Shape 17"/>
          <p:cNvSpPr/>
          <p:nvPr/>
        </p:nvSpPr>
        <p:spPr>
          <a:xfrm>
            <a:off x="420624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4617720" y="2532888"/>
            <a:ext cx="1115568" cy="0"/>
          </a:xfrm>
          <a:prstGeom prst="line">
            <a:avLst/>
          </a:prstGeom>
          <a:noFill/>
          <a:ln w="17780">
            <a:solidFill>
              <a:srgbClr val="D8E6E8"/>
            </a:solidFill>
            <a:prstDash val="solid"/>
            <a:tailEnd type="triangle"/>
          </a:ln>
        </p:spPr>
      </p:sp>
      <p:sp>
        <p:nvSpPr>
          <p:cNvPr id="22" name="Text 20"/>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the best channel</a:t>
            </a:r>
            <a:endParaRPr lang="en-US" sz="1150" dirty="0"/>
          </a:p>
        </p:txBody>
      </p:sp>
      <p:sp>
        <p:nvSpPr>
          <p:cNvPr id="23" name="Shape 21"/>
          <p:cNvSpPr/>
          <p:nvPr/>
        </p:nvSpPr>
        <p:spPr>
          <a:xfrm>
            <a:off x="594360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6355080" y="2532888"/>
            <a:ext cx="1115568" cy="0"/>
          </a:xfrm>
          <a:prstGeom prst="line">
            <a:avLst/>
          </a:prstGeom>
          <a:noFill/>
          <a:ln w="17780">
            <a:solidFill>
              <a:srgbClr val="D8E6E8"/>
            </a:solidFill>
            <a:prstDash val="solid"/>
            <a:tailEnd type="triangle"/>
          </a:ln>
        </p:spPr>
      </p:sp>
      <p:sp>
        <p:nvSpPr>
          <p:cNvPr id="26" name="Text 24"/>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7" name="Shape 25"/>
          <p:cNvSpPr/>
          <p:nvPr/>
        </p:nvSpPr>
        <p:spPr>
          <a:xfrm>
            <a:off x="768096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Shape 27"/>
          <p:cNvSpPr/>
          <p:nvPr/>
        </p:nvSpPr>
        <p:spPr>
          <a:xfrm>
            <a:off x="8092440" y="2532888"/>
            <a:ext cx="1115568" cy="0"/>
          </a:xfrm>
          <a:prstGeom prst="line">
            <a:avLst/>
          </a:prstGeom>
          <a:noFill/>
          <a:ln w="17780">
            <a:solidFill>
              <a:srgbClr val="D8E6E8"/>
            </a:solidFill>
            <a:prstDash val="solid"/>
            <a:tailEnd type="triangle"/>
          </a:ln>
        </p:spPr>
      </p:sp>
      <p:sp>
        <p:nvSpPr>
          <p:cNvPr id="30" name="Text 28"/>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and tone</a:t>
            </a:r>
            <a:endParaRPr lang="en-US" sz="1150" dirty="0"/>
          </a:p>
        </p:txBody>
      </p:sp>
      <p:sp>
        <p:nvSpPr>
          <p:cNvPr id="31" name="Shape 29"/>
          <p:cNvSpPr/>
          <p:nvPr/>
        </p:nvSpPr>
        <p:spPr>
          <a:xfrm>
            <a:off x="9418320" y="2496312"/>
            <a:ext cx="402336" cy="402336"/>
          </a:xfrm>
          <a:prstGeom prst="ellipse">
            <a:avLst/>
          </a:prstGeom>
          <a:solidFill>
            <a:srgbClr val="16324F"/>
          </a:solidFill>
          <a:ln w="12700">
            <a:solidFill>
              <a:srgbClr val="16324F"/>
            </a:solidFill>
            <a:prstDash val="solid"/>
          </a:ln>
        </p:spPr>
      </p:sp>
      <p:sp>
        <p:nvSpPr>
          <p:cNvPr id="32" name="Text 30"/>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3" name="Text 31"/>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4" name="Shape 32"/>
          <p:cNvSpPr/>
          <p:nvPr/>
        </p:nvSpPr>
        <p:spPr>
          <a:xfrm>
            <a:off x="502920" y="6473952"/>
            <a:ext cx="11201400" cy="0"/>
          </a:xfrm>
          <a:prstGeom prst="line">
            <a:avLst/>
          </a:prstGeom>
          <a:noFill/>
          <a:ln w="9525">
            <a:solidFill>
              <a:srgbClr val="D8E6E8"/>
            </a:solidFill>
            <a:prstDash val="solid"/>
          </a:ln>
        </p:spPr>
      </p:sp>
      <p:sp>
        <p:nvSpPr>
          <p:cNvPr id="35" name="Text 3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21/40</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SAMPLE LEAD</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4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Lead asked: "Is the condo on Brickell still available?"</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Weak: "Yes, it is available. Let me know if you want to see it."</a:t>
            </a:r>
            <a:endParaRPr lang="en-US" sz="1380" dirty="0"/>
          </a:p>
          <a:p>
            <a:pPr indent="0" marL="0">
              <a:buNone/>
            </a:pPr>
            <a:endParaRPr lang="en-US" sz="1380" dirty="0"/>
          </a:p>
          <a:p>
            <a:pPr indent="0" marL="0">
              <a:buNone/>
            </a:pPr>
            <a:r>
              <a:rPr lang="en-US" sz="1380" dirty="0">
                <a:solidFill>
                  <a:srgbClr val="102033"/>
                </a:solidFill>
              </a:rPr>
              <a:t>Better: "I can verify the latest status for you. Are you focused only on Brickell, or would similar buildings with strong amenities also be worth sending over?"</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22/40</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a first-response set</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CRM templates repeat a saved message. AI helps adapt the message to the situation, then you review it before sending.</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23/40</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Appointments / 100 leads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Is the source becoming more useful?</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24/40</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24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Property features and improvements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Showing feedback and buyer questions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Seller goals and timing</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Factual neighborhood context</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Desired tone and format</a:t>
            </a:r>
            <a:endParaRPr lang="en-US" sz="1720" dirty="0"/>
          </a:p>
        </p:txBody>
      </p:sp>
      <p:sp>
        <p:nvSpPr>
          <p:cNvPr id="12" name="Shape 10"/>
          <p:cNvSpPr/>
          <p:nvPr/>
        </p:nvSpPr>
        <p:spPr>
          <a:xfrm>
            <a:off x="7571232" y="1682496"/>
            <a:ext cx="91440" cy="3291840"/>
          </a:xfrm>
          <a:prstGeom prst="rect">
            <a:avLst/>
          </a:prstGeom>
          <a:solidFill>
            <a:srgbClr val="008F8F"/>
          </a:solidFill>
          <a:ln w="12700">
            <a:solidFill>
              <a:srgbClr val="008F8F"/>
            </a:solidFill>
            <a:prstDash val="solid"/>
          </a:ln>
        </p:spPr>
      </p:sp>
      <p:sp>
        <p:nvSpPr>
          <p:cNvPr id="13" name="Shape 11"/>
          <p:cNvSpPr/>
          <p:nvPr/>
        </p:nvSpPr>
        <p:spPr>
          <a:xfrm>
            <a:off x="7754112" y="1783080"/>
            <a:ext cx="3063240" cy="3063240"/>
          </a:xfrm>
          <a:prstGeom prst="roundRect">
            <a:avLst>
              <a:gd name="adj" fmla="val 1791"/>
            </a:avLst>
          </a:prstGeom>
          <a:solidFill>
            <a:srgbClr val="EAF7F7"/>
          </a:solidFill>
          <a:ln w="10160">
            <a:solidFill>
              <a:srgbClr val="C9DFE5"/>
            </a:solidFill>
            <a:prstDash val="solid"/>
          </a:ln>
        </p:spPr>
      </p:sp>
      <p:sp>
        <p:nvSpPr>
          <p:cNvPr id="14" name="Shape 12"/>
          <p:cNvSpPr/>
          <p:nvPr/>
        </p:nvSpPr>
        <p:spPr>
          <a:xfrm>
            <a:off x="8156448" y="2130552"/>
            <a:ext cx="2423160" cy="2212848"/>
          </a:xfrm>
          <a:prstGeom prst="roundRect">
            <a:avLst>
              <a:gd name="adj" fmla="val 2479"/>
            </a:avLst>
          </a:prstGeom>
          <a:solidFill>
            <a:srgbClr val="FFFFFF"/>
          </a:solidFill>
          <a:ln w="10160">
            <a:solidFill>
              <a:srgbClr val="C9DFE5"/>
            </a:solidFill>
            <a:prstDash val="solid"/>
          </a:ln>
        </p:spPr>
      </p:sp>
      <p:sp>
        <p:nvSpPr>
          <p:cNvPr id="15" name="Shape 13"/>
          <p:cNvSpPr/>
          <p:nvPr/>
        </p:nvSpPr>
        <p:spPr>
          <a:xfrm>
            <a:off x="8476488" y="2542032"/>
            <a:ext cx="1783080" cy="146304"/>
          </a:xfrm>
          <a:prstGeom prst="rect">
            <a:avLst/>
          </a:prstGeom>
          <a:solidFill>
            <a:srgbClr val="16324F"/>
          </a:solidFill>
          <a:ln w="12700">
            <a:solidFill>
              <a:srgbClr val="16324F"/>
            </a:solidFill>
            <a:prstDash val="solid"/>
          </a:ln>
        </p:spPr>
      </p:sp>
      <p:sp>
        <p:nvSpPr>
          <p:cNvPr id="16" name="Shape 14"/>
          <p:cNvSpPr/>
          <p:nvPr/>
        </p:nvSpPr>
        <p:spPr>
          <a:xfrm>
            <a:off x="8476488" y="2999232"/>
            <a:ext cx="1554480" cy="73152"/>
          </a:xfrm>
          <a:prstGeom prst="rect">
            <a:avLst/>
          </a:prstGeom>
          <a:solidFill>
            <a:srgbClr val="D8E6E8"/>
          </a:solidFill>
          <a:ln w="12700">
            <a:solidFill>
              <a:srgbClr val="D8E6E8"/>
            </a:solidFill>
            <a:prstDash val="solid"/>
          </a:ln>
        </p:spPr>
      </p:sp>
      <p:sp>
        <p:nvSpPr>
          <p:cNvPr id="17" name="Shape 15"/>
          <p:cNvSpPr/>
          <p:nvPr/>
        </p:nvSpPr>
        <p:spPr>
          <a:xfrm>
            <a:off x="8476488" y="3337560"/>
            <a:ext cx="1554480" cy="73152"/>
          </a:xfrm>
          <a:prstGeom prst="rect">
            <a:avLst/>
          </a:prstGeom>
          <a:solidFill>
            <a:srgbClr val="BFDADC"/>
          </a:solidFill>
          <a:ln w="12700">
            <a:solidFill>
              <a:srgbClr val="BFDADC"/>
            </a:solidFill>
            <a:prstDash val="solid"/>
          </a:ln>
        </p:spPr>
      </p:sp>
      <p:sp>
        <p:nvSpPr>
          <p:cNvPr id="18" name="Shape 16"/>
          <p:cNvSpPr/>
          <p:nvPr/>
        </p:nvSpPr>
        <p:spPr>
          <a:xfrm>
            <a:off x="8476488" y="3675888"/>
            <a:ext cx="1143000" cy="73152"/>
          </a:xfrm>
          <a:prstGeom prst="rect">
            <a:avLst/>
          </a:prstGeom>
          <a:solidFill>
            <a:srgbClr val="D8E6E8"/>
          </a:solidFill>
          <a:ln w="12700">
            <a:solidFill>
              <a:srgbClr val="D8E6E8"/>
            </a:solidFill>
            <a:prstDash val="solid"/>
          </a:ln>
        </p:spPr>
      </p:sp>
      <p:sp>
        <p:nvSpPr>
          <p:cNvPr id="19" name="Shape 17"/>
          <p:cNvSpPr/>
          <p:nvPr/>
        </p:nvSpPr>
        <p:spPr>
          <a:xfrm>
            <a:off x="8476488" y="4187952"/>
            <a:ext cx="1691640" cy="0"/>
          </a:xfrm>
          <a:prstGeom prst="line">
            <a:avLst/>
          </a:prstGeom>
          <a:noFill/>
          <a:ln w="38100">
            <a:solidFill>
              <a:srgbClr val="F45B69"/>
            </a:solidFill>
            <a:prstDash val="solid"/>
          </a:ln>
        </p:spPr>
      </p:sp>
      <p:sp>
        <p:nvSpPr>
          <p:cNvPr id="20" name="Text 18"/>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Facts before polish</a:t>
            </a:r>
            <a:endParaRPr lang="en-US" sz="10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25/40</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copy adds warmth without inventing facts.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3 bedrooms / 2 bathrooms</a:t>
            </a:r>
            <a:endParaRPr lang="en-US" sz="1360" dirty="0"/>
          </a:p>
          <a:p>
            <a:pPr indent="0" marL="0">
              <a:buNone/>
            </a:pPr>
            <a:r>
              <a:rPr lang="en-US" sz="1360" dirty="0">
                <a:solidFill>
                  <a:srgbClr val="102033"/>
                </a:solidFill>
              </a:rPr>
              <a:t>Updated kitchen</a:t>
            </a:r>
            <a:endParaRPr lang="en-US" sz="1360" dirty="0"/>
          </a:p>
          <a:p>
            <a:pPr indent="0" marL="0">
              <a:buNone/>
            </a:pPr>
            <a:r>
              <a:rPr lang="en-US" sz="1360" dirty="0">
                <a:solidFill>
                  <a:srgbClr val="102033"/>
                </a:solidFill>
              </a:rPr>
              <a:t>Covered patio</a:t>
            </a:r>
            <a:endParaRPr lang="en-US" sz="1360" dirty="0"/>
          </a:p>
          <a:p>
            <a:pPr indent="0" marL="0">
              <a:buNone/>
            </a:pPr>
            <a:r>
              <a:rPr lang="en-US" sz="1360" dirty="0">
                <a:solidFill>
                  <a:srgbClr val="102033"/>
                </a:solidFill>
              </a:rPr>
              <a:t>2-car garage</a:t>
            </a:r>
            <a:endParaRPr lang="en-US" sz="1360" dirty="0"/>
          </a:p>
          <a:p>
            <a:pPr indent="0" marL="0">
              <a:buNone/>
            </a:pPr>
            <a:r>
              <a:rPr lang="en-US" sz="1360" dirty="0">
                <a:solidFill>
                  <a:srgbClr val="102033"/>
                </a:solidFill>
              </a:rPr>
              <a:t>Nearby dining, parks, and everyday amenities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This 3-bedroom, 2-bath home pairs practical everyday function with inviting outdoor space. Highlights include an updated kitchen, covered patio, and 2-car garage, with convenient access to nearby dining, parks, and everyday amenities. The description stays focused on verified features while giving the listing a clearer, more polished presentation.</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26/40</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SOURCE FACTS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Source facts</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Verified details kept in the chat</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copy</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27/40</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Now try the same process with three high-use formats.</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28/40</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APPOINTMENT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Build buyer consultation and listing appointment agendas.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Create discovery questions from client context.</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Practice common objections before the live conversation.</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Explain market conditions in plain language, with verified facts.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Prepare follow-up after the appointment.</a:t>
            </a:r>
            <a:endParaRPr lang="en-US" sz="1720" dirty="0"/>
          </a:p>
        </p:txBody>
      </p:sp>
      <p:sp>
        <p:nvSpPr>
          <p:cNvPr id="12" name="Shape 10"/>
          <p:cNvSpPr/>
          <p:nvPr/>
        </p:nvSpPr>
        <p:spPr>
          <a:xfrm>
            <a:off x="7571232" y="1682496"/>
            <a:ext cx="91440" cy="3291840"/>
          </a:xfrm>
          <a:prstGeom prst="rect">
            <a:avLst/>
          </a:prstGeom>
          <a:solidFill>
            <a:srgbClr val="2E7D5B"/>
          </a:solidFill>
          <a:ln w="12700">
            <a:solidFill>
              <a:srgbClr val="2E7D5B"/>
            </a:solidFill>
            <a:prstDash val="solid"/>
          </a:ln>
        </p:spPr>
      </p:sp>
      <p:sp>
        <p:nvSpPr>
          <p:cNvPr id="13" name="Shape 11"/>
          <p:cNvSpPr/>
          <p:nvPr/>
        </p:nvSpPr>
        <p:spPr>
          <a:xfrm>
            <a:off x="7754112" y="1783080"/>
            <a:ext cx="3063240" cy="3063240"/>
          </a:xfrm>
          <a:prstGeom prst="roundRect">
            <a:avLst>
              <a:gd name="adj" fmla="val 1791"/>
            </a:avLst>
          </a:prstGeom>
          <a:solidFill>
            <a:srgbClr val="FFF0EF"/>
          </a:solidFill>
          <a:ln w="10160">
            <a:solidFill>
              <a:srgbClr val="C9DFE5"/>
            </a:solidFill>
            <a:prstDash val="solid"/>
          </a:ln>
        </p:spPr>
      </p:sp>
      <p:sp>
        <p:nvSpPr>
          <p:cNvPr id="14" name="Shape 12"/>
          <p:cNvSpPr/>
          <p:nvPr/>
        </p:nvSpPr>
        <p:spPr>
          <a:xfrm>
            <a:off x="8119872" y="2148840"/>
            <a:ext cx="2487168" cy="2148840"/>
          </a:xfrm>
          <a:prstGeom prst="roundRect">
            <a:avLst>
              <a:gd name="adj" fmla="val 2553"/>
            </a:avLst>
          </a:prstGeom>
          <a:solidFill>
            <a:srgbClr val="FFFFFF"/>
          </a:solidFill>
          <a:ln w="10160">
            <a:solidFill>
              <a:srgbClr val="C9DFE5"/>
            </a:solidFill>
            <a:prstDash val="solid"/>
          </a:ln>
        </p:spPr>
      </p:sp>
      <p:sp>
        <p:nvSpPr>
          <p:cNvPr id="15" name="Shape 13"/>
          <p:cNvSpPr/>
          <p:nvPr/>
        </p:nvSpPr>
        <p:spPr>
          <a:xfrm>
            <a:off x="8119872" y="2148840"/>
            <a:ext cx="2487168" cy="457200"/>
          </a:xfrm>
          <a:prstGeom prst="rect">
            <a:avLst/>
          </a:prstGeom>
          <a:solidFill>
            <a:srgbClr val="16324F"/>
          </a:solidFill>
          <a:ln w="12700">
            <a:solidFill>
              <a:srgbClr val="16324F"/>
            </a:solidFill>
            <a:prstDash val="solid"/>
          </a:ln>
        </p:spPr>
      </p:sp>
      <p:sp>
        <p:nvSpPr>
          <p:cNvPr id="16" name="Shape 14"/>
          <p:cNvSpPr/>
          <p:nvPr/>
        </p:nvSpPr>
        <p:spPr>
          <a:xfrm>
            <a:off x="8467344" y="2898648"/>
            <a:ext cx="420624" cy="237744"/>
          </a:xfrm>
          <a:prstGeom prst="roundRect">
            <a:avLst>
              <a:gd name="adj" fmla="val 7692"/>
            </a:avLst>
          </a:prstGeom>
          <a:solidFill>
            <a:srgbClr val="F7FAFC"/>
          </a:solidFill>
          <a:ln w="6350">
            <a:solidFill>
              <a:srgbClr val="D8E6E8"/>
            </a:solidFill>
            <a:prstDash val="solid"/>
          </a:ln>
        </p:spPr>
      </p:sp>
      <p:sp>
        <p:nvSpPr>
          <p:cNvPr id="17" name="Shape 15"/>
          <p:cNvSpPr/>
          <p:nvPr/>
        </p:nvSpPr>
        <p:spPr>
          <a:xfrm>
            <a:off x="9125712" y="2898648"/>
            <a:ext cx="420624" cy="237744"/>
          </a:xfrm>
          <a:prstGeom prst="roundRect">
            <a:avLst>
              <a:gd name="adj" fmla="val 7692"/>
            </a:avLst>
          </a:prstGeom>
          <a:solidFill>
            <a:srgbClr val="F7FAFC"/>
          </a:solidFill>
          <a:ln w="6350">
            <a:solidFill>
              <a:srgbClr val="D8E6E8"/>
            </a:solidFill>
            <a:prstDash val="solid"/>
          </a:ln>
        </p:spPr>
      </p:sp>
      <p:sp>
        <p:nvSpPr>
          <p:cNvPr id="18" name="Shape 16"/>
          <p:cNvSpPr/>
          <p:nvPr/>
        </p:nvSpPr>
        <p:spPr>
          <a:xfrm>
            <a:off x="9784080" y="2898648"/>
            <a:ext cx="420624" cy="237744"/>
          </a:xfrm>
          <a:prstGeom prst="roundRect">
            <a:avLst>
              <a:gd name="adj" fmla="val 7692"/>
            </a:avLst>
          </a:prstGeom>
          <a:solidFill>
            <a:srgbClr val="F7FAFC"/>
          </a:solidFill>
          <a:ln w="6350">
            <a:solidFill>
              <a:srgbClr val="D8E6E8"/>
            </a:solidFill>
            <a:prstDash val="solid"/>
          </a:ln>
        </p:spPr>
      </p:sp>
      <p:sp>
        <p:nvSpPr>
          <p:cNvPr id="19" name="Shape 17"/>
          <p:cNvSpPr/>
          <p:nvPr/>
        </p:nvSpPr>
        <p:spPr>
          <a:xfrm>
            <a:off x="10442448" y="2898648"/>
            <a:ext cx="420624" cy="237744"/>
          </a:xfrm>
          <a:prstGeom prst="roundRect">
            <a:avLst>
              <a:gd name="adj" fmla="val 7692"/>
            </a:avLst>
          </a:prstGeom>
          <a:solidFill>
            <a:srgbClr val="F7FAFC"/>
          </a:solidFill>
          <a:ln w="6350">
            <a:solidFill>
              <a:srgbClr val="D8E6E8"/>
            </a:solidFill>
            <a:prstDash val="solid"/>
          </a:ln>
        </p:spPr>
      </p:sp>
      <p:sp>
        <p:nvSpPr>
          <p:cNvPr id="20" name="Shape 18"/>
          <p:cNvSpPr/>
          <p:nvPr/>
        </p:nvSpPr>
        <p:spPr>
          <a:xfrm>
            <a:off x="8467344" y="3337560"/>
            <a:ext cx="420624" cy="237744"/>
          </a:xfrm>
          <a:prstGeom prst="roundRect">
            <a:avLst>
              <a:gd name="adj" fmla="val 7692"/>
            </a:avLst>
          </a:prstGeom>
          <a:solidFill>
            <a:srgbClr val="F7FAFC"/>
          </a:solidFill>
          <a:ln w="6350">
            <a:solidFill>
              <a:srgbClr val="D8E6E8"/>
            </a:solidFill>
            <a:prstDash val="solid"/>
          </a:ln>
        </p:spPr>
      </p:sp>
      <p:sp>
        <p:nvSpPr>
          <p:cNvPr id="21" name="Shape 19"/>
          <p:cNvSpPr/>
          <p:nvPr/>
        </p:nvSpPr>
        <p:spPr>
          <a:xfrm>
            <a:off x="9125712" y="3337560"/>
            <a:ext cx="420624" cy="237744"/>
          </a:xfrm>
          <a:prstGeom prst="roundRect">
            <a:avLst>
              <a:gd name="adj" fmla="val 7692"/>
            </a:avLst>
          </a:prstGeom>
          <a:solidFill>
            <a:srgbClr val="EAF7F7"/>
          </a:solidFill>
          <a:ln w="6350">
            <a:solidFill>
              <a:srgbClr val="D8E6E8"/>
            </a:solidFill>
            <a:prstDash val="solid"/>
          </a:ln>
        </p:spPr>
      </p:sp>
      <p:sp>
        <p:nvSpPr>
          <p:cNvPr id="22" name="Shape 20"/>
          <p:cNvSpPr/>
          <p:nvPr/>
        </p:nvSpPr>
        <p:spPr>
          <a:xfrm>
            <a:off x="9784080" y="3337560"/>
            <a:ext cx="420624" cy="237744"/>
          </a:xfrm>
          <a:prstGeom prst="roundRect">
            <a:avLst>
              <a:gd name="adj" fmla="val 7692"/>
            </a:avLst>
          </a:prstGeom>
          <a:solidFill>
            <a:srgbClr val="F7FAFC"/>
          </a:solidFill>
          <a:ln w="6350">
            <a:solidFill>
              <a:srgbClr val="D8E6E8"/>
            </a:solidFill>
            <a:prstDash val="solid"/>
          </a:ln>
        </p:spPr>
      </p:sp>
      <p:sp>
        <p:nvSpPr>
          <p:cNvPr id="23" name="Shape 21"/>
          <p:cNvSpPr/>
          <p:nvPr/>
        </p:nvSpPr>
        <p:spPr>
          <a:xfrm>
            <a:off x="10442448" y="3337560"/>
            <a:ext cx="420624" cy="237744"/>
          </a:xfrm>
          <a:prstGeom prst="roundRect">
            <a:avLst>
              <a:gd name="adj" fmla="val 7692"/>
            </a:avLst>
          </a:prstGeom>
          <a:solidFill>
            <a:srgbClr val="F7FAFC"/>
          </a:solidFill>
          <a:ln w="6350">
            <a:solidFill>
              <a:srgbClr val="D8E6E8"/>
            </a:solidFill>
            <a:prstDash val="solid"/>
          </a:ln>
        </p:spPr>
      </p:sp>
      <p:sp>
        <p:nvSpPr>
          <p:cNvPr id="24" name="Shape 22"/>
          <p:cNvSpPr/>
          <p:nvPr/>
        </p:nvSpPr>
        <p:spPr>
          <a:xfrm>
            <a:off x="8467344" y="3776472"/>
            <a:ext cx="420624" cy="237744"/>
          </a:xfrm>
          <a:prstGeom prst="roundRect">
            <a:avLst>
              <a:gd name="adj" fmla="val 7692"/>
            </a:avLst>
          </a:prstGeom>
          <a:solidFill>
            <a:srgbClr val="F7FAFC"/>
          </a:solidFill>
          <a:ln w="6350">
            <a:solidFill>
              <a:srgbClr val="D8E6E8"/>
            </a:solidFill>
            <a:prstDash val="solid"/>
          </a:ln>
        </p:spPr>
      </p:sp>
      <p:sp>
        <p:nvSpPr>
          <p:cNvPr id="25" name="Shape 23"/>
          <p:cNvSpPr/>
          <p:nvPr/>
        </p:nvSpPr>
        <p:spPr>
          <a:xfrm>
            <a:off x="9125712" y="3776472"/>
            <a:ext cx="420624" cy="237744"/>
          </a:xfrm>
          <a:prstGeom prst="roundRect">
            <a:avLst>
              <a:gd name="adj" fmla="val 7692"/>
            </a:avLst>
          </a:prstGeom>
          <a:solidFill>
            <a:srgbClr val="F7FAFC"/>
          </a:solidFill>
          <a:ln w="6350">
            <a:solidFill>
              <a:srgbClr val="D8E6E8"/>
            </a:solidFill>
            <a:prstDash val="solid"/>
          </a:ln>
        </p:spPr>
      </p:sp>
      <p:sp>
        <p:nvSpPr>
          <p:cNvPr id="26" name="Shape 24"/>
          <p:cNvSpPr/>
          <p:nvPr/>
        </p:nvSpPr>
        <p:spPr>
          <a:xfrm>
            <a:off x="9784080" y="3776472"/>
            <a:ext cx="420624" cy="237744"/>
          </a:xfrm>
          <a:prstGeom prst="roundRect">
            <a:avLst>
              <a:gd name="adj" fmla="val 7692"/>
            </a:avLst>
          </a:prstGeom>
          <a:solidFill>
            <a:srgbClr val="F7FAFC"/>
          </a:solidFill>
          <a:ln w="6350">
            <a:solidFill>
              <a:srgbClr val="D8E6E8"/>
            </a:solidFill>
            <a:prstDash val="solid"/>
          </a:ln>
        </p:spPr>
      </p:sp>
      <p:sp>
        <p:nvSpPr>
          <p:cNvPr id="27" name="Shape 25"/>
          <p:cNvSpPr/>
          <p:nvPr/>
        </p:nvSpPr>
        <p:spPr>
          <a:xfrm>
            <a:off x="10442448" y="3776472"/>
            <a:ext cx="420624" cy="237744"/>
          </a:xfrm>
          <a:prstGeom prst="roundRect">
            <a:avLst>
              <a:gd name="adj" fmla="val 7692"/>
            </a:avLst>
          </a:prstGeom>
          <a:solidFill>
            <a:srgbClr val="EAF7F7"/>
          </a:solidFill>
          <a:ln w="6350">
            <a:solidFill>
              <a:srgbClr val="D8E6E8"/>
            </a:solidFill>
            <a:prstDash val="solid"/>
          </a:ln>
        </p:spPr>
      </p:sp>
      <p:sp>
        <p:nvSpPr>
          <p:cNvPr id="28" name="Text 26"/>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Practice before pressure</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29/40</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wants to overprice</a:t>
            </a:r>
            <a:endParaRPr lang="en-US" sz="30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30/40</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"Use AI to practice the conversation without making predictions or giving financial advice. Prompt: Act as a cautious buyer who wants to wait for rates to drop. Help me respond in a way that is educational, not pushy. Challenge any claims that sound too certain."</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31/40</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32/40</a:t>
            </a:r>
            <a:endParaRPr lang="en-US" sz="7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33/40</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868680" y="1828800"/>
            <a:ext cx="6446520" cy="3931920"/>
          </a:xfrm>
          <a:prstGeom prst="rect">
            <a:avLst/>
          </a:prstGeom>
          <a:noFill/>
          <a:ln/>
        </p:spPr>
        <p:txBody>
          <a:bodyPr wrap="square" lIns="254" tIns="254" rIns="254" bIns="254" rtlCol="0" anchor="t">
            <a:normAutofit/>
          </a:bodyPr>
          <a:lstStyle/>
          <a:p>
            <a:pPr marL="203200" indent="-203200">
              <a:buSzPct val="100000"/>
              <a:buChar char="•"/>
            </a:pPr>
            <a:r>
              <a:rPr lang="en-US" sz="1720" dirty="0">
                <a:solidFill>
                  <a:srgbClr val="102033"/>
                </a:solidFill>
                <a:latin typeface="Aptos" pitchFamily="34" charset="0"/>
                <a:ea typeface="Aptos" pitchFamily="34" charset="-122"/>
                <a:cs typeface="Aptos" pitchFamily="34" charset="-120"/>
              </a:rPr>
              <a:t>Protect private client information.</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Review all output before use.</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Follow brokerage policies, MLS rules, and advertising requirements.</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Avoid discriminatory targeting or language.</a:t>
            </a:r>
            <a:endParaRPr lang="en-US" sz="1720" dirty="0"/>
          </a:p>
          <a:p>
            <a:pPr marL="203200" indent="-203200">
              <a:buSzPct val="100000"/>
              <a:buChar char="•"/>
            </a:pPr>
            <a:r>
              <a:rPr lang="en-US" sz="1720" dirty="0">
                <a:solidFill>
                  <a:srgbClr val="102033"/>
                </a:solidFill>
                <a:latin typeface="Aptos" pitchFamily="34" charset="0"/>
                <a:ea typeface="Aptos" pitchFamily="34" charset="-122"/>
                <a:cs typeface="Aptos" pitchFamily="34" charset="-120"/>
              </a:rPr>
              <a:t>Use AI to support professional judgment, not replace it.</a:t>
            </a:r>
            <a:endParaRPr lang="en-US" sz="1720" dirty="0"/>
          </a:p>
        </p:txBody>
      </p:sp>
      <p:sp>
        <p:nvSpPr>
          <p:cNvPr id="12" name="Shape 10"/>
          <p:cNvSpPr/>
          <p:nvPr/>
        </p:nvSpPr>
        <p:spPr>
          <a:xfrm>
            <a:off x="7571232" y="1682496"/>
            <a:ext cx="91440" cy="3291840"/>
          </a:xfrm>
          <a:prstGeom prst="rect">
            <a:avLst/>
          </a:prstGeom>
          <a:solidFill>
            <a:srgbClr val="2E7D5B"/>
          </a:solidFill>
          <a:ln w="12700">
            <a:solidFill>
              <a:srgbClr val="2E7D5B"/>
            </a:solidFill>
            <a:prstDash val="solid"/>
          </a:ln>
        </p:spPr>
      </p:sp>
      <p:sp>
        <p:nvSpPr>
          <p:cNvPr id="13" name="Shape 11"/>
          <p:cNvSpPr/>
          <p:nvPr/>
        </p:nvSpPr>
        <p:spPr>
          <a:xfrm>
            <a:off x="7754112" y="1783080"/>
            <a:ext cx="3063240" cy="3063240"/>
          </a:xfrm>
          <a:prstGeom prst="roundRect">
            <a:avLst>
              <a:gd name="adj" fmla="val 1791"/>
            </a:avLst>
          </a:prstGeom>
          <a:solidFill>
            <a:srgbClr val="FFF0EF"/>
          </a:solidFill>
          <a:ln w="10160">
            <a:solidFill>
              <a:srgbClr val="C9DFE5"/>
            </a:solidFill>
            <a:prstDash val="solid"/>
          </a:ln>
        </p:spPr>
      </p:sp>
      <p:sp>
        <p:nvSpPr>
          <p:cNvPr id="14" name="Shape 12"/>
          <p:cNvSpPr/>
          <p:nvPr/>
        </p:nvSpPr>
        <p:spPr>
          <a:xfrm>
            <a:off x="8138160" y="2148840"/>
            <a:ext cx="2468880" cy="2194560"/>
          </a:xfrm>
          <a:prstGeom prst="roundRect">
            <a:avLst>
              <a:gd name="adj" fmla="val 2500"/>
            </a:avLst>
          </a:prstGeom>
          <a:solidFill>
            <a:srgbClr val="FFFFFF"/>
          </a:solidFill>
          <a:ln w="10160">
            <a:solidFill>
              <a:srgbClr val="C9DFE5"/>
            </a:solidFill>
            <a:prstDash val="solid"/>
          </a:ln>
        </p:spPr>
      </p:sp>
      <p:sp>
        <p:nvSpPr>
          <p:cNvPr id="15" name="Shape 13"/>
          <p:cNvSpPr/>
          <p:nvPr/>
        </p:nvSpPr>
        <p:spPr>
          <a:xfrm>
            <a:off x="8430768" y="2496312"/>
            <a:ext cx="219456" cy="219456"/>
          </a:xfrm>
          <a:prstGeom prst="roundRect">
            <a:avLst>
              <a:gd name="adj" fmla="val 12500"/>
            </a:avLst>
          </a:prstGeom>
          <a:solidFill>
            <a:srgbClr val="008F8F"/>
          </a:solidFill>
          <a:ln w="12700">
            <a:solidFill>
              <a:srgbClr val="008F8F"/>
            </a:solidFill>
            <a:prstDash val="solid"/>
          </a:ln>
        </p:spPr>
      </p:sp>
      <p:sp>
        <p:nvSpPr>
          <p:cNvPr id="16" name="Text 14"/>
          <p:cNvSpPr/>
          <p:nvPr/>
        </p:nvSpPr>
        <p:spPr>
          <a:xfrm>
            <a:off x="8823960" y="2523744"/>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Private</a:t>
            </a:r>
            <a:endParaRPr lang="en-US" sz="1050" dirty="0"/>
          </a:p>
        </p:txBody>
      </p:sp>
      <p:sp>
        <p:nvSpPr>
          <p:cNvPr id="17" name="Shape 15"/>
          <p:cNvSpPr/>
          <p:nvPr/>
        </p:nvSpPr>
        <p:spPr>
          <a:xfrm>
            <a:off x="8430768" y="2935224"/>
            <a:ext cx="219456" cy="219456"/>
          </a:xfrm>
          <a:prstGeom prst="roundRect">
            <a:avLst>
              <a:gd name="adj" fmla="val 12500"/>
            </a:avLst>
          </a:prstGeom>
          <a:solidFill>
            <a:srgbClr val="008F8F"/>
          </a:solidFill>
          <a:ln w="12700">
            <a:solidFill>
              <a:srgbClr val="008F8F"/>
            </a:solidFill>
            <a:prstDash val="solid"/>
          </a:ln>
        </p:spPr>
      </p:sp>
      <p:sp>
        <p:nvSpPr>
          <p:cNvPr id="18" name="Text 16"/>
          <p:cNvSpPr/>
          <p:nvPr/>
        </p:nvSpPr>
        <p:spPr>
          <a:xfrm>
            <a:off x="8823960" y="2962656"/>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Verified</a:t>
            </a:r>
            <a:endParaRPr lang="en-US" sz="1050" dirty="0"/>
          </a:p>
        </p:txBody>
      </p:sp>
      <p:sp>
        <p:nvSpPr>
          <p:cNvPr id="19" name="Shape 17"/>
          <p:cNvSpPr/>
          <p:nvPr/>
        </p:nvSpPr>
        <p:spPr>
          <a:xfrm>
            <a:off x="8430768" y="3374136"/>
            <a:ext cx="219456" cy="219456"/>
          </a:xfrm>
          <a:prstGeom prst="roundRect">
            <a:avLst>
              <a:gd name="adj" fmla="val 12500"/>
            </a:avLst>
          </a:prstGeom>
          <a:solidFill>
            <a:srgbClr val="008F8F"/>
          </a:solidFill>
          <a:ln w="12700">
            <a:solidFill>
              <a:srgbClr val="008F8F"/>
            </a:solidFill>
            <a:prstDash val="solid"/>
          </a:ln>
        </p:spPr>
      </p:sp>
      <p:sp>
        <p:nvSpPr>
          <p:cNvPr id="20" name="Text 18"/>
          <p:cNvSpPr/>
          <p:nvPr/>
        </p:nvSpPr>
        <p:spPr>
          <a:xfrm>
            <a:off x="8823960" y="3401568"/>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Compliant</a:t>
            </a:r>
            <a:endParaRPr lang="en-US" sz="1050" dirty="0"/>
          </a:p>
        </p:txBody>
      </p:sp>
      <p:sp>
        <p:nvSpPr>
          <p:cNvPr id="21" name="Shape 19"/>
          <p:cNvSpPr/>
          <p:nvPr/>
        </p:nvSpPr>
        <p:spPr>
          <a:xfrm>
            <a:off x="8430768" y="3813048"/>
            <a:ext cx="219456" cy="219456"/>
          </a:xfrm>
          <a:prstGeom prst="roundRect">
            <a:avLst>
              <a:gd name="adj" fmla="val 12500"/>
            </a:avLst>
          </a:prstGeom>
          <a:solidFill>
            <a:srgbClr val="F2B84B"/>
          </a:solidFill>
          <a:ln w="12700">
            <a:solidFill>
              <a:srgbClr val="F2B84B"/>
            </a:solidFill>
            <a:prstDash val="solid"/>
          </a:ln>
        </p:spPr>
      </p:sp>
      <p:sp>
        <p:nvSpPr>
          <p:cNvPr id="22" name="Text 20"/>
          <p:cNvSpPr/>
          <p:nvPr/>
        </p:nvSpPr>
        <p:spPr>
          <a:xfrm>
            <a:off x="8823960" y="3840480"/>
            <a:ext cx="1554480" cy="109728"/>
          </a:xfrm>
          <a:prstGeom prst="rect">
            <a:avLst/>
          </a:prstGeom>
          <a:noFill/>
          <a:ln/>
        </p:spPr>
        <p:txBody>
          <a:bodyPr wrap="square" lIns="0" tIns="0" rIns="0" bIns="0" rtlCol="0" anchor="ctr"/>
          <a:lstStyle/>
          <a:p>
            <a:pPr indent="0" marL="0">
              <a:buNone/>
            </a:pPr>
            <a:r>
              <a:rPr lang="en-US" sz="1050" b="1" dirty="0">
                <a:solidFill>
                  <a:srgbClr val="102033"/>
                </a:solidFill>
              </a:rPr>
              <a:t>Reviewed</a:t>
            </a:r>
            <a:endParaRPr lang="en-US" sz="1050" dirty="0"/>
          </a:p>
        </p:txBody>
      </p:sp>
      <p:sp>
        <p:nvSpPr>
          <p:cNvPr id="23" name="Text 21"/>
          <p:cNvSpPr/>
          <p:nvPr/>
        </p:nvSpPr>
        <p:spPr>
          <a:xfrm>
            <a:off x="8065008" y="5102352"/>
            <a:ext cx="2560320" cy="201168"/>
          </a:xfrm>
          <a:prstGeom prst="rect">
            <a:avLst/>
          </a:prstGeom>
          <a:noFill/>
          <a:ln/>
        </p:spPr>
        <p:txBody>
          <a:bodyPr wrap="square" lIns="0" tIns="0" rIns="0" bIns="0" rtlCol="0" anchor="ctr">
            <a:normAutofit/>
          </a:bodyPr>
          <a:lstStyle/>
          <a:p>
            <a:pPr indent="0" marL="0">
              <a:buNone/>
            </a:pPr>
            <a:r>
              <a:rPr lang="en-US" sz="1050" b="1" dirty="0">
                <a:solidFill>
                  <a:srgbClr val="16324F"/>
                </a:solidFill>
              </a:rPr>
              <a:t>Review before use</a:t>
            </a:r>
            <a:endParaRPr lang="en-US" sz="1050" dirty="0"/>
          </a:p>
        </p:txBody>
      </p:sp>
      <p:sp>
        <p:nvSpPr>
          <p:cNvPr id="24" name="Shape 22"/>
          <p:cNvSpPr/>
          <p:nvPr/>
        </p:nvSpPr>
        <p:spPr>
          <a:xfrm>
            <a:off x="502920" y="6473952"/>
            <a:ext cx="11201400" cy="0"/>
          </a:xfrm>
          <a:prstGeom prst="line">
            <a:avLst/>
          </a:prstGeom>
          <a:noFill/>
          <a:ln w="9525">
            <a:solidFill>
              <a:srgbClr val="D8E6E8"/>
            </a:solidFill>
            <a:prstDash val="solid"/>
          </a:ln>
        </p:spPr>
      </p:sp>
      <p:sp>
        <p:nvSpPr>
          <p:cNvPr id="25" name="Text 2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6" name="Text 2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34/40</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1947672"/>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Private data</a:t>
            </a:r>
            <a:endParaRPr lang="en-US" sz="1030" dirty="0"/>
          </a:p>
        </p:txBody>
      </p:sp>
      <p:sp>
        <p:nvSpPr>
          <p:cNvPr id="13" name="Text 11"/>
          <p:cNvSpPr/>
          <p:nvPr/>
        </p:nvSpPr>
        <p:spPr>
          <a:xfrm>
            <a:off x="3310128" y="1911096"/>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Remove names, contact info, financial details, and sensitive context before using public tools.</a:t>
            </a:r>
            <a:endParaRPr lang="en-US" sz="1130" dirty="0"/>
          </a:p>
        </p:txBody>
      </p:sp>
      <p:sp>
        <p:nvSpPr>
          <p:cNvPr id="14" name="Shape 12"/>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2788920"/>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Advertising</a:t>
            </a:r>
            <a:endParaRPr lang="en-US" sz="1030" dirty="0"/>
          </a:p>
        </p:txBody>
      </p:sp>
      <p:sp>
        <p:nvSpPr>
          <p:cNvPr id="16" name="Text 14"/>
          <p:cNvSpPr/>
          <p:nvPr/>
        </p:nvSpPr>
        <p:spPr>
          <a:xfrm>
            <a:off x="3310128" y="2752344"/>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Review claims, disclosures, brokerage rules, and platform requirements.</a:t>
            </a:r>
            <a:endParaRPr lang="en-US" sz="1130" dirty="0"/>
          </a:p>
        </p:txBody>
      </p:sp>
      <p:sp>
        <p:nvSpPr>
          <p:cNvPr id="17" name="Shape 15"/>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8" name="Text 16"/>
          <p:cNvSpPr/>
          <p:nvPr/>
        </p:nvSpPr>
        <p:spPr>
          <a:xfrm>
            <a:off x="1115568" y="3630168"/>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MLS</a:t>
            </a:r>
            <a:endParaRPr lang="en-US" sz="1030" dirty="0"/>
          </a:p>
        </p:txBody>
      </p:sp>
      <p:sp>
        <p:nvSpPr>
          <p:cNvPr id="19" name="Text 17"/>
          <p:cNvSpPr/>
          <p:nvPr/>
        </p:nvSpPr>
        <p:spPr>
          <a:xfrm>
            <a:off x="3310128" y="3593592"/>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Follow MLS rules for listing data, remarks, photos, and public display.</a:t>
            </a:r>
            <a:endParaRPr lang="en-US" sz="1130" dirty="0"/>
          </a:p>
        </p:txBody>
      </p:sp>
      <p:sp>
        <p:nvSpPr>
          <p:cNvPr id="20" name="Shape 18"/>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21" name="Text 19"/>
          <p:cNvSpPr/>
          <p:nvPr/>
        </p:nvSpPr>
        <p:spPr>
          <a:xfrm>
            <a:off x="1115568" y="4471416"/>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Consumer communication</a:t>
            </a:r>
            <a:endParaRPr lang="en-US" sz="1030" dirty="0"/>
          </a:p>
        </p:txBody>
      </p:sp>
      <p:sp>
        <p:nvSpPr>
          <p:cNvPr id="22" name="Text 20"/>
          <p:cNvSpPr/>
          <p:nvPr/>
        </p:nvSpPr>
        <p:spPr>
          <a:xfrm>
            <a:off x="3310128" y="4434840"/>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Keep records, respect opt-outs, and do not automate beyond policy.</a:t>
            </a:r>
            <a:endParaRPr lang="en-US" sz="113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35/40</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36/40</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7" name="Shape 25"/>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8" name="Shape 26"/>
          <p:cNvSpPr/>
          <p:nvPr/>
        </p:nvSpPr>
        <p:spPr>
          <a:xfrm>
            <a:off x="1078992" y="4297680"/>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37/40</a:t>
            </a:r>
            <a:endParaRPr lang="en-US" sz="72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SAVE CONTEXT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prompt</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verified fact block</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final reviewed version</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Note what worked</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Reuse as a template next time</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38/40</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What should change after today</a:t>
            </a:r>
            <a:endParaRPr lang="en-US" sz="3000" dirty="0"/>
          </a:p>
        </p:txBody>
      </p:sp>
      <p:sp>
        <p:nvSpPr>
          <p:cNvPr id="11" name="Text 9"/>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12" name="Shape 10"/>
          <p:cNvSpPr/>
          <p:nvPr/>
        </p:nvSpPr>
        <p:spPr>
          <a:xfrm>
            <a:off x="502920" y="6473952"/>
            <a:ext cx="11201400" cy="0"/>
          </a:xfrm>
          <a:prstGeom prst="line">
            <a:avLst/>
          </a:prstGeom>
          <a:noFill/>
          <a:ln w="9525">
            <a:solidFill>
              <a:srgbClr val="D8E6E8"/>
            </a:solidFill>
            <a:prstDash val="solid"/>
          </a:ln>
        </p:spPr>
      </p:sp>
      <p:sp>
        <p:nvSpPr>
          <p:cNvPr id="13" name="Text 1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4" name="Text 1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39/40</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ACTION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what worked</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before using with clients</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40/40</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2026-06-04T19:24:14Z</dcterms:created>
  <dcterms:modified xsi:type="dcterms:W3CDTF">2026-06-04T19:24:14Z</dcterms:modified>
</cp:coreProperties>
</file>