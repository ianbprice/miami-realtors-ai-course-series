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3" r:id="rId3"/>
    <p:sldId id="257" r:id="rId4"/>
    <p:sldId id="258" r:id="rId5"/>
    <p:sldId id="259" r:id="rId6"/>
    <p:sldId id="260" r:id="rId7"/>
    <p:sldId id="261" r:id="rId8"/>
    <p:sldId id="262" r:id="rId9"/>
    <p:sldId id="263" r:id="rId10"/>
    <p:sldId id="264" r:id="rId11"/>
    <p:sldId id="302"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B84B"/>
    <a:srgbClr val="008F8F"/>
    <a:srgbClr val="2F80ED"/>
    <a:srgbClr val="F45B69"/>
    <a:srgbClr val="2E7D5B"/>
    <a:srgbClr val="616161"/>
    <a:srgbClr val="F7FAFC"/>
    <a:srgbClr val="1632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456F2-1E1A-D10A-D146-D44CE9864606}" v="79" dt="2026-06-09T14:48:36.931"/>
    <p1510:client id="{E2F479CD-5255-0F3B-51F6-0F616939054B}" v="60" dt="2026-06-09T14:08:10.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904" autoAdjust="0"/>
  </p:normalViewPr>
  <p:slideViewPr>
    <p:cSldViewPr snapToGrid="0">
      <p:cViewPr>
        <p:scale>
          <a:sx n="100" d="100"/>
          <a:sy n="100" d="100"/>
        </p:scale>
        <p:origin x="3067" y="432"/>
      </p:cViewPr>
      <p:guideLst>
        <p:guide orient="horz" pos="211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4270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attendees. Set expectations: practical, non-technical, compliance-aware, and vendor-neutral.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course-theme version of the MIAMI Antitrust Policy slide. Display before any substantive course content if using this version.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the instructor context brief. Mention GoHouse.ai only as professional background, not as a product pitch.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approved learning objectives, rewritten for a live workshop slide. The full formal objectives remain preserved in the approved syllabus and can be referenced verbally if needed.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timing as the approved two-hour path. The segments total 120 minutes. Exercises may expand or compress slightly, but keep the overall class within two hours.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to texts, emails, listing notes, showing feedback, and CRM updates.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Contrast a vague social post prompt with a repeatable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down one task for later exercises.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F35E2-B2A4-C921-F50A-F0BD7D6E6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8C7B2-DE8A-FEC6-6D92-9B6DF8281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07AA8-17E1-1A57-7F12-48CAEDA0A483}"/>
              </a:ext>
            </a:extLst>
          </p:cNvPr>
          <p:cNvSpPr>
            <a:spLocks noGrp="1"/>
          </p:cNvSpPr>
          <p:nvPr>
            <p:ph type="body" idx="1"/>
          </p:nvPr>
        </p:nvSpPr>
        <p:spPr/>
        <p:txBody>
          <a:bodyPr/>
          <a:lstStyle/>
          <a:p>
            <a:r>
              <a:rPr lang="en-US"/>
              <a:t>Explain that AI predicts useful language; it does not verify your facts.</a:t>
            </a:r>
          </a:p>
        </p:txBody>
      </p:sp>
      <p:sp>
        <p:nvSpPr>
          <p:cNvPr id="4" name="Slide Number Placeholder 3">
            <a:extLst>
              <a:ext uri="{FF2B5EF4-FFF2-40B4-BE49-F238E27FC236}">
                <a16:creationId xmlns:a16="http://schemas.microsoft.com/office/drawing/2014/main" id="{F1226B08-F5E7-58A4-B263-40ED75BC048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8853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review lens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that the prompt provides facts, tone, constraints, and review boundaries.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this formula repeatedly.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how the formula becomes a usable prompt. Keep the prompt readable and emphasize role, task, context, tone, constraints, and goal.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empathy, value, and easy next question. Avoid lender-specific promises.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no panic, no blame, no invented stats.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Encourage attendees to save prompts that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examples: portal, IDX, open house, valuation lead, old database contact, referral, social media lead, and sign call.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imply AI should auto-send without human review. Different lead sources need different first responses because the relationship context is different.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that availability must be verified. This is a sample lead created for classroom safety.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measurement simple. Add appointments per 100 leads as an optional metric for teams or brokers.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Warn against asking AI to invent descriptions from an address. MLS information still requires human review because MLS data is entered by people and can contain mistakes.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useful copy without protected-class language, exaggerated claims, or unsupported details.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Teach agents to preserve a clean source facts block manually in the same chat or notes. Do not claim AI memory is reliable by itself.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value is preparation and clarity, not replacing experience.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the room identify better language for pricing conversations.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Clarify that this is an objection-practice example, not a rate prediction slide. Avoid rate predictions and financial advice. Suggest lender involvement for specifics.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Small repeated usage beats one dramatic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one workflow they will actually use.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 Encourage attendees to customize the bracketed fields.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AI output repeatable, save the prompt, the verified fact block, the tone instruction, the final reviewed version, and the reason it worked.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 Id="rId6" Type="http://schemas.openxmlformats.org/officeDocument/2006/relationships/image" Target="../media/image9.svg"/><Relationship Id="rId7" Type="http://schemas.openxmlformats.org/officeDocument/2006/relationships/image" Target="../media/image10.svg"/><Relationship Id="rId8" Type="http://schemas.openxmlformats.org/officeDocument/2006/relationships/image" Target="../media/image11.svg"/><Relationship Id="rId9" Type="http://schemas.openxmlformats.org/officeDocument/2006/relationships/image" Target="../media/image12.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5.pn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8.svg"/><Relationship Id="rId10"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92" y="-32101"/>
            <a:ext cx="12191695" cy="6858000"/>
          </a:xfrm>
          <a:prstGeom prst="rect">
            <a:avLst/>
          </a:prstGeom>
          <a:solidFill>
            <a:srgbClr val="16324F"/>
          </a:solidFill>
          <a:ln w="12700">
            <a:solidFill>
              <a:srgbClr val="16324F"/>
            </a:solidFill>
            <a:prstDash val="solid"/>
          </a:ln>
        </p:spPr>
        <p:txBody>
          <a:bodyPr/>
          <a:lstStyle/>
          <a:p>
            <a:endParaRPr lang="en-US"/>
          </a:p>
        </p:txBody>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txBody>
          <a:bodyPr/>
          <a:lstStyle/>
          <a:p>
            <a:endParaRPr lang="en-US"/>
          </a:p>
        </p:txBody>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txBody>
          <a:bodyPr/>
          <a:lstStyle/>
          <a:p>
            <a:endParaRPr lang="en-US"/>
          </a:p>
        </p:txBody>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txBody>
          <a:bodyPr/>
          <a:lstStyle/>
          <a:p>
            <a:endParaRPr lang="en-US"/>
          </a:p>
        </p:txBody>
      </p:sp>
      <p:sp>
        <p:nvSpPr>
          <p:cNvPr id="6" name="Shape 4"/>
          <p:cNvSpPr/>
          <p:nvPr/>
        </p:nvSpPr>
        <p:spPr>
          <a:xfrm>
            <a:off x="7025842" y="1899377"/>
            <a:ext cx="3035808" cy="2431835"/>
          </a:xfrm>
          <a:prstGeom prst="roundRect">
            <a:avLst>
              <a:gd name="adj" fmla="val 2927"/>
            </a:avLst>
          </a:prstGeom>
          <a:solidFill>
            <a:srgbClr val="1E4768">
              <a:alpha val="27000"/>
            </a:srgbClr>
          </a:solidFill>
          <a:ln w="12700">
            <a:solidFill>
              <a:srgbClr val="5FBDBD">
                <a:alpha val="55000"/>
              </a:srgbClr>
            </a:solidFill>
            <a:prstDash val="solid"/>
          </a:ln>
        </p:spPr>
        <p:txBody>
          <a:bodyPr/>
          <a:lstStyle/>
          <a:p>
            <a:endParaRPr lang="en-US" dirty="0"/>
          </a:p>
        </p:txBody>
      </p:sp>
      <p:sp>
        <p:nvSpPr>
          <p:cNvPr id="7" name="Text 5"/>
          <p:cNvSpPr/>
          <p:nvPr/>
        </p:nvSpPr>
        <p:spPr>
          <a:xfrm>
            <a:off x="7323824" y="2097110"/>
            <a:ext cx="2724184" cy="258363"/>
          </a:xfrm>
          <a:prstGeom prst="rect">
            <a:avLst/>
          </a:prstGeom>
          <a:noFill/>
          <a:ln/>
        </p:spPr>
        <p:txBody>
          <a:bodyPr wrap="square" lIns="0" tIns="0" rIns="0" bIns="0" rtlCol="0" anchor="ctr"/>
          <a:lstStyle/>
          <a:p>
            <a:pPr marL="0" indent="0">
              <a:buNone/>
            </a:pPr>
            <a:r>
              <a:rPr lang="en-US" sz="1600" b="1" dirty="0">
                <a:solidFill>
                  <a:srgbClr val="F2B84B"/>
                </a:solidFill>
              </a:rPr>
              <a:t>Practical workshop focus</a:t>
            </a:r>
            <a:endParaRPr lang="en-US" sz="1600" dirty="0"/>
          </a:p>
        </p:txBody>
      </p:sp>
      <p:sp>
        <p:nvSpPr>
          <p:cNvPr id="8" name="Text 6"/>
          <p:cNvSpPr/>
          <p:nvPr/>
        </p:nvSpPr>
        <p:spPr>
          <a:xfrm>
            <a:off x="7636937" y="2630084"/>
            <a:ext cx="2014174" cy="1239425"/>
          </a:xfrm>
          <a:prstGeom prst="rect">
            <a:avLst/>
          </a:prstGeom>
          <a:noFill/>
          <a:ln/>
        </p:spPr>
        <p:txBody>
          <a:bodyPr wrap="square" lIns="254" tIns="254" rIns="254" bIns="254" rtlCol="0" anchor="ctr">
            <a:noAutofit/>
          </a:bodyPr>
          <a:lstStyle/>
          <a:p>
            <a:pPr marL="0" indent="0">
              <a:buNone/>
            </a:pPr>
            <a:r>
              <a:rPr lang="en-US" sz="1600" dirty="0">
                <a:solidFill>
                  <a:srgbClr val="D7EDEE"/>
                </a:solidFill>
              </a:rPr>
              <a:t>Client messages</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Lead follow-up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Listing prep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Appointment prep</a:t>
            </a:r>
            <a:endParaRPr lang="en-US" sz="1600" dirty="0"/>
          </a:p>
        </p:txBody>
      </p:sp>
      <p:sp>
        <p:nvSpPr>
          <p:cNvPr id="9" name="Text 7"/>
          <p:cNvSpPr/>
          <p:nvPr/>
        </p:nvSpPr>
        <p:spPr>
          <a:xfrm>
            <a:off x="615138" y="685800"/>
            <a:ext cx="6217920" cy="228600"/>
          </a:xfrm>
          <a:prstGeom prst="rect">
            <a:avLst/>
          </a:prstGeom>
          <a:noFill/>
          <a:ln/>
        </p:spPr>
        <p:txBody>
          <a:bodyPr wrap="square" lIns="0" tIns="0" rIns="0" bIns="0" rtlCol="0" anchor="ctr"/>
          <a:lstStyle/>
          <a:p>
            <a:pPr marL="0" indent="0">
              <a:buNone/>
            </a:pPr>
            <a:r>
              <a:rPr lang="en-US" sz="1100" b="1">
                <a:solidFill>
                  <a:srgbClr val="F2B84B"/>
                </a:solidFill>
              </a:rPr>
              <a:t>APPROVED REAL ESTATE EDUCATION COURSE</a:t>
            </a:r>
            <a:endParaRPr lang="en-US" sz="1100" dirty="0"/>
          </a:p>
        </p:txBody>
      </p:sp>
      <p:sp>
        <p:nvSpPr>
          <p:cNvPr id="10" name="Text 8"/>
          <p:cNvSpPr/>
          <p:nvPr/>
        </p:nvSpPr>
        <p:spPr>
          <a:xfrm>
            <a:off x="622894" y="956253"/>
            <a:ext cx="8961120" cy="960329"/>
          </a:xfrm>
          <a:prstGeom prst="rect">
            <a:avLst/>
          </a:prstGeom>
          <a:noFill/>
          <a:ln/>
        </p:spPr>
        <p:txBody>
          <a:bodyPr wrap="square" lIns="0" tIns="0" rIns="0" bIns="0" rtlCol="0" anchor="ctr">
            <a:normAutofit/>
          </a:bodyPr>
          <a:lstStyle/>
          <a:p>
            <a:pPr marL="0" indent="0">
              <a:buNone/>
            </a:pPr>
            <a:r>
              <a:rPr lang="en-US" sz="5000" b="1" dirty="0">
                <a:solidFill>
                  <a:srgbClr val="FFFFFF"/>
                </a:solidFill>
                <a:latin typeface="Aptos Display" pitchFamily="34" charset="0"/>
                <a:ea typeface="Aptos Display" pitchFamily="34" charset="-122"/>
                <a:cs typeface="Aptos Display" pitchFamily="34" charset="-120"/>
              </a:rPr>
              <a:t>AI for Real Estate Sales</a:t>
            </a:r>
            <a:endParaRPr lang="en-US" sz="5000" dirty="0"/>
          </a:p>
        </p:txBody>
      </p:sp>
      <p:sp>
        <p:nvSpPr>
          <p:cNvPr id="11" name="Text 9"/>
          <p:cNvSpPr/>
          <p:nvPr/>
        </p:nvSpPr>
        <p:spPr>
          <a:xfrm>
            <a:off x="607754" y="1888333"/>
            <a:ext cx="3822189" cy="411480"/>
          </a:xfrm>
          <a:prstGeom prst="rect">
            <a:avLst/>
          </a:prstGeom>
          <a:noFill/>
          <a:ln/>
        </p:spPr>
        <p:txBody>
          <a:bodyPr wrap="square" lIns="0" tIns="0" rIns="0" bIns="0" rtlCol="0" anchor="ctr"/>
          <a:lstStyle/>
          <a:p>
            <a:pPr marL="0" indent="0">
              <a:buNone/>
            </a:pPr>
            <a:r>
              <a:rPr lang="en-US" sz="2400" dirty="0">
                <a:solidFill>
                  <a:srgbClr val="D7EDEE"/>
                </a:solidFill>
              </a:rPr>
              <a:t>From Confusion to Daily Use</a:t>
            </a:r>
            <a:endParaRPr lang="en-US" sz="2400" dirty="0"/>
          </a:p>
        </p:txBody>
      </p:sp>
      <p:sp>
        <p:nvSpPr>
          <p:cNvPr id="12" name="Shape 10"/>
          <p:cNvSpPr/>
          <p:nvPr/>
        </p:nvSpPr>
        <p:spPr>
          <a:xfrm>
            <a:off x="624862" y="2483909"/>
            <a:ext cx="3035809" cy="16367"/>
          </a:xfrm>
          <a:prstGeom prst="line">
            <a:avLst/>
          </a:prstGeom>
          <a:noFill/>
          <a:ln w="50800">
            <a:solidFill>
              <a:srgbClr val="F45B69"/>
            </a:solidFill>
            <a:prstDash val="solid"/>
          </a:ln>
        </p:spPr>
        <p:txBody>
          <a:bodyPr/>
          <a:lstStyle/>
          <a:p>
            <a:endParaRPr lang="en-US"/>
          </a:p>
        </p:txBody>
      </p:sp>
      <p:sp>
        <p:nvSpPr>
          <p:cNvPr id="13" name="Shape 11"/>
          <p:cNvSpPr/>
          <p:nvPr/>
        </p:nvSpPr>
        <p:spPr>
          <a:xfrm>
            <a:off x="620552" y="3046489"/>
            <a:ext cx="2913418" cy="67665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4" name="Text 12"/>
          <p:cNvSpPr/>
          <p:nvPr/>
        </p:nvSpPr>
        <p:spPr>
          <a:xfrm>
            <a:off x="617344" y="3048891"/>
            <a:ext cx="2913418" cy="667511"/>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rPr>
              <a:t>LIVE WORKSHOP</a:t>
            </a:r>
            <a:endParaRPr lang="en-US" sz="2400" dirty="0"/>
          </a:p>
        </p:txBody>
      </p:sp>
      <p:sp>
        <p:nvSpPr>
          <p:cNvPr id="15" name="Text 13"/>
          <p:cNvSpPr/>
          <p:nvPr/>
        </p:nvSpPr>
        <p:spPr>
          <a:xfrm>
            <a:off x="7014591" y="4465335"/>
            <a:ext cx="3668853" cy="447847"/>
          </a:xfrm>
          <a:prstGeom prst="rect">
            <a:avLst/>
          </a:prstGeom>
          <a:noFill/>
          <a:ln/>
        </p:spPr>
        <p:txBody>
          <a:bodyPr wrap="square" lIns="0" tIns="0" rIns="0" bIns="0" rtlCol="0" anchor="ctr"/>
          <a:lstStyle/>
          <a:p>
            <a:pPr marL="0" indent="0">
              <a:buNone/>
            </a:pPr>
            <a:r>
              <a:rPr lang="en-US" b="1" dirty="0">
                <a:solidFill>
                  <a:srgbClr val="D7EDEE"/>
                </a:solidFill>
              </a:rPr>
              <a:t>Presented by Ian Burton Price</a:t>
            </a:r>
            <a:endParaRPr lang="en-US" dirty="0"/>
          </a:p>
        </p:txBody>
      </p:sp>
      <p:pic>
        <p:nvPicPr>
          <p:cNvPr id="16" name="Image 0"/>
          <p:cNvPicPr>
            <a:picLocks noChangeAspect="1"/>
          </p:cNvPicPr>
          <p:nvPr/>
        </p:nvPicPr>
        <p:blipFill>
          <a:blip r:embed="rId3"/>
          <a:srcRect/>
          <a:stretch/>
        </p:blipFill>
        <p:spPr>
          <a:xfrm>
            <a:off x="7014591" y="5017633"/>
            <a:ext cx="1950597" cy="408664"/>
          </a:xfrm>
          <a:prstGeom prst="rect">
            <a:avLst/>
          </a:prstGeom>
        </p:spPr>
      </p:pic>
      <p:sp>
        <p:nvSpPr>
          <p:cNvPr id="17" name="Shape 14"/>
          <p:cNvSpPr/>
          <p:nvPr/>
        </p:nvSpPr>
        <p:spPr>
          <a:xfrm>
            <a:off x="611817" y="3923609"/>
            <a:ext cx="4281587" cy="819302"/>
          </a:xfrm>
          <a:prstGeom prst="roundRect">
            <a:avLst>
              <a:gd name="adj" fmla="val 4464"/>
            </a:avLst>
          </a:prstGeom>
          <a:solidFill>
            <a:srgbClr val="FFFFFF">
              <a:alpha val="97000"/>
            </a:srgbClr>
          </a:solidFill>
          <a:ln w="7620">
            <a:solidFill>
              <a:srgbClr val="D7E4EA">
                <a:alpha val="75000"/>
              </a:srgbClr>
            </a:solidFill>
            <a:prstDash val="solid"/>
          </a:ln>
        </p:spPr>
        <p:txBody>
          <a:bodyPr/>
          <a:lstStyle/>
          <a:p>
            <a:endParaRPr lang="en-US"/>
          </a:p>
        </p:txBody>
      </p:sp>
      <p:pic>
        <p:nvPicPr>
          <p:cNvPr id="18" name="Image 1" descr="C:\Users\TR4_1950X\Documents\New project\assets\brand\miami-realtors-rworld-combined-logo.png"/>
          <p:cNvPicPr>
            <a:picLocks noChangeAspect="1"/>
          </p:cNvPicPr>
          <p:nvPr/>
        </p:nvPicPr>
        <p:blipFill>
          <a:blip r:embed="rId4"/>
          <a:stretch>
            <a:fillRect/>
          </a:stretch>
        </p:blipFill>
        <p:spPr>
          <a:xfrm>
            <a:off x="758121" y="4033337"/>
            <a:ext cx="3988979" cy="599846"/>
          </a:xfrm>
          <a:prstGeom prst="rect">
            <a:avLst/>
          </a:prstGeom>
        </p:spPr>
      </p:pic>
      <p:sp>
        <p:nvSpPr>
          <p:cNvPr id="19" name="Text 15"/>
          <p:cNvSpPr/>
          <p:nvPr/>
        </p:nvSpPr>
        <p:spPr>
          <a:xfrm>
            <a:off x="616800" y="5158049"/>
            <a:ext cx="6217920" cy="256032"/>
          </a:xfrm>
          <a:prstGeom prst="rect">
            <a:avLst/>
          </a:prstGeom>
          <a:noFill/>
          <a:ln/>
        </p:spPr>
        <p:txBody>
          <a:bodyPr wrap="square" lIns="0" tIns="0" rIns="0" bIns="0" rtlCol="0" anchor="ctr"/>
          <a:lstStyle/>
          <a:p>
            <a:r>
              <a:rPr lang="en-US" sz="1600" b="1" dirty="0">
                <a:solidFill>
                  <a:srgbClr val="D7EDEE"/>
                </a:solidFill>
              </a:rPr>
              <a:t>For MIAMI REALTORS® and </a:t>
            </a:r>
            <a:r>
              <a:rPr lang="en-US" sz="1600" b="1" dirty="0" err="1">
                <a:solidFill>
                  <a:srgbClr val="D7EDEE"/>
                </a:solidFill>
              </a:rPr>
              <a:t>RWorld</a:t>
            </a:r>
            <a:r>
              <a:rPr lang="en-US" sz="1600" b="1" dirty="0">
                <a:solidFill>
                  <a:srgbClr val="D7EDEE"/>
                </a:solidFill>
              </a:rPr>
              <a:t> members</a:t>
            </a:r>
            <a:endParaRPr lang="en-US" sz="1600" b="1" dirty="0"/>
          </a:p>
        </p:txBody>
      </p:sp>
      <p:sp>
        <p:nvSpPr>
          <p:cNvPr id="20" name="Text 16"/>
          <p:cNvSpPr/>
          <p:nvPr/>
        </p:nvSpPr>
        <p:spPr>
          <a:xfrm>
            <a:off x="616800" y="5478089"/>
            <a:ext cx="4937760" cy="201168"/>
          </a:xfrm>
          <a:prstGeom prst="rect">
            <a:avLst/>
          </a:prstGeom>
          <a:noFill/>
          <a:ln/>
        </p:spPr>
        <p:txBody>
          <a:bodyPr wrap="square" lIns="0" tIns="0" rIns="0" bIns="0" rtlCol="0" anchor="ctr"/>
          <a:lstStyle/>
          <a:p>
            <a:pPr marL="0" indent="0">
              <a:buNone/>
            </a:pPr>
            <a:r>
              <a:rPr lang="en-US" sz="1400" dirty="0">
                <a:solidFill>
                  <a:srgbClr val="AFC8CF"/>
                </a:solidFill>
              </a:rPr>
              <a:t>Practical AI Training for Real Estate Professionals</a:t>
            </a:r>
            <a:endParaRPr lang="en-US" sz="1400" dirty="0"/>
          </a:p>
        </p:txBody>
      </p:sp>
      <p:pic>
        <p:nvPicPr>
          <p:cNvPr id="22" name="Picture 21">
            <a:extLst>
              <a:ext uri="{FF2B5EF4-FFF2-40B4-BE49-F238E27FC236}">
                <a16:creationId xmlns:a16="http://schemas.microsoft.com/office/drawing/2014/main" id="{BD380F5A-5CFB-EDDD-D714-B8794312AB2C}"/>
              </a:ext>
            </a:extLst>
          </p:cNvPr>
          <p:cNvPicPr>
            <a:picLocks noChangeAspect="1"/>
          </p:cNvPicPr>
          <p:nvPr/>
        </p:nvPicPr>
        <p:blipFill>
          <a:blip r:embed="rId5"/>
          <a:stretch>
            <a:fillRect/>
          </a:stretch>
        </p:blipFill>
        <p:spPr>
          <a:xfrm>
            <a:off x="7243144" y="2517307"/>
            <a:ext cx="388459" cy="388459"/>
          </a:xfrm>
          <a:prstGeom prst="rect">
            <a:avLst/>
          </a:prstGeom>
        </p:spPr>
      </p:pic>
      <p:pic>
        <p:nvPicPr>
          <p:cNvPr id="26" name="Picture 25">
            <a:extLst>
              <a:ext uri="{FF2B5EF4-FFF2-40B4-BE49-F238E27FC236}">
                <a16:creationId xmlns:a16="http://schemas.microsoft.com/office/drawing/2014/main" id="{0975120D-DFFF-B0A5-CEAC-A17205BE9EDD}"/>
              </a:ext>
            </a:extLst>
          </p:cNvPr>
          <p:cNvPicPr>
            <a:picLocks noChangeAspect="1"/>
          </p:cNvPicPr>
          <p:nvPr/>
        </p:nvPicPr>
        <p:blipFill>
          <a:blip r:embed="rId5"/>
          <a:stretch>
            <a:fillRect/>
          </a:stretch>
        </p:blipFill>
        <p:spPr>
          <a:xfrm>
            <a:off x="7243144" y="2871497"/>
            <a:ext cx="388459" cy="388459"/>
          </a:xfrm>
          <a:prstGeom prst="rect">
            <a:avLst/>
          </a:prstGeom>
        </p:spPr>
      </p:pic>
      <p:pic>
        <p:nvPicPr>
          <p:cNvPr id="27" name="Picture 26">
            <a:extLst>
              <a:ext uri="{FF2B5EF4-FFF2-40B4-BE49-F238E27FC236}">
                <a16:creationId xmlns:a16="http://schemas.microsoft.com/office/drawing/2014/main" id="{EB38430E-F640-B4D5-9B81-3CA7DE21C590}"/>
              </a:ext>
            </a:extLst>
          </p:cNvPr>
          <p:cNvPicPr>
            <a:picLocks noChangeAspect="1"/>
          </p:cNvPicPr>
          <p:nvPr/>
        </p:nvPicPr>
        <p:blipFill>
          <a:blip r:embed="rId5"/>
          <a:stretch>
            <a:fillRect/>
          </a:stretch>
        </p:blipFill>
        <p:spPr>
          <a:xfrm>
            <a:off x="7243144" y="3240965"/>
            <a:ext cx="388459" cy="388459"/>
          </a:xfrm>
          <a:prstGeom prst="rect">
            <a:avLst/>
          </a:prstGeom>
        </p:spPr>
      </p:pic>
      <p:pic>
        <p:nvPicPr>
          <p:cNvPr id="28" name="Picture 27">
            <a:extLst>
              <a:ext uri="{FF2B5EF4-FFF2-40B4-BE49-F238E27FC236}">
                <a16:creationId xmlns:a16="http://schemas.microsoft.com/office/drawing/2014/main" id="{B5895A07-5DD3-2D52-4DFB-132DDFCA29C5}"/>
              </a:ext>
            </a:extLst>
          </p:cNvPr>
          <p:cNvPicPr>
            <a:picLocks noChangeAspect="1"/>
          </p:cNvPicPr>
          <p:nvPr/>
        </p:nvPicPr>
        <p:blipFill>
          <a:blip r:embed="rId5"/>
          <a:stretch>
            <a:fillRect/>
          </a:stretch>
        </p:blipFill>
        <p:spPr>
          <a:xfrm>
            <a:off x="7245833" y="3608939"/>
            <a:ext cx="388459" cy="388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731520" y="5806440"/>
            <a:ext cx="1554480" cy="1554480"/>
          </a:xfrm>
          <a:prstGeom prst="arc">
            <a:avLst/>
          </a:prstGeom>
          <a:noFill/>
          <a:ln w="19050">
            <a:solidFill>
              <a:srgbClr val="FFF4D9">
                <a:alpha val="9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Text 2"/>
          <p:cNvSpPr/>
          <p:nvPr/>
        </p:nvSpPr>
        <p:spPr>
          <a:xfrm>
            <a:off x="859536" y="448056"/>
            <a:ext cx="21945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8F8F"/>
                </a:solidFill>
                <a:effectLst/>
                <a:uLnTx/>
                <a:uFillTx/>
                <a:latin typeface="Aptos" pitchFamily="34" charset="0"/>
                <a:ea typeface="Aptos" pitchFamily="34" charset="-122"/>
                <a:cs typeface="Aptos" pitchFamily="34" charset="-120"/>
              </a:rPr>
              <a:t>MIAMI REALTORS ANTITRUST POLICY</a:t>
            </a:r>
            <a:endParaRPr kumimoji="0" lang="en-US" sz="10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Text 7"/>
          <p:cNvSpPr/>
          <p:nvPr/>
        </p:nvSpPr>
        <p:spPr>
          <a:xfrm>
            <a:off x="658368" y="932688"/>
            <a:ext cx="475488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02033"/>
                </a:solidFill>
                <a:effectLst/>
                <a:uLnTx/>
                <a:uFillTx/>
                <a:latin typeface="Aptos Display" pitchFamily="34" charset="0"/>
                <a:ea typeface="Aptos Display" pitchFamily="34" charset="-122"/>
                <a:cs typeface="Aptos Display" pitchFamily="34" charset="-120"/>
              </a:rPr>
              <a:t>Antitrust Policy</a:t>
            </a:r>
            <a:endParaRPr kumimoji="0" lang="en-US" sz="3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1" name="Image 0"/>
          <p:cNvPicPr>
            <a:picLocks noChangeAspect="1"/>
          </p:cNvPicPr>
          <p:nvPr/>
        </p:nvPicPr>
        <p:blipFill>
          <a:blip r:embed="rId3"/>
          <a:srcRect/>
          <a:stretch/>
        </p:blipFill>
        <p:spPr>
          <a:xfrm>
            <a:off x="6978889" y="1059056"/>
            <a:ext cx="4560839" cy="625088"/>
          </a:xfrm>
          <a:prstGeom prst="rect">
            <a:avLst/>
          </a:prstGeom>
        </p:spPr>
      </p:pic>
      <p:sp>
        <p:nvSpPr>
          <p:cNvPr id="12" name="Shape 9"/>
          <p:cNvSpPr/>
          <p:nvPr/>
        </p:nvSpPr>
        <p:spPr>
          <a:xfrm>
            <a:off x="658368"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3" name="Shape 10"/>
          <p:cNvSpPr/>
          <p:nvPr/>
        </p:nvSpPr>
        <p:spPr>
          <a:xfrm>
            <a:off x="6245352"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Shape 11"/>
          <p:cNvSpPr/>
          <p:nvPr/>
        </p:nvSpPr>
        <p:spPr>
          <a:xfrm>
            <a:off x="658368" y="1938528"/>
            <a:ext cx="82296" cy="3054096"/>
          </a:xfrm>
          <a:prstGeom prst="rect">
            <a:avLst/>
          </a:prstGeom>
          <a:solidFill>
            <a:srgbClr val="008F8F"/>
          </a:solidFill>
          <a:ln w="12700">
            <a:solidFill>
              <a:srgbClr val="008F8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5" name="Shape 12"/>
          <p:cNvSpPr/>
          <p:nvPr/>
        </p:nvSpPr>
        <p:spPr>
          <a:xfrm>
            <a:off x="6245352" y="1938528"/>
            <a:ext cx="82296" cy="3054096"/>
          </a:xfrm>
          <a:prstGeom prst="rect">
            <a:avLst/>
          </a:prstGeom>
          <a:solidFill>
            <a:srgbClr val="2F80ED"/>
          </a:solidFill>
          <a:ln w="12700">
            <a:solidFill>
              <a:srgbClr val="2F80E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6" name="Text 13"/>
          <p:cNvSpPr/>
          <p:nvPr/>
        </p:nvSpPr>
        <p:spPr>
          <a:xfrm>
            <a:off x="932688" y="2212848"/>
            <a:ext cx="10972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Policy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7" name="Text 14"/>
          <p:cNvSpPr/>
          <p:nvPr/>
        </p:nvSpPr>
        <p:spPr>
          <a:xfrm>
            <a:off x="932688" y="2532888"/>
            <a:ext cx="4599432" cy="207721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The MIAMI Association of REALTORS® adheres to a strict policy of compliance with both federal and state antitrust laws. As such, any discussions or activities with potential anti-trust implications, including but not limited to commission price fixing, market allocation, customer allocation, bid rigging, or boycotts, are strictly prohibited. MIAMI REALTORS® strongly endorses a competitive marketplace, ensuring that competitors have the freedom to engage in business without artificial restrictions on competition.</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Text 15"/>
          <p:cNvSpPr/>
          <p:nvPr/>
        </p:nvSpPr>
        <p:spPr>
          <a:xfrm>
            <a:off x="6519672" y="2212848"/>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Política</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9" name="Text 16"/>
          <p:cNvSpPr/>
          <p:nvPr/>
        </p:nvSpPr>
        <p:spPr>
          <a:xfrm>
            <a:off x="6519672" y="2532887"/>
            <a:ext cx="4599432" cy="2282951"/>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La Asociación de REALTORS® de MIAMI se adhiere a una estricta política de cumplimiento con las leyes antimonopolio federales y estatales. Como tal, cualquier discusión o actividad con posibles implicaciones antimonopolio, incluyendo pero no limitándose a la fijación de precios de comisiones, la asignación de mercados, la asignación de clientes, la manipulación de ofertas o los boicots, están estrictamente prohibidas. MIAMI REALTORS® apoya firmemente un mercado competitivo asegurándose que competidores tengan la libertad de participar en negocios sin restricciones artificiales a la competencia.</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0" name="Shape 17"/>
          <p:cNvSpPr/>
          <p:nvPr/>
        </p:nvSpPr>
        <p:spPr>
          <a:xfrm>
            <a:off x="658368" y="5285232"/>
            <a:ext cx="10863072" cy="841248"/>
          </a:xfrm>
          <a:prstGeom prst="rect">
            <a:avLst/>
          </a:prstGeom>
          <a:solidFill>
            <a:srgbClr val="EAF7F7"/>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pic>
        <p:nvPicPr>
          <p:cNvPr id="21" name="Image 1" descr="C:\Users\TR4_1950X\Documents\New project\assets\brand\miami-realtors-antitrust-qr.png"/>
          <p:cNvPicPr>
            <a:picLocks noChangeAspect="1"/>
          </p:cNvPicPr>
          <p:nvPr/>
        </p:nvPicPr>
        <p:blipFill>
          <a:blip r:embed="rId4"/>
          <a:stretch>
            <a:fillRect/>
          </a:stretch>
        </p:blipFill>
        <p:spPr>
          <a:xfrm>
            <a:off x="896112" y="5422392"/>
            <a:ext cx="585216" cy="585216"/>
          </a:xfrm>
          <a:prstGeom prst="rect">
            <a:avLst/>
          </a:prstGeom>
        </p:spPr>
      </p:pic>
      <p:sp>
        <p:nvSpPr>
          <p:cNvPr id="22" name="Text 18"/>
          <p:cNvSpPr/>
          <p:nvPr/>
        </p:nvSpPr>
        <p:spPr>
          <a:xfrm>
            <a:off x="1664208" y="5494488"/>
            <a:ext cx="292608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Scan Here to KNOW THE FACTS</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Text 19"/>
          <p:cNvSpPr/>
          <p:nvPr/>
        </p:nvSpPr>
        <p:spPr>
          <a:xfrm>
            <a:off x="1664208" y="5768808"/>
            <a:ext cx="2286000" cy="1463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MiamiRealtors/Facts</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
        <p:nvSpPr>
          <p:cNvPr id="24" name="Text 20"/>
          <p:cNvSpPr/>
          <p:nvPr/>
        </p:nvSpPr>
        <p:spPr>
          <a:xfrm>
            <a:off x="4617720" y="5486400"/>
            <a:ext cx="6217920" cy="43891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02033"/>
                </a:solidFill>
                <a:effectLst/>
                <a:uLnTx/>
                <a:uFillTx/>
                <a:latin typeface="Aptos" pitchFamily="34" charset="0"/>
                <a:ea typeface="Aptos" pitchFamily="34" charset="-122"/>
                <a:cs typeface="Aptos" pitchFamily="34" charset="-120"/>
              </a:rPr>
              <a:t>Avoid discussion of commissions, market allocation, customer allocation, bid rigging, boycotts, or any activity that may restrict competition.</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1"/>
          <p:cNvSpPr/>
          <p:nvPr/>
        </p:nvSpPr>
        <p:spPr>
          <a:xfrm>
            <a:off x="502920" y="6492240"/>
            <a:ext cx="11201400" cy="0"/>
          </a:xfrm>
          <a:prstGeom prst="line">
            <a:avLst/>
          </a:prstGeom>
          <a:noFill/>
          <a:ln w="762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Text 22"/>
          <p:cNvSpPr/>
          <p:nvPr/>
        </p:nvSpPr>
        <p:spPr>
          <a:xfrm>
            <a:off x="502920" y="6601968"/>
            <a:ext cx="4297680" cy="1097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a:ln>
                  <a:noFill/>
                </a:ln>
                <a:solidFill>
                  <a:srgbClr val="52606D"/>
                </a:solidFill>
                <a:effectLst/>
                <a:uLnTx/>
                <a:uFillTx/>
                <a:latin typeface="Aptos" pitchFamily="34" charset="0"/>
                <a:ea typeface="Aptos" pitchFamily="34" charset="-122"/>
                <a:cs typeface="Aptos" pitchFamily="34" charset="-120"/>
              </a:rPr>
              <a:t>Approved real estate education course </a:t>
            </a: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 MIAMI REALTORS® + RWorld members</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27" name="Text 23"/>
          <p:cNvSpPr/>
          <p:nvPr/>
        </p:nvSpPr>
        <p:spPr>
          <a:xfrm>
            <a:off x="11393424" y="6601968"/>
            <a:ext cx="292608" cy="10972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2/47</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Shape 2">
            <a:extLst>
              <a:ext uri="{FF2B5EF4-FFF2-40B4-BE49-F238E27FC236}">
                <a16:creationId xmlns:a16="http://schemas.microsoft.com/office/drawing/2014/main" id="{7417F4F4-5232-164D-80D8-AB6403C51C6A}"/>
              </a:ext>
            </a:extLst>
          </p:cNvPr>
          <p:cNvSpPr/>
          <p:nvPr/>
        </p:nvSpPr>
        <p:spPr>
          <a:xfrm>
            <a:off x="9281160" y="493776"/>
            <a:ext cx="219456" cy="45719"/>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28" name="Shape 3">
            <a:extLst>
              <a:ext uri="{FF2B5EF4-FFF2-40B4-BE49-F238E27FC236}">
                <a16:creationId xmlns:a16="http://schemas.microsoft.com/office/drawing/2014/main" id="{E567BBD1-46EE-81DB-6057-C0D259998827}"/>
              </a:ext>
            </a:extLst>
          </p:cNvPr>
          <p:cNvSpPr/>
          <p:nvPr/>
        </p:nvSpPr>
        <p:spPr>
          <a:xfrm>
            <a:off x="9628632" y="493776"/>
            <a:ext cx="219456" cy="45719"/>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29" name="Shape 4">
            <a:extLst>
              <a:ext uri="{FF2B5EF4-FFF2-40B4-BE49-F238E27FC236}">
                <a16:creationId xmlns:a16="http://schemas.microsoft.com/office/drawing/2014/main" id="{1053210D-2FFE-C31A-38A9-C184C039F829}"/>
              </a:ext>
            </a:extLst>
          </p:cNvPr>
          <p:cNvSpPr/>
          <p:nvPr/>
        </p:nvSpPr>
        <p:spPr>
          <a:xfrm>
            <a:off x="9976104" y="493776"/>
            <a:ext cx="219456" cy="45719"/>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30" name="Shape 5">
            <a:extLst>
              <a:ext uri="{FF2B5EF4-FFF2-40B4-BE49-F238E27FC236}">
                <a16:creationId xmlns:a16="http://schemas.microsoft.com/office/drawing/2014/main" id="{956269A2-8BD3-F793-7EC2-E7775B0392E7}"/>
              </a:ext>
            </a:extLst>
          </p:cNvPr>
          <p:cNvSpPr/>
          <p:nvPr/>
        </p:nvSpPr>
        <p:spPr>
          <a:xfrm>
            <a:off x="10323576" y="493776"/>
            <a:ext cx="219456" cy="45719"/>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31" name="Shape 6">
            <a:extLst>
              <a:ext uri="{FF2B5EF4-FFF2-40B4-BE49-F238E27FC236}">
                <a16:creationId xmlns:a16="http://schemas.microsoft.com/office/drawing/2014/main" id="{89331CF9-E156-CA91-EE25-1368641D1825}"/>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13" name="Shape 11"/>
          <p:cNvSpPr/>
          <p:nvPr/>
        </p:nvSpPr>
        <p:spPr>
          <a:xfrm>
            <a:off x="7889611" y="2058889"/>
            <a:ext cx="3246120" cy="2788920"/>
          </a:xfrm>
          <a:prstGeom prst="roundRect">
            <a:avLst>
              <a:gd name="adj" fmla="val 1967"/>
            </a:avLst>
          </a:prstGeom>
          <a:solidFill>
            <a:srgbClr val="FFF0EF"/>
          </a:solidFill>
          <a:ln w="10160">
            <a:solidFill>
              <a:srgbClr val="F5C8C5"/>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r>
              <a:rPr lang="en-US" sz="1000" b="1" dirty="0">
                <a:solidFill>
                  <a:srgbClr val="008F8F"/>
                </a:solidFill>
                <a:latin typeface="Aptos"/>
              </a:rPr>
              <a:t>INSTRUCTOR</a:t>
            </a:r>
            <a:endParaRPr lang="en-US" sz="85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967061" y="1967449"/>
            <a:ext cx="6143906" cy="3195565"/>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dirty="0"/>
          </a:p>
        </p:txBody>
      </p:sp>
      <p:sp>
        <p:nvSpPr>
          <p:cNvPr id="12" name="Shape 10"/>
          <p:cNvSpPr/>
          <p:nvPr/>
        </p:nvSpPr>
        <p:spPr>
          <a:xfrm>
            <a:off x="7692715" y="1967449"/>
            <a:ext cx="91440" cy="2971800"/>
          </a:xfrm>
          <a:prstGeom prst="rect">
            <a:avLst/>
          </a:prstGeom>
          <a:solidFill>
            <a:srgbClr val="F45B69"/>
          </a:solidFill>
          <a:ln w="12700">
            <a:solidFill>
              <a:srgbClr val="F45B69"/>
            </a:solidFill>
            <a:prstDash val="solid"/>
          </a:ln>
        </p:spPr>
        <p:txBody>
          <a:bodyPr/>
          <a:lstStyle/>
          <a:p>
            <a:endParaRPr lang="en-US"/>
          </a:p>
        </p:txBody>
      </p:sp>
      <p:sp>
        <p:nvSpPr>
          <p:cNvPr id="14" name="Text 12"/>
          <p:cNvSpPr/>
          <p:nvPr/>
        </p:nvSpPr>
        <p:spPr>
          <a:xfrm>
            <a:off x="8254339" y="2234920"/>
            <a:ext cx="2606040" cy="530352"/>
          </a:xfrm>
          <a:prstGeom prst="rect">
            <a:avLst/>
          </a:prstGeom>
          <a:noFill/>
          <a:ln/>
        </p:spPr>
        <p:txBody>
          <a:bodyPr wrap="square" lIns="0" tIns="0" rIns="0" bIns="0" rtlCol="0" anchor="ctr">
            <a:normAutofit/>
          </a:bodyPr>
          <a:lstStyle/>
          <a:p>
            <a:pPr marL="0" indent="0">
              <a:buNone/>
            </a:pPr>
            <a:r>
              <a:rPr lang="en-US" sz="2400" b="1" dirty="0">
                <a:solidFill>
                  <a:srgbClr val="16324F"/>
                </a:solidFill>
              </a:rPr>
              <a:t>Workshop point</a:t>
            </a:r>
            <a:endParaRPr lang="en-US" sz="2400" dirty="0"/>
          </a:p>
        </p:txBody>
      </p:sp>
      <p:sp>
        <p:nvSpPr>
          <p:cNvPr id="15" name="Text 13"/>
          <p:cNvSpPr/>
          <p:nvPr/>
        </p:nvSpPr>
        <p:spPr>
          <a:xfrm>
            <a:off x="8254339" y="2872056"/>
            <a:ext cx="2514600" cy="1295177"/>
          </a:xfrm>
          <a:prstGeom prst="rect">
            <a:avLst/>
          </a:prstGeom>
          <a:noFill/>
          <a:ln/>
        </p:spPr>
        <p:txBody>
          <a:bodyPr wrap="square" lIns="508" tIns="508" rIns="508" bIns="508" rtlCol="0" anchor="ctr">
            <a:normAutofit/>
          </a:bodyPr>
          <a:lstStyle/>
          <a:p>
            <a:pPr marL="0" indent="0">
              <a:buNone/>
            </a:pPr>
            <a:r>
              <a:rPr lang="en-US" sz="2000" dirty="0">
                <a:solidFill>
                  <a:srgbClr val="102033"/>
                </a:solidFill>
              </a:rPr>
              <a:t>Connect the idea to a real client, lead, listing, or daily workflow.</a:t>
            </a:r>
            <a:endParaRPr lang="en-US" sz="20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3/47</a:t>
            </a:r>
            <a:endParaRPr lang="en-US" sz="720"/>
          </a:p>
        </p:txBody>
      </p:sp>
      <p:sp>
        <p:nvSpPr>
          <p:cNvPr id="16" name="Shape 14"/>
          <p:cNvSpPr/>
          <p:nvPr/>
        </p:nvSpPr>
        <p:spPr>
          <a:xfrm>
            <a:off x="8280169" y="4393129"/>
            <a:ext cx="1097280" cy="0"/>
          </a:xfrm>
          <a:prstGeom prst="line">
            <a:avLst/>
          </a:prstGeom>
          <a:noFill/>
          <a:ln w="38100">
            <a:solidFill>
              <a:srgbClr val="F45B69"/>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a:ea typeface="Aptos" pitchFamily="34" charset="-122"/>
                <a:cs typeface="Aptos" pitchFamily="34" charset="-120"/>
              </a:rPr>
              <a:t>ABOUT THE INSTRUCTOR</a:t>
            </a:r>
            <a:endParaRPr lang="en-US" sz="1000" dirty="0">
              <a:latin typeface="Aptos"/>
            </a:endParaRPr>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About the Instructor</a:t>
            </a:r>
            <a:endParaRPr lang="en-US" sz="3000"/>
          </a:p>
        </p:txBody>
      </p:sp>
      <p:sp>
        <p:nvSpPr>
          <p:cNvPr id="11" name="Shape 9"/>
          <p:cNvSpPr/>
          <p:nvPr/>
        </p:nvSpPr>
        <p:spPr>
          <a:xfrm>
            <a:off x="1173480" y="2034540"/>
            <a:ext cx="4800600" cy="3520440"/>
          </a:xfrm>
          <a:prstGeom prst="roundRect">
            <a:avLst>
              <a:gd name="adj" fmla="val 1558"/>
            </a:avLst>
          </a:prstGeom>
          <a:solidFill>
            <a:srgbClr val="FFFFFF"/>
          </a:solidFill>
          <a:ln w="10160">
            <a:solidFill>
              <a:srgbClr val="D8E6E8"/>
            </a:solidFill>
            <a:prstDash val="solid"/>
          </a:ln>
        </p:spPr>
        <p:txBody>
          <a:bodyPr/>
          <a:lstStyle/>
          <a:p>
            <a:endParaRPr lang="en-US"/>
          </a:p>
        </p:txBody>
      </p:sp>
      <p:sp>
        <p:nvSpPr>
          <p:cNvPr id="13" name="Text 11"/>
          <p:cNvSpPr/>
          <p:nvPr/>
        </p:nvSpPr>
        <p:spPr>
          <a:xfrm>
            <a:off x="1475232" y="2172872"/>
            <a:ext cx="4160520" cy="677008"/>
          </a:xfrm>
          <a:prstGeom prst="rect">
            <a:avLst/>
          </a:prstGeom>
          <a:noFill/>
          <a:ln/>
        </p:spPr>
        <p:txBody>
          <a:bodyPr wrap="square" lIns="0" tIns="0" rIns="0" bIns="0" rtlCol="0" anchor="ctr">
            <a:normAutofit/>
          </a:bodyPr>
          <a:lstStyle/>
          <a:p>
            <a:r>
              <a:rPr lang="en-US" sz="3000" b="1" dirty="0">
                <a:solidFill>
                  <a:srgbClr val="16324F"/>
                </a:solidFill>
              </a:rPr>
              <a:t>Ian Burton Price</a:t>
            </a:r>
            <a:endParaRPr lang="en-US" sz="3000" dirty="0"/>
          </a:p>
        </p:txBody>
      </p:sp>
      <p:sp>
        <p:nvSpPr>
          <p:cNvPr id="14" name="Text 12"/>
          <p:cNvSpPr/>
          <p:nvPr/>
        </p:nvSpPr>
        <p:spPr>
          <a:xfrm>
            <a:off x="1475232" y="2923032"/>
            <a:ext cx="4160520" cy="274320"/>
          </a:xfrm>
          <a:prstGeom prst="rect">
            <a:avLst/>
          </a:prstGeom>
          <a:noFill/>
          <a:ln/>
        </p:spPr>
        <p:txBody>
          <a:bodyPr wrap="square" lIns="0" tIns="0" rIns="0" bIns="0" rtlCol="0" anchor="ctr">
            <a:noAutofit/>
          </a:bodyPr>
          <a:lstStyle/>
          <a:p>
            <a:pPr marL="0" indent="0">
              <a:buNone/>
            </a:pPr>
            <a:r>
              <a:rPr lang="en-US" sz="950">
                <a:solidFill>
                  <a:srgbClr val="52606D"/>
                </a:solidFill>
              </a:rPr>
              <a:t>REALTOR® | Dalton Wade Real Estate Group</a:t>
            </a:r>
            <a:endParaRPr lang="en-US" sz="950" dirty="0"/>
          </a:p>
          <a:p>
            <a:pPr marL="0" indent="0">
              <a:buNone/>
            </a:pPr>
            <a:r>
              <a:rPr lang="en-US" sz="950" dirty="0">
                <a:solidFill>
                  <a:srgbClr val="52606D"/>
                </a:solidFill>
              </a:rPr>
              <a:t>V.P. of Growth and Partnerships | GoHouse.ai</a:t>
            </a:r>
            <a:endParaRPr lang="en-US" sz="950" dirty="0"/>
          </a:p>
        </p:txBody>
      </p:sp>
      <p:pic>
        <p:nvPicPr>
          <p:cNvPr id="15" name="Image 0" descr="C:\Users\TR4_1950X\Documents\New project\assets\brand\gohouse-logo-w-text-large-transparent.png"/>
          <p:cNvPicPr>
            <a:picLocks noChangeAspect="1"/>
          </p:cNvPicPr>
          <p:nvPr/>
        </p:nvPicPr>
        <p:blipFill>
          <a:blip r:embed="rId3"/>
          <a:stretch>
            <a:fillRect/>
          </a:stretch>
        </p:blipFill>
        <p:spPr>
          <a:xfrm>
            <a:off x="4652772" y="2941319"/>
            <a:ext cx="1078992" cy="215798"/>
          </a:xfrm>
          <a:prstGeom prst="rect">
            <a:avLst/>
          </a:prstGeom>
        </p:spPr>
      </p:pic>
      <p:sp>
        <p:nvSpPr>
          <p:cNvPr id="16" name="Shape 13"/>
          <p:cNvSpPr/>
          <p:nvPr/>
        </p:nvSpPr>
        <p:spPr>
          <a:xfrm>
            <a:off x="1475232" y="3398520"/>
            <a:ext cx="1234440" cy="0"/>
          </a:xfrm>
          <a:prstGeom prst="line">
            <a:avLst/>
          </a:prstGeom>
          <a:noFill/>
          <a:ln w="38100">
            <a:solidFill>
              <a:srgbClr val="F45B69"/>
            </a:solidFill>
            <a:prstDash val="solid"/>
          </a:ln>
        </p:spPr>
        <p:txBody>
          <a:bodyPr/>
          <a:lstStyle/>
          <a:p>
            <a:endParaRPr lang="en-US"/>
          </a:p>
        </p:txBody>
      </p:sp>
      <p:sp>
        <p:nvSpPr>
          <p:cNvPr id="17" name="Text 14"/>
          <p:cNvSpPr/>
          <p:nvPr/>
        </p:nvSpPr>
        <p:spPr>
          <a:xfrm>
            <a:off x="1475232" y="3449727"/>
            <a:ext cx="4069080" cy="1914748"/>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600" dirty="0"/>
          </a:p>
        </p:txBody>
      </p:sp>
      <p:sp>
        <p:nvSpPr>
          <p:cNvPr id="19" name="Shape 16"/>
          <p:cNvSpPr/>
          <p:nvPr/>
        </p:nvSpPr>
        <p:spPr>
          <a:xfrm>
            <a:off x="6580021" y="2034540"/>
            <a:ext cx="4434840" cy="3520440"/>
          </a:xfrm>
          <a:prstGeom prst="roundRect">
            <a:avLst>
              <a:gd name="adj" fmla="val 1558"/>
            </a:avLst>
          </a:prstGeom>
          <a:solidFill>
            <a:srgbClr val="EAF7F7"/>
          </a:solidFill>
          <a:ln w="10160">
            <a:solidFill>
              <a:srgbClr val="BFDADC"/>
            </a:solidFill>
            <a:prstDash val="solid"/>
          </a:ln>
        </p:spPr>
        <p:txBody>
          <a:bodyPr/>
          <a:lstStyle/>
          <a:p>
            <a:endParaRPr lang="en-US"/>
          </a:p>
        </p:txBody>
      </p:sp>
      <p:sp>
        <p:nvSpPr>
          <p:cNvPr id="20" name="Text 17"/>
          <p:cNvSpPr/>
          <p:nvPr/>
        </p:nvSpPr>
        <p:spPr>
          <a:xfrm>
            <a:off x="6865620" y="2336292"/>
            <a:ext cx="3017520" cy="347472"/>
          </a:xfrm>
          <a:prstGeom prst="rect">
            <a:avLst/>
          </a:prstGeom>
          <a:noFill/>
          <a:ln/>
        </p:spPr>
        <p:txBody>
          <a:bodyPr wrap="square" lIns="0" tIns="0" rIns="0" bIns="0" rtlCol="0" anchor="ctr"/>
          <a:lstStyle/>
          <a:p>
            <a:pPr marL="0" indent="0">
              <a:buNone/>
            </a:pPr>
            <a:r>
              <a:rPr lang="en-US" sz="3000" b="1" dirty="0">
                <a:solidFill>
                  <a:srgbClr val="16324F"/>
                </a:solidFill>
              </a:rPr>
              <a:t>Teaching Focus:</a:t>
            </a:r>
            <a:endParaRPr lang="en-US" sz="3000" dirty="0"/>
          </a:p>
        </p:txBody>
      </p:sp>
      <p:sp>
        <p:nvSpPr>
          <p:cNvPr id="21" name="Text 18"/>
          <p:cNvSpPr/>
          <p:nvPr/>
        </p:nvSpPr>
        <p:spPr>
          <a:xfrm>
            <a:off x="6865620" y="2793493"/>
            <a:ext cx="3520440" cy="1307592"/>
          </a:xfrm>
          <a:prstGeom prst="rect">
            <a:avLst/>
          </a:prstGeom>
          <a:noFill/>
          <a:ln/>
        </p:spPr>
        <p:txBody>
          <a:bodyPr wrap="square" lIns="254" tIns="254" rIns="254" bIns="254" rtlCol="0" anchor="ctr">
            <a:normAutofit/>
          </a:bodyPr>
          <a:lstStyle/>
          <a:p>
            <a:pPr marL="0" indent="0">
              <a:buNone/>
            </a:pPr>
            <a:r>
              <a:rPr lang="en-US" dirty="0">
                <a:solidFill>
                  <a:srgbClr val="102033"/>
                </a:solidFill>
              </a:rPr>
              <a:t>Practical, vendor-neutral AI workflows agents can understand, review, and apply without replacing their professional judgment.</a:t>
            </a:r>
            <a:endParaRPr lang="en-US" dirty="0"/>
          </a:p>
        </p:txBody>
      </p:sp>
      <p:sp>
        <p:nvSpPr>
          <p:cNvPr id="22" name="Shape 19"/>
          <p:cNvSpPr/>
          <p:nvPr/>
        </p:nvSpPr>
        <p:spPr>
          <a:xfrm>
            <a:off x="6865620" y="4192524"/>
            <a:ext cx="1097280" cy="0"/>
          </a:xfrm>
          <a:prstGeom prst="line">
            <a:avLst/>
          </a:prstGeom>
          <a:noFill/>
          <a:ln w="38100">
            <a:solidFill>
              <a:srgbClr val="008F8F"/>
            </a:solidFill>
            <a:prstDash val="solid"/>
          </a:ln>
        </p:spPr>
        <p:txBody>
          <a:bodyPr/>
          <a:lstStyle/>
          <a:p>
            <a:endParaRPr lang="en-US"/>
          </a:p>
        </p:txBody>
      </p:sp>
      <p:sp>
        <p:nvSpPr>
          <p:cNvPr id="23" name="Text 20"/>
          <p:cNvSpPr/>
          <p:nvPr/>
        </p:nvSpPr>
        <p:spPr>
          <a:xfrm>
            <a:off x="6865620" y="4521708"/>
            <a:ext cx="3520440" cy="502920"/>
          </a:xfrm>
          <a:prstGeom prst="rect">
            <a:avLst/>
          </a:prstGeom>
          <a:noFill/>
          <a:ln/>
        </p:spPr>
        <p:txBody>
          <a:bodyPr wrap="square" lIns="254" tIns="254" rIns="254" bIns="254" rtlCol="0" anchor="ctr">
            <a:normAutofit lnSpcReduction="10000"/>
          </a:bodyPr>
          <a:lstStyle/>
          <a:p>
            <a:pPr marL="0" indent="0">
              <a:buNone/>
            </a:pPr>
            <a:r>
              <a:rPr lang="en-US" sz="1200" b="1" dirty="0">
                <a:solidFill>
                  <a:srgbClr val="2E7D5B"/>
                </a:solidFill>
              </a:rPr>
              <a:t>GoHouse.ai is part of Ian's professional background. No GoHouse.ai product is required for this course.</a:t>
            </a:r>
            <a:endParaRPr lang="en-US" sz="1200" dirty="0"/>
          </a:p>
        </p:txBody>
      </p:sp>
      <p:sp>
        <p:nvSpPr>
          <p:cNvPr id="24"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5"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4/47</a:t>
            </a:r>
            <a:endParaRPr lang="en-US" sz="72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COURSE PROMISE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1051560" y="1790217"/>
            <a:ext cx="6165063"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Draft clearer emails, texts, listing copy, and client updates.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Personalize buyer and seller communication using better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for appointments, objections, and follow-up conversations.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dirty="0"/>
          </a:p>
        </p:txBody>
      </p:sp>
      <p:sp>
        <p:nvSpPr>
          <p:cNvPr id="12" name="Shape 10"/>
          <p:cNvSpPr/>
          <p:nvPr/>
        </p:nvSpPr>
        <p:spPr>
          <a:xfrm>
            <a:off x="7673823" y="1965402"/>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77784" y="2056842"/>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52104" y="2376882"/>
            <a:ext cx="2606040" cy="530352"/>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6324F"/>
                </a:solidFill>
              </a:rPr>
              <a:t>Use it where work repeats</a:t>
            </a:r>
            <a:endParaRPr lang="en-US" sz="2000" dirty="0"/>
          </a:p>
        </p:txBody>
      </p:sp>
      <p:sp>
        <p:nvSpPr>
          <p:cNvPr id="15" name="Text 13"/>
          <p:cNvSpPr/>
          <p:nvPr/>
        </p:nvSpPr>
        <p:spPr>
          <a:xfrm>
            <a:off x="8152104" y="3172410"/>
            <a:ext cx="2514600" cy="960120"/>
          </a:xfrm>
          <a:prstGeom prst="rect">
            <a:avLst/>
          </a:prstGeom>
          <a:noFill/>
          <a:ln/>
        </p:spPr>
        <p:txBody>
          <a:bodyPr wrap="square" lIns="508" tIns="508" rIns="508" bIns="508" rtlCol="0" anchor="ctr">
            <a:normAutofit fontScale="92500"/>
          </a:bodyPr>
          <a:lstStyle/>
          <a:p>
            <a:pPr marL="0" indent="0">
              <a:buNone/>
            </a:pPr>
            <a:r>
              <a:rPr lang="en-US" dirty="0">
                <a:solidFill>
                  <a:srgbClr val="102033"/>
                </a:solidFill>
              </a:rPr>
              <a:t>Start with messages, notes, follow-up, and prep before chasing new tools.</a:t>
            </a:r>
            <a:endParaRPr lang="en-US" dirty="0"/>
          </a:p>
        </p:txBody>
      </p:sp>
      <p:sp>
        <p:nvSpPr>
          <p:cNvPr id="16" name="Shape 14"/>
          <p:cNvSpPr/>
          <p:nvPr/>
        </p:nvSpPr>
        <p:spPr>
          <a:xfrm>
            <a:off x="8152104" y="438856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84744"/>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76184"/>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76184"/>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5/47</a:t>
            </a:r>
            <a:endParaRPr lang="en-US" sz="7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SESSION MAP</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603013"/>
            <a:ext cx="5881116" cy="256249"/>
          </a:xfrm>
          <a:prstGeom prst="rect">
            <a:avLst/>
          </a:prstGeom>
          <a:noFill/>
          <a:ln/>
        </p:spPr>
        <p:txBody>
          <a:bodyPr wrap="square" lIns="0" tIns="0" rIns="0" bIns="0" rtlCol="0" anchor="ctr"/>
          <a:lstStyle/>
          <a:p>
            <a:pPr marL="0" indent="0">
              <a:buNone/>
            </a:pPr>
            <a:r>
              <a:rPr lang="en-US" dirty="0"/>
              <a:t>120 minutes: concept -&gt; example -&gt; practice -&gt; takeaway</a:t>
            </a:r>
          </a:p>
        </p:txBody>
      </p:sp>
      <p:sp>
        <p:nvSpPr>
          <p:cNvPr id="15" name="Text 13"/>
          <p:cNvSpPr/>
          <p:nvPr/>
        </p:nvSpPr>
        <p:spPr>
          <a:xfrm>
            <a:off x="1843135"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32" name="Shape 30"/>
          <p:cNvSpPr/>
          <p:nvPr/>
        </p:nvSpPr>
        <p:spPr>
          <a:xfrm>
            <a:off x="827118" y="6853350"/>
            <a:ext cx="2148840" cy="0"/>
          </a:xfrm>
          <a:prstGeom prst="line">
            <a:avLst/>
          </a:prstGeom>
          <a:noFill/>
          <a:ln w="12700">
            <a:solidFill>
              <a:srgbClr val="E7D9B6"/>
            </a:solidFill>
            <a:prstDash val="solid"/>
          </a:ln>
        </p:spPr>
        <p:txBody>
          <a:bodyPr/>
          <a:lstStyle/>
          <a:p>
            <a:endParaRPr lang="en-US" sz="2000"/>
          </a:p>
        </p:txBody>
      </p:sp>
      <p:sp>
        <p:nvSpPr>
          <p:cNvPr id="37" name="Shape 35"/>
          <p:cNvSpPr/>
          <p:nvPr/>
        </p:nvSpPr>
        <p:spPr>
          <a:xfrm>
            <a:off x="3616038" y="6853350"/>
            <a:ext cx="2148840" cy="0"/>
          </a:xfrm>
          <a:prstGeom prst="line">
            <a:avLst/>
          </a:prstGeom>
          <a:noFill/>
          <a:ln w="12700">
            <a:solidFill>
              <a:srgbClr val="E7D9B6"/>
            </a:solidFill>
            <a:prstDash val="solid"/>
          </a:ln>
        </p:spPr>
        <p:txBody>
          <a:bodyPr/>
          <a:lstStyle/>
          <a:p>
            <a:endParaRPr lang="en-US" sz="2000"/>
          </a:p>
        </p:txBody>
      </p:sp>
      <p:sp>
        <p:nvSpPr>
          <p:cNvPr id="42" name="Shape 40"/>
          <p:cNvSpPr/>
          <p:nvPr/>
        </p:nvSpPr>
        <p:spPr>
          <a:xfrm>
            <a:off x="6404958" y="6853350"/>
            <a:ext cx="2148840" cy="0"/>
          </a:xfrm>
          <a:prstGeom prst="line">
            <a:avLst/>
          </a:prstGeom>
          <a:noFill/>
          <a:ln w="12700">
            <a:solidFill>
              <a:srgbClr val="E7D9B6"/>
            </a:solidFill>
            <a:prstDash val="solid"/>
          </a:ln>
        </p:spPr>
        <p:txBody>
          <a:bodyPr/>
          <a:lstStyle/>
          <a:p>
            <a:endParaRPr lang="en-US" sz="2000"/>
          </a:p>
        </p:txBody>
      </p:sp>
      <p:sp>
        <p:nvSpPr>
          <p:cNvPr id="47" name="Shape 45"/>
          <p:cNvSpPr/>
          <p:nvPr/>
        </p:nvSpPr>
        <p:spPr>
          <a:xfrm>
            <a:off x="9193878" y="6853350"/>
            <a:ext cx="2148840" cy="0"/>
          </a:xfrm>
          <a:prstGeom prst="line">
            <a:avLst/>
          </a:prstGeom>
          <a:noFill/>
          <a:ln w="12700">
            <a:solidFill>
              <a:srgbClr val="E7D9B6"/>
            </a:solidFill>
            <a:prstDash val="solid"/>
          </a:ln>
        </p:spPr>
        <p:txBody>
          <a:bodyPr/>
          <a:lstStyle/>
          <a:p>
            <a:endParaRPr lang="en-US" sz="2000"/>
          </a:p>
        </p:txBody>
      </p:sp>
      <p:sp>
        <p:nvSpPr>
          <p:cNvPr id="52" name="Shape 5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53" name="Text 5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6/47</a:t>
            </a:r>
            <a:endParaRPr lang="en-US" sz="720"/>
          </a:p>
        </p:txBody>
      </p:sp>
      <p:sp>
        <p:nvSpPr>
          <p:cNvPr id="55" name="Shape 9">
            <a:extLst>
              <a:ext uri="{FF2B5EF4-FFF2-40B4-BE49-F238E27FC236}">
                <a16:creationId xmlns:a16="http://schemas.microsoft.com/office/drawing/2014/main" id="{D619CFEA-E77F-E694-5E4B-FFF0529733C0}"/>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56" name="Text 10">
            <a:extLst>
              <a:ext uri="{FF2B5EF4-FFF2-40B4-BE49-F238E27FC236}">
                <a16:creationId xmlns:a16="http://schemas.microsoft.com/office/drawing/2014/main" id="{CA1FF6F1-727C-A861-B3EA-98A4C0312AB8}"/>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57" name="Shape 11">
            <a:extLst>
              <a:ext uri="{FF2B5EF4-FFF2-40B4-BE49-F238E27FC236}">
                <a16:creationId xmlns:a16="http://schemas.microsoft.com/office/drawing/2014/main" id="{23E2E6E2-8406-7B8C-F487-BF15EFE13409}"/>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58" name="Shape 13">
            <a:extLst>
              <a:ext uri="{FF2B5EF4-FFF2-40B4-BE49-F238E27FC236}">
                <a16:creationId xmlns:a16="http://schemas.microsoft.com/office/drawing/2014/main" id="{C7D020AB-2B7F-E923-B679-A073E2F4C275}"/>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59" name="Text 14">
            <a:extLst>
              <a:ext uri="{FF2B5EF4-FFF2-40B4-BE49-F238E27FC236}">
                <a16:creationId xmlns:a16="http://schemas.microsoft.com/office/drawing/2014/main" id="{8901C757-D8B5-08D8-2961-73810DF3868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60" name="Shape 15">
            <a:extLst>
              <a:ext uri="{FF2B5EF4-FFF2-40B4-BE49-F238E27FC236}">
                <a16:creationId xmlns:a16="http://schemas.microsoft.com/office/drawing/2014/main" id="{3D09F95B-9213-A269-36EC-23D68C578575}"/>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61" name="Shape 17">
            <a:extLst>
              <a:ext uri="{FF2B5EF4-FFF2-40B4-BE49-F238E27FC236}">
                <a16:creationId xmlns:a16="http://schemas.microsoft.com/office/drawing/2014/main" id="{849762B6-E108-E123-CAC2-725913A9AE81}"/>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62" name="Text 18">
            <a:extLst>
              <a:ext uri="{FF2B5EF4-FFF2-40B4-BE49-F238E27FC236}">
                <a16:creationId xmlns:a16="http://schemas.microsoft.com/office/drawing/2014/main" id="{A27BC832-4249-180E-9416-A1D59D4D6D35}"/>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63" name="Shape 19">
            <a:extLst>
              <a:ext uri="{FF2B5EF4-FFF2-40B4-BE49-F238E27FC236}">
                <a16:creationId xmlns:a16="http://schemas.microsoft.com/office/drawing/2014/main" id="{751F0FC3-B040-A5DD-1A35-E3F6421E5B12}"/>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64" name="Shape 21">
            <a:extLst>
              <a:ext uri="{FF2B5EF4-FFF2-40B4-BE49-F238E27FC236}">
                <a16:creationId xmlns:a16="http://schemas.microsoft.com/office/drawing/2014/main" id="{703DD581-5DB9-8214-C12B-DF972ED1B8A6}"/>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65" name="Text 22">
            <a:extLst>
              <a:ext uri="{FF2B5EF4-FFF2-40B4-BE49-F238E27FC236}">
                <a16:creationId xmlns:a16="http://schemas.microsoft.com/office/drawing/2014/main" id="{3D3D32AE-4931-0211-5DED-427FE96EBDB4}"/>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66" name="Shape 23">
            <a:extLst>
              <a:ext uri="{FF2B5EF4-FFF2-40B4-BE49-F238E27FC236}">
                <a16:creationId xmlns:a16="http://schemas.microsoft.com/office/drawing/2014/main" id="{DB571C4D-4369-9CD3-D073-5106293F9CA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67" name="Shape 25">
            <a:extLst>
              <a:ext uri="{FF2B5EF4-FFF2-40B4-BE49-F238E27FC236}">
                <a16:creationId xmlns:a16="http://schemas.microsoft.com/office/drawing/2014/main" id="{D9FAF926-C735-E00A-3FE9-4DB63ABDD677}"/>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68" name="Text 26">
            <a:extLst>
              <a:ext uri="{FF2B5EF4-FFF2-40B4-BE49-F238E27FC236}">
                <a16:creationId xmlns:a16="http://schemas.microsoft.com/office/drawing/2014/main" id="{C571285B-D742-1AF0-5A9B-B8893A1130BD}"/>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69" name="Text 12">
            <a:extLst>
              <a:ext uri="{FF2B5EF4-FFF2-40B4-BE49-F238E27FC236}">
                <a16:creationId xmlns:a16="http://schemas.microsoft.com/office/drawing/2014/main" id="{7EC06F3B-BF74-759B-E43B-108D2D85BCBD}"/>
              </a:ext>
            </a:extLst>
          </p:cNvPr>
          <p:cNvSpPr/>
          <p:nvPr/>
        </p:nvSpPr>
        <p:spPr>
          <a:xfrm>
            <a:off x="1297453" y="3878199"/>
            <a:ext cx="1417320" cy="640080"/>
          </a:xfrm>
          <a:prstGeom prst="rect">
            <a:avLst/>
          </a:prstGeom>
          <a:noFill/>
          <a:ln/>
        </p:spPr>
        <p:txBody>
          <a:bodyPr wrap="square" lIns="0" tIns="0" rIns="0" bIns="0" rtlCol="0" anchor="ctr">
            <a:normAutofit/>
          </a:bodyPr>
          <a:lstStyle/>
          <a:p>
            <a:pPr algn="ctr"/>
            <a:r>
              <a:rPr lang="en-US" sz="2000" b="1" dirty="0"/>
              <a:t>AI Reality </a:t>
            </a:r>
            <a:endParaRPr lang="en-US" sz="2000" dirty="0"/>
          </a:p>
          <a:p>
            <a:pPr algn="ctr"/>
            <a:r>
              <a:rPr lang="en-US" sz="2000" b="1" dirty="0"/>
              <a:t>Check</a:t>
            </a:r>
            <a:endParaRPr lang="en-US" sz="2000" dirty="0"/>
          </a:p>
        </p:txBody>
      </p:sp>
      <p:sp>
        <p:nvSpPr>
          <p:cNvPr id="70" name="Text 16">
            <a:extLst>
              <a:ext uri="{FF2B5EF4-FFF2-40B4-BE49-F238E27FC236}">
                <a16:creationId xmlns:a16="http://schemas.microsoft.com/office/drawing/2014/main" id="{1569D22C-C74C-D9DC-6C9A-2BD2FCE3AF31}"/>
              </a:ext>
            </a:extLst>
          </p:cNvPr>
          <p:cNvSpPr/>
          <p:nvPr/>
        </p:nvSpPr>
        <p:spPr>
          <a:xfrm>
            <a:off x="3119120" y="3882937"/>
            <a:ext cx="1910080" cy="640080"/>
          </a:xfrm>
          <a:prstGeom prst="rect">
            <a:avLst/>
          </a:prstGeom>
          <a:noFill/>
          <a:ln/>
        </p:spPr>
        <p:txBody>
          <a:bodyPr wrap="square" lIns="0" tIns="0" rIns="0" bIns="0" rtlCol="0" anchor="ctr">
            <a:noAutofit/>
          </a:bodyPr>
          <a:lstStyle/>
          <a:p>
            <a:pPr algn="ctr"/>
            <a:r>
              <a:rPr lang="en-US" sz="2000" b="1" dirty="0"/>
              <a:t>Client Communication</a:t>
            </a:r>
            <a:endParaRPr lang="en-US" sz="2000" dirty="0"/>
          </a:p>
        </p:txBody>
      </p:sp>
      <p:sp>
        <p:nvSpPr>
          <p:cNvPr id="71" name="Text 20">
            <a:extLst>
              <a:ext uri="{FF2B5EF4-FFF2-40B4-BE49-F238E27FC236}">
                <a16:creationId xmlns:a16="http://schemas.microsoft.com/office/drawing/2014/main" id="{9320C3D1-3F0B-3EC8-3253-E001A259D97D}"/>
              </a:ext>
            </a:extLst>
          </p:cNvPr>
          <p:cNvSpPr/>
          <p:nvPr/>
        </p:nvSpPr>
        <p:spPr>
          <a:xfrm>
            <a:off x="5239522" y="3884022"/>
            <a:ext cx="1696720" cy="640080"/>
          </a:xfrm>
          <a:prstGeom prst="rect">
            <a:avLst/>
          </a:prstGeom>
          <a:noFill/>
          <a:ln/>
        </p:spPr>
        <p:txBody>
          <a:bodyPr wrap="square" lIns="0" tIns="0" rIns="0" bIns="0" rtlCol="0" anchor="ctr">
            <a:noAutofit/>
          </a:bodyPr>
          <a:lstStyle/>
          <a:p>
            <a:pPr algn="ctr"/>
            <a:r>
              <a:rPr lang="en-US" sz="2000" b="1" dirty="0"/>
              <a:t>Lead </a:t>
            </a:r>
            <a:endParaRPr lang="en-US" sz="2000" dirty="0"/>
          </a:p>
          <a:p>
            <a:pPr algn="ctr"/>
            <a:r>
              <a:rPr lang="en-US" sz="2000" b="1" dirty="0"/>
              <a:t>Follow-Up</a:t>
            </a:r>
            <a:endParaRPr lang="en-US" sz="2000" dirty="0"/>
          </a:p>
        </p:txBody>
      </p:sp>
      <p:sp>
        <p:nvSpPr>
          <p:cNvPr id="72" name="Text 24">
            <a:extLst>
              <a:ext uri="{FF2B5EF4-FFF2-40B4-BE49-F238E27FC236}">
                <a16:creationId xmlns:a16="http://schemas.microsoft.com/office/drawing/2014/main" id="{4BF9C009-C51B-E991-17CE-D421DFDDD7B1}"/>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2000" b="1" dirty="0"/>
              <a:t>Listings and Marketing</a:t>
            </a:r>
            <a:endParaRPr lang="en-US" sz="2000" dirty="0"/>
          </a:p>
        </p:txBody>
      </p:sp>
      <p:sp>
        <p:nvSpPr>
          <p:cNvPr id="73" name="Text 27">
            <a:extLst>
              <a:ext uri="{FF2B5EF4-FFF2-40B4-BE49-F238E27FC236}">
                <a16:creationId xmlns:a16="http://schemas.microsoft.com/office/drawing/2014/main" id="{581A6B35-901D-C5AA-BF4C-381E4FB8A7CA}"/>
              </a:ext>
            </a:extLst>
          </p:cNvPr>
          <p:cNvSpPr/>
          <p:nvPr/>
        </p:nvSpPr>
        <p:spPr>
          <a:xfrm>
            <a:off x="9331960" y="3884022"/>
            <a:ext cx="1750568" cy="640080"/>
          </a:xfrm>
          <a:prstGeom prst="rect">
            <a:avLst/>
          </a:prstGeom>
          <a:noFill/>
          <a:ln/>
        </p:spPr>
        <p:txBody>
          <a:bodyPr wrap="square" lIns="0" tIns="0" rIns="0" bIns="0" rtlCol="0" anchor="ctr">
            <a:normAutofit/>
          </a:bodyPr>
          <a:lstStyle/>
          <a:p>
            <a:pPr algn="ctr"/>
            <a:r>
              <a:rPr lang="en-US" sz="2000" b="1" dirty="0"/>
              <a:t>Daily Workflow and Guardrails</a:t>
            </a:r>
            <a:endParaRPr lang="en-US" sz="2000" dirty="0"/>
          </a:p>
        </p:txBody>
      </p:sp>
      <p:sp>
        <p:nvSpPr>
          <p:cNvPr id="74" name="Text 13">
            <a:extLst>
              <a:ext uri="{FF2B5EF4-FFF2-40B4-BE49-F238E27FC236}">
                <a16:creationId xmlns:a16="http://schemas.microsoft.com/office/drawing/2014/main" id="{D6C812FE-E93C-F3E3-4CD8-10A07F3553AA}"/>
              </a:ext>
            </a:extLst>
          </p:cNvPr>
          <p:cNvSpPr/>
          <p:nvPr/>
        </p:nvSpPr>
        <p:spPr>
          <a:xfrm>
            <a:off x="3919606"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75" name="Text 13">
            <a:extLst>
              <a:ext uri="{FF2B5EF4-FFF2-40B4-BE49-F238E27FC236}">
                <a16:creationId xmlns:a16="http://schemas.microsoft.com/office/drawing/2014/main" id="{2D0F89C2-4B22-9651-54FC-5480431A5FCF}"/>
              </a:ext>
            </a:extLst>
          </p:cNvPr>
          <p:cNvSpPr/>
          <p:nvPr/>
        </p:nvSpPr>
        <p:spPr>
          <a:xfrm>
            <a:off x="5941143" y="3298636"/>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
        <p:nvSpPr>
          <p:cNvPr id="76" name="Text 13">
            <a:extLst>
              <a:ext uri="{FF2B5EF4-FFF2-40B4-BE49-F238E27FC236}">
                <a16:creationId xmlns:a16="http://schemas.microsoft.com/office/drawing/2014/main" id="{E938C5E3-43C3-7115-7D73-9C351CE043ED}"/>
              </a:ext>
            </a:extLst>
          </p:cNvPr>
          <p:cNvSpPr/>
          <p:nvPr/>
        </p:nvSpPr>
        <p:spPr>
          <a:xfrm>
            <a:off x="7964918" y="3298629"/>
            <a:ext cx="366301" cy="256248"/>
          </a:xfrm>
          <a:prstGeom prst="rect">
            <a:avLst/>
          </a:prstGeom>
          <a:noFill/>
          <a:ln/>
        </p:spPr>
        <p:txBody>
          <a:bodyPr wrap="square" lIns="0" tIns="0" rIns="0" bIns="0" rtlCol="0" anchor="ctr"/>
          <a:lstStyle/>
          <a:p>
            <a:pPr marL="0" indent="0">
              <a:buNone/>
            </a:pPr>
            <a:r>
              <a:rPr lang="en-US" sz="1400" b="1" dirty="0"/>
              <a:t>30m</a:t>
            </a:r>
            <a:endParaRPr lang="en-US" sz="1400" dirty="0"/>
          </a:p>
        </p:txBody>
      </p:sp>
      <p:sp>
        <p:nvSpPr>
          <p:cNvPr id="77" name="Text 13">
            <a:extLst>
              <a:ext uri="{FF2B5EF4-FFF2-40B4-BE49-F238E27FC236}">
                <a16:creationId xmlns:a16="http://schemas.microsoft.com/office/drawing/2014/main" id="{F187F007-4198-876E-E25C-E411EB2B6AD9}"/>
              </a:ext>
            </a:extLst>
          </p:cNvPr>
          <p:cNvSpPr/>
          <p:nvPr/>
        </p:nvSpPr>
        <p:spPr>
          <a:xfrm>
            <a:off x="10020075" y="3296389"/>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01</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a:solidFill>
                  <a:srgbClr val="F2B84B"/>
                </a:solidFill>
              </a:rPr>
              <a:t>SECTION 1</a:t>
            </a:r>
            <a:endParaRPr lang="en-US" sz="120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a:solidFill>
                  <a:srgbClr val="FFFFFF"/>
                </a:solidFill>
                <a:latin typeface="Aptos Display" pitchFamily="34" charset="0"/>
                <a:ea typeface="Aptos Display" pitchFamily="34" charset="-122"/>
                <a:cs typeface="Aptos Display" pitchFamily="34" charset="-120"/>
              </a:rPr>
              <a:t>AI Reality Check</a:t>
            </a:r>
            <a:endParaRPr lang="en-US" sz="340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AI is useful when it supports work agents already do.</a:t>
            </a:r>
            <a:endParaRPr lang="en-US"/>
          </a:p>
        </p:txBody>
      </p:sp>
      <p:sp>
        <p:nvSpPr>
          <p:cNvPr id="8" name="Shape 6"/>
          <p:cNvSpPr/>
          <p:nvPr/>
        </p:nvSpPr>
        <p:spPr>
          <a:xfrm>
            <a:off x="749808" y="3657600"/>
            <a:ext cx="1828800" cy="0"/>
          </a:xfrm>
          <a:prstGeom prst="line">
            <a:avLst/>
          </a:prstGeom>
          <a:noFill/>
          <a:ln w="50800">
            <a:solidFill>
              <a:srgbClr val="008F8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WHY NOW</a:t>
            </a:r>
            <a:endParaRPr lang="en-US" sz="1000"/>
          </a:p>
        </p:txBody>
      </p:sp>
      <p:sp>
        <p:nvSpPr>
          <p:cNvPr id="10" name="Text 8"/>
          <p:cNvSpPr/>
          <p:nvPr/>
        </p:nvSpPr>
        <p:spPr>
          <a:xfrm>
            <a:off x="658368" y="786384"/>
            <a:ext cx="111145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200"/>
          </a:p>
        </p:txBody>
      </p:sp>
      <p:sp>
        <p:nvSpPr>
          <p:cNvPr id="11" name="Text 9"/>
          <p:cNvSpPr/>
          <p:nvPr/>
        </p:nvSpPr>
        <p:spPr>
          <a:xfrm>
            <a:off x="1062153" y="2101446"/>
            <a:ext cx="6400800" cy="283464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Consumers expect quick, clear responses across text, email, phone, and web inquiries.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Most agents have more follow-up tasks than hours in the day.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AI reduces blank-page time for common communication and prep tasks.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dirty="0"/>
          </a:p>
        </p:txBody>
      </p:sp>
      <p:sp>
        <p:nvSpPr>
          <p:cNvPr id="12" name="Shape 10"/>
          <p:cNvSpPr/>
          <p:nvPr/>
        </p:nvSpPr>
        <p:spPr>
          <a:xfrm>
            <a:off x="7673265" y="1964286"/>
            <a:ext cx="91440" cy="2971800"/>
          </a:xfrm>
          <a:prstGeom prst="rect">
            <a:avLst/>
          </a:prstGeom>
          <a:solidFill>
            <a:srgbClr val="F45B69"/>
          </a:solidFill>
          <a:ln w="12700">
            <a:solidFill>
              <a:srgbClr val="F45B69"/>
            </a:solidFill>
            <a:prstDash val="solid"/>
          </a:ln>
        </p:spPr>
        <p:txBody>
          <a:bodyPr/>
          <a:lstStyle/>
          <a:p>
            <a:endParaRPr lang="en-US"/>
          </a:p>
        </p:txBody>
      </p:sp>
      <p:sp>
        <p:nvSpPr>
          <p:cNvPr id="13" name="Shape 11"/>
          <p:cNvSpPr/>
          <p:nvPr/>
        </p:nvSpPr>
        <p:spPr>
          <a:xfrm>
            <a:off x="7869228" y="2055726"/>
            <a:ext cx="3246120" cy="2788920"/>
          </a:xfrm>
          <a:prstGeom prst="roundRect">
            <a:avLst>
              <a:gd name="adj" fmla="val 1967"/>
            </a:avLst>
          </a:prstGeom>
          <a:solidFill>
            <a:srgbClr val="FFF0EF"/>
          </a:solidFill>
          <a:ln w="10160">
            <a:solidFill>
              <a:srgbClr val="BFDADC"/>
            </a:solidFill>
            <a:prstDash val="solid"/>
          </a:ln>
        </p:spPr>
        <p:txBody>
          <a:bodyPr/>
          <a:lstStyle/>
          <a:p>
            <a:endParaRPr lang="en-US"/>
          </a:p>
        </p:txBody>
      </p:sp>
      <p:sp>
        <p:nvSpPr>
          <p:cNvPr id="14" name="Text 12"/>
          <p:cNvSpPr/>
          <p:nvPr/>
        </p:nvSpPr>
        <p:spPr>
          <a:xfrm>
            <a:off x="8143548" y="2375766"/>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Speed plus judgment</a:t>
            </a:r>
            <a:endParaRPr lang="en-US"/>
          </a:p>
        </p:txBody>
      </p:sp>
      <p:sp>
        <p:nvSpPr>
          <p:cNvPr id="15" name="Text 13"/>
          <p:cNvSpPr/>
          <p:nvPr/>
        </p:nvSpPr>
        <p:spPr>
          <a:xfrm>
            <a:off x="8143548" y="3171294"/>
            <a:ext cx="2514600" cy="960120"/>
          </a:xfrm>
          <a:prstGeom prst="rect">
            <a:avLst/>
          </a:prstGeom>
          <a:noFill/>
          <a:ln/>
        </p:spPr>
        <p:txBody>
          <a:bodyPr wrap="square" lIns="508" tIns="508" rIns="508" bIns="508" rtlCol="0" anchor="ctr">
            <a:normAutofit lnSpcReduction="10000"/>
          </a:bodyPr>
          <a:lstStyle/>
          <a:p>
            <a:pPr marL="0" indent="0">
              <a:buNone/>
            </a:pPr>
            <a:r>
              <a:rPr lang="en-US" sz="1600">
                <a:solidFill>
                  <a:srgbClr val="102033"/>
                </a:solidFill>
              </a:rPr>
              <a:t>AI can reduce blank-page time; the agent still owns accuracy and relationship quality.</a:t>
            </a:r>
            <a:endParaRPr lang="en-US" sz="1600"/>
          </a:p>
        </p:txBody>
      </p:sp>
      <p:sp>
        <p:nvSpPr>
          <p:cNvPr id="16" name="Shape 14"/>
          <p:cNvSpPr/>
          <p:nvPr/>
        </p:nvSpPr>
        <p:spPr>
          <a:xfrm>
            <a:off x="8143548" y="4387446"/>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95895"/>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87335"/>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87335"/>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8/47</a:t>
            </a:r>
            <a:endParaRPr lang="en-US" sz="72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880" b="1">
                <a:solidFill>
                  <a:srgbClr val="008F8F"/>
                </a:solidFill>
                <a:latin typeface="Aptos" pitchFamily="34" charset="0"/>
                <a:ea typeface="Aptos" pitchFamily="34" charset="-122"/>
                <a:cs typeface="Aptos" pitchFamily="34" charset="-120"/>
              </a:rPr>
              <a:t>SHIFT</a:t>
            </a:r>
            <a:endParaRPr lang="en-US" sz="88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a:p>
        </p:txBody>
      </p:sp>
      <p:sp>
        <p:nvSpPr>
          <p:cNvPr id="11" name="Shape 9"/>
          <p:cNvSpPr/>
          <p:nvPr/>
        </p:nvSpPr>
        <p:spPr>
          <a:xfrm>
            <a:off x="1074420" y="1981200"/>
            <a:ext cx="4754880" cy="2880358"/>
          </a:xfrm>
          <a:prstGeom prst="roundRect">
            <a:avLst>
              <a:gd name="adj" fmla="val 1600"/>
            </a:avLst>
          </a:prstGeom>
          <a:solidFill>
            <a:srgbClr val="FFF0EF"/>
          </a:solidFill>
          <a:ln w="10160">
            <a:solidFill>
              <a:srgbClr val="D8E6E8"/>
            </a:solidFill>
            <a:prstDash val="solid"/>
          </a:ln>
        </p:spPr>
        <p:txBody>
          <a:bodyPr/>
          <a:lstStyle/>
          <a:p>
            <a:endParaRPr lang="en-US" sz="2800"/>
          </a:p>
        </p:txBody>
      </p:sp>
      <p:sp>
        <p:nvSpPr>
          <p:cNvPr id="12" name="Text 10"/>
          <p:cNvSpPr/>
          <p:nvPr/>
        </p:nvSpPr>
        <p:spPr>
          <a:xfrm>
            <a:off x="136702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Random AI use</a:t>
            </a:r>
            <a:endParaRPr lang="en-US" sz="2400" dirty="0"/>
          </a:p>
        </p:txBody>
      </p:sp>
      <p:sp>
        <p:nvSpPr>
          <p:cNvPr id="13" name="Text 11"/>
          <p:cNvSpPr/>
          <p:nvPr/>
        </p:nvSpPr>
        <p:spPr>
          <a:xfrm>
            <a:off x="148590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One-off prompts</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Generic output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No saved process</a:t>
            </a:r>
            <a:endParaRPr lang="en-US" sz="2000" dirty="0"/>
          </a:p>
        </p:txBody>
      </p:sp>
      <p:sp>
        <p:nvSpPr>
          <p:cNvPr id="14" name="Shape 12"/>
          <p:cNvSpPr/>
          <p:nvPr/>
        </p:nvSpPr>
        <p:spPr>
          <a:xfrm>
            <a:off x="6377940" y="1981200"/>
            <a:ext cx="4754880" cy="2880358"/>
          </a:xfrm>
          <a:prstGeom prst="roundRect">
            <a:avLst>
              <a:gd name="adj" fmla="val 1600"/>
            </a:avLst>
          </a:prstGeom>
          <a:solidFill>
            <a:srgbClr val="EAF7F7"/>
          </a:solidFill>
          <a:ln w="10160">
            <a:solidFill>
              <a:srgbClr val="D8E6E8"/>
            </a:solidFill>
            <a:prstDash val="solid"/>
          </a:ln>
        </p:spPr>
        <p:txBody>
          <a:bodyPr/>
          <a:lstStyle/>
          <a:p>
            <a:endParaRPr lang="en-US" sz="2800"/>
          </a:p>
        </p:txBody>
      </p:sp>
      <p:sp>
        <p:nvSpPr>
          <p:cNvPr id="15" name="Text 13"/>
          <p:cNvSpPr/>
          <p:nvPr/>
        </p:nvSpPr>
        <p:spPr>
          <a:xfrm>
            <a:off x="667054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Repeatable workflow</a:t>
            </a:r>
            <a:endParaRPr lang="en-US" sz="2400" dirty="0"/>
          </a:p>
        </p:txBody>
      </p:sp>
      <p:sp>
        <p:nvSpPr>
          <p:cNvPr id="16" name="Text 14"/>
          <p:cNvSpPr/>
          <p:nvPr/>
        </p:nvSpPr>
        <p:spPr>
          <a:xfrm>
            <a:off x="678942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Known use case</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Context-rich prompt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Reviewed reusable output</a:t>
            </a:r>
            <a:endParaRPr lang="en-US" sz="2000" dirty="0"/>
          </a:p>
        </p:txBody>
      </p:sp>
      <p:sp>
        <p:nvSpPr>
          <p:cNvPr id="17" name="Shape 15"/>
          <p:cNvSpPr/>
          <p:nvPr/>
        </p:nvSpPr>
        <p:spPr>
          <a:xfrm>
            <a:off x="5856732" y="3169920"/>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9/47</a:t>
            </a:r>
            <a:endParaRPr lang="en-US" sz="72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44796" y="2176272"/>
            <a:ext cx="4064508" cy="2624327"/>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DISCUSSION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a:p>
        </p:txBody>
      </p:sp>
      <p:sp>
        <p:nvSpPr>
          <p:cNvPr id="11" name="Shape 9"/>
          <p:cNvSpPr/>
          <p:nvPr/>
        </p:nvSpPr>
        <p:spPr>
          <a:xfrm>
            <a:off x="1091565" y="1919859"/>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219581" y="2006727"/>
            <a:ext cx="1298448" cy="178308"/>
          </a:xfrm>
          <a:prstGeom prst="rect">
            <a:avLst/>
          </a:prstGeom>
          <a:solidFill>
            <a:srgbClr val="008F8F"/>
          </a:solidFill>
          <a:ln/>
        </p:spPr>
        <p:txBody>
          <a:bodyPr wrap="square" lIns="0" tIns="0" rIns="0" bIns="0" rtlCol="0" anchor="ctr">
            <a:normAutofit lnSpcReduction="10000"/>
          </a:bodyPr>
          <a:lstStyle/>
          <a:p>
            <a:pPr marL="0" indent="0" algn="ctr">
              <a:buNone/>
            </a:pPr>
            <a:r>
              <a:rPr lang="en-US" sz="1200" b="1">
                <a:solidFill>
                  <a:srgbClr val="FFFFFF"/>
                </a:solidFill>
              </a:rPr>
              <a:t>DISCUSS</a:t>
            </a:r>
            <a:endParaRPr lang="en-US" sz="1200"/>
          </a:p>
        </p:txBody>
      </p:sp>
      <p:sp>
        <p:nvSpPr>
          <p:cNvPr id="13" name="Shape 11"/>
          <p:cNvSpPr/>
          <p:nvPr/>
        </p:nvSpPr>
        <p:spPr>
          <a:xfrm>
            <a:off x="1086304" y="2203245"/>
            <a:ext cx="5303520" cy="102984"/>
          </a:xfrm>
          <a:prstGeom prst="rect">
            <a:avLst/>
          </a:prstGeom>
          <a:solidFill>
            <a:srgbClr val="008F8F"/>
          </a:solidFill>
          <a:ln w="12700">
            <a:noFill/>
            <a:prstDash val="solid"/>
          </a:ln>
        </p:spPr>
        <p:txBody>
          <a:bodyPr/>
          <a:lstStyle/>
          <a:p>
            <a:endParaRPr lang="en-US"/>
          </a:p>
        </p:txBody>
      </p:sp>
      <p:sp>
        <p:nvSpPr>
          <p:cNvPr id="14" name="Shape 12"/>
          <p:cNvSpPr/>
          <p:nvPr/>
        </p:nvSpPr>
        <p:spPr>
          <a:xfrm>
            <a:off x="1089660" y="224028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217676" y="2916936"/>
            <a:ext cx="5175504" cy="960120"/>
          </a:xfrm>
          <a:prstGeom prst="rect">
            <a:avLst/>
          </a:prstGeom>
          <a:noFill/>
          <a:ln/>
        </p:spPr>
        <p:txBody>
          <a:bodyPr wrap="square" lIns="0" tIns="0" rIns="0" bIns="0" rtlCol="0" anchor="ctr">
            <a:normAutofit/>
          </a:bodyPr>
          <a:lstStyle/>
          <a:p>
            <a:pPr marL="0" indent="0">
              <a:buNone/>
            </a:pPr>
            <a:r>
              <a:rPr lang="en-US" sz="2000">
                <a:solidFill>
                  <a:srgbClr val="52606D"/>
                </a:solidFill>
              </a:rPr>
              <a:t>Pick one task you delay because it is repetitive, awkward, or annoying.</a:t>
            </a:r>
            <a:endParaRPr lang="en-US" sz="2000"/>
          </a:p>
        </p:txBody>
      </p:sp>
      <p:sp>
        <p:nvSpPr>
          <p:cNvPr id="16" name="Text 14"/>
          <p:cNvSpPr/>
          <p:nvPr/>
        </p:nvSpPr>
        <p:spPr>
          <a:xfrm>
            <a:off x="1363980" y="4370832"/>
            <a:ext cx="2194560" cy="182880"/>
          </a:xfrm>
          <a:prstGeom prst="rect">
            <a:avLst/>
          </a:prstGeom>
          <a:noFill/>
          <a:ln/>
        </p:spPr>
        <p:txBody>
          <a:bodyPr wrap="square" lIns="0" tIns="0" rIns="0" bIns="0" rtlCol="0" anchor="ctr"/>
          <a:lstStyle/>
          <a:p>
            <a:pPr marL="0" indent="0">
              <a:buNone/>
            </a:pPr>
            <a:r>
              <a:rPr lang="en-US" sz="1200" b="1">
                <a:solidFill>
                  <a:srgbClr val="008F8F"/>
                </a:solidFill>
              </a:rPr>
              <a:t>Workshop canvas</a:t>
            </a:r>
            <a:endParaRPr lang="en-US" sz="1200"/>
          </a:p>
        </p:txBody>
      </p:sp>
      <p:sp>
        <p:nvSpPr>
          <p:cNvPr id="17" name="Shape 15"/>
          <p:cNvSpPr/>
          <p:nvPr/>
        </p:nvSpPr>
        <p:spPr>
          <a:xfrm>
            <a:off x="6667500" y="2176272"/>
            <a:ext cx="128016" cy="2624327"/>
          </a:xfrm>
          <a:prstGeom prst="rect">
            <a:avLst/>
          </a:prstGeom>
          <a:solidFill>
            <a:srgbClr val="008F8F"/>
          </a:solidFill>
          <a:ln w="12700">
            <a:solidFill>
              <a:srgbClr val="008F8F"/>
            </a:solidFill>
            <a:prstDash val="solid"/>
          </a:ln>
        </p:spPr>
        <p:txBody>
          <a:bodyPr/>
          <a:lstStyle/>
          <a:p>
            <a:endParaRPr lang="en-US"/>
          </a:p>
        </p:txBody>
      </p:sp>
      <p:sp>
        <p:nvSpPr>
          <p:cNvPr id="19" name="Text 17"/>
          <p:cNvSpPr/>
          <p:nvPr/>
        </p:nvSpPr>
        <p:spPr>
          <a:xfrm>
            <a:off x="7085376" y="2377440"/>
            <a:ext cx="3520440" cy="22860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Seller update after low activity</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Follow-up after a showing</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Open house recap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CRM note cleanup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Social caption from listing facts</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10/47</a:t>
            </a:r>
            <a:endParaRPr lang="en-US" sz="72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a:extLst>
            <a:ext uri="{FF2B5EF4-FFF2-40B4-BE49-F238E27FC236}">
              <a16:creationId xmlns:a16="http://schemas.microsoft.com/office/drawing/2014/main" id="{655EF897-DA99-5F6D-5DC2-08868F8F3F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281BFC-1F4F-1101-1967-3344E378E0AD}"/>
              </a:ext>
            </a:extLst>
          </p:cNvPr>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a:extLst>
              <a:ext uri="{FF2B5EF4-FFF2-40B4-BE49-F238E27FC236}">
                <a16:creationId xmlns:a16="http://schemas.microsoft.com/office/drawing/2014/main" id="{B658A437-D59C-DF0C-7060-16C16948D418}"/>
              </a:ext>
            </a:extLst>
          </p:cNvPr>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a:extLst>
              <a:ext uri="{FF2B5EF4-FFF2-40B4-BE49-F238E27FC236}">
                <a16:creationId xmlns:a16="http://schemas.microsoft.com/office/drawing/2014/main" id="{15ED3867-1106-795B-BE5E-35427220111C}"/>
              </a:ext>
            </a:extLst>
          </p:cNvPr>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a:extLst>
              <a:ext uri="{FF2B5EF4-FFF2-40B4-BE49-F238E27FC236}">
                <a16:creationId xmlns:a16="http://schemas.microsoft.com/office/drawing/2014/main" id="{8874E118-CBE0-1D14-5367-F4C9B476962C}"/>
              </a:ext>
            </a:extLst>
          </p:cNvPr>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a:extLst>
              <a:ext uri="{FF2B5EF4-FFF2-40B4-BE49-F238E27FC236}">
                <a16:creationId xmlns:a16="http://schemas.microsoft.com/office/drawing/2014/main" id="{624536F8-DBA6-1551-B21C-EC30CF7EF052}"/>
              </a:ext>
            </a:extLst>
          </p:cNvPr>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a:extLst>
              <a:ext uri="{FF2B5EF4-FFF2-40B4-BE49-F238E27FC236}">
                <a16:creationId xmlns:a16="http://schemas.microsoft.com/office/drawing/2014/main" id="{4825689F-201A-27B4-B6EA-3A85C795B6A5}"/>
              </a:ext>
            </a:extLst>
          </p:cNvPr>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a:extLst>
              <a:ext uri="{FF2B5EF4-FFF2-40B4-BE49-F238E27FC236}">
                <a16:creationId xmlns:a16="http://schemas.microsoft.com/office/drawing/2014/main" id="{A888EE76-DF8F-EE93-F289-C5D1758D98C4}"/>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a:extLst>
              <a:ext uri="{FF2B5EF4-FFF2-40B4-BE49-F238E27FC236}">
                <a16:creationId xmlns:a16="http://schemas.microsoft.com/office/drawing/2014/main" id="{5C1C6DCD-0ED6-6D18-D299-8ADAFB9F39BA}"/>
              </a:ext>
            </a:extLst>
          </p:cNvPr>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AI BASICS</a:t>
            </a:r>
            <a:endParaRPr lang="en-US" sz="1000"/>
          </a:p>
        </p:txBody>
      </p:sp>
      <p:sp>
        <p:nvSpPr>
          <p:cNvPr id="10" name="Text 8">
            <a:extLst>
              <a:ext uri="{FF2B5EF4-FFF2-40B4-BE49-F238E27FC236}">
                <a16:creationId xmlns:a16="http://schemas.microsoft.com/office/drawing/2014/main" id="{168F1DED-E314-7DD3-1144-73B203089198}"/>
              </a:ext>
            </a:extLst>
          </p:cNvPr>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a:extLst>
              <a:ext uri="{FF2B5EF4-FFF2-40B4-BE49-F238E27FC236}">
                <a16:creationId xmlns:a16="http://schemas.microsoft.com/office/drawing/2014/main" id="{26E2F0F6-B498-5D51-0B68-0B5FE7B8844F}"/>
              </a:ext>
            </a:extLst>
          </p:cNvPr>
          <p:cNvSpPr/>
          <p:nvPr/>
        </p:nvSpPr>
        <p:spPr>
          <a:xfrm>
            <a:off x="1115568" y="1973579"/>
            <a:ext cx="4709160" cy="4015737"/>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a:extLst>
              <a:ext uri="{FF2B5EF4-FFF2-40B4-BE49-F238E27FC236}">
                <a16:creationId xmlns:a16="http://schemas.microsoft.com/office/drawing/2014/main" id="{3B33D50A-B692-7E4A-95E7-A9BD6BA2AE49}"/>
              </a:ext>
            </a:extLst>
          </p:cNvPr>
          <p:cNvSpPr/>
          <p:nvPr/>
        </p:nvSpPr>
        <p:spPr>
          <a:xfrm>
            <a:off x="134416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Good at</a:t>
            </a:r>
            <a:endParaRPr lang="en-US" sz="2800" dirty="0"/>
          </a:p>
        </p:txBody>
      </p:sp>
      <p:sp>
        <p:nvSpPr>
          <p:cNvPr id="13" name="Text 11">
            <a:extLst>
              <a:ext uri="{FF2B5EF4-FFF2-40B4-BE49-F238E27FC236}">
                <a16:creationId xmlns:a16="http://schemas.microsoft.com/office/drawing/2014/main" id="{508C796E-9DA7-7DC7-9CB9-29B1AD974F81}"/>
              </a:ext>
            </a:extLst>
          </p:cNvPr>
          <p:cNvSpPr/>
          <p:nvPr/>
        </p:nvSpPr>
        <p:spPr>
          <a:xfrm>
            <a:off x="146304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Drafting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Rewriting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Summarizing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Brainstorming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Organizing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Role-play</a:t>
            </a:r>
            <a:endParaRPr lang="en-US" sz="2400" dirty="0">
              <a:latin typeface="Aptos"/>
            </a:endParaRPr>
          </a:p>
        </p:txBody>
      </p:sp>
      <p:sp>
        <p:nvSpPr>
          <p:cNvPr id="14" name="Shape 12">
            <a:extLst>
              <a:ext uri="{FF2B5EF4-FFF2-40B4-BE49-F238E27FC236}">
                <a16:creationId xmlns:a16="http://schemas.microsoft.com/office/drawing/2014/main" id="{C0D2FC08-8C9E-E593-3CAD-7B6FC66F5C1D}"/>
              </a:ext>
            </a:extLst>
          </p:cNvPr>
          <p:cNvSpPr/>
          <p:nvPr/>
        </p:nvSpPr>
        <p:spPr>
          <a:xfrm>
            <a:off x="6400800" y="1973579"/>
            <a:ext cx="4709160" cy="4015735"/>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a:extLst>
              <a:ext uri="{FF2B5EF4-FFF2-40B4-BE49-F238E27FC236}">
                <a16:creationId xmlns:a16="http://schemas.microsoft.com/office/drawing/2014/main" id="{2CF0DE81-E5DD-3C7B-06D8-4EC4F1F8BDA3}"/>
              </a:ext>
            </a:extLst>
          </p:cNvPr>
          <p:cNvSpPr/>
          <p:nvPr/>
        </p:nvSpPr>
        <p:spPr>
          <a:xfrm>
            <a:off x="664768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Not safe for</a:t>
            </a:r>
            <a:endParaRPr lang="en-US" sz="2800" dirty="0"/>
          </a:p>
        </p:txBody>
      </p:sp>
      <p:sp>
        <p:nvSpPr>
          <p:cNvPr id="16" name="Text 14">
            <a:extLst>
              <a:ext uri="{FF2B5EF4-FFF2-40B4-BE49-F238E27FC236}">
                <a16:creationId xmlns:a16="http://schemas.microsoft.com/office/drawing/2014/main" id="{35A5DB17-631C-1E70-9825-6B8F8AF294E6}"/>
              </a:ext>
            </a:extLst>
          </p:cNvPr>
          <p:cNvSpPr/>
          <p:nvPr/>
        </p:nvSpPr>
        <p:spPr>
          <a:xfrm>
            <a:off x="676656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Guaranteeing facts</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Legal advice</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Local market certainty</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MLS rule interpretation</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Fair Housing judgment</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Final decisions</a:t>
            </a:r>
            <a:endParaRPr lang="en-US" sz="2400" dirty="0">
              <a:latin typeface="Aptos"/>
            </a:endParaRPr>
          </a:p>
        </p:txBody>
      </p:sp>
      <p:sp>
        <p:nvSpPr>
          <p:cNvPr id="17" name="Shape 15">
            <a:extLst>
              <a:ext uri="{FF2B5EF4-FFF2-40B4-BE49-F238E27FC236}">
                <a16:creationId xmlns:a16="http://schemas.microsoft.com/office/drawing/2014/main" id="{C5FCCBDE-1D30-7FEC-6652-22A326D50149}"/>
              </a:ext>
            </a:extLst>
          </p:cNvPr>
          <p:cNvSpPr/>
          <p:nvPr/>
        </p:nvSpPr>
        <p:spPr>
          <a:xfrm>
            <a:off x="5893308" y="3712464"/>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a:extLst>
              <a:ext uri="{FF2B5EF4-FFF2-40B4-BE49-F238E27FC236}">
                <a16:creationId xmlns:a16="http://schemas.microsoft.com/office/drawing/2014/main" id="{030F4594-190C-56E9-5B24-8D4EC280DE56}"/>
              </a:ext>
            </a:extLst>
          </p:cNvPr>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a:extLst>
              <a:ext uri="{FF2B5EF4-FFF2-40B4-BE49-F238E27FC236}">
                <a16:creationId xmlns:a16="http://schemas.microsoft.com/office/drawing/2014/main" id="{2F09F609-BD85-B555-FE7A-F029F98C1E00}"/>
              </a:ext>
            </a:extLst>
          </p:cNvPr>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a:extLst>
              <a:ext uri="{FF2B5EF4-FFF2-40B4-BE49-F238E27FC236}">
                <a16:creationId xmlns:a16="http://schemas.microsoft.com/office/drawing/2014/main" id="{81B0F6DB-83F1-993C-F10D-A226D6F00015}"/>
              </a:ext>
            </a:extLst>
          </p:cNvPr>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11/47</a:t>
            </a:r>
            <a:endParaRPr lang="en-US" sz="720"/>
          </a:p>
        </p:txBody>
      </p:sp>
    </p:spTree>
    <p:extLst>
      <p:ext uri="{BB962C8B-B14F-4D97-AF65-F5344CB8AC3E}">
        <p14:creationId xmlns:p14="http://schemas.microsoft.com/office/powerpoint/2010/main" val="4051928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TOOL CHECK</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1059180" y="2046990"/>
            <a:ext cx="6400800" cy="29717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Check brokerage policy before using client or transaction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pasting private client details into public AI tools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Use verified property, MLS, and market data</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every message before sending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AI as a drafting assistant, not the final authority</a:t>
            </a:r>
            <a:endParaRPr lang="en-US" dirty="0"/>
          </a:p>
        </p:txBody>
      </p:sp>
      <p:sp>
        <p:nvSpPr>
          <p:cNvPr id="12" name="Shape 10"/>
          <p:cNvSpPr/>
          <p:nvPr/>
        </p:nvSpPr>
        <p:spPr>
          <a:xfrm>
            <a:off x="7670292" y="197079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886953" y="206223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161273" y="2382270"/>
            <a:ext cx="2606040" cy="530352"/>
          </a:xfrm>
          <a:prstGeom prst="rect">
            <a:avLst/>
          </a:prstGeom>
          <a:noFill/>
          <a:ln/>
        </p:spPr>
        <p:txBody>
          <a:bodyPr wrap="square" lIns="0" tIns="0" rIns="0" bIns="0" rtlCol="0" anchor="ctr">
            <a:normAutofit lnSpcReduction="10000"/>
          </a:bodyPr>
          <a:lstStyle/>
          <a:p>
            <a:pPr marL="0" indent="0">
              <a:buNone/>
            </a:pPr>
            <a:r>
              <a:rPr lang="en-US" b="1" dirty="0">
                <a:solidFill>
                  <a:srgbClr val="16324F"/>
                </a:solidFill>
              </a:rPr>
              <a:t>Private, verified, compliant, reviewed</a:t>
            </a:r>
            <a:endParaRPr lang="en-US" dirty="0"/>
          </a:p>
        </p:txBody>
      </p:sp>
      <p:sp>
        <p:nvSpPr>
          <p:cNvPr id="15" name="Text 13"/>
          <p:cNvSpPr/>
          <p:nvPr/>
        </p:nvSpPr>
        <p:spPr>
          <a:xfrm>
            <a:off x="8161273" y="3177798"/>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Treat public AI tools carefully and review every output before use.</a:t>
            </a:r>
            <a:endParaRPr lang="en-US" sz="1600" dirty="0"/>
          </a:p>
        </p:txBody>
      </p:sp>
      <p:sp>
        <p:nvSpPr>
          <p:cNvPr id="16" name="Shape 14"/>
          <p:cNvSpPr/>
          <p:nvPr/>
        </p:nvSpPr>
        <p:spPr>
          <a:xfrm>
            <a:off x="8161273" y="439395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12/47</a:t>
            </a:r>
            <a:endParaRPr lang="en-US" sz="7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REVIEW LENS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11849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13510" y="246215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413510" y="24621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20078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true?</a:t>
            </a:r>
            <a:endParaRPr lang="en-US" dirty="0"/>
          </a:p>
        </p:txBody>
      </p:sp>
      <p:sp>
        <p:nvSpPr>
          <p:cNvPr id="15" name="Text 13"/>
          <p:cNvSpPr/>
          <p:nvPr/>
        </p:nvSpPr>
        <p:spPr>
          <a:xfrm>
            <a:off x="20078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Verify property facts, stats, dates, and claims.</a:t>
            </a:r>
            <a:endParaRPr lang="en-US" sz="1400" dirty="0"/>
          </a:p>
        </p:txBody>
      </p:sp>
      <p:sp>
        <p:nvSpPr>
          <p:cNvPr id="16" name="Shape 14"/>
          <p:cNvSpPr/>
          <p:nvPr/>
        </p:nvSpPr>
        <p:spPr>
          <a:xfrm>
            <a:off x="64427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6671310" y="246215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71310" y="2453008"/>
            <a:ext cx="402336" cy="411480"/>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9" name="Text 17"/>
          <p:cNvSpPr/>
          <p:nvPr/>
        </p:nvSpPr>
        <p:spPr>
          <a:xfrm>
            <a:off x="72656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allowed?</a:t>
            </a:r>
            <a:endParaRPr lang="en-US" dirty="0"/>
          </a:p>
        </p:txBody>
      </p:sp>
      <p:sp>
        <p:nvSpPr>
          <p:cNvPr id="20" name="Text 18"/>
          <p:cNvSpPr/>
          <p:nvPr/>
        </p:nvSpPr>
        <p:spPr>
          <a:xfrm>
            <a:off x="72656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Check brokerage, MLS, advertising, and communication rules.</a:t>
            </a:r>
            <a:endParaRPr lang="en-US" sz="1400" dirty="0"/>
          </a:p>
        </p:txBody>
      </p:sp>
      <p:sp>
        <p:nvSpPr>
          <p:cNvPr id="21" name="Shape 19"/>
          <p:cNvSpPr/>
          <p:nvPr/>
        </p:nvSpPr>
        <p:spPr>
          <a:xfrm>
            <a:off x="11849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413510" y="4074964"/>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3" name="Text 21"/>
          <p:cNvSpPr/>
          <p:nvPr/>
        </p:nvSpPr>
        <p:spPr>
          <a:xfrm>
            <a:off x="1413510" y="4084108"/>
            <a:ext cx="402336" cy="374904"/>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20078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fair?</a:t>
            </a:r>
            <a:endParaRPr lang="en-US" dirty="0"/>
          </a:p>
        </p:txBody>
      </p:sp>
      <p:sp>
        <p:nvSpPr>
          <p:cNvPr id="25" name="Text 23"/>
          <p:cNvSpPr/>
          <p:nvPr/>
        </p:nvSpPr>
        <p:spPr>
          <a:xfrm>
            <a:off x="20078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Avoid protected-class language, steering, or discriminatory targeting.</a:t>
            </a:r>
            <a:endParaRPr lang="en-US" sz="1400" dirty="0"/>
          </a:p>
        </p:txBody>
      </p:sp>
      <p:sp>
        <p:nvSpPr>
          <p:cNvPr id="26" name="Shape 24"/>
          <p:cNvSpPr/>
          <p:nvPr/>
        </p:nvSpPr>
        <p:spPr>
          <a:xfrm>
            <a:off x="64427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6671310" y="407496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71310" y="4084108"/>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656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yours?</a:t>
            </a:r>
            <a:endParaRPr lang="en-US" dirty="0"/>
          </a:p>
        </p:txBody>
      </p:sp>
      <p:sp>
        <p:nvSpPr>
          <p:cNvPr id="30" name="Text 28"/>
          <p:cNvSpPr/>
          <p:nvPr/>
        </p:nvSpPr>
        <p:spPr>
          <a:xfrm>
            <a:off x="72656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Edit for your voice, judgment, and client relationship.</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13/47</a:t>
            </a:r>
            <a:endParaRPr lang="en-US" sz="72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39890" y="2260092"/>
            <a:ext cx="4206240" cy="2624328"/>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PRACTICE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1237972" y="1985816"/>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365988" y="1994960"/>
            <a:ext cx="1298448" cy="347472"/>
          </a:xfrm>
          <a:prstGeom prst="rect">
            <a:avLst/>
          </a:prstGeom>
          <a:solidFill>
            <a:srgbClr val="008F8F"/>
          </a:solidFill>
          <a:ln>
            <a:solidFill>
              <a:srgbClr val="008F8F"/>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600" dirty="0"/>
          </a:p>
        </p:txBody>
      </p:sp>
      <p:sp>
        <p:nvSpPr>
          <p:cNvPr id="13" name="Shape 11"/>
          <p:cNvSpPr/>
          <p:nvPr/>
        </p:nvSpPr>
        <p:spPr>
          <a:xfrm>
            <a:off x="1236038" y="2273577"/>
            <a:ext cx="5286150" cy="114573"/>
          </a:xfrm>
          <a:prstGeom prst="rect">
            <a:avLst/>
          </a:prstGeom>
          <a:solidFill>
            <a:srgbClr val="008F8F"/>
          </a:solidFill>
          <a:ln w="12700">
            <a:solidFill>
              <a:srgbClr val="008F8F"/>
            </a:solidFill>
            <a:prstDash val="solid"/>
          </a:ln>
        </p:spPr>
        <p:txBody>
          <a:bodyPr/>
          <a:lstStyle/>
          <a:p>
            <a:endParaRPr lang="en-US"/>
          </a:p>
        </p:txBody>
      </p:sp>
      <p:sp>
        <p:nvSpPr>
          <p:cNvPr id="14" name="Shape 12"/>
          <p:cNvSpPr/>
          <p:nvPr/>
        </p:nvSpPr>
        <p:spPr>
          <a:xfrm>
            <a:off x="1227812" y="23241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502132" y="2552700"/>
            <a:ext cx="4663440" cy="320040"/>
          </a:xfrm>
          <a:prstGeom prst="rect">
            <a:avLst/>
          </a:prstGeom>
          <a:noFill/>
          <a:ln/>
        </p:spPr>
        <p:txBody>
          <a:bodyPr wrap="square" lIns="0" tIns="0" rIns="0" bIns="0" rtlCol="0" anchor="ctr">
            <a:normAutofit/>
          </a:bodyPr>
          <a:lstStyle/>
          <a:p>
            <a:pPr marL="0" indent="0">
              <a:buNone/>
            </a:pPr>
            <a:r>
              <a:rPr lang="en-US" dirty="0">
                <a:solidFill>
                  <a:srgbClr val="52606D"/>
                </a:solidFill>
              </a:rPr>
              <a:t>Review this AI-generated sentence:</a:t>
            </a:r>
            <a:endParaRPr lang="en-US" dirty="0"/>
          </a:p>
        </p:txBody>
      </p:sp>
      <p:sp>
        <p:nvSpPr>
          <p:cNvPr id="16" name="Text 14"/>
          <p:cNvSpPr/>
          <p:nvPr/>
        </p:nvSpPr>
        <p:spPr>
          <a:xfrm>
            <a:off x="1502132" y="3028188"/>
            <a:ext cx="4663440" cy="1143000"/>
          </a:xfrm>
          <a:prstGeom prst="rect">
            <a:avLst/>
          </a:prstGeom>
          <a:noFill/>
          <a:ln/>
        </p:spPr>
        <p:txBody>
          <a:bodyPr wrap="square" lIns="381" tIns="381" rIns="381" bIns="381" rtlCol="0" anchor="ctr">
            <a:normAutofit/>
          </a:bodyPr>
          <a:lstStyle/>
          <a:p>
            <a:pPr marL="0" indent="0">
              <a:buNone/>
            </a:pPr>
            <a:r>
              <a:rPr lang="en-US" sz="2000" b="1" dirty="0">
                <a:solidFill>
                  <a:srgbClr val="16324F"/>
                </a:solidFill>
              </a:rPr>
              <a:t>This quiet family neighborhood is perfect for young professionals and has the best schools in the area.</a:t>
            </a:r>
            <a:endParaRPr lang="en-US" sz="2000" dirty="0"/>
          </a:p>
        </p:txBody>
      </p:sp>
      <p:sp>
        <p:nvSpPr>
          <p:cNvPr id="17" name="Text 15"/>
          <p:cNvSpPr/>
          <p:nvPr/>
        </p:nvSpPr>
        <p:spPr>
          <a:xfrm>
            <a:off x="1502132" y="44546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59880" y="2260092"/>
            <a:ext cx="128016" cy="2624328"/>
          </a:xfrm>
          <a:prstGeom prst="rect">
            <a:avLst/>
          </a:prstGeom>
          <a:solidFill>
            <a:srgbClr val="008F8F"/>
          </a:solidFill>
          <a:ln w="12700">
            <a:solidFill>
              <a:srgbClr val="008F8F"/>
            </a:solidFill>
            <a:prstDash val="solid"/>
          </a:ln>
        </p:spPr>
        <p:txBody>
          <a:bodyPr/>
          <a:lstStyle/>
          <a:p>
            <a:endParaRPr lang="en-US"/>
          </a:p>
        </p:txBody>
      </p:sp>
      <p:sp>
        <p:nvSpPr>
          <p:cNvPr id="20" name="Text 18"/>
          <p:cNvSpPr/>
          <p:nvPr/>
        </p:nvSpPr>
        <p:spPr>
          <a:xfrm>
            <a:off x="7071360" y="2899410"/>
            <a:ext cx="3520440" cy="1280160"/>
          </a:xfrm>
          <a:prstGeom prst="rect">
            <a:avLst/>
          </a:prstGeom>
          <a:noFill/>
          <a:ln/>
        </p:spPr>
        <p:txBody>
          <a:bodyPr wrap="square" lIns="254" tIns="254" rIns="254" bIns="254" rtlCol="0" anchor="t">
            <a:normAutofit lnSpcReduction="10000"/>
          </a:bodyPr>
          <a:lstStyle/>
          <a:p>
            <a:pPr marL="203200" indent="-203200">
              <a:buSzPct val="100000"/>
              <a:buChar char="•"/>
            </a:pPr>
            <a:r>
              <a:rPr lang="en-US" dirty="0">
                <a:solidFill>
                  <a:srgbClr val="102033"/>
                </a:solidFill>
                <a:ea typeface="Aptos" pitchFamily="34" charset="-122"/>
                <a:cs typeface="Aptos" pitchFamily="34" charset="-120"/>
              </a:rPr>
              <a:t>What could create risk?</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What facts need verification?</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How could it be rewritten safely?</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14/47</a:t>
            </a:r>
            <a:endParaRPr lang="en-US" sz="7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BEFORE / AFTER</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Autofit/>
          </a:bodyPr>
          <a:lstStyle/>
          <a:p>
            <a:pPr marL="0" indent="0">
              <a:buNone/>
            </a:pPr>
            <a:r>
              <a:rPr lang="en-US" dirty="0"/>
              <a:t>Better prompts reduce risk by giving AI facts, tone, boundaries, and review rules.</a:t>
            </a:r>
          </a:p>
        </p:txBody>
      </p:sp>
      <p:sp>
        <p:nvSpPr>
          <p:cNvPr id="12" name="Shape 10"/>
          <p:cNvSpPr/>
          <p:nvPr/>
        </p:nvSpPr>
        <p:spPr>
          <a:xfrm>
            <a:off x="1150620" y="206502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6172" y="232105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446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Write a listing description for a nice house in Coral Gables.</a:t>
            </a:r>
            <a:endParaRPr lang="en-US" dirty="0"/>
          </a:p>
        </p:txBody>
      </p:sp>
      <p:sp>
        <p:nvSpPr>
          <p:cNvPr id="15" name="Shape 13"/>
          <p:cNvSpPr/>
          <p:nvPr/>
        </p:nvSpPr>
        <p:spPr>
          <a:xfrm>
            <a:off x="6362700" y="206502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18732" y="232105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3702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15/47</a:t>
            </a:r>
            <a:endParaRPr lang="en-US" sz="7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02</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2</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Better context creates messages that sound more like a professional agent.</a:t>
            </a:r>
            <a:endParaRPr lang="en-US" dirty="0"/>
          </a:p>
        </p:txBody>
      </p:sp>
      <p:sp>
        <p:nvSpPr>
          <p:cNvPr id="8" name="Shape 6"/>
          <p:cNvSpPr/>
          <p:nvPr/>
        </p:nvSpPr>
        <p:spPr>
          <a:xfrm>
            <a:off x="749808" y="3657600"/>
            <a:ext cx="1828800" cy="0"/>
          </a:xfrm>
          <a:prstGeom prst="line">
            <a:avLst/>
          </a:prstGeom>
          <a:noFill/>
          <a:ln w="50800">
            <a:solidFill>
              <a:srgbClr val="2F80ED"/>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 FORMULA</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122986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2" name="Text 10"/>
          <p:cNvSpPr/>
          <p:nvPr/>
        </p:nvSpPr>
        <p:spPr>
          <a:xfrm>
            <a:off x="137617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Role</a:t>
            </a:r>
            <a:endParaRPr lang="en-US" sz="1600" dirty="0"/>
          </a:p>
        </p:txBody>
      </p:sp>
      <p:sp>
        <p:nvSpPr>
          <p:cNvPr id="13" name="Text 11"/>
          <p:cNvSpPr/>
          <p:nvPr/>
        </p:nvSpPr>
        <p:spPr>
          <a:xfrm>
            <a:off x="1376171" y="2439924"/>
            <a:ext cx="4243447"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You are helping me as a real estate professional</a:t>
            </a:r>
            <a:endParaRPr lang="en-US" sz="1600" dirty="0"/>
          </a:p>
        </p:txBody>
      </p:sp>
      <p:sp>
        <p:nvSpPr>
          <p:cNvPr id="14" name="Shape 12"/>
          <p:cNvSpPr/>
          <p:nvPr/>
        </p:nvSpPr>
        <p:spPr>
          <a:xfrm>
            <a:off x="639622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5" name="Text 13"/>
          <p:cNvSpPr/>
          <p:nvPr/>
        </p:nvSpPr>
        <p:spPr>
          <a:xfrm>
            <a:off x="654253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Task</a:t>
            </a:r>
            <a:endParaRPr lang="en-US" sz="1600" dirty="0"/>
          </a:p>
        </p:txBody>
      </p:sp>
      <p:sp>
        <p:nvSpPr>
          <p:cNvPr id="16" name="Text 14"/>
          <p:cNvSpPr/>
          <p:nvPr/>
        </p:nvSpPr>
        <p:spPr>
          <a:xfrm>
            <a:off x="6542532" y="2439924"/>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Draft a text / email / script / checklist</a:t>
            </a:r>
            <a:endParaRPr lang="en-US" sz="1600" dirty="0"/>
          </a:p>
        </p:txBody>
      </p:sp>
      <p:sp>
        <p:nvSpPr>
          <p:cNvPr id="17" name="Shape 15"/>
          <p:cNvSpPr/>
          <p:nvPr/>
        </p:nvSpPr>
        <p:spPr>
          <a:xfrm>
            <a:off x="122986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8" name="Text 16"/>
          <p:cNvSpPr/>
          <p:nvPr/>
        </p:nvSpPr>
        <p:spPr>
          <a:xfrm>
            <a:off x="137617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Context</a:t>
            </a:r>
            <a:endParaRPr lang="en-US" sz="1600" dirty="0"/>
          </a:p>
        </p:txBody>
      </p:sp>
      <p:sp>
        <p:nvSpPr>
          <p:cNvPr id="19" name="Text 17"/>
          <p:cNvSpPr/>
          <p:nvPr/>
        </p:nvSpPr>
        <p:spPr>
          <a:xfrm>
            <a:off x="137617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Client situation, property, timeline, concern</a:t>
            </a:r>
            <a:endParaRPr lang="en-US" sz="1600" dirty="0"/>
          </a:p>
        </p:txBody>
      </p:sp>
      <p:sp>
        <p:nvSpPr>
          <p:cNvPr id="20" name="Shape 18"/>
          <p:cNvSpPr/>
          <p:nvPr/>
        </p:nvSpPr>
        <p:spPr>
          <a:xfrm>
            <a:off x="639622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1" name="Text 19"/>
          <p:cNvSpPr/>
          <p:nvPr/>
        </p:nvSpPr>
        <p:spPr>
          <a:xfrm>
            <a:off x="654253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Tone</a:t>
            </a:r>
            <a:endParaRPr lang="en-US" sz="1600" dirty="0"/>
          </a:p>
        </p:txBody>
      </p:sp>
      <p:sp>
        <p:nvSpPr>
          <p:cNvPr id="22" name="Text 20"/>
          <p:cNvSpPr/>
          <p:nvPr/>
        </p:nvSpPr>
        <p:spPr>
          <a:xfrm>
            <a:off x="654253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Warm, concise, direct, educational</a:t>
            </a:r>
            <a:endParaRPr lang="en-US" sz="1600" dirty="0"/>
          </a:p>
        </p:txBody>
      </p:sp>
      <p:sp>
        <p:nvSpPr>
          <p:cNvPr id="23" name="Shape 21"/>
          <p:cNvSpPr/>
          <p:nvPr/>
        </p:nvSpPr>
        <p:spPr>
          <a:xfrm>
            <a:off x="122986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4" name="Text 22"/>
          <p:cNvSpPr/>
          <p:nvPr/>
        </p:nvSpPr>
        <p:spPr>
          <a:xfrm>
            <a:off x="137617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Constraints</a:t>
            </a:r>
            <a:endParaRPr lang="en-US" sz="1600" dirty="0"/>
          </a:p>
        </p:txBody>
      </p:sp>
      <p:sp>
        <p:nvSpPr>
          <p:cNvPr id="25" name="Text 23"/>
          <p:cNvSpPr/>
          <p:nvPr/>
        </p:nvSpPr>
        <p:spPr>
          <a:xfrm>
            <a:off x="137617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Avoid claims, private data, Fair Housing risk</a:t>
            </a:r>
            <a:endParaRPr lang="en-US" sz="1600" dirty="0"/>
          </a:p>
        </p:txBody>
      </p:sp>
      <p:sp>
        <p:nvSpPr>
          <p:cNvPr id="26" name="Shape 24"/>
          <p:cNvSpPr/>
          <p:nvPr/>
        </p:nvSpPr>
        <p:spPr>
          <a:xfrm>
            <a:off x="639622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7" name="Text 25"/>
          <p:cNvSpPr/>
          <p:nvPr/>
        </p:nvSpPr>
        <p:spPr>
          <a:xfrm>
            <a:off x="654253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Goal</a:t>
            </a:r>
            <a:endParaRPr lang="en-US" sz="1600" dirty="0"/>
          </a:p>
        </p:txBody>
      </p:sp>
      <p:sp>
        <p:nvSpPr>
          <p:cNvPr id="28" name="Text 26"/>
          <p:cNvSpPr/>
          <p:nvPr/>
        </p:nvSpPr>
        <p:spPr>
          <a:xfrm>
            <a:off x="654253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Reply, next step, clarity, appointment</a:t>
            </a:r>
            <a:endParaRPr lang="en-US" sz="1600" dirty="0"/>
          </a:p>
        </p:txBody>
      </p:sp>
      <p:sp>
        <p:nvSpPr>
          <p:cNvPr id="29" name="Shape 2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17/47</a:t>
            </a:r>
            <a:endParaRPr lang="en-US" sz="7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PROMPT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1150620" y="205740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1406652" y="231343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3" name="Text 11"/>
          <p:cNvSpPr/>
          <p:nvPr/>
        </p:nvSpPr>
        <p:spPr>
          <a:xfrm>
            <a:off x="1424940" y="2743200"/>
            <a:ext cx="4069080" cy="1828800"/>
          </a:xfrm>
          <a:prstGeom prst="rect">
            <a:avLst/>
          </a:prstGeom>
          <a:noFill/>
          <a:ln/>
        </p:spPr>
        <p:txBody>
          <a:bodyPr wrap="square" lIns="381" tIns="381" rIns="381" bIns="381" rtlCol="0" anchor="ctr">
            <a:normAutofit/>
          </a:bodyPr>
          <a:lstStyle/>
          <a:p>
            <a:pPr marL="0" indent="0">
              <a:buNone/>
            </a:pPr>
            <a:r>
              <a:rPr lang="en-US" sz="2000" dirty="0">
                <a:solidFill>
                  <a:srgbClr val="102033"/>
                </a:solidFill>
              </a:rPr>
              <a:t>Write a follow-up text for a buyer.</a:t>
            </a:r>
            <a:endParaRPr lang="en-US" sz="2000" dirty="0"/>
          </a:p>
        </p:txBody>
      </p:sp>
      <p:sp>
        <p:nvSpPr>
          <p:cNvPr id="14" name="Shape 12"/>
          <p:cNvSpPr/>
          <p:nvPr/>
        </p:nvSpPr>
        <p:spPr>
          <a:xfrm>
            <a:off x="6362700" y="205740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18732" y="231343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6" name="Text 14"/>
          <p:cNvSpPr/>
          <p:nvPr/>
        </p:nvSpPr>
        <p:spPr>
          <a:xfrm>
            <a:off x="6637020" y="2743200"/>
            <a:ext cx="4069080" cy="18288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6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18/47</a:t>
            </a:r>
            <a:endParaRPr lang="en-US" sz="7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BUYER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Buyer follow-up: clear, short, useful</a:t>
            </a:r>
            <a:endParaRPr lang="en-US" dirty="0"/>
          </a:p>
        </p:txBody>
      </p:sp>
      <p:sp>
        <p:nvSpPr>
          <p:cNvPr id="12" name="Shape 10"/>
          <p:cNvSpPr/>
          <p:nvPr/>
        </p:nvSpPr>
        <p:spPr>
          <a:xfrm>
            <a:off x="1201805" y="2057392"/>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3" name="Shape 11"/>
          <p:cNvSpPr/>
          <p:nvPr/>
        </p:nvSpPr>
        <p:spPr>
          <a:xfrm>
            <a:off x="1476125" y="2606030"/>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4" name="Text 12"/>
          <p:cNvSpPr/>
          <p:nvPr/>
        </p:nvSpPr>
        <p:spPr>
          <a:xfrm>
            <a:off x="1569142" y="2697470"/>
            <a:ext cx="2339602" cy="850392"/>
          </a:xfrm>
          <a:prstGeom prst="rect">
            <a:avLst/>
          </a:prstGeom>
          <a:noFill/>
          <a:ln/>
        </p:spPr>
        <p:txBody>
          <a:bodyPr wrap="square" lIns="381" tIns="381" rIns="381" bIns="381" rtlCol="0" anchor="ctr">
            <a:noAutofit/>
          </a:bodyPr>
          <a:lstStyle/>
          <a:p>
            <a:pPr marL="0" indent="0">
              <a:buNone/>
            </a:pPr>
            <a:r>
              <a:rPr lang="en-US" sz="1600" b="1" dirty="0">
                <a:solidFill>
                  <a:srgbClr val="16324F"/>
                </a:solidFill>
              </a:rPr>
              <a:t>A buyer toured two condos, liked one, but is worried about monthly payment.</a:t>
            </a:r>
            <a:endParaRPr lang="en-US" sz="1600" dirty="0"/>
          </a:p>
        </p:txBody>
      </p:sp>
      <p:sp>
        <p:nvSpPr>
          <p:cNvPr id="15" name="Text 13"/>
          <p:cNvSpPr/>
          <p:nvPr/>
        </p:nvSpPr>
        <p:spPr>
          <a:xfrm>
            <a:off x="1476125" y="4361680"/>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6" name="Shape 14"/>
          <p:cNvSpPr/>
          <p:nvPr/>
        </p:nvSpPr>
        <p:spPr>
          <a:xfrm>
            <a:off x="4905125" y="2057392"/>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7" name="Shape 15"/>
          <p:cNvSpPr/>
          <p:nvPr/>
        </p:nvSpPr>
        <p:spPr>
          <a:xfrm>
            <a:off x="5225165" y="2441440"/>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8" name="Text 16"/>
          <p:cNvSpPr/>
          <p:nvPr/>
        </p:nvSpPr>
        <p:spPr>
          <a:xfrm>
            <a:off x="5499485" y="2606032"/>
            <a:ext cx="4892040" cy="1307592"/>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600" dirty="0"/>
          </a:p>
        </p:txBody>
      </p:sp>
      <p:sp>
        <p:nvSpPr>
          <p:cNvPr id="19" name="Text 17"/>
          <p:cNvSpPr/>
          <p:nvPr/>
        </p:nvSpPr>
        <p:spPr>
          <a:xfrm>
            <a:off x="5225165" y="4361680"/>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20" name="Shape 1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1" name="Text 1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19/47</a:t>
            </a:r>
            <a:endParaRPr lang="en-US" sz="7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SELLER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Shape 9"/>
          <p:cNvSpPr/>
          <p:nvPr/>
        </p:nvSpPr>
        <p:spPr>
          <a:xfrm>
            <a:off x="1205521" y="2047428"/>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9841" y="2612597"/>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62721" y="2612597"/>
            <a:ext cx="2148840" cy="105156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A listing had showings but no offers this week.</a:t>
            </a:r>
            <a:endParaRPr lang="en-US" dirty="0"/>
          </a:p>
        </p:txBody>
      </p:sp>
      <p:sp>
        <p:nvSpPr>
          <p:cNvPr id="14" name="Text 12"/>
          <p:cNvSpPr/>
          <p:nvPr/>
        </p:nvSpPr>
        <p:spPr>
          <a:xfrm>
            <a:off x="1479841" y="4355233"/>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8841" y="2047428"/>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8881" y="2431476"/>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3201" y="2458908"/>
            <a:ext cx="4892040" cy="1572768"/>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600" dirty="0"/>
          </a:p>
        </p:txBody>
      </p:sp>
      <p:sp>
        <p:nvSpPr>
          <p:cNvPr id="18" name="Text 16"/>
          <p:cNvSpPr/>
          <p:nvPr/>
        </p:nvSpPr>
        <p:spPr>
          <a:xfrm>
            <a:off x="5228881" y="4351716"/>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20/47</a:t>
            </a:r>
            <a:endParaRPr lang="en-US" sz="720"/>
          </a:p>
        </p:txBody>
      </p:sp>
      <p:sp>
        <p:nvSpPr>
          <p:cNvPr id="22" name="Text 9">
            <a:extLst>
              <a:ext uri="{FF2B5EF4-FFF2-40B4-BE49-F238E27FC236}">
                <a16:creationId xmlns:a16="http://schemas.microsoft.com/office/drawing/2014/main" id="{A4A06875-411A-A97B-2745-C0030B28DEDE}"/>
              </a:ext>
            </a:extLst>
          </p:cNvPr>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Seller update: honest without sounding negative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26146" y="2290135"/>
            <a:ext cx="4206240" cy="2624328"/>
          </a:xfrm>
          <a:prstGeom prst="roundRect">
            <a:avLst>
              <a:gd name="adj" fmla="val 2034"/>
            </a:avLst>
          </a:prstGeom>
          <a:solidFill>
            <a:srgbClr val="2F80ED">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1176906" y="2014747"/>
            <a:ext cx="1572768" cy="310896"/>
          </a:xfrm>
          <a:prstGeom prst="roundRect">
            <a:avLst>
              <a:gd name="adj" fmla="val 11765"/>
            </a:avLst>
          </a:prstGeom>
          <a:solidFill>
            <a:srgbClr val="2F80ED"/>
          </a:solidFill>
          <a:ln w="12700">
            <a:solidFill>
              <a:srgbClr val="2F80ED"/>
            </a:solidFill>
            <a:prstDash val="solid"/>
          </a:ln>
        </p:spPr>
        <p:txBody>
          <a:bodyPr/>
          <a:lstStyle/>
          <a:p>
            <a:endParaRPr lang="en-US"/>
          </a:p>
        </p:txBody>
      </p:sp>
      <p:sp>
        <p:nvSpPr>
          <p:cNvPr id="12" name="Text 10"/>
          <p:cNvSpPr/>
          <p:nvPr/>
        </p:nvSpPr>
        <p:spPr>
          <a:xfrm>
            <a:off x="1302027" y="2014747"/>
            <a:ext cx="1298448" cy="31089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1200" b="1">
                <a:solidFill>
                  <a:srgbClr val="FFFFFF"/>
                </a:solidFill>
              </a:rPr>
              <a:t>PRACTICE</a:t>
            </a:r>
            <a:endParaRPr lang="en-US" sz="1200"/>
          </a:p>
        </p:txBody>
      </p:sp>
      <p:sp>
        <p:nvSpPr>
          <p:cNvPr id="13" name="Shape 11"/>
          <p:cNvSpPr/>
          <p:nvPr/>
        </p:nvSpPr>
        <p:spPr>
          <a:xfrm>
            <a:off x="1170696" y="2289564"/>
            <a:ext cx="5264775" cy="86336"/>
          </a:xfrm>
          <a:prstGeom prst="rect">
            <a:avLst/>
          </a:prstGeom>
          <a:solidFill>
            <a:srgbClr val="2F80ED"/>
          </a:solidFill>
          <a:ln w="12700">
            <a:noFill/>
            <a:prstDash val="solid"/>
          </a:ln>
        </p:spPr>
        <p:txBody>
          <a:bodyPr/>
          <a:lstStyle/>
          <a:p>
            <a:endParaRPr lang="en-US"/>
          </a:p>
        </p:txBody>
      </p:sp>
      <p:sp>
        <p:nvSpPr>
          <p:cNvPr id="14" name="Shape 12"/>
          <p:cNvSpPr/>
          <p:nvPr/>
        </p:nvSpPr>
        <p:spPr>
          <a:xfrm>
            <a:off x="1170696" y="2341228"/>
            <a:ext cx="5264775" cy="2573235"/>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40711" y="2582743"/>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Original message:</a:t>
            </a:r>
            <a:endParaRPr lang="en-US" sz="1600" dirty="0"/>
          </a:p>
        </p:txBody>
      </p:sp>
      <p:sp>
        <p:nvSpPr>
          <p:cNvPr id="16" name="Text 14"/>
          <p:cNvSpPr/>
          <p:nvPr/>
        </p:nvSpPr>
        <p:spPr>
          <a:xfrm>
            <a:off x="1440711" y="3058231"/>
            <a:ext cx="495300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Just checking in to see if you are still interested.</a:t>
            </a:r>
            <a:endParaRPr lang="en-US" dirty="0"/>
          </a:p>
        </p:txBody>
      </p:sp>
      <p:sp>
        <p:nvSpPr>
          <p:cNvPr id="17" name="Text 15"/>
          <p:cNvSpPr/>
          <p:nvPr/>
        </p:nvSpPr>
        <p:spPr>
          <a:xfrm>
            <a:off x="1440711" y="4484695"/>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44231" y="2290135"/>
            <a:ext cx="128016" cy="2624328"/>
          </a:xfrm>
          <a:prstGeom prst="rect">
            <a:avLst/>
          </a:prstGeom>
          <a:solidFill>
            <a:srgbClr val="2F80ED"/>
          </a:solidFill>
          <a:ln w="12700">
            <a:solidFill>
              <a:srgbClr val="2F80ED"/>
            </a:solidFill>
            <a:prstDash val="solid"/>
          </a:ln>
        </p:spPr>
        <p:txBody>
          <a:bodyPr/>
          <a:lstStyle/>
          <a:p>
            <a:endParaRPr lang="en-US"/>
          </a:p>
        </p:txBody>
      </p:sp>
      <p:sp>
        <p:nvSpPr>
          <p:cNvPr id="20" name="Text 18"/>
          <p:cNvSpPr/>
          <p:nvPr/>
        </p:nvSpPr>
        <p:spPr>
          <a:xfrm>
            <a:off x="7155711" y="2628463"/>
            <a:ext cx="3520440" cy="2039112"/>
          </a:xfrm>
          <a:prstGeom prst="rect">
            <a:avLst/>
          </a:prstGeom>
          <a:noFill/>
          <a:ln/>
        </p:spPr>
        <p:txBody>
          <a:bodyPr wrap="square" lIns="254" tIns="254" rIns="254" bIns="254" rtlCol="0" anchor="t">
            <a:normAutofit/>
          </a:bodyPr>
          <a:lstStyle/>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Give the lead a reason to reply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Ask one specific question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it under 45 words</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21/47</a:t>
            </a:r>
            <a:endParaRPr lang="en-US" sz="72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12" name="Shape 10"/>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14" name="Text 12"/>
          <p:cNvSpPr/>
          <p:nvPr/>
        </p:nvSpPr>
        <p:spPr>
          <a:xfrm>
            <a:off x="1935367" y="1908048"/>
            <a:ext cx="8549640" cy="608076"/>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Rewrite this text so it </a:t>
            </a:r>
            <a:r>
              <a:rPr lang="en-US" sz="1600">
                <a:solidFill>
                  <a:srgbClr val="102033"/>
                </a:solidFill>
              </a:rPr>
              <a:t>sounds warm, concise, and natural for a Real Estate Agent: </a:t>
            </a:r>
            <a:r>
              <a:rPr lang="en-US" sz="1600" dirty="0">
                <a:solidFill>
                  <a:srgbClr val="102033"/>
                </a:solidFill>
              </a:rPr>
              <a:t>[draft]</a:t>
            </a:r>
            <a:endParaRPr lang="en-US" sz="1600" dirty="0"/>
          </a:p>
        </p:txBody>
      </p:sp>
      <p:sp>
        <p:nvSpPr>
          <p:cNvPr id="15" name="Shape 13"/>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35367" y="3116522"/>
            <a:ext cx="9070848" cy="621792"/>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Create a buyer follow-up email based on these call notes: [notes]. Ask one clear next-step question.</a:t>
            </a:r>
            <a:endParaRPr lang="en-US" sz="1600" dirty="0"/>
          </a:p>
        </p:txBody>
      </p:sp>
      <p:sp>
        <p:nvSpPr>
          <p:cNvPr id="19" name="Shape 17"/>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0" name="Shape 18"/>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35367" y="4348699"/>
            <a:ext cx="8549640" cy="621792"/>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Draft a seller update after a quiet week. Be honest, professional, and solution-oriented.</a:t>
            </a:r>
            <a:endParaRPr lang="en-US" sz="16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22/47</a:t>
            </a:r>
            <a:endParaRPr lang="en-US" sz="7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23/47</a:t>
            </a:r>
            <a:endParaRPr lang="en-US" sz="720"/>
          </a:p>
        </p:txBody>
      </p:sp>
      <p:sp>
        <p:nvSpPr>
          <p:cNvPr id="26" name="Shape 9">
            <a:extLst>
              <a:ext uri="{FF2B5EF4-FFF2-40B4-BE49-F238E27FC236}">
                <a16:creationId xmlns:a16="http://schemas.microsoft.com/office/drawing/2014/main" id="{645FC5DE-4EEC-4C47-ECAE-988DA534C2EE}"/>
              </a:ext>
            </a:extLst>
          </p:cNvPr>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7" name="Shape 10">
            <a:extLst>
              <a:ext uri="{FF2B5EF4-FFF2-40B4-BE49-F238E27FC236}">
                <a16:creationId xmlns:a16="http://schemas.microsoft.com/office/drawing/2014/main" id="{D163CB90-9D93-EF52-DCA1-2C51A9538756}"/>
              </a:ext>
            </a:extLst>
          </p:cNvPr>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28" name="Text 11">
            <a:extLst>
              <a:ext uri="{FF2B5EF4-FFF2-40B4-BE49-F238E27FC236}">
                <a16:creationId xmlns:a16="http://schemas.microsoft.com/office/drawing/2014/main" id="{3EF9B92A-EDF3-8D7C-8C69-7F3B8E52FF6D}"/>
              </a:ext>
            </a:extLst>
          </p:cNvPr>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29" name="Text 12">
            <a:extLst>
              <a:ext uri="{FF2B5EF4-FFF2-40B4-BE49-F238E27FC236}">
                <a16:creationId xmlns:a16="http://schemas.microsoft.com/office/drawing/2014/main" id="{12B1438D-6446-5652-2FAA-FC6EC2767ED0}"/>
              </a:ext>
            </a:extLst>
          </p:cNvPr>
          <p:cNvSpPr/>
          <p:nvPr/>
        </p:nvSpPr>
        <p:spPr>
          <a:xfrm>
            <a:off x="1935367" y="1908048"/>
            <a:ext cx="8549640" cy="608076"/>
          </a:xfrm>
          <a:prstGeom prst="rect">
            <a:avLst/>
          </a:prstGeom>
          <a:noFill/>
          <a:ln/>
        </p:spPr>
        <p:txBody>
          <a:bodyPr wrap="square" lIns="254" tIns="254" rIns="254" bIns="254" rtlCol="0" anchor="ctr">
            <a:normAutofit/>
          </a:bodyPr>
          <a:lstStyle/>
          <a:p>
            <a:r>
              <a:rPr lang="en-US" sz="1600" dirty="0">
                <a:solidFill>
                  <a:srgbClr val="102033"/>
                </a:solidFill>
              </a:rPr>
              <a:t>Create three versions of this follow-up: text, email, and voicemail.</a:t>
            </a:r>
            <a:endParaRPr lang="en-US" sz="1600" dirty="0"/>
          </a:p>
        </p:txBody>
      </p:sp>
      <p:sp>
        <p:nvSpPr>
          <p:cNvPr id="30" name="Shape 13">
            <a:extLst>
              <a:ext uri="{FF2B5EF4-FFF2-40B4-BE49-F238E27FC236}">
                <a16:creationId xmlns:a16="http://schemas.microsoft.com/office/drawing/2014/main" id="{8DD94027-774D-DFA7-0EE1-28B4623C6864}"/>
              </a:ext>
            </a:extLst>
          </p:cNvPr>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31" name="Shape 14">
            <a:extLst>
              <a:ext uri="{FF2B5EF4-FFF2-40B4-BE49-F238E27FC236}">
                <a16:creationId xmlns:a16="http://schemas.microsoft.com/office/drawing/2014/main" id="{55D32BD6-388D-F6D7-8585-FCA9CA4196AF}"/>
              </a:ext>
            </a:extLst>
          </p:cNvPr>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32" name="Text 15">
            <a:extLst>
              <a:ext uri="{FF2B5EF4-FFF2-40B4-BE49-F238E27FC236}">
                <a16:creationId xmlns:a16="http://schemas.microsoft.com/office/drawing/2014/main" id="{B9E8CA50-34FE-A334-6A3D-B60598A98C7B}"/>
              </a:ext>
            </a:extLst>
          </p:cNvPr>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33" name="Text 16">
            <a:extLst>
              <a:ext uri="{FF2B5EF4-FFF2-40B4-BE49-F238E27FC236}">
                <a16:creationId xmlns:a16="http://schemas.microsoft.com/office/drawing/2014/main" id="{ABF3CCA4-F3BC-0788-178B-49F602D21A61}"/>
              </a:ext>
            </a:extLst>
          </p:cNvPr>
          <p:cNvSpPr/>
          <p:nvPr/>
        </p:nvSpPr>
        <p:spPr>
          <a:xfrm>
            <a:off x="1935367" y="3116522"/>
            <a:ext cx="9070848" cy="621792"/>
          </a:xfrm>
          <a:prstGeom prst="rect">
            <a:avLst/>
          </a:prstGeom>
          <a:noFill/>
          <a:ln/>
        </p:spPr>
        <p:txBody>
          <a:bodyPr wrap="square" lIns="254" tIns="254" rIns="254" bIns="254" rtlCol="0" anchor="ctr">
            <a:noAutofit/>
          </a:bodyPr>
          <a:lstStyle/>
          <a:p>
            <a:r>
              <a:rPr lang="en-US" sz="1600" dirty="0">
                <a:solidFill>
                  <a:srgbClr val="102033"/>
                </a:solidFill>
              </a:rPr>
              <a:t>Review this message for accuracy, Fair Housing risk, and claims I should verify.</a:t>
            </a:r>
            <a:endParaRPr lang="en-US" sz="1600" dirty="0"/>
          </a:p>
        </p:txBody>
      </p:sp>
      <p:sp>
        <p:nvSpPr>
          <p:cNvPr id="34" name="Shape 17">
            <a:extLst>
              <a:ext uri="{FF2B5EF4-FFF2-40B4-BE49-F238E27FC236}">
                <a16:creationId xmlns:a16="http://schemas.microsoft.com/office/drawing/2014/main" id="{E7133BE9-A045-389D-32E1-3254EE7CE396}"/>
              </a:ext>
            </a:extLst>
          </p:cNvPr>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35" name="Shape 18">
            <a:extLst>
              <a:ext uri="{FF2B5EF4-FFF2-40B4-BE49-F238E27FC236}">
                <a16:creationId xmlns:a16="http://schemas.microsoft.com/office/drawing/2014/main" id="{E97F475D-9A61-A486-7448-CBAD0B4FCE8B}"/>
              </a:ext>
            </a:extLst>
          </p:cNvPr>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36" name="Text 19">
            <a:extLst>
              <a:ext uri="{FF2B5EF4-FFF2-40B4-BE49-F238E27FC236}">
                <a16:creationId xmlns:a16="http://schemas.microsoft.com/office/drawing/2014/main" id="{C564EC1C-8C58-6BBF-1EDF-9666B3BF40DE}"/>
              </a:ext>
            </a:extLst>
          </p:cNvPr>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37" name="Text 20">
            <a:extLst>
              <a:ext uri="{FF2B5EF4-FFF2-40B4-BE49-F238E27FC236}">
                <a16:creationId xmlns:a16="http://schemas.microsoft.com/office/drawing/2014/main" id="{32B8F4AD-61CD-C2C3-2565-E897450D548B}"/>
              </a:ext>
            </a:extLst>
          </p:cNvPr>
          <p:cNvSpPr/>
          <p:nvPr/>
        </p:nvSpPr>
        <p:spPr>
          <a:xfrm>
            <a:off x="1935367" y="4348699"/>
            <a:ext cx="8549640" cy="621792"/>
          </a:xfrm>
          <a:prstGeom prst="rect">
            <a:avLst/>
          </a:prstGeom>
          <a:noFill/>
          <a:ln/>
        </p:spPr>
        <p:txBody>
          <a:bodyPr wrap="square" lIns="254" tIns="254" rIns="254" bIns="254" rtlCol="0" anchor="ctr">
            <a:normAutofit/>
          </a:bodyPr>
          <a:lstStyle/>
          <a:p>
            <a:r>
              <a:rPr lang="en-US" sz="1600" dirty="0">
                <a:solidFill>
                  <a:srgbClr val="102033"/>
                </a:solidFill>
              </a:rPr>
              <a:t>Give me three tone options: concise, reassuring, and more direct.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03</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3</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Context before cadence: different lead sources need different first responses.</a:t>
            </a:r>
            <a:endParaRPr lang="en-US" dirty="0"/>
          </a:p>
        </p:txBody>
      </p:sp>
      <p:sp>
        <p:nvSpPr>
          <p:cNvPr id="8" name="Shape 6"/>
          <p:cNvSpPr/>
          <p:nvPr/>
        </p:nvSpPr>
        <p:spPr>
          <a:xfrm>
            <a:off x="749808" y="3657600"/>
            <a:ext cx="1828800" cy="0"/>
          </a:xfrm>
          <a:prstGeom prst="line">
            <a:avLst/>
          </a:prstGeom>
          <a:noFill/>
          <a:ln w="50800">
            <a:solidFill>
              <a:srgbClr val="F45B69"/>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LEAD REALITY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3200" dirty="0"/>
          </a:p>
        </p:txBody>
      </p:sp>
      <p:sp>
        <p:nvSpPr>
          <p:cNvPr id="11" name="Text 9"/>
          <p:cNvSpPr/>
          <p:nvPr/>
        </p:nvSpPr>
        <p:spPr>
          <a:xfrm>
            <a:off x="1070901" y="2039630"/>
            <a:ext cx="6400800" cy="3066587"/>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Many leads arrive with limited context, whether they come from portals, IDX, open houses, referrals, social media, sign calls, or past database activity.</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Speed matters, but fast and generic still feels automated.</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Different lead sources need different first responses because the relationship context is different.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Useful follow-up gives the person a reason to continue the conversation.</a:t>
            </a:r>
            <a:endParaRPr lang="en-US" dirty="0"/>
          </a:p>
        </p:txBody>
      </p:sp>
      <p:sp>
        <p:nvSpPr>
          <p:cNvPr id="12" name="Shape 10"/>
          <p:cNvSpPr/>
          <p:nvPr/>
        </p:nvSpPr>
        <p:spPr>
          <a:xfrm>
            <a:off x="7682013" y="1948191"/>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93849" y="2039631"/>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68169" y="2359671"/>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Useful beats frequent</a:t>
            </a:r>
            <a:endParaRPr lang="en-US" dirty="0"/>
          </a:p>
        </p:txBody>
      </p:sp>
      <p:sp>
        <p:nvSpPr>
          <p:cNvPr id="15" name="Text 13"/>
          <p:cNvSpPr/>
          <p:nvPr/>
        </p:nvSpPr>
        <p:spPr>
          <a:xfrm>
            <a:off x="8168169" y="3155199"/>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Better follow-up gives the lead a reason to respond and a clear next step.</a:t>
            </a:r>
            <a:endParaRPr lang="en-US" sz="1600" dirty="0"/>
          </a:p>
        </p:txBody>
      </p:sp>
      <p:sp>
        <p:nvSpPr>
          <p:cNvPr id="16" name="Shape 14"/>
          <p:cNvSpPr/>
          <p:nvPr/>
        </p:nvSpPr>
        <p:spPr>
          <a:xfrm>
            <a:off x="8168169" y="4371351"/>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25/47</a:t>
            </a:r>
            <a:endParaRPr lang="en-US" sz="7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CRM VS AI</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1684917" y="2004886"/>
            <a:ext cx="4146923" cy="2843783"/>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200495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CRM template</a:t>
            </a:r>
            <a:endParaRPr lang="en-US" sz="2000" dirty="0"/>
          </a:p>
        </p:txBody>
      </p:sp>
      <p:sp>
        <p:nvSpPr>
          <p:cNvPr id="13" name="Text 11"/>
          <p:cNvSpPr/>
          <p:nvPr/>
        </p:nvSpPr>
        <p:spPr>
          <a:xfrm>
            <a:off x="212382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Saved message</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Same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Fast but generic</a:t>
            </a:r>
            <a:endParaRPr lang="en-US" dirty="0"/>
          </a:p>
        </p:txBody>
      </p:sp>
      <p:sp>
        <p:nvSpPr>
          <p:cNvPr id="14" name="Shape 12"/>
          <p:cNvSpPr/>
          <p:nvPr/>
        </p:nvSpPr>
        <p:spPr>
          <a:xfrm>
            <a:off x="6365629" y="2004886"/>
            <a:ext cx="4146923" cy="2843783"/>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5823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AI-assisted draft</a:t>
            </a:r>
            <a:endParaRPr lang="en-US" sz="2000" dirty="0"/>
          </a:p>
        </p:txBody>
      </p:sp>
      <p:sp>
        <p:nvSpPr>
          <p:cNvPr id="16" name="Text 14"/>
          <p:cNvSpPr/>
          <p:nvPr/>
        </p:nvSpPr>
        <p:spPr>
          <a:xfrm>
            <a:off x="677710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Source + context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Situation-aware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Agent-reviewed before sending</a:t>
            </a:r>
            <a:endParaRPr lang="en-US" dirty="0"/>
          </a:p>
        </p:txBody>
      </p:sp>
      <p:sp>
        <p:nvSpPr>
          <p:cNvPr id="17" name="Shape 15"/>
          <p:cNvSpPr/>
          <p:nvPr/>
        </p:nvSpPr>
        <p:spPr>
          <a:xfrm>
            <a:off x="5880616" y="3193606"/>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26/47</a:t>
            </a:r>
            <a:endParaRPr lang="en-US" sz="72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WORKFLOW</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109955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00718" y="243789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00718" y="2445512"/>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849358" y="2125980"/>
            <a:ext cx="2176272" cy="1031748"/>
          </a:xfrm>
          <a:prstGeom prst="rect">
            <a:avLst/>
          </a:prstGeom>
          <a:noFill/>
          <a:ln/>
        </p:spPr>
        <p:txBody>
          <a:bodyPr wrap="square" lIns="0" tIns="0" rIns="0" bIns="0" rtlCol="0" anchor="ctr">
            <a:noAutofit/>
          </a:bodyPr>
          <a:lstStyle/>
          <a:p>
            <a:pPr marL="0" indent="0">
              <a:buNone/>
            </a:pPr>
            <a:r>
              <a:rPr lang="en-US" sz="1600" b="1" dirty="0">
                <a:solidFill>
                  <a:srgbClr val="102033"/>
                </a:solidFill>
              </a:rPr>
              <a:t>Capture source, context, and recent activity</a:t>
            </a:r>
            <a:endParaRPr lang="en-US" sz="1600" dirty="0"/>
          </a:p>
        </p:txBody>
      </p:sp>
      <p:sp>
        <p:nvSpPr>
          <p:cNvPr id="15" name="Shape 13"/>
          <p:cNvSpPr/>
          <p:nvPr/>
        </p:nvSpPr>
        <p:spPr>
          <a:xfrm>
            <a:off x="4619990" y="212598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4821158" y="2437892"/>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4821158" y="244551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5369798" y="2125980"/>
            <a:ext cx="2176272"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Identify likely intent without assuming certainty</a:t>
            </a:r>
            <a:endParaRPr lang="en-US" sz="1600" dirty="0"/>
          </a:p>
        </p:txBody>
      </p:sp>
      <p:sp>
        <p:nvSpPr>
          <p:cNvPr id="19" name="Shape 17"/>
          <p:cNvSpPr/>
          <p:nvPr/>
        </p:nvSpPr>
        <p:spPr>
          <a:xfrm>
            <a:off x="814551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0" name="Shape 18"/>
          <p:cNvSpPr/>
          <p:nvPr/>
        </p:nvSpPr>
        <p:spPr>
          <a:xfrm>
            <a:off x="8346678" y="2437892"/>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8346678" y="2437892"/>
            <a:ext cx="402336" cy="40995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8895318" y="2125980"/>
            <a:ext cx="2179320"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Choose the best channel</a:t>
            </a:r>
            <a:endParaRPr lang="en-US" sz="1600" dirty="0"/>
          </a:p>
        </p:txBody>
      </p:sp>
      <p:sp>
        <p:nvSpPr>
          <p:cNvPr id="23" name="Shape 21"/>
          <p:cNvSpPr/>
          <p:nvPr/>
        </p:nvSpPr>
        <p:spPr>
          <a:xfrm>
            <a:off x="1099550" y="3774440"/>
            <a:ext cx="2926080" cy="1024128"/>
          </a:xfrm>
          <a:prstGeom prst="roundRect">
            <a:avLst>
              <a:gd name="adj" fmla="val 5357"/>
            </a:avLst>
          </a:prstGeom>
          <a:solidFill>
            <a:srgbClr val="FFFFFF"/>
          </a:solidFill>
          <a:ln w="10160">
            <a:solidFill>
              <a:srgbClr val="D8E6E8"/>
            </a:solidFill>
            <a:prstDash val="solid"/>
          </a:ln>
        </p:spPr>
        <p:txBody>
          <a:bodyPr/>
          <a:lstStyle/>
          <a:p>
            <a:endParaRPr lang="en-US" sz="1600"/>
          </a:p>
        </p:txBody>
      </p:sp>
      <p:sp>
        <p:nvSpPr>
          <p:cNvPr id="24" name="Shape 22"/>
          <p:cNvSpPr/>
          <p:nvPr/>
        </p:nvSpPr>
        <p:spPr>
          <a:xfrm>
            <a:off x="1300718" y="4030472"/>
            <a:ext cx="402336" cy="402336"/>
          </a:xfrm>
          <a:prstGeom prst="ellipse">
            <a:avLst/>
          </a:prstGeom>
          <a:solidFill>
            <a:srgbClr val="2E7D5B"/>
          </a:solidFill>
          <a:ln w="12700">
            <a:solidFill>
              <a:srgbClr val="2E7D5B"/>
            </a:solidFill>
            <a:prstDash val="solid"/>
          </a:ln>
        </p:spPr>
        <p:txBody>
          <a:bodyPr/>
          <a:lstStyle/>
          <a:p>
            <a:endParaRPr lang="en-US"/>
          </a:p>
        </p:txBody>
      </p:sp>
      <p:sp>
        <p:nvSpPr>
          <p:cNvPr id="25" name="Text 23"/>
          <p:cNvSpPr/>
          <p:nvPr/>
        </p:nvSpPr>
        <p:spPr>
          <a:xfrm>
            <a:off x="130071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84935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Draft one useful message</a:t>
            </a:r>
            <a:endParaRPr lang="en-US" sz="1600" dirty="0"/>
          </a:p>
        </p:txBody>
      </p:sp>
      <p:sp>
        <p:nvSpPr>
          <p:cNvPr id="27" name="Shape 25"/>
          <p:cNvSpPr/>
          <p:nvPr/>
        </p:nvSpPr>
        <p:spPr>
          <a:xfrm>
            <a:off x="4619990" y="371856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8" name="Shape 26"/>
          <p:cNvSpPr/>
          <p:nvPr/>
        </p:nvSpPr>
        <p:spPr>
          <a:xfrm>
            <a:off x="4821158" y="4030472"/>
            <a:ext cx="402336" cy="402336"/>
          </a:xfrm>
          <a:prstGeom prst="ellipse">
            <a:avLst/>
          </a:prstGeom>
          <a:solidFill>
            <a:srgbClr val="F2B84B"/>
          </a:solidFill>
          <a:ln w="12700">
            <a:solidFill>
              <a:srgbClr val="F2B84B"/>
            </a:solidFill>
            <a:prstDash val="solid"/>
          </a:ln>
        </p:spPr>
        <p:txBody>
          <a:bodyPr/>
          <a:lstStyle/>
          <a:p>
            <a:endParaRPr lang="en-US"/>
          </a:p>
        </p:txBody>
      </p:sp>
      <p:sp>
        <p:nvSpPr>
          <p:cNvPr id="29" name="Text 27"/>
          <p:cNvSpPr/>
          <p:nvPr/>
        </p:nvSpPr>
        <p:spPr>
          <a:xfrm>
            <a:off x="4821158" y="4038092"/>
            <a:ext cx="402336" cy="394716"/>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536979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Review for accuracy and tone</a:t>
            </a:r>
            <a:endParaRPr lang="en-US" sz="1600" dirty="0"/>
          </a:p>
        </p:txBody>
      </p:sp>
      <p:sp>
        <p:nvSpPr>
          <p:cNvPr id="31" name="Shape 29"/>
          <p:cNvSpPr/>
          <p:nvPr/>
        </p:nvSpPr>
        <p:spPr>
          <a:xfrm>
            <a:off x="8145510" y="371856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32" name="Shape 30"/>
          <p:cNvSpPr/>
          <p:nvPr/>
        </p:nvSpPr>
        <p:spPr>
          <a:xfrm>
            <a:off x="8346678" y="4030472"/>
            <a:ext cx="402336" cy="402336"/>
          </a:xfrm>
          <a:prstGeom prst="ellipse">
            <a:avLst/>
          </a:prstGeom>
          <a:solidFill>
            <a:srgbClr val="16324F"/>
          </a:solidFill>
          <a:ln w="12700">
            <a:solidFill>
              <a:srgbClr val="16324F"/>
            </a:solidFill>
            <a:prstDash val="solid"/>
          </a:ln>
        </p:spPr>
        <p:txBody>
          <a:bodyPr/>
          <a:lstStyle/>
          <a:p>
            <a:endParaRPr lang="en-US"/>
          </a:p>
        </p:txBody>
      </p:sp>
      <p:sp>
        <p:nvSpPr>
          <p:cNvPr id="33" name="Text 31"/>
          <p:cNvSpPr/>
          <p:nvPr/>
        </p:nvSpPr>
        <p:spPr>
          <a:xfrm>
            <a:off x="834667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6</a:t>
            </a:r>
            <a:endParaRPr lang="en-US" sz="1200"/>
          </a:p>
        </p:txBody>
      </p:sp>
      <p:sp>
        <p:nvSpPr>
          <p:cNvPr id="34" name="Text 32"/>
          <p:cNvSpPr/>
          <p:nvPr/>
        </p:nvSpPr>
        <p:spPr>
          <a:xfrm>
            <a:off x="8895318" y="3726179"/>
            <a:ext cx="2179320"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Send and log next step</a:t>
            </a:r>
            <a:endParaRPr lang="en-US" sz="1600" dirty="0"/>
          </a:p>
        </p:txBody>
      </p:sp>
      <p:sp>
        <p:nvSpPr>
          <p:cNvPr id="35" name="Shape 3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6" name="Text 3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27/47</a:t>
            </a:r>
            <a:endParaRPr lang="en-US" sz="72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SAMPLE LEAD</a:t>
            </a:r>
            <a:endParaRPr lang="en-US" sz="1000" dirty="0"/>
          </a:p>
        </p:txBody>
      </p:sp>
      <p:sp>
        <p:nvSpPr>
          <p:cNvPr id="10" name="Text 8"/>
          <p:cNvSpPr/>
          <p:nvPr/>
        </p:nvSpPr>
        <p:spPr>
          <a:xfrm>
            <a:off x="658368" y="786384"/>
            <a:ext cx="110002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3200"/>
          </a:p>
        </p:txBody>
      </p:sp>
      <p:sp>
        <p:nvSpPr>
          <p:cNvPr id="11" name="Shape 9"/>
          <p:cNvSpPr/>
          <p:nvPr/>
        </p:nvSpPr>
        <p:spPr>
          <a:xfrm>
            <a:off x="1202785" y="1828800"/>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7105" y="2212848"/>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59985" y="2212848"/>
            <a:ext cx="2148840" cy="1051560"/>
          </a:xfrm>
          <a:prstGeom prst="rect">
            <a:avLst/>
          </a:prstGeom>
          <a:noFill/>
          <a:ln/>
        </p:spPr>
        <p:txBody>
          <a:bodyPr wrap="square" lIns="381" tIns="381" rIns="381" bIns="381" rtlCol="0" anchor="ctr">
            <a:noAutofit/>
          </a:bodyPr>
          <a:lstStyle/>
          <a:p>
            <a:pPr marL="0" indent="0">
              <a:buNone/>
            </a:pPr>
            <a:r>
              <a:rPr lang="en-US" b="1" dirty="0">
                <a:solidFill>
                  <a:srgbClr val="16324F"/>
                </a:solidFill>
              </a:rPr>
              <a:t>Lead asked: "Is the condo on Brickell still available?"</a:t>
            </a:r>
            <a:endParaRPr lang="en-US" dirty="0"/>
          </a:p>
        </p:txBody>
      </p:sp>
      <p:sp>
        <p:nvSpPr>
          <p:cNvPr id="14" name="Text 12"/>
          <p:cNvSpPr/>
          <p:nvPr/>
        </p:nvSpPr>
        <p:spPr>
          <a:xfrm>
            <a:off x="1499965" y="4133088"/>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6105" y="1828800"/>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6145" y="2212848"/>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0465" y="2212848"/>
            <a:ext cx="4892040" cy="16002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Weak: "Yes, it is available. Let me know if you want to see it."</a:t>
            </a:r>
            <a:endParaRPr lang="en-US" sz="1600" dirty="0"/>
          </a:p>
          <a:p>
            <a:pPr marL="0" indent="0">
              <a:buNone/>
            </a:pPr>
            <a:endParaRPr lang="en-US" sz="1600" dirty="0"/>
          </a:p>
          <a:p>
            <a:pPr marL="0" indent="0">
              <a:buNone/>
            </a:pPr>
            <a:r>
              <a:rPr lang="en-US" sz="1600" dirty="0">
                <a:solidFill>
                  <a:srgbClr val="102033"/>
                </a:solidFill>
              </a:rPr>
              <a:t>Better: "I can verify the latest status for you. Are you focused only on Brickell, or would similar buildings with strong amenities also be worth sending over?"</a:t>
            </a:r>
            <a:endParaRPr lang="en-US" sz="1600" dirty="0"/>
          </a:p>
        </p:txBody>
      </p:sp>
      <p:sp>
        <p:nvSpPr>
          <p:cNvPr id="18" name="Text 16"/>
          <p:cNvSpPr/>
          <p:nvPr/>
        </p:nvSpPr>
        <p:spPr>
          <a:xfrm>
            <a:off x="5226145" y="4133088"/>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28/47</a:t>
            </a:r>
            <a:endParaRPr lang="en-US" sz="72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39245" y="1977560"/>
            <a:ext cx="4206240" cy="2624327"/>
          </a:xfrm>
          <a:prstGeom prst="roundRect">
            <a:avLst>
              <a:gd name="adj" fmla="val 2034"/>
            </a:avLst>
          </a:prstGeom>
          <a:solidFill>
            <a:srgbClr val="F45B69">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Build a first-response set</a:t>
            </a:r>
            <a:endParaRPr lang="en-US" sz="3000"/>
          </a:p>
        </p:txBody>
      </p:sp>
      <p:sp>
        <p:nvSpPr>
          <p:cNvPr id="11" name="Shape 9"/>
          <p:cNvSpPr/>
          <p:nvPr/>
        </p:nvSpPr>
        <p:spPr>
          <a:xfrm>
            <a:off x="1185205" y="1710352"/>
            <a:ext cx="1572768" cy="310896"/>
          </a:xfrm>
          <a:prstGeom prst="roundRect">
            <a:avLst>
              <a:gd name="adj" fmla="val 11765"/>
            </a:avLst>
          </a:prstGeom>
          <a:solidFill>
            <a:srgbClr val="F45B69"/>
          </a:solidFill>
          <a:ln w="12700">
            <a:solidFill>
              <a:srgbClr val="F45B69"/>
            </a:solidFill>
            <a:prstDash val="solid"/>
          </a:ln>
        </p:spPr>
        <p:txBody>
          <a:bodyPr/>
          <a:lstStyle/>
          <a:p>
            <a:endParaRPr lang="en-US"/>
          </a:p>
        </p:txBody>
      </p:sp>
      <p:sp>
        <p:nvSpPr>
          <p:cNvPr id="12" name="Text 10"/>
          <p:cNvSpPr/>
          <p:nvPr/>
        </p:nvSpPr>
        <p:spPr>
          <a:xfrm>
            <a:off x="1313221" y="1710351"/>
            <a:ext cx="1298448" cy="338329"/>
          </a:xfrm>
          <a:prstGeom prst="rect">
            <a:avLst/>
          </a:prstGeom>
          <a:solidFill>
            <a:srgbClr val="F45B69"/>
          </a:solidFill>
          <a:ln>
            <a:solidFill>
              <a:srgbClr val="F45B69"/>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85205" y="1998304"/>
            <a:ext cx="5293350" cy="70696"/>
          </a:xfrm>
          <a:prstGeom prst="rect">
            <a:avLst/>
          </a:prstGeom>
          <a:solidFill>
            <a:srgbClr val="F45B69"/>
          </a:solidFill>
          <a:ln w="12700">
            <a:solidFill>
              <a:srgbClr val="F45B69"/>
            </a:solidFill>
            <a:prstDash val="solid"/>
          </a:ln>
        </p:spPr>
        <p:txBody>
          <a:bodyPr/>
          <a:lstStyle/>
          <a:p>
            <a:endParaRPr lang="en-US"/>
          </a:p>
        </p:txBody>
      </p:sp>
      <p:sp>
        <p:nvSpPr>
          <p:cNvPr id="14" name="Shape 12"/>
          <p:cNvSpPr/>
          <p:nvPr/>
        </p:nvSpPr>
        <p:spPr>
          <a:xfrm>
            <a:off x="1185205" y="2041568"/>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59525" y="2270168"/>
            <a:ext cx="4663440" cy="320040"/>
          </a:xfrm>
          <a:prstGeom prst="rect">
            <a:avLst/>
          </a:prstGeom>
          <a:noFill/>
          <a:ln/>
        </p:spPr>
        <p:txBody>
          <a:bodyPr wrap="square" lIns="0" tIns="0" rIns="0" bIns="0" rtlCol="0" anchor="ctr">
            <a:noAutofit/>
          </a:bodyPr>
          <a:lstStyle/>
          <a:p>
            <a:pPr marL="0" indent="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459525" y="2745656"/>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CRM templates repeat a saved message. AI helps adapt the message to the situation, then you review it before sending.</a:t>
            </a:r>
            <a:endParaRPr lang="en-US" dirty="0"/>
          </a:p>
        </p:txBody>
      </p:sp>
      <p:sp>
        <p:nvSpPr>
          <p:cNvPr id="17" name="Text 15"/>
          <p:cNvSpPr/>
          <p:nvPr/>
        </p:nvSpPr>
        <p:spPr>
          <a:xfrm>
            <a:off x="1459525" y="4172120"/>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63045" y="1977560"/>
            <a:ext cx="128016" cy="2624327"/>
          </a:xfrm>
          <a:prstGeom prst="rect">
            <a:avLst/>
          </a:prstGeom>
          <a:solidFill>
            <a:srgbClr val="F45B69"/>
          </a:solidFill>
          <a:ln w="12700">
            <a:solidFill>
              <a:srgbClr val="F45B69"/>
            </a:solidFill>
            <a:prstDash val="solid"/>
          </a:ln>
        </p:spPr>
        <p:txBody>
          <a:bodyPr/>
          <a:lstStyle/>
          <a:p>
            <a:endParaRPr lang="en-US"/>
          </a:p>
        </p:txBody>
      </p:sp>
      <p:sp>
        <p:nvSpPr>
          <p:cNvPr id="20" name="Text 18"/>
          <p:cNvSpPr/>
          <p:nvPr/>
        </p:nvSpPr>
        <p:spPr>
          <a:xfrm>
            <a:off x="7174525" y="2361608"/>
            <a:ext cx="3787140"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text message</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short email</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voicemail opener</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one appointment-oriented next step</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29/47</a:t>
            </a:r>
            <a:endParaRPr lang="en-US" sz="7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MEASURE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11582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386840" y="249123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8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19812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Response rate</a:t>
            </a:r>
            <a:endParaRPr lang="en-US" sz="2000" dirty="0"/>
          </a:p>
        </p:txBody>
      </p:sp>
      <p:sp>
        <p:nvSpPr>
          <p:cNvPr id="15" name="Text 13"/>
          <p:cNvSpPr/>
          <p:nvPr/>
        </p:nvSpPr>
        <p:spPr>
          <a:xfrm>
            <a:off x="19812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more leads replying?</a:t>
            </a:r>
            <a:endParaRPr lang="en-US" dirty="0"/>
          </a:p>
        </p:txBody>
      </p:sp>
      <p:sp>
        <p:nvSpPr>
          <p:cNvPr id="16" name="Shape 14"/>
          <p:cNvSpPr/>
          <p:nvPr/>
        </p:nvSpPr>
        <p:spPr>
          <a:xfrm>
            <a:off x="64160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17" name="Shape 15"/>
          <p:cNvSpPr/>
          <p:nvPr/>
        </p:nvSpPr>
        <p:spPr>
          <a:xfrm>
            <a:off x="6644640" y="249123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446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800"/>
          </a:p>
        </p:txBody>
      </p:sp>
      <p:sp>
        <p:nvSpPr>
          <p:cNvPr id="19" name="Text 17"/>
          <p:cNvSpPr/>
          <p:nvPr/>
        </p:nvSpPr>
        <p:spPr>
          <a:xfrm>
            <a:off x="72390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Contact rate</a:t>
            </a:r>
            <a:endParaRPr lang="en-US" sz="2000" dirty="0"/>
          </a:p>
        </p:txBody>
      </p:sp>
      <p:sp>
        <p:nvSpPr>
          <p:cNvPr id="20" name="Text 18"/>
          <p:cNvSpPr/>
          <p:nvPr/>
        </p:nvSpPr>
        <p:spPr>
          <a:xfrm>
            <a:off x="72390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conversations starting?</a:t>
            </a:r>
            <a:endParaRPr lang="en-US" dirty="0"/>
          </a:p>
        </p:txBody>
      </p:sp>
      <p:sp>
        <p:nvSpPr>
          <p:cNvPr id="21" name="Shape 19"/>
          <p:cNvSpPr/>
          <p:nvPr/>
        </p:nvSpPr>
        <p:spPr>
          <a:xfrm>
            <a:off x="11582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386840" y="4099052"/>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13868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19812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 rate</a:t>
            </a:r>
            <a:endParaRPr lang="en-US" sz="2000" dirty="0"/>
          </a:p>
        </p:txBody>
      </p:sp>
      <p:sp>
        <p:nvSpPr>
          <p:cNvPr id="25" name="Text 23"/>
          <p:cNvSpPr/>
          <p:nvPr/>
        </p:nvSpPr>
        <p:spPr>
          <a:xfrm>
            <a:off x="1981200" y="42976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replies becoming meetings?</a:t>
            </a:r>
            <a:endParaRPr lang="en-US" dirty="0"/>
          </a:p>
        </p:txBody>
      </p:sp>
      <p:sp>
        <p:nvSpPr>
          <p:cNvPr id="26" name="Shape 24"/>
          <p:cNvSpPr/>
          <p:nvPr/>
        </p:nvSpPr>
        <p:spPr>
          <a:xfrm>
            <a:off x="64160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27" name="Shape 25"/>
          <p:cNvSpPr/>
          <p:nvPr/>
        </p:nvSpPr>
        <p:spPr>
          <a:xfrm>
            <a:off x="6644640" y="4099052"/>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446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390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Appointments / 100 leads</a:t>
            </a:r>
            <a:endParaRPr lang="en-US" sz="2000" dirty="0"/>
          </a:p>
        </p:txBody>
      </p:sp>
      <p:sp>
        <p:nvSpPr>
          <p:cNvPr id="30" name="Text 28"/>
          <p:cNvSpPr/>
          <p:nvPr/>
        </p:nvSpPr>
        <p:spPr>
          <a:xfrm>
            <a:off x="7239000" y="4297680"/>
            <a:ext cx="3474720" cy="347472"/>
          </a:xfrm>
          <a:prstGeom prst="rect">
            <a:avLst/>
          </a:prstGeom>
          <a:noFill/>
          <a:ln/>
        </p:spPr>
        <p:txBody>
          <a:bodyPr wrap="square" lIns="0" tIns="0" rIns="0" bIns="0" rtlCol="0" anchor="ctr">
            <a:normAutofit fontScale="92500"/>
          </a:bodyPr>
          <a:lstStyle/>
          <a:p>
            <a:pPr marL="0" indent="0">
              <a:buNone/>
            </a:pPr>
            <a:r>
              <a:rPr lang="en-US" dirty="0">
                <a:solidFill>
                  <a:srgbClr val="52606D"/>
                </a:solidFill>
              </a:rPr>
              <a:t>Is the source becoming more useful?</a:t>
            </a:r>
            <a:endParaRPr lang="en-US"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30/47</a:t>
            </a:r>
            <a:endParaRPr lang="en-US" sz="72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04</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4</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Facts first. Polish second. Human review always.</a:t>
            </a:r>
            <a:endParaRPr lang="en-US"/>
          </a:p>
        </p:txBody>
      </p:sp>
      <p:sp>
        <p:nvSpPr>
          <p:cNvPr id="8" name="Shape 6"/>
          <p:cNvSpPr/>
          <p:nvPr/>
        </p:nvSpPr>
        <p:spPr>
          <a:xfrm>
            <a:off x="749808" y="3657600"/>
            <a:ext cx="1828800" cy="0"/>
          </a:xfrm>
          <a:prstGeom prst="line">
            <a:avLst/>
          </a:prstGeom>
          <a:noFill/>
          <a:ln w="50800">
            <a:solidFill>
              <a:srgbClr val="2E7D5B"/>
            </a:solidFill>
            <a:prstDash val="solid"/>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LISTING PREP</a:t>
            </a:r>
            <a:endParaRPr lang="en-US" sz="1000" dirty="0"/>
          </a:p>
        </p:txBody>
      </p:sp>
      <p:sp>
        <p:nvSpPr>
          <p:cNvPr id="10" name="Text 8"/>
          <p:cNvSpPr/>
          <p:nvPr/>
        </p:nvSpPr>
        <p:spPr>
          <a:xfrm>
            <a:off x="658368" y="786384"/>
            <a:ext cx="1094232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3200" dirty="0"/>
          </a:p>
        </p:txBody>
      </p:sp>
      <p:sp>
        <p:nvSpPr>
          <p:cNvPr id="11" name="Text 9"/>
          <p:cNvSpPr/>
          <p:nvPr/>
        </p:nvSpPr>
        <p:spPr>
          <a:xfrm>
            <a:off x="1106072" y="2080260"/>
            <a:ext cx="6400800" cy="27431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Property features and improvements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Showing feedback and buyer questions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Seller goals and timing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Factual neighborhood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Desired tone and format</a:t>
            </a:r>
            <a:endParaRPr lang="en-US" dirty="0"/>
          </a:p>
        </p:txBody>
      </p:sp>
      <p:sp>
        <p:nvSpPr>
          <p:cNvPr id="12" name="Shape 10"/>
          <p:cNvSpPr/>
          <p:nvPr/>
        </p:nvSpPr>
        <p:spPr>
          <a:xfrm>
            <a:off x="7717184" y="194310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29020" y="203454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3340" y="2354580"/>
            <a:ext cx="2606040" cy="530352"/>
          </a:xfrm>
          <a:prstGeom prst="rect">
            <a:avLst/>
          </a:prstGeom>
          <a:noFill/>
          <a:ln/>
        </p:spPr>
        <p:txBody>
          <a:bodyPr wrap="square" lIns="0" tIns="0" rIns="0" bIns="0" rtlCol="0" anchor="ctr">
            <a:normAutofit/>
          </a:bodyPr>
          <a:lstStyle/>
          <a:p>
            <a:pPr marL="0" indent="0">
              <a:buNone/>
            </a:pPr>
            <a:r>
              <a:rPr lang="en-US" sz="2000" b="1" dirty="0">
                <a:solidFill>
                  <a:srgbClr val="16324F"/>
                </a:solidFill>
              </a:rPr>
              <a:t>Facts first</a:t>
            </a:r>
            <a:endParaRPr lang="en-US" sz="2000" dirty="0"/>
          </a:p>
        </p:txBody>
      </p:sp>
      <p:sp>
        <p:nvSpPr>
          <p:cNvPr id="15" name="Text 13"/>
          <p:cNvSpPr/>
          <p:nvPr/>
        </p:nvSpPr>
        <p:spPr>
          <a:xfrm>
            <a:off x="8203340" y="2985516"/>
            <a:ext cx="2514600" cy="1124712"/>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Use verified facts and tell AI not to invent missing details.</a:t>
            </a:r>
            <a:endParaRPr lang="en-US" sz="1600" dirty="0"/>
          </a:p>
        </p:txBody>
      </p:sp>
      <p:sp>
        <p:nvSpPr>
          <p:cNvPr id="16" name="Shape 14"/>
          <p:cNvSpPr/>
          <p:nvPr/>
        </p:nvSpPr>
        <p:spPr>
          <a:xfrm>
            <a:off x="8203340" y="436626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32/47</a:t>
            </a:r>
            <a:endParaRPr lang="en-US" sz="7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LISTING COPY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a:p>
        </p:txBody>
      </p:sp>
      <p:sp>
        <p:nvSpPr>
          <p:cNvPr id="11" name="Text 9"/>
          <p:cNvSpPr/>
          <p:nvPr/>
        </p:nvSpPr>
        <p:spPr>
          <a:xfrm>
            <a:off x="868680" y="1417320"/>
            <a:ext cx="9784080" cy="356616"/>
          </a:xfrm>
          <a:prstGeom prst="rect">
            <a:avLst/>
          </a:prstGeom>
          <a:noFill/>
          <a:ln/>
        </p:spPr>
        <p:txBody>
          <a:bodyPr wrap="square" lIns="0" tIns="0" rIns="0" bIns="0" rtlCol="0" anchor="ctr">
            <a:normAutofit/>
          </a:bodyPr>
          <a:lstStyle/>
          <a:p>
            <a:pPr marL="0" indent="0">
              <a:buNone/>
            </a:pPr>
            <a:r>
              <a:rPr lang="en-US" dirty="0"/>
              <a:t>Better copy adds warmth without inventing facts.</a:t>
            </a:r>
          </a:p>
        </p:txBody>
      </p:sp>
      <p:sp>
        <p:nvSpPr>
          <p:cNvPr id="12" name="Shape 10"/>
          <p:cNvSpPr/>
          <p:nvPr/>
        </p:nvSpPr>
        <p:spPr>
          <a:xfrm>
            <a:off x="1123656" y="1947672"/>
            <a:ext cx="4663440" cy="3922776"/>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9688" y="2072640"/>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7976" y="2295144"/>
            <a:ext cx="4069080" cy="3227832"/>
          </a:xfrm>
          <a:prstGeom prst="rect">
            <a:avLst/>
          </a:prstGeom>
          <a:noFill/>
          <a:ln/>
        </p:spPr>
        <p:txBody>
          <a:bodyPr wrap="square" lIns="381" tIns="381" rIns="381" bIns="381" rtlCol="0" anchor="ctr">
            <a:noAutofit/>
          </a:bodyPr>
          <a:lstStyle/>
          <a:p>
            <a:pPr marL="0" indent="0">
              <a:buNone/>
            </a:pPr>
            <a:r>
              <a:rPr lang="en-US" sz="1400" dirty="0">
                <a:solidFill>
                  <a:srgbClr val="102033"/>
                </a:solidFill>
              </a:rPr>
              <a:t>3 bedrooms / 2 bathrooms</a:t>
            </a:r>
            <a:endParaRPr lang="en-US" sz="1400" dirty="0"/>
          </a:p>
          <a:p>
            <a:pPr marL="0" indent="0">
              <a:buNone/>
            </a:pPr>
            <a:r>
              <a:rPr lang="en-US" sz="1400" dirty="0">
                <a:solidFill>
                  <a:srgbClr val="102033"/>
                </a:solidFill>
              </a:rPr>
              <a:t>Updated kitchen</a:t>
            </a:r>
            <a:endParaRPr lang="en-US" sz="1400" dirty="0"/>
          </a:p>
          <a:p>
            <a:pPr marL="0" indent="0">
              <a:buNone/>
            </a:pPr>
            <a:r>
              <a:rPr lang="en-US" sz="1400" dirty="0">
                <a:solidFill>
                  <a:srgbClr val="102033"/>
                </a:solidFill>
              </a:rPr>
              <a:t>Covered patio</a:t>
            </a:r>
            <a:endParaRPr lang="en-US" sz="1400" dirty="0"/>
          </a:p>
          <a:p>
            <a:pPr marL="0" indent="0">
              <a:buNone/>
            </a:pPr>
            <a:r>
              <a:rPr lang="en-US" sz="1400" dirty="0">
                <a:solidFill>
                  <a:srgbClr val="102033"/>
                </a:solidFill>
              </a:rPr>
              <a:t>2-car garage</a:t>
            </a:r>
            <a:endParaRPr lang="en-US" sz="1400" dirty="0"/>
          </a:p>
          <a:p>
            <a:r>
              <a:rPr lang="en-US" sz="1400" dirty="0">
                <a:solidFill>
                  <a:srgbClr val="102033"/>
                </a:solidFill>
              </a:rPr>
              <a:t>Nearby dining, parks, and everyday amenities</a:t>
            </a:r>
            <a:br>
              <a:rPr lang="en-US" sz="1400" dirty="0">
                <a:solidFill>
                  <a:srgbClr val="102033"/>
                </a:solidFill>
              </a:rPr>
            </a:br>
            <a:br>
              <a:rPr lang="en-US" sz="1400" dirty="0">
                <a:solidFill>
                  <a:srgbClr val="102033"/>
                </a:solidFill>
              </a:rPr>
            </a:br>
            <a:r>
              <a:rPr lang="en-US" sz="1400" b="1" dirty="0">
                <a:solidFill>
                  <a:srgbClr val="102033"/>
                </a:solidFill>
              </a:rPr>
              <a:t>Basic Human Rewrite</a:t>
            </a:r>
            <a:br>
              <a:rPr lang="en-US" sz="1400" b="1" dirty="0">
                <a:solidFill>
                  <a:srgbClr val="102033"/>
                </a:solidFill>
              </a:rPr>
            </a:br>
            <a:r>
              <a:rPr lang="en-US" sz="1400" dirty="0"/>
              <a:t>This 3-bedroom, 2-bath home offers an updated kitchen, practical everyday layout, covered patio space, and a 2-car garage. The location provides convenient access to nearby dining, parks, and local amenities.</a:t>
            </a:r>
          </a:p>
        </p:txBody>
      </p:sp>
      <p:sp>
        <p:nvSpPr>
          <p:cNvPr id="15" name="Shape 13"/>
          <p:cNvSpPr/>
          <p:nvPr/>
        </p:nvSpPr>
        <p:spPr>
          <a:xfrm>
            <a:off x="6335736" y="1947671"/>
            <a:ext cx="4663440" cy="3922775"/>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03960" y="2072640"/>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03960" y="2295144"/>
            <a:ext cx="4187952" cy="3227832"/>
          </a:xfrm>
          <a:prstGeom prst="rect">
            <a:avLst/>
          </a:prstGeom>
          <a:noFill/>
          <a:ln/>
        </p:spPr>
        <p:txBody>
          <a:bodyPr wrap="square" lIns="381" tIns="381" rIns="381" bIns="381" rtlCol="0" anchor="ctr">
            <a:normAutofit/>
          </a:bodyPr>
          <a:lstStyle/>
          <a:p>
            <a:r>
              <a:rPr lang="en-US" altLang="en-US" sz="1400" dirty="0">
                <a:latin typeface="Arial" panose="020B0604020202020204" pitchFamily="34" charset="0"/>
              </a:rPr>
              <a:t>Comfort, functionality, and convenience come together in this 3-bedroom, 2-bath home. The updated kitchen provides a refreshed centerpiece for daily living, while the covered patio extends the usable space outdoors for relaxing, dining, or entertaining. A 2-car garage adds valuable parking and storage, and the home’s location keeps dining, parks, and everyday amenities within easy reach.</a:t>
            </a:r>
            <a:br>
              <a:rPr lang="en-US" altLang="en-US" sz="1500" dirty="0">
                <a:latin typeface="Arial" panose="020B0604020202020204" pitchFamily="34" charset="0"/>
              </a:rPr>
            </a:br>
            <a:endParaRPr lang="en-US" sz="1200"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33/47</a:t>
            </a:r>
            <a:endParaRPr lang="en-US" sz="7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cxnSp>
        <p:nvCxnSpPr>
          <p:cNvPr id="47" name="Straight Arrow Connector 46">
            <a:extLst>
              <a:ext uri="{FF2B5EF4-FFF2-40B4-BE49-F238E27FC236}">
                <a16:creationId xmlns:a16="http://schemas.microsoft.com/office/drawing/2014/main" id="{7E408AF9-5DF3-405C-4903-88BF16994689}"/>
              </a:ext>
            </a:extLst>
          </p:cNvPr>
          <p:cNvCxnSpPr/>
          <p:nvPr/>
        </p:nvCxnSpPr>
        <p:spPr>
          <a:xfrm>
            <a:off x="6233160" y="2380649"/>
            <a:ext cx="0"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SOURCE FACTS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91135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2" name="Text 10"/>
          <p:cNvSpPr/>
          <p:nvPr/>
        </p:nvSpPr>
        <p:spPr>
          <a:xfrm>
            <a:off x="1139952" y="3188247"/>
            <a:ext cx="2743200" cy="182880"/>
          </a:xfrm>
          <a:prstGeom prst="rect">
            <a:avLst/>
          </a:prstGeom>
          <a:noFill/>
          <a:ln/>
        </p:spPr>
        <p:txBody>
          <a:bodyPr wrap="square" lIns="0" tIns="0" rIns="0" bIns="0" rtlCol="0" anchor="ctr"/>
          <a:lstStyle/>
          <a:p>
            <a:r>
              <a:rPr lang="en-US" b="1" dirty="0">
                <a:solidFill>
                  <a:srgbClr val="16324F"/>
                </a:solidFill>
              </a:rPr>
              <a:t>Listing description</a:t>
            </a:r>
            <a:endParaRPr lang="en-US" dirty="0"/>
          </a:p>
        </p:txBody>
      </p:sp>
      <p:sp>
        <p:nvSpPr>
          <p:cNvPr id="13" name="Text 11"/>
          <p:cNvSpPr/>
          <p:nvPr/>
        </p:nvSpPr>
        <p:spPr>
          <a:xfrm>
            <a:off x="1139952" y="3508287"/>
            <a:ext cx="2743200" cy="182880"/>
          </a:xfrm>
          <a:prstGeom prst="rect">
            <a:avLst/>
          </a:prstGeom>
          <a:noFill/>
          <a:ln/>
        </p:spPr>
        <p:txBody>
          <a:bodyPr wrap="square" lIns="0" tIns="0" rIns="0" bIns="0" rtlCol="0" anchor="ctr"/>
          <a:lstStyle/>
          <a:p>
            <a:r>
              <a:rPr lang="en-US" sz="1400" dirty="0">
                <a:solidFill>
                  <a:srgbClr val="52606D"/>
                </a:solidFill>
              </a:rPr>
              <a:t>Polished narrative</a:t>
            </a:r>
            <a:endParaRPr lang="en-US" sz="1400" dirty="0"/>
          </a:p>
        </p:txBody>
      </p:sp>
      <p:sp>
        <p:nvSpPr>
          <p:cNvPr id="14" name="Shape 12"/>
          <p:cNvSpPr/>
          <p:nvPr/>
        </p:nvSpPr>
        <p:spPr>
          <a:xfrm>
            <a:off x="452323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4751832" y="3188247"/>
            <a:ext cx="2743200" cy="182880"/>
          </a:xfrm>
          <a:prstGeom prst="rect">
            <a:avLst/>
          </a:prstGeom>
          <a:noFill/>
          <a:ln/>
        </p:spPr>
        <p:txBody>
          <a:bodyPr wrap="square" lIns="0" tIns="0" rIns="0" bIns="0" rtlCol="0" anchor="ctr"/>
          <a:lstStyle/>
          <a:p>
            <a:r>
              <a:rPr lang="en-US" b="1" dirty="0">
                <a:solidFill>
                  <a:srgbClr val="16324F"/>
                </a:solidFill>
              </a:rPr>
              <a:t>Open house invite</a:t>
            </a:r>
            <a:endParaRPr lang="en-US" dirty="0"/>
          </a:p>
        </p:txBody>
      </p:sp>
      <p:sp>
        <p:nvSpPr>
          <p:cNvPr id="16" name="Text 14"/>
          <p:cNvSpPr/>
          <p:nvPr/>
        </p:nvSpPr>
        <p:spPr>
          <a:xfrm>
            <a:off x="4751832" y="3508287"/>
            <a:ext cx="2743200" cy="182880"/>
          </a:xfrm>
          <a:prstGeom prst="rect">
            <a:avLst/>
          </a:prstGeom>
          <a:noFill/>
          <a:ln/>
        </p:spPr>
        <p:txBody>
          <a:bodyPr wrap="square" lIns="0" tIns="0" rIns="0" bIns="0" rtlCol="0" anchor="ctr"/>
          <a:lstStyle/>
          <a:p>
            <a:r>
              <a:rPr lang="en-US" sz="1400" dirty="0">
                <a:solidFill>
                  <a:srgbClr val="52606D"/>
                </a:solidFill>
              </a:rPr>
              <a:t>Short event copy</a:t>
            </a:r>
            <a:endParaRPr lang="en-US" sz="1400" dirty="0"/>
          </a:p>
        </p:txBody>
      </p:sp>
      <p:sp>
        <p:nvSpPr>
          <p:cNvPr id="17" name="Shape 15"/>
          <p:cNvSpPr/>
          <p:nvPr/>
        </p:nvSpPr>
        <p:spPr>
          <a:xfrm>
            <a:off x="813511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8" name="Text 16"/>
          <p:cNvSpPr/>
          <p:nvPr/>
        </p:nvSpPr>
        <p:spPr>
          <a:xfrm>
            <a:off x="8363712" y="3188247"/>
            <a:ext cx="2743200" cy="182880"/>
          </a:xfrm>
          <a:prstGeom prst="rect">
            <a:avLst/>
          </a:prstGeom>
          <a:noFill/>
          <a:ln/>
        </p:spPr>
        <p:txBody>
          <a:bodyPr wrap="square" lIns="0" tIns="0" rIns="0" bIns="0" rtlCol="0" anchor="ctr"/>
          <a:lstStyle/>
          <a:p>
            <a:r>
              <a:rPr lang="en-US" b="1" dirty="0">
                <a:solidFill>
                  <a:srgbClr val="16324F"/>
                </a:solidFill>
              </a:rPr>
              <a:t>Seller update</a:t>
            </a:r>
            <a:endParaRPr lang="en-US" dirty="0"/>
          </a:p>
        </p:txBody>
      </p:sp>
      <p:sp>
        <p:nvSpPr>
          <p:cNvPr id="19" name="Text 17"/>
          <p:cNvSpPr/>
          <p:nvPr/>
        </p:nvSpPr>
        <p:spPr>
          <a:xfrm>
            <a:off x="8363712" y="3508287"/>
            <a:ext cx="2743200" cy="182880"/>
          </a:xfrm>
          <a:prstGeom prst="rect">
            <a:avLst/>
          </a:prstGeom>
          <a:noFill/>
          <a:ln/>
        </p:spPr>
        <p:txBody>
          <a:bodyPr wrap="square" lIns="0" tIns="0" rIns="0" bIns="0" rtlCol="0" anchor="ctr"/>
          <a:lstStyle/>
          <a:p>
            <a:r>
              <a:rPr lang="en-US" sz="1400" dirty="0">
                <a:solidFill>
                  <a:srgbClr val="52606D"/>
                </a:solidFill>
              </a:rPr>
              <a:t>Activity summary</a:t>
            </a:r>
            <a:endParaRPr lang="en-US" sz="1400" dirty="0"/>
          </a:p>
        </p:txBody>
      </p:sp>
      <p:sp>
        <p:nvSpPr>
          <p:cNvPr id="20" name="Shape 18"/>
          <p:cNvSpPr/>
          <p:nvPr/>
        </p:nvSpPr>
        <p:spPr>
          <a:xfrm>
            <a:off x="91135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113995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Social post</a:t>
            </a:r>
            <a:endParaRPr lang="en-US" dirty="0"/>
          </a:p>
        </p:txBody>
      </p:sp>
      <p:sp>
        <p:nvSpPr>
          <p:cNvPr id="22" name="Text 20"/>
          <p:cNvSpPr/>
          <p:nvPr/>
        </p:nvSpPr>
        <p:spPr>
          <a:xfrm>
            <a:off x="113995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Caption + hook</a:t>
            </a:r>
            <a:endParaRPr lang="en-US" sz="1400" dirty="0"/>
          </a:p>
        </p:txBody>
      </p:sp>
      <p:sp>
        <p:nvSpPr>
          <p:cNvPr id="23" name="Shape 21"/>
          <p:cNvSpPr/>
          <p:nvPr/>
        </p:nvSpPr>
        <p:spPr>
          <a:xfrm>
            <a:off x="452323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4" name="Text 22"/>
          <p:cNvSpPr/>
          <p:nvPr/>
        </p:nvSpPr>
        <p:spPr>
          <a:xfrm>
            <a:off x="475183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Video script</a:t>
            </a:r>
            <a:endParaRPr lang="en-US" dirty="0"/>
          </a:p>
        </p:txBody>
      </p:sp>
      <p:sp>
        <p:nvSpPr>
          <p:cNvPr id="25" name="Text 23"/>
          <p:cNvSpPr/>
          <p:nvPr/>
        </p:nvSpPr>
        <p:spPr>
          <a:xfrm>
            <a:off x="475183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30-second talking points</a:t>
            </a:r>
            <a:endParaRPr lang="en-US" sz="1400" dirty="0"/>
          </a:p>
        </p:txBody>
      </p:sp>
      <p:sp>
        <p:nvSpPr>
          <p:cNvPr id="26" name="Shape 24"/>
          <p:cNvSpPr/>
          <p:nvPr/>
        </p:nvSpPr>
        <p:spPr>
          <a:xfrm>
            <a:off x="813511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7" name="Text 25"/>
          <p:cNvSpPr/>
          <p:nvPr/>
        </p:nvSpPr>
        <p:spPr>
          <a:xfrm>
            <a:off x="8363712" y="4840263"/>
            <a:ext cx="2743200" cy="182880"/>
          </a:xfrm>
          <a:prstGeom prst="rect">
            <a:avLst/>
          </a:prstGeom>
          <a:noFill/>
          <a:ln/>
        </p:spPr>
        <p:txBody>
          <a:bodyPr wrap="square" lIns="0" tIns="0" rIns="0" bIns="0" rtlCol="0" anchor="ctr"/>
          <a:lstStyle/>
          <a:p>
            <a:r>
              <a:rPr lang="en-US" b="1" dirty="0">
                <a:solidFill>
                  <a:srgbClr val="16324F"/>
                </a:solidFill>
              </a:rPr>
              <a:t>Newsletter blurb</a:t>
            </a:r>
            <a:endParaRPr lang="en-US" dirty="0"/>
          </a:p>
        </p:txBody>
      </p:sp>
      <p:sp>
        <p:nvSpPr>
          <p:cNvPr id="28" name="Text 26"/>
          <p:cNvSpPr/>
          <p:nvPr/>
        </p:nvSpPr>
        <p:spPr>
          <a:xfrm>
            <a:off x="8363712" y="5160303"/>
            <a:ext cx="2743200" cy="182880"/>
          </a:xfrm>
          <a:prstGeom prst="rect">
            <a:avLst/>
          </a:prstGeom>
          <a:noFill/>
          <a:ln/>
        </p:spPr>
        <p:txBody>
          <a:bodyPr wrap="square" lIns="0" tIns="0" rIns="0" bIns="0" rtlCol="0" anchor="ctr"/>
          <a:lstStyle/>
          <a:p>
            <a:r>
              <a:rPr lang="en-US" sz="1400" dirty="0">
                <a:solidFill>
                  <a:srgbClr val="52606D"/>
                </a:solidFill>
              </a:rPr>
              <a:t>Market-facing note</a:t>
            </a:r>
            <a:endParaRPr lang="en-US" sz="1400" dirty="0"/>
          </a:p>
        </p:txBody>
      </p:sp>
      <p:sp>
        <p:nvSpPr>
          <p:cNvPr id="29" name="Shape 27"/>
          <p:cNvSpPr/>
          <p:nvPr/>
        </p:nvSpPr>
        <p:spPr>
          <a:xfrm>
            <a:off x="502920" y="658571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a:t>
            </a:r>
            <a:r>
              <a:rPr lang="en-US" sz="720" dirty="0">
                <a:solidFill>
                  <a:srgbClr val="52606D"/>
                </a:solidFill>
                <a:latin typeface="Aptos" pitchFamily="34" charset="0"/>
                <a:ea typeface="Aptos" pitchFamily="34" charset="-122"/>
                <a:cs typeface="Aptos" pitchFamily="34" charset="-120"/>
              </a:rPr>
              <a:t>| MIAMI REALTORS® + </a:t>
            </a:r>
            <a:r>
              <a:rPr lang="en-US" sz="720" dirty="0" err="1">
                <a:solidFill>
                  <a:srgbClr val="52606D"/>
                </a:solidFill>
                <a:latin typeface="Aptos" pitchFamily="34" charset="0"/>
                <a:ea typeface="Aptos" pitchFamily="34" charset="-122"/>
                <a:cs typeface="Aptos" pitchFamily="34" charset="-120"/>
              </a:rPr>
              <a:t>RWorld</a:t>
            </a:r>
            <a:r>
              <a:rPr lang="en-US" sz="720" dirty="0">
                <a:solidFill>
                  <a:srgbClr val="52606D"/>
                </a:solidFill>
                <a:latin typeface="Aptos" pitchFamily="34" charset="0"/>
                <a:ea typeface="Aptos" pitchFamily="34" charset="-122"/>
                <a:cs typeface="Aptos" pitchFamily="34" charset="-120"/>
              </a:rPr>
              <a:t>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dirty="0">
                <a:solidFill>
                  <a:srgbClr val="52606D"/>
                </a:solidFill>
                <a:latin typeface="Aptos" pitchFamily="34" charset="0"/>
                <a:ea typeface="Aptos" pitchFamily="34" charset="-122"/>
                <a:cs typeface="Aptos" pitchFamily="34" charset="-120"/>
              </a:rPr>
              <a:t>34/47</a:t>
            </a:r>
            <a:endParaRPr lang="en-US" sz="720" dirty="0"/>
          </a:p>
        </p:txBody>
      </p:sp>
      <p:sp>
        <p:nvSpPr>
          <p:cNvPr id="33" name="Shape 9">
            <a:extLst>
              <a:ext uri="{FF2B5EF4-FFF2-40B4-BE49-F238E27FC236}">
                <a16:creationId xmlns:a16="http://schemas.microsoft.com/office/drawing/2014/main" id="{077D899A-E9CF-E0FC-A721-CBEB1967505C}"/>
              </a:ext>
            </a:extLst>
          </p:cNvPr>
          <p:cNvSpPr/>
          <p:nvPr/>
        </p:nvSpPr>
        <p:spPr>
          <a:xfrm>
            <a:off x="4527920" y="1466249"/>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34" name="Text 10">
            <a:extLst>
              <a:ext uri="{FF2B5EF4-FFF2-40B4-BE49-F238E27FC236}">
                <a16:creationId xmlns:a16="http://schemas.microsoft.com/office/drawing/2014/main" id="{65F3FFAD-6D46-3219-8D94-AB3467D12EE3}"/>
              </a:ext>
            </a:extLst>
          </p:cNvPr>
          <p:cNvSpPr/>
          <p:nvPr/>
        </p:nvSpPr>
        <p:spPr>
          <a:xfrm>
            <a:off x="4756520" y="1630841"/>
            <a:ext cx="2743200" cy="182880"/>
          </a:xfrm>
          <a:prstGeom prst="rect">
            <a:avLst/>
          </a:prstGeom>
          <a:noFill/>
          <a:ln/>
        </p:spPr>
        <p:txBody>
          <a:bodyPr wrap="square" lIns="0" tIns="0" rIns="0" bIns="0" rtlCol="0" anchor="ctr"/>
          <a:lstStyle/>
          <a:p>
            <a:pPr marL="0" indent="0">
              <a:buNone/>
            </a:pPr>
            <a:r>
              <a:rPr lang="en-US" b="1" dirty="0">
                <a:solidFill>
                  <a:srgbClr val="16324F"/>
                </a:solidFill>
              </a:rPr>
              <a:t>Source facts</a:t>
            </a:r>
            <a:endParaRPr lang="en-US" dirty="0"/>
          </a:p>
        </p:txBody>
      </p:sp>
      <p:sp>
        <p:nvSpPr>
          <p:cNvPr id="35" name="Text 11">
            <a:extLst>
              <a:ext uri="{FF2B5EF4-FFF2-40B4-BE49-F238E27FC236}">
                <a16:creationId xmlns:a16="http://schemas.microsoft.com/office/drawing/2014/main" id="{185A40C5-B54E-FFB9-E274-A2439151A051}"/>
              </a:ext>
            </a:extLst>
          </p:cNvPr>
          <p:cNvSpPr/>
          <p:nvPr/>
        </p:nvSpPr>
        <p:spPr>
          <a:xfrm>
            <a:off x="4756520" y="1950881"/>
            <a:ext cx="2743200" cy="182880"/>
          </a:xfrm>
          <a:prstGeom prst="rect">
            <a:avLst/>
          </a:prstGeom>
          <a:noFill/>
          <a:ln/>
        </p:spPr>
        <p:txBody>
          <a:bodyPr wrap="square" lIns="0" tIns="0" rIns="0" bIns="0" rtlCol="0" anchor="ctr"/>
          <a:lstStyle/>
          <a:p>
            <a:pPr marL="0" indent="0">
              <a:buNone/>
            </a:pPr>
            <a:r>
              <a:rPr lang="en-US" sz="1400" dirty="0">
                <a:solidFill>
                  <a:srgbClr val="52606D"/>
                </a:solidFill>
              </a:rPr>
              <a:t>Verified details kept in the chat</a:t>
            </a:r>
            <a:endParaRPr lang="en-US" sz="1400" dirty="0"/>
          </a:p>
        </p:txBody>
      </p:sp>
      <p:cxnSp>
        <p:nvCxnSpPr>
          <p:cNvPr id="37" name="Straight Arrow Connector 36">
            <a:extLst>
              <a:ext uri="{FF2B5EF4-FFF2-40B4-BE49-F238E27FC236}">
                <a16:creationId xmlns:a16="http://schemas.microsoft.com/office/drawing/2014/main" id="{C3187A9C-0233-A07F-ECD3-2D3D867569FF}"/>
              </a:ext>
            </a:extLst>
          </p:cNvPr>
          <p:cNvCxnSpPr>
            <a:endCxn id="11" idx="0"/>
          </p:cNvCxnSpPr>
          <p:nvPr/>
        </p:nvCxnSpPr>
        <p:spPr>
          <a:xfrm flipH="1">
            <a:off x="2488692" y="2377440"/>
            <a:ext cx="2039228"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B041455-B1AB-43EA-CBD2-DA3BBE0A674D}"/>
              </a:ext>
            </a:extLst>
          </p:cNvPr>
          <p:cNvCxnSpPr/>
          <p:nvPr/>
        </p:nvCxnSpPr>
        <p:spPr>
          <a:xfrm flipH="1">
            <a:off x="3883152" y="2380649"/>
            <a:ext cx="873368"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7C82973-0A58-C5A8-E330-842C64315A93}"/>
              </a:ext>
            </a:extLst>
          </p:cNvPr>
          <p:cNvCxnSpPr>
            <a:cxnSpLocks/>
          </p:cNvCxnSpPr>
          <p:nvPr/>
        </p:nvCxnSpPr>
        <p:spPr>
          <a:xfrm flipH="1">
            <a:off x="5986859" y="2380649"/>
            <a:ext cx="4688" cy="643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FF3A208-F802-91D9-7712-6EDA796D9793}"/>
              </a:ext>
            </a:extLst>
          </p:cNvPr>
          <p:cNvCxnSpPr>
            <a:cxnSpLocks/>
          </p:cNvCxnSpPr>
          <p:nvPr/>
        </p:nvCxnSpPr>
        <p:spPr>
          <a:xfrm>
            <a:off x="7429500" y="2377440"/>
            <a:ext cx="871220" cy="229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7C3525-00DC-E570-ABE7-24D66F0EB662}"/>
              </a:ext>
            </a:extLst>
          </p:cNvPr>
          <p:cNvCxnSpPr>
            <a:endCxn id="17" idx="0"/>
          </p:cNvCxnSpPr>
          <p:nvPr/>
        </p:nvCxnSpPr>
        <p:spPr>
          <a:xfrm>
            <a:off x="7682600" y="2377440"/>
            <a:ext cx="2029852"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68903" y="222961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1114863" y="1942719"/>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42879" y="1942718"/>
            <a:ext cx="1298448" cy="347473"/>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14863" y="2229612"/>
            <a:ext cx="5303520" cy="107971"/>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14863" y="229362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80391" y="3779520"/>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Use only verified facts. Do not invent features.</a:t>
            </a:r>
            <a:endParaRPr lang="en-US" sz="1600" dirty="0"/>
          </a:p>
        </p:txBody>
      </p:sp>
      <p:sp>
        <p:nvSpPr>
          <p:cNvPr id="16" name="Text 14"/>
          <p:cNvSpPr/>
          <p:nvPr/>
        </p:nvSpPr>
        <p:spPr>
          <a:xfrm>
            <a:off x="1389183" y="2584471"/>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Now try the same process with three high-use formats.</a:t>
            </a:r>
            <a:endParaRPr lang="en-US" dirty="0"/>
          </a:p>
        </p:txBody>
      </p:sp>
      <p:sp>
        <p:nvSpPr>
          <p:cNvPr id="17" name="Text 15"/>
          <p:cNvSpPr/>
          <p:nvPr/>
        </p:nvSpPr>
        <p:spPr>
          <a:xfrm>
            <a:off x="1389183" y="442417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92703" y="2229612"/>
            <a:ext cx="128016" cy="2624328"/>
          </a:xfrm>
          <a:prstGeom prst="rect">
            <a:avLst/>
          </a:prstGeom>
          <a:solidFill>
            <a:srgbClr val="2E7D5B"/>
          </a:solidFill>
          <a:ln w="12700">
            <a:solidFill>
              <a:srgbClr val="2E7D5B"/>
            </a:solidFill>
            <a:prstDash val="solid"/>
          </a:ln>
        </p:spPr>
        <p:txBody>
          <a:bodyPr/>
          <a:lstStyle/>
          <a:p>
            <a:endParaRPr lang="en-US"/>
          </a:p>
        </p:txBody>
      </p:sp>
      <p:sp>
        <p:nvSpPr>
          <p:cNvPr id="20" name="Text 18"/>
          <p:cNvSpPr/>
          <p:nvPr/>
        </p:nvSpPr>
        <p:spPr>
          <a:xfrm>
            <a:off x="7104183" y="2720340"/>
            <a:ext cx="3520440" cy="1676400"/>
          </a:xfrm>
          <a:prstGeom prst="rect">
            <a:avLst/>
          </a:prstGeom>
          <a:noFill/>
          <a:ln/>
        </p:spPr>
        <p:txBody>
          <a:bodyPr wrap="square" lIns="254" tIns="254" rIns="254" bIns="254" rtlCol="0" anchor="t">
            <a:normAutofit/>
          </a:bodyPr>
          <a:lstStyle/>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One listing paragraph</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35-word social caption</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open house invite</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35/47</a:t>
            </a:r>
            <a:endParaRPr lang="en-US" sz="72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APPOINTMENT PREP</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1070902" y="2038248"/>
            <a:ext cx="6400800" cy="2788921"/>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Build buyer consultation and listing appointment agendas.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Create discovery questions from client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Practice common objections before the live conversation.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Explain market conditions in plain language, with verified facts.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follow-up after the appointment.</a:t>
            </a:r>
            <a:endParaRPr lang="en-US" dirty="0"/>
          </a:p>
        </p:txBody>
      </p:sp>
      <p:sp>
        <p:nvSpPr>
          <p:cNvPr id="12" name="Shape 10"/>
          <p:cNvSpPr/>
          <p:nvPr/>
        </p:nvSpPr>
        <p:spPr>
          <a:xfrm>
            <a:off x="7682014" y="1946808"/>
            <a:ext cx="91440" cy="2971800"/>
          </a:xfrm>
          <a:prstGeom prst="rect">
            <a:avLst/>
          </a:prstGeom>
          <a:solidFill>
            <a:srgbClr val="008F8F"/>
          </a:solidFill>
          <a:ln w="12700">
            <a:solidFill>
              <a:srgbClr val="008F8F"/>
            </a:solidFill>
            <a:prstDash val="solid"/>
          </a:ln>
        </p:spPr>
        <p:txBody>
          <a:bodyPr/>
          <a:lstStyle/>
          <a:p>
            <a:endParaRPr lang="en-US"/>
          </a:p>
        </p:txBody>
      </p:sp>
      <p:sp>
        <p:nvSpPr>
          <p:cNvPr id="13" name="Shape 11"/>
          <p:cNvSpPr/>
          <p:nvPr/>
        </p:nvSpPr>
        <p:spPr>
          <a:xfrm>
            <a:off x="7901470" y="2038248"/>
            <a:ext cx="3246120" cy="2788920"/>
          </a:xfrm>
          <a:prstGeom prst="roundRect">
            <a:avLst>
              <a:gd name="adj" fmla="val 1967"/>
            </a:avLst>
          </a:prstGeom>
          <a:solidFill>
            <a:srgbClr val="EAF7F7"/>
          </a:solidFill>
          <a:ln w="10160">
            <a:solidFill>
              <a:srgbClr val="BFDADC"/>
            </a:solidFill>
            <a:prstDash val="solid"/>
          </a:ln>
        </p:spPr>
        <p:txBody>
          <a:bodyPr/>
          <a:lstStyle/>
          <a:p>
            <a:endParaRPr lang="en-US"/>
          </a:p>
        </p:txBody>
      </p:sp>
      <p:sp>
        <p:nvSpPr>
          <p:cNvPr id="14" name="Text 12"/>
          <p:cNvSpPr/>
          <p:nvPr/>
        </p:nvSpPr>
        <p:spPr>
          <a:xfrm>
            <a:off x="8175790" y="2358288"/>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Practice before pressure</a:t>
            </a:r>
            <a:endParaRPr lang="en-US"/>
          </a:p>
        </p:txBody>
      </p:sp>
      <p:sp>
        <p:nvSpPr>
          <p:cNvPr id="15" name="Text 13"/>
          <p:cNvSpPr/>
          <p:nvPr/>
        </p:nvSpPr>
        <p:spPr>
          <a:xfrm>
            <a:off x="8175790" y="3153816"/>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Role-play makes client conversations clearer and less reactive.</a:t>
            </a:r>
            <a:endParaRPr lang="en-US" sz="1600" dirty="0"/>
          </a:p>
        </p:txBody>
      </p:sp>
      <p:sp>
        <p:nvSpPr>
          <p:cNvPr id="16" name="Shape 14"/>
          <p:cNvSpPr/>
          <p:nvPr/>
        </p:nvSpPr>
        <p:spPr>
          <a:xfrm>
            <a:off x="8175790" y="4369968"/>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36/47</a:t>
            </a:r>
            <a:endParaRPr lang="en-US" sz="72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Seller wants to overprice</a:t>
            </a:r>
            <a:endParaRPr lang="en-US" sz="3000"/>
          </a:p>
        </p:txBody>
      </p:sp>
      <p:sp>
        <p:nvSpPr>
          <p:cNvPr id="11" name="Shape 9"/>
          <p:cNvSpPr/>
          <p:nvPr/>
        </p:nvSpPr>
        <p:spPr>
          <a:xfrm>
            <a:off x="1178169"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49"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29" y="2212848"/>
            <a:ext cx="8549640" cy="1417320"/>
          </a:xfrm>
          <a:prstGeom prst="rect">
            <a:avLst/>
          </a:prstGeom>
          <a:noFill/>
          <a:ln/>
        </p:spPr>
        <p:txBody>
          <a:bodyPr wrap="square" lIns="381" tIns="381" rIns="381" bIns="381" rtlCol="0" anchor="ctr">
            <a:normAutofit/>
          </a:bodyPr>
          <a:lstStyle/>
          <a:p>
            <a:pPr marL="0" indent="0">
              <a:buNone/>
            </a:pPr>
            <a:r>
              <a:rPr lang="en-US" sz="200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2000" dirty="0"/>
          </a:p>
        </p:txBody>
      </p:sp>
      <p:sp>
        <p:nvSpPr>
          <p:cNvPr id="14" name="Text 12"/>
          <p:cNvSpPr/>
          <p:nvPr/>
        </p:nvSpPr>
        <p:spPr>
          <a:xfrm>
            <a:off x="1772529"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37/47</a:t>
            </a:r>
            <a:endParaRPr lang="en-US" sz="7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1178171"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51"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31" y="2212848"/>
            <a:ext cx="8549640" cy="1417320"/>
          </a:xfrm>
          <a:prstGeom prst="rect">
            <a:avLst/>
          </a:prstGeom>
          <a:noFill/>
          <a:ln/>
        </p:spPr>
        <p:txBody>
          <a:bodyPr wrap="square" lIns="381" tIns="381" rIns="381" bIns="381" rtlCol="0" anchor="ctr">
            <a:normAutofit/>
          </a:bodyPr>
          <a:lstStyle/>
          <a:p>
            <a:r>
              <a:rPr lang="en-US" sz="2000" i="1" dirty="0">
                <a:solidFill>
                  <a:srgbClr val="102033"/>
                </a:solidFill>
              </a:rPr>
              <a:t>“Act as a cautious buyer who wants to wait for rates to drop. Help me respond in a way that is educational, not pushy. Challenge any claims that sound too certain. Help me practice the conversation without making predictions or giving financial advice."</a:t>
            </a:r>
            <a:endParaRPr lang="en-US" sz="2000" dirty="0"/>
          </a:p>
        </p:txBody>
      </p:sp>
      <p:sp>
        <p:nvSpPr>
          <p:cNvPr id="14" name="Text 12"/>
          <p:cNvSpPr/>
          <p:nvPr/>
        </p:nvSpPr>
        <p:spPr>
          <a:xfrm>
            <a:off x="1772531"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38/47</a:t>
            </a:r>
            <a:endParaRPr lang="en-US" sz="72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815211" y="235153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1164981" y="2062734"/>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92997" y="2062734"/>
            <a:ext cx="1298448" cy="292608"/>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65859" y="2351532"/>
            <a:ext cx="5298831" cy="109728"/>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61171" y="241554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64156" y="3436292"/>
            <a:ext cx="4953000" cy="320040"/>
          </a:xfrm>
          <a:prstGeom prst="rect">
            <a:avLst/>
          </a:prstGeom>
          <a:noFill/>
          <a:ln/>
        </p:spPr>
        <p:txBody>
          <a:bodyPr wrap="square" lIns="0" tIns="0" rIns="0" bIns="0" rtlCol="0" anchor="ctr">
            <a:normAutofit/>
          </a:bodyPr>
          <a:lstStyle/>
          <a:p>
            <a:pPr marL="0" indent="0">
              <a:buNone/>
            </a:pPr>
            <a:r>
              <a:rPr lang="en-US" dirty="0">
                <a:solidFill>
                  <a:srgbClr val="52606D"/>
                </a:solidFill>
              </a:rPr>
              <a:t>Choose buyer consultation or listing appointment.</a:t>
            </a:r>
            <a:endParaRPr lang="en-US" dirty="0"/>
          </a:p>
        </p:txBody>
      </p:sp>
      <p:sp>
        <p:nvSpPr>
          <p:cNvPr id="16" name="Text 14"/>
          <p:cNvSpPr/>
          <p:nvPr/>
        </p:nvSpPr>
        <p:spPr>
          <a:xfrm>
            <a:off x="1435491" y="454609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39011" y="2351532"/>
            <a:ext cx="128016" cy="2624328"/>
          </a:xfrm>
          <a:prstGeom prst="rect">
            <a:avLst/>
          </a:prstGeom>
          <a:solidFill>
            <a:srgbClr val="2E7D5B"/>
          </a:solidFill>
          <a:ln w="12700">
            <a:solidFill>
              <a:srgbClr val="2E7D5B"/>
            </a:solidFill>
            <a:prstDash val="solid"/>
          </a:ln>
        </p:spPr>
        <p:txBody>
          <a:bodyPr/>
          <a:lstStyle/>
          <a:p>
            <a:endParaRPr lang="en-US"/>
          </a:p>
        </p:txBody>
      </p:sp>
      <p:sp>
        <p:nvSpPr>
          <p:cNvPr id="19" name="Text 17"/>
          <p:cNvSpPr/>
          <p:nvPr/>
        </p:nvSpPr>
        <p:spPr>
          <a:xfrm>
            <a:off x="7150491" y="2761488"/>
            <a:ext cx="3520440" cy="1757172"/>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5-part agenda</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5 discovery questions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3 likely objections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follow-up email template</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39/47</a:t>
            </a:r>
            <a:endParaRPr lang="en-US" sz="7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05</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5</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Attach AI to the day, not to a vague intention.</a:t>
            </a:r>
            <a:endParaRPr lang="en-US" dirty="0"/>
          </a:p>
        </p:txBody>
      </p:sp>
      <p:sp>
        <p:nvSpPr>
          <p:cNvPr id="8" name="Shape 6"/>
          <p:cNvSpPr/>
          <p:nvPr/>
        </p:nvSpPr>
        <p:spPr>
          <a:xfrm>
            <a:off x="749808" y="3657600"/>
            <a:ext cx="1828800" cy="0"/>
          </a:xfrm>
          <a:prstGeom prst="line">
            <a:avLst/>
          </a:prstGeom>
          <a:noFill/>
          <a:ln w="50800">
            <a:solidFill>
              <a:srgbClr val="F2B84B"/>
            </a:solidFill>
            <a:prstDash val="solid"/>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DAILY RHYTHM</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1115110" y="2244494"/>
            <a:ext cx="2148840" cy="2377440"/>
          </a:xfrm>
          <a:prstGeom prst="roundRect">
            <a:avLst>
              <a:gd name="adj" fmla="val 2553"/>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43710" y="2518814"/>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4371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34371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Morning</a:t>
            </a:r>
            <a:endParaRPr lang="en-US" dirty="0"/>
          </a:p>
        </p:txBody>
      </p:sp>
      <p:sp>
        <p:nvSpPr>
          <p:cNvPr id="15" name="Text 13"/>
          <p:cNvSpPr/>
          <p:nvPr/>
        </p:nvSpPr>
        <p:spPr>
          <a:xfrm>
            <a:off x="134371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Prioritize tasks and prepare calls</a:t>
            </a:r>
            <a:endParaRPr lang="en-US" sz="1400" dirty="0"/>
          </a:p>
        </p:txBody>
      </p:sp>
      <p:sp>
        <p:nvSpPr>
          <p:cNvPr id="16" name="Shape 14"/>
          <p:cNvSpPr/>
          <p:nvPr/>
        </p:nvSpPr>
        <p:spPr>
          <a:xfrm>
            <a:off x="372115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3949750" y="2518814"/>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394975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9" name="Text 17"/>
          <p:cNvSpPr/>
          <p:nvPr/>
        </p:nvSpPr>
        <p:spPr>
          <a:xfrm>
            <a:off x="394975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Midday</a:t>
            </a:r>
            <a:endParaRPr lang="en-US" dirty="0"/>
          </a:p>
        </p:txBody>
      </p:sp>
      <p:sp>
        <p:nvSpPr>
          <p:cNvPr id="20" name="Text 18"/>
          <p:cNvSpPr/>
          <p:nvPr/>
        </p:nvSpPr>
        <p:spPr>
          <a:xfrm>
            <a:off x="394975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Draft follow-up and client updates</a:t>
            </a:r>
            <a:endParaRPr lang="en-US" sz="1400" dirty="0"/>
          </a:p>
        </p:txBody>
      </p:sp>
      <p:sp>
        <p:nvSpPr>
          <p:cNvPr id="21" name="Shape 19"/>
          <p:cNvSpPr/>
          <p:nvPr/>
        </p:nvSpPr>
        <p:spPr>
          <a:xfrm>
            <a:off x="6327190" y="2244494"/>
            <a:ext cx="2148840" cy="2377440"/>
          </a:xfrm>
          <a:prstGeom prst="roundRect">
            <a:avLst>
              <a:gd name="adj" fmla="val 2553"/>
            </a:avLst>
          </a:prstGeom>
          <a:solidFill>
            <a:srgbClr val="F45B69">
              <a:alpha val="18000"/>
            </a:srgbClr>
          </a:solidFill>
          <a:ln w="10160">
            <a:solidFill>
              <a:srgbClr val="F45B69">
                <a:alpha val="25000"/>
              </a:srgbClr>
            </a:solidFill>
            <a:prstDash val="solid"/>
          </a:ln>
        </p:spPr>
        <p:txBody>
          <a:bodyPr/>
          <a:lstStyle/>
          <a:p>
            <a:endParaRPr lang="en-US"/>
          </a:p>
        </p:txBody>
      </p:sp>
      <p:sp>
        <p:nvSpPr>
          <p:cNvPr id="22" name="Shape 20"/>
          <p:cNvSpPr/>
          <p:nvPr/>
        </p:nvSpPr>
        <p:spPr>
          <a:xfrm>
            <a:off x="6555790" y="2518814"/>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655579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4" name="Text 22"/>
          <p:cNvSpPr/>
          <p:nvPr/>
        </p:nvSpPr>
        <p:spPr>
          <a:xfrm>
            <a:off x="655579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Afternoon</a:t>
            </a:r>
            <a:endParaRPr lang="en-US" dirty="0"/>
          </a:p>
        </p:txBody>
      </p:sp>
      <p:sp>
        <p:nvSpPr>
          <p:cNvPr id="25" name="Text 23"/>
          <p:cNvSpPr/>
          <p:nvPr/>
        </p:nvSpPr>
        <p:spPr>
          <a:xfrm>
            <a:off x="655579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Create listing/content drafts</a:t>
            </a:r>
            <a:endParaRPr lang="en-US" sz="1400" dirty="0"/>
          </a:p>
        </p:txBody>
      </p:sp>
      <p:sp>
        <p:nvSpPr>
          <p:cNvPr id="26" name="Shape 24"/>
          <p:cNvSpPr/>
          <p:nvPr/>
        </p:nvSpPr>
        <p:spPr>
          <a:xfrm>
            <a:off x="893323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9161830" y="251881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916183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9" name="Text 27"/>
          <p:cNvSpPr/>
          <p:nvPr/>
        </p:nvSpPr>
        <p:spPr>
          <a:xfrm>
            <a:off x="916183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End of day</a:t>
            </a:r>
            <a:endParaRPr lang="en-US" dirty="0"/>
          </a:p>
        </p:txBody>
      </p:sp>
      <p:sp>
        <p:nvSpPr>
          <p:cNvPr id="30" name="Text 28"/>
          <p:cNvSpPr/>
          <p:nvPr/>
        </p:nvSpPr>
        <p:spPr>
          <a:xfrm>
            <a:off x="916183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Summarize notes and next steps</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41/47</a:t>
            </a:r>
            <a:endParaRPr lang="en-US" sz="7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GUARDRAILS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1114865" y="1606890"/>
            <a:ext cx="6400800"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Protect private client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Do not paste confidential data without authorization and safeguards.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all output before use.</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Follow brokerage policies, MLS rules, and advertising requirements.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discriminatory targeting or language.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Use AI to support professional judgment, not replace it.</a:t>
            </a:r>
            <a:endParaRPr lang="en-US" dirty="0"/>
          </a:p>
        </p:txBody>
      </p:sp>
      <p:sp>
        <p:nvSpPr>
          <p:cNvPr id="12" name="Shape 10"/>
          <p:cNvSpPr/>
          <p:nvPr/>
        </p:nvSpPr>
        <p:spPr>
          <a:xfrm>
            <a:off x="7725977" y="1949232"/>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30193" y="2040672"/>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4513" y="2360712"/>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Review before use</a:t>
            </a:r>
            <a:endParaRPr lang="en-US" dirty="0"/>
          </a:p>
        </p:txBody>
      </p:sp>
      <p:sp>
        <p:nvSpPr>
          <p:cNvPr id="15" name="Text 13"/>
          <p:cNvSpPr/>
          <p:nvPr/>
        </p:nvSpPr>
        <p:spPr>
          <a:xfrm>
            <a:off x="8204513" y="3156240"/>
            <a:ext cx="2660904"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Private data, brokerage policy, MLS rules, advertising, and Fair Housing still apply.</a:t>
            </a:r>
            <a:endParaRPr lang="en-US" sz="1600" dirty="0"/>
          </a:p>
        </p:txBody>
      </p:sp>
      <p:sp>
        <p:nvSpPr>
          <p:cNvPr id="16" name="Shape 14"/>
          <p:cNvSpPr/>
          <p:nvPr/>
        </p:nvSpPr>
        <p:spPr>
          <a:xfrm>
            <a:off x="8204513" y="437239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42/47</a:t>
            </a:r>
            <a:endParaRPr lang="en-US" sz="7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BROKERAGE + MLS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1303177" y="211381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2" name="Text 10"/>
          <p:cNvSpPr/>
          <p:nvPr/>
        </p:nvSpPr>
        <p:spPr>
          <a:xfrm>
            <a:off x="1559209" y="2225362"/>
            <a:ext cx="3931920" cy="292608"/>
          </a:xfrm>
          <a:prstGeom prst="rect">
            <a:avLst/>
          </a:prstGeom>
          <a:noFill/>
          <a:ln/>
        </p:spPr>
        <p:txBody>
          <a:bodyPr wrap="square" lIns="0" tIns="0" rIns="0" bIns="0" rtlCol="0" anchor="ctr">
            <a:normAutofit/>
          </a:bodyPr>
          <a:lstStyle/>
          <a:p>
            <a:pPr marL="0" indent="0">
              <a:buNone/>
            </a:pPr>
            <a:r>
              <a:rPr lang="en-US" sz="1600" b="1">
                <a:solidFill>
                  <a:srgbClr val="008F8F"/>
                </a:solidFill>
              </a:rPr>
              <a:t>Private data</a:t>
            </a:r>
            <a:endParaRPr lang="en-US" sz="1600"/>
          </a:p>
        </p:txBody>
      </p:sp>
      <p:sp>
        <p:nvSpPr>
          <p:cNvPr id="13" name="Text 11"/>
          <p:cNvSpPr/>
          <p:nvPr/>
        </p:nvSpPr>
        <p:spPr>
          <a:xfrm>
            <a:off x="155920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Remove names, contact info, financial details, and sensitive context before using public tools.</a:t>
            </a:r>
            <a:endParaRPr lang="en-US" sz="1400" dirty="0"/>
          </a:p>
        </p:txBody>
      </p:sp>
      <p:sp>
        <p:nvSpPr>
          <p:cNvPr id="14" name="Shape 12"/>
          <p:cNvSpPr/>
          <p:nvPr/>
        </p:nvSpPr>
        <p:spPr>
          <a:xfrm>
            <a:off x="6378097" y="211381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6634129" y="2225362"/>
            <a:ext cx="3931920" cy="292608"/>
          </a:xfrm>
          <a:prstGeom prst="rect">
            <a:avLst/>
          </a:prstGeom>
          <a:noFill/>
          <a:ln/>
        </p:spPr>
        <p:txBody>
          <a:bodyPr wrap="square" lIns="0" tIns="0" rIns="0" bIns="0" rtlCol="0" anchor="ctr">
            <a:normAutofit/>
          </a:bodyPr>
          <a:lstStyle/>
          <a:p>
            <a:pPr marL="0" indent="0">
              <a:buNone/>
            </a:pPr>
            <a:r>
              <a:rPr lang="en-US" sz="1600" b="1" dirty="0">
                <a:solidFill>
                  <a:srgbClr val="008F8F"/>
                </a:solidFill>
              </a:rPr>
              <a:t>Advertising</a:t>
            </a:r>
            <a:endParaRPr lang="en-US" sz="1600" dirty="0"/>
          </a:p>
        </p:txBody>
      </p:sp>
      <p:sp>
        <p:nvSpPr>
          <p:cNvPr id="16" name="Text 14"/>
          <p:cNvSpPr/>
          <p:nvPr/>
        </p:nvSpPr>
        <p:spPr>
          <a:xfrm>
            <a:off x="663412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Review claims, disclosures, brokerage rules, and platform requirements.</a:t>
            </a:r>
            <a:endParaRPr lang="en-US" sz="1400" dirty="0"/>
          </a:p>
        </p:txBody>
      </p:sp>
      <p:sp>
        <p:nvSpPr>
          <p:cNvPr id="17" name="Shape 15"/>
          <p:cNvSpPr/>
          <p:nvPr/>
        </p:nvSpPr>
        <p:spPr>
          <a:xfrm>
            <a:off x="1303177" y="373865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8" name="Text 16"/>
          <p:cNvSpPr/>
          <p:nvPr/>
        </p:nvSpPr>
        <p:spPr>
          <a:xfrm>
            <a:off x="155920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MLS</a:t>
            </a:r>
            <a:endParaRPr lang="en-US" sz="1600" dirty="0"/>
          </a:p>
        </p:txBody>
      </p:sp>
      <p:sp>
        <p:nvSpPr>
          <p:cNvPr id="19" name="Text 17"/>
          <p:cNvSpPr/>
          <p:nvPr/>
        </p:nvSpPr>
        <p:spPr>
          <a:xfrm>
            <a:off x="155920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Follow MLS rules for listing data, remarks, photos, and public display.</a:t>
            </a:r>
            <a:endParaRPr lang="en-US" sz="1400" dirty="0"/>
          </a:p>
        </p:txBody>
      </p:sp>
      <p:sp>
        <p:nvSpPr>
          <p:cNvPr id="20" name="Shape 18"/>
          <p:cNvSpPr/>
          <p:nvPr/>
        </p:nvSpPr>
        <p:spPr>
          <a:xfrm>
            <a:off x="6378097" y="373865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663412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Consumer communication</a:t>
            </a:r>
            <a:endParaRPr lang="en-US" sz="1600" dirty="0"/>
          </a:p>
        </p:txBody>
      </p:sp>
      <p:sp>
        <p:nvSpPr>
          <p:cNvPr id="22" name="Text 20"/>
          <p:cNvSpPr/>
          <p:nvPr/>
        </p:nvSpPr>
        <p:spPr>
          <a:xfrm>
            <a:off x="663412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Keep records, respect opt-outs, and do not automate beyond policy.</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43/47</a:t>
            </a:r>
            <a:endParaRPr lang="en-US" sz="72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99091" y="2298192"/>
            <a:ext cx="4206240" cy="2624328"/>
          </a:xfrm>
          <a:prstGeom prst="roundRect">
            <a:avLst>
              <a:gd name="adj" fmla="val 2034"/>
            </a:avLst>
          </a:prstGeom>
          <a:solidFill>
            <a:srgbClr val="F2B84B">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1140606" y="2018284"/>
            <a:ext cx="1572768" cy="310896"/>
          </a:xfrm>
          <a:prstGeom prst="roundRect">
            <a:avLst>
              <a:gd name="adj" fmla="val 11765"/>
            </a:avLst>
          </a:prstGeom>
          <a:solidFill>
            <a:srgbClr val="F2B84B"/>
          </a:solidFill>
          <a:ln w="12700">
            <a:solidFill>
              <a:srgbClr val="F2B84B"/>
            </a:solidFill>
            <a:prstDash val="solid"/>
          </a:ln>
        </p:spPr>
        <p:txBody>
          <a:bodyPr/>
          <a:lstStyle/>
          <a:p>
            <a:endParaRPr lang="en-US"/>
          </a:p>
        </p:txBody>
      </p:sp>
      <p:sp>
        <p:nvSpPr>
          <p:cNvPr id="12" name="Text 10"/>
          <p:cNvSpPr/>
          <p:nvPr/>
        </p:nvSpPr>
        <p:spPr>
          <a:xfrm>
            <a:off x="1268622" y="2018283"/>
            <a:ext cx="1298448" cy="356617"/>
          </a:xfrm>
          <a:prstGeom prst="rect">
            <a:avLst/>
          </a:prstGeom>
          <a:solidFill>
            <a:srgbClr val="F2B84B"/>
          </a:solidFill>
          <a:ln>
            <a:solidFill>
              <a:srgbClr val="F2B84B"/>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41241" y="2298192"/>
            <a:ext cx="5303520" cy="109728"/>
          </a:xfrm>
          <a:prstGeom prst="rect">
            <a:avLst/>
          </a:prstGeom>
          <a:solidFill>
            <a:srgbClr val="F2B84B"/>
          </a:solidFill>
          <a:ln w="12700">
            <a:solidFill>
              <a:srgbClr val="F2B84B"/>
            </a:solidFill>
            <a:prstDash val="solid"/>
          </a:ln>
        </p:spPr>
        <p:txBody>
          <a:bodyPr/>
          <a:lstStyle/>
          <a:p>
            <a:endParaRPr lang="en-US"/>
          </a:p>
        </p:txBody>
      </p:sp>
      <p:sp>
        <p:nvSpPr>
          <p:cNvPr id="14" name="Shape 12"/>
          <p:cNvSpPr/>
          <p:nvPr/>
        </p:nvSpPr>
        <p:spPr>
          <a:xfrm>
            <a:off x="1141241" y="23622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22046" y="3304160"/>
            <a:ext cx="4905602" cy="511936"/>
          </a:xfrm>
          <a:prstGeom prst="rect">
            <a:avLst/>
          </a:prstGeom>
          <a:noFill/>
          <a:ln/>
        </p:spPr>
        <p:txBody>
          <a:bodyPr wrap="square" lIns="0" tIns="0" rIns="0" bIns="0" rtlCol="0" anchor="ctr">
            <a:normAutofit/>
          </a:bodyPr>
          <a:lstStyle/>
          <a:p>
            <a:pPr marL="0" indent="0">
              <a:buNone/>
            </a:pPr>
            <a:r>
              <a:rPr lang="en-US" sz="2400" dirty="0">
                <a:solidFill>
                  <a:srgbClr val="52606D"/>
                </a:solidFill>
              </a:rPr>
              <a:t>Pick one task in each part of the day.</a:t>
            </a:r>
            <a:endParaRPr lang="en-US" sz="2400" dirty="0"/>
          </a:p>
        </p:txBody>
      </p:sp>
      <p:sp>
        <p:nvSpPr>
          <p:cNvPr id="16" name="Text 14"/>
          <p:cNvSpPr/>
          <p:nvPr/>
        </p:nvSpPr>
        <p:spPr>
          <a:xfrm>
            <a:off x="1415561" y="44927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19081" y="2298192"/>
            <a:ext cx="128016" cy="2624328"/>
          </a:xfrm>
          <a:prstGeom prst="rect">
            <a:avLst/>
          </a:prstGeom>
          <a:solidFill>
            <a:srgbClr val="F2B84B"/>
          </a:solidFill>
          <a:ln w="12700">
            <a:solidFill>
              <a:srgbClr val="F2B84B"/>
            </a:solidFill>
            <a:prstDash val="solid"/>
          </a:ln>
        </p:spPr>
        <p:txBody>
          <a:bodyPr/>
          <a:lstStyle/>
          <a:p>
            <a:endParaRPr lang="en-US"/>
          </a:p>
        </p:txBody>
      </p:sp>
      <p:sp>
        <p:nvSpPr>
          <p:cNvPr id="19" name="Text 17"/>
          <p:cNvSpPr/>
          <p:nvPr/>
        </p:nvSpPr>
        <p:spPr>
          <a:xfrm>
            <a:off x="7130560" y="2636520"/>
            <a:ext cx="3874851"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ea typeface="Aptos" pitchFamily="34" charset="-122"/>
                <a:cs typeface="Aptos" pitchFamily="34" charset="-120"/>
              </a:rPr>
              <a:t>Morning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Midday follow-up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Afternoon marketing/client update task</a:t>
            </a:r>
            <a:endParaRPr lang="en-US" sz="1600" dirty="0"/>
          </a:p>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End-of-day CRM or notes task</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44/47</a:t>
            </a:r>
            <a:endParaRPr lang="en-US" sz="72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STARTER LIBRARY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1141240" y="1789408"/>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12" name="Shape 10"/>
          <p:cNvSpPr/>
          <p:nvPr/>
        </p:nvSpPr>
        <p:spPr>
          <a:xfrm>
            <a:off x="1351552" y="1848439"/>
            <a:ext cx="402336" cy="402336"/>
          </a:xfrm>
          <a:prstGeom prst="ellipse">
            <a:avLst/>
          </a:prstGeom>
          <a:solidFill>
            <a:srgbClr val="008F8F"/>
          </a:solidFill>
          <a:ln w="12700">
            <a:solidFill>
              <a:srgbClr val="008F8F"/>
            </a:solidFill>
            <a:prstDash val="solid"/>
          </a:ln>
        </p:spPr>
        <p:txBody>
          <a:bodyPr/>
          <a:lstStyle/>
          <a:p>
            <a:endParaRPr lang="en-US" sz="1200"/>
          </a:p>
        </p:txBody>
      </p:sp>
      <p:sp>
        <p:nvSpPr>
          <p:cNvPr id="13" name="Text 11"/>
          <p:cNvSpPr/>
          <p:nvPr/>
        </p:nvSpPr>
        <p:spPr>
          <a:xfrm>
            <a:off x="1351552" y="1848439"/>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900192" y="1803124"/>
            <a:ext cx="8549640" cy="516636"/>
          </a:xfrm>
          <a:prstGeom prst="rect">
            <a:avLst/>
          </a:prstGeom>
          <a:noFill/>
          <a:ln/>
        </p:spPr>
        <p:txBody>
          <a:bodyPr wrap="square" lIns="254" tIns="254" rIns="254" bIns="254" rtlCol="0" anchor="ctr">
            <a:noAutofit/>
          </a:bodyPr>
          <a:lstStyle/>
          <a:p>
            <a:pPr marL="0" indent="0">
              <a:buNone/>
            </a:pPr>
            <a:r>
              <a:rPr lang="en-US">
                <a:solidFill>
                  <a:srgbClr val="102033"/>
                </a:solidFill>
              </a:rPr>
              <a:t>Draft a client message from these notes: [notes]. Make it concise, warm, and specific.</a:t>
            </a:r>
            <a:endParaRPr lang="en-US"/>
          </a:p>
        </p:txBody>
      </p:sp>
      <p:sp>
        <p:nvSpPr>
          <p:cNvPr id="15" name="Shape 13"/>
          <p:cNvSpPr/>
          <p:nvPr/>
        </p:nvSpPr>
        <p:spPr>
          <a:xfrm>
            <a:off x="1141240" y="2466064"/>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16" name="Shape 14"/>
          <p:cNvSpPr/>
          <p:nvPr/>
        </p:nvSpPr>
        <p:spPr>
          <a:xfrm>
            <a:off x="1351552" y="2528905"/>
            <a:ext cx="402336" cy="402336"/>
          </a:xfrm>
          <a:prstGeom prst="ellipse">
            <a:avLst/>
          </a:prstGeom>
          <a:solidFill>
            <a:srgbClr val="2F80ED"/>
          </a:solidFill>
          <a:ln w="12700">
            <a:solidFill>
              <a:srgbClr val="2F80ED"/>
            </a:solidFill>
            <a:prstDash val="solid"/>
          </a:ln>
        </p:spPr>
        <p:txBody>
          <a:bodyPr/>
          <a:lstStyle/>
          <a:p>
            <a:endParaRPr lang="en-US" sz="1200"/>
          </a:p>
        </p:txBody>
      </p:sp>
      <p:sp>
        <p:nvSpPr>
          <p:cNvPr id="17" name="Text 15"/>
          <p:cNvSpPr/>
          <p:nvPr/>
        </p:nvSpPr>
        <p:spPr>
          <a:xfrm>
            <a:off x="1351552" y="2520926"/>
            <a:ext cx="402336" cy="410315"/>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00192" y="2466064"/>
            <a:ext cx="8549640" cy="530351"/>
          </a:xfrm>
          <a:prstGeom prst="rect">
            <a:avLst/>
          </a:prstGeom>
          <a:noFill/>
          <a:ln/>
        </p:spPr>
        <p:txBody>
          <a:bodyPr wrap="square" lIns="254" tIns="254" rIns="254" bIns="254" rtlCol="0" anchor="ctr">
            <a:noAutofit/>
          </a:bodyPr>
          <a:lstStyle/>
          <a:p>
            <a:pPr marL="0" indent="0">
              <a:buNone/>
            </a:pPr>
            <a:r>
              <a:rPr lang="en-US">
                <a:solidFill>
                  <a:srgbClr val="102033"/>
                </a:solidFill>
              </a:rPr>
              <a:t>Create three versions of this follow-up: text, email, and voicemail.</a:t>
            </a:r>
            <a:endParaRPr lang="en-US"/>
          </a:p>
        </p:txBody>
      </p:sp>
      <p:sp>
        <p:nvSpPr>
          <p:cNvPr id="19" name="Shape 17"/>
          <p:cNvSpPr/>
          <p:nvPr/>
        </p:nvSpPr>
        <p:spPr>
          <a:xfrm>
            <a:off x="1141240" y="3142720"/>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0" name="Shape 18"/>
          <p:cNvSpPr/>
          <p:nvPr/>
        </p:nvSpPr>
        <p:spPr>
          <a:xfrm>
            <a:off x="1351552" y="3205561"/>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1" name="Text 19"/>
          <p:cNvSpPr/>
          <p:nvPr/>
        </p:nvSpPr>
        <p:spPr>
          <a:xfrm>
            <a:off x="1351552" y="319758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00192" y="3142720"/>
            <a:ext cx="8549640" cy="538330"/>
          </a:xfrm>
          <a:prstGeom prst="rect">
            <a:avLst/>
          </a:prstGeom>
          <a:noFill/>
          <a:ln/>
        </p:spPr>
        <p:txBody>
          <a:bodyPr wrap="square" lIns="254" tIns="254" rIns="254" bIns="254" rtlCol="0" anchor="ctr">
            <a:normAutofit/>
          </a:bodyPr>
          <a:lstStyle/>
          <a:p>
            <a:pPr marL="0" indent="0">
              <a:buNone/>
            </a:pPr>
            <a:r>
              <a:rPr lang="en-US">
                <a:solidFill>
                  <a:srgbClr val="102033"/>
                </a:solidFill>
              </a:rPr>
              <a:t>Review this message for accuracy, Fair Housing risk, and claims I should verify.</a:t>
            </a:r>
            <a:endParaRPr lang="en-US"/>
          </a:p>
        </p:txBody>
      </p:sp>
      <p:sp>
        <p:nvSpPr>
          <p:cNvPr id="23" name="Shape 21"/>
          <p:cNvSpPr/>
          <p:nvPr/>
        </p:nvSpPr>
        <p:spPr>
          <a:xfrm>
            <a:off x="1141240" y="3819376"/>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24" name="Shape 22"/>
          <p:cNvSpPr/>
          <p:nvPr/>
        </p:nvSpPr>
        <p:spPr>
          <a:xfrm>
            <a:off x="1351552" y="3882217"/>
            <a:ext cx="402336" cy="402336"/>
          </a:xfrm>
          <a:prstGeom prst="ellipse">
            <a:avLst/>
          </a:prstGeom>
          <a:solidFill>
            <a:srgbClr val="2E7D5B"/>
          </a:solidFill>
          <a:ln w="12700">
            <a:solidFill>
              <a:srgbClr val="2E7D5B"/>
            </a:solidFill>
            <a:prstDash val="solid"/>
          </a:ln>
        </p:spPr>
        <p:txBody>
          <a:bodyPr/>
          <a:lstStyle/>
          <a:p>
            <a:endParaRPr lang="en-US" sz="1200"/>
          </a:p>
        </p:txBody>
      </p:sp>
      <p:sp>
        <p:nvSpPr>
          <p:cNvPr id="25" name="Text 23"/>
          <p:cNvSpPr/>
          <p:nvPr/>
        </p:nvSpPr>
        <p:spPr>
          <a:xfrm>
            <a:off x="1351552" y="3882216"/>
            <a:ext cx="402336" cy="402335"/>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900192" y="3819376"/>
            <a:ext cx="9070848" cy="522375"/>
          </a:xfrm>
          <a:prstGeom prst="rect">
            <a:avLst/>
          </a:prstGeom>
          <a:noFill/>
          <a:ln/>
        </p:spPr>
        <p:txBody>
          <a:bodyPr wrap="square" lIns="254" tIns="254" rIns="254" bIns="254" rtlCol="0" anchor="ctr">
            <a:noAutofit/>
          </a:bodyPr>
          <a:lstStyle/>
          <a:p>
            <a:pPr marL="0" indent="0">
              <a:buNone/>
            </a:pPr>
            <a:r>
              <a:rPr lang="en-US">
                <a:solidFill>
                  <a:srgbClr val="102033"/>
                </a:solidFill>
              </a:rPr>
              <a:t>Turn these verified listing facts into a listing paragraph, social caption, and open house invite.</a:t>
            </a:r>
            <a:endParaRPr lang="en-US"/>
          </a:p>
        </p:txBody>
      </p:sp>
      <p:sp>
        <p:nvSpPr>
          <p:cNvPr id="27" name="Shape 25"/>
          <p:cNvSpPr/>
          <p:nvPr/>
        </p:nvSpPr>
        <p:spPr>
          <a:xfrm>
            <a:off x="1141240" y="4496032"/>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8" name="Shape 26"/>
          <p:cNvSpPr/>
          <p:nvPr/>
        </p:nvSpPr>
        <p:spPr>
          <a:xfrm>
            <a:off x="1351552" y="4558873"/>
            <a:ext cx="402336" cy="402336"/>
          </a:xfrm>
          <a:prstGeom prst="ellipse">
            <a:avLst/>
          </a:prstGeom>
          <a:solidFill>
            <a:srgbClr val="F2B84B"/>
          </a:solidFill>
          <a:ln w="12700">
            <a:solidFill>
              <a:srgbClr val="F2B84B"/>
            </a:solidFill>
            <a:prstDash val="solid"/>
          </a:ln>
        </p:spPr>
        <p:txBody>
          <a:bodyPr/>
          <a:lstStyle/>
          <a:p>
            <a:endParaRPr lang="en-US" sz="1200"/>
          </a:p>
        </p:txBody>
      </p:sp>
      <p:sp>
        <p:nvSpPr>
          <p:cNvPr id="29" name="Text 27"/>
          <p:cNvSpPr/>
          <p:nvPr/>
        </p:nvSpPr>
        <p:spPr>
          <a:xfrm>
            <a:off x="1351552" y="455887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1900192" y="4488054"/>
            <a:ext cx="8549640" cy="530351"/>
          </a:xfrm>
          <a:prstGeom prst="rect">
            <a:avLst/>
          </a:prstGeom>
          <a:noFill/>
          <a:ln/>
        </p:spPr>
        <p:txBody>
          <a:bodyPr wrap="square" lIns="254" tIns="254" rIns="254" bIns="254" rtlCol="0" anchor="ctr">
            <a:normAutofit/>
          </a:bodyPr>
          <a:lstStyle/>
          <a:p>
            <a:pPr marL="0" indent="0">
              <a:buNone/>
            </a:pPr>
            <a:r>
              <a:rPr lang="en-US">
                <a:solidFill>
                  <a:srgbClr val="102033"/>
                </a:solidFill>
              </a:rPr>
              <a:t>Role-play as [buyer/seller type] and help me practice responding professionally.</a:t>
            </a:r>
            <a:endParaRPr lang="en-US"/>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45/47</a:t>
            </a:r>
            <a:endParaRPr lang="en-US" sz="72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pic>
        <p:nvPicPr>
          <p:cNvPr id="46" name="Graphic 45" descr="Document outline">
            <a:extLst>
              <a:ext uri="{FF2B5EF4-FFF2-40B4-BE49-F238E27FC236}">
                <a16:creationId xmlns:a16="http://schemas.microsoft.com/office/drawing/2014/main" id="{9B235865-0EC8-E342-0FD3-97C297A8FA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8864" y="3127203"/>
            <a:ext cx="594722" cy="594722"/>
          </a:xfrm>
          <a:prstGeom prst="rect">
            <a:avLst/>
          </a:prstGeom>
        </p:spPr>
      </p:pic>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SAVE CONTEXT</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12" name="Text 10"/>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3" name="Shape 11"/>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14" name="Text 12"/>
          <p:cNvSpPr/>
          <p:nvPr/>
        </p:nvSpPr>
        <p:spPr>
          <a:xfrm>
            <a:off x="1314201" y="385354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Save the best prompt</a:t>
            </a:r>
            <a:endParaRPr lang="en-US" sz="1600" dirty="0"/>
          </a:p>
        </p:txBody>
      </p:sp>
      <p:sp>
        <p:nvSpPr>
          <p:cNvPr id="15" name="Shape 13"/>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16" name="Text 14"/>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17" name="Shape 15"/>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18" name="Text 16"/>
          <p:cNvSpPr/>
          <p:nvPr/>
        </p:nvSpPr>
        <p:spPr>
          <a:xfrm>
            <a:off x="3220720" y="38586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verified fact block</a:t>
            </a:r>
            <a:endParaRPr lang="en-US" sz="1600" dirty="0"/>
          </a:p>
        </p:txBody>
      </p:sp>
      <p:sp>
        <p:nvSpPr>
          <p:cNvPr id="19" name="Shape 17"/>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20" name="Text 18"/>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1" name="Shape 19"/>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22" name="Text 20"/>
          <p:cNvSpPr/>
          <p:nvPr/>
        </p:nvSpPr>
        <p:spPr>
          <a:xfrm>
            <a:off x="5239522" y="38840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final reviewed version</a:t>
            </a:r>
            <a:endParaRPr lang="en-US" sz="1600" dirty="0"/>
          </a:p>
        </p:txBody>
      </p:sp>
      <p:sp>
        <p:nvSpPr>
          <p:cNvPr id="23" name="Shape 21"/>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24" name="Text 22"/>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25" name="Shape 23"/>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26" name="Text 24"/>
          <p:cNvSpPr/>
          <p:nvPr/>
        </p:nvSpPr>
        <p:spPr>
          <a:xfrm>
            <a:off x="7425441" y="386878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Note what worked</a:t>
            </a:r>
            <a:endParaRPr lang="en-US" sz="1600" dirty="0"/>
          </a:p>
        </p:txBody>
      </p:sp>
      <p:sp>
        <p:nvSpPr>
          <p:cNvPr id="27" name="Shape 25"/>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28" name="Text 26"/>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29" name="Text 27"/>
          <p:cNvSpPr/>
          <p:nvPr/>
        </p:nvSpPr>
        <p:spPr>
          <a:xfrm>
            <a:off x="9331960" y="3884022"/>
            <a:ext cx="1750568"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Reuse as a template next time</a:t>
            </a:r>
            <a:endParaRPr lang="en-US" sz="1600" dirty="0"/>
          </a:p>
        </p:txBody>
      </p:sp>
      <p:sp>
        <p:nvSpPr>
          <p:cNvPr id="30" name="Shape 2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1" name="Text 2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46/47</a:t>
            </a:r>
            <a:endParaRPr lang="en-US" sz="720"/>
          </a:p>
        </p:txBody>
      </p:sp>
      <p:pic>
        <p:nvPicPr>
          <p:cNvPr id="36" name="Graphic 35" descr="Shield Tick with solid fill">
            <a:extLst>
              <a:ext uri="{FF2B5EF4-FFF2-40B4-BE49-F238E27FC236}">
                <a16:creationId xmlns:a16="http://schemas.microsoft.com/office/drawing/2014/main" id="{A37B9EDA-A8B5-539E-3E21-77F66C9E3D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82900" y="3111501"/>
            <a:ext cx="594722" cy="594722"/>
          </a:xfrm>
          <a:prstGeom prst="rect">
            <a:avLst/>
          </a:prstGeom>
        </p:spPr>
      </p:pic>
      <p:pic>
        <p:nvPicPr>
          <p:cNvPr id="38" name="Graphic 37" descr="Document outline">
            <a:extLst>
              <a:ext uri="{FF2B5EF4-FFF2-40B4-BE49-F238E27FC236}">
                <a16:creationId xmlns:a16="http://schemas.microsoft.com/office/drawing/2014/main" id="{0CD67CA6-170D-5EF6-7758-B6772524BB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08448" y="3116916"/>
            <a:ext cx="594722" cy="594722"/>
          </a:xfrm>
          <a:prstGeom prst="rect">
            <a:avLst/>
          </a:prstGeom>
        </p:spPr>
      </p:pic>
      <p:sp>
        <p:nvSpPr>
          <p:cNvPr id="45" name="Pentagon 44">
            <a:extLst>
              <a:ext uri="{FF2B5EF4-FFF2-40B4-BE49-F238E27FC236}">
                <a16:creationId xmlns:a16="http://schemas.microsoft.com/office/drawing/2014/main" id="{AD9F78F7-8408-4852-6D95-BD017B1E852F}"/>
              </a:ext>
            </a:extLst>
          </p:cNvPr>
          <p:cNvSpPr/>
          <p:nvPr/>
        </p:nvSpPr>
        <p:spPr>
          <a:xfrm>
            <a:off x="2010889" y="3398520"/>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Graphic 39" descr="Star outline">
            <a:extLst>
              <a:ext uri="{FF2B5EF4-FFF2-40B4-BE49-F238E27FC236}">
                <a16:creationId xmlns:a16="http://schemas.microsoft.com/office/drawing/2014/main" id="{FCE693AE-0EB3-424D-9326-AAB4481FBA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5164" y="3431539"/>
            <a:ext cx="234741" cy="234741"/>
          </a:xfrm>
          <a:prstGeom prst="rect">
            <a:avLst/>
          </a:prstGeom>
        </p:spPr>
      </p:pic>
      <p:sp>
        <p:nvSpPr>
          <p:cNvPr id="47" name="Pentagon 46">
            <a:extLst>
              <a:ext uri="{FF2B5EF4-FFF2-40B4-BE49-F238E27FC236}">
                <a16:creationId xmlns:a16="http://schemas.microsoft.com/office/drawing/2014/main" id="{CAC2E022-8F0E-A1A3-BA33-018CE4F17A39}"/>
              </a:ext>
            </a:extLst>
          </p:cNvPr>
          <p:cNvSpPr/>
          <p:nvPr/>
        </p:nvSpPr>
        <p:spPr>
          <a:xfrm>
            <a:off x="6101305" y="3408807"/>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Badge Tick1 with solid fill">
            <a:extLst>
              <a:ext uri="{FF2B5EF4-FFF2-40B4-BE49-F238E27FC236}">
                <a16:creationId xmlns:a16="http://schemas.microsoft.com/office/drawing/2014/main" id="{6964E52C-12CD-5821-CF7A-0466B22710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8949" y="3444757"/>
            <a:ext cx="234742" cy="234742"/>
          </a:xfrm>
          <a:prstGeom prst="rect">
            <a:avLst/>
          </a:prstGeom>
        </p:spPr>
      </p:pic>
      <p:pic>
        <p:nvPicPr>
          <p:cNvPr id="52" name="Graphic 51" descr="Clipboard outline">
            <a:extLst>
              <a:ext uri="{FF2B5EF4-FFF2-40B4-BE49-F238E27FC236}">
                <a16:creationId xmlns:a16="http://schemas.microsoft.com/office/drawing/2014/main" id="{A8E0AA20-572A-7C4E-222A-1ABB088EB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8509" y="3132156"/>
            <a:ext cx="578745" cy="578745"/>
          </a:xfrm>
          <a:prstGeom prst="rect">
            <a:avLst/>
          </a:prstGeom>
        </p:spPr>
      </p:pic>
      <p:pic>
        <p:nvPicPr>
          <p:cNvPr id="54" name="Graphic 53" descr="Arrow circle outline">
            <a:extLst>
              <a:ext uri="{FF2B5EF4-FFF2-40B4-BE49-F238E27FC236}">
                <a16:creationId xmlns:a16="http://schemas.microsoft.com/office/drawing/2014/main" id="{D2588B03-D00B-8A28-DB47-A37A468045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99158" y="3048509"/>
            <a:ext cx="778251" cy="778251"/>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a:effectLst/>
      </p:bgPr>
    </p:bg>
    <p:spTree>
      <p:nvGrpSpPr>
        <p:cNvPr id="1" name=""/>
        <p:cNvGrpSpPr/>
        <p:nvPr/>
      </p:nvGrpSpPr>
      <p:grpSpPr>
        <a:xfrm>
          <a:off x="0" y="0"/>
          <a:ext cx="0" cy="0"/>
          <a:chOff x="0" y="0"/>
          <a:chExt cx="0" cy="0"/>
        </a:xfrm>
      </p:grpSpPr>
      <p:pic>
        <p:nvPicPr>
          <p:cNvPr id="70" name="Graphic 69" descr="Users outline">
            <a:extLst>
              <a:ext uri="{FF2B5EF4-FFF2-40B4-BE49-F238E27FC236}">
                <a16:creationId xmlns:a16="http://schemas.microsoft.com/office/drawing/2014/main" id="{5E38CFC5-2611-B38F-820C-4C9DF706DB6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67748" y="3100748"/>
            <a:ext cx="623379" cy="623379"/>
          </a:xfrm>
          <a:prstGeom prst="rect">
            <a:avLst/>
          </a:prstGeom>
        </p:spPr>
      </p:pic>
      <p:pic>
        <p:nvPicPr>
          <p:cNvPr id="66" name="Graphic 65" descr="Bullseye outline">
            <a:extLst>
              <a:ext uri="{FF2B5EF4-FFF2-40B4-BE49-F238E27FC236}">
                <a16:creationId xmlns:a16="http://schemas.microsoft.com/office/drawing/2014/main" id="{EADABA51-5FC4-3928-D140-CDA5BCA8A9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95829" y="3111501"/>
            <a:ext cx="623379" cy="623379"/>
          </a:xfrm>
          <a:prstGeom prst="rect">
            <a:avLst/>
          </a:prstGeom>
        </p:spPr>
      </p:pic>
      <p:sp>
        <p:nvSpPr>
          <p:cNvPr id="53" name="Text 24">
            <a:extLst>
              <a:ext uri="{FF2B5EF4-FFF2-40B4-BE49-F238E27FC236}">
                <a16:creationId xmlns:a16="http://schemas.microsoft.com/office/drawing/2014/main" id="{1671685A-C764-DD5B-B208-466D156D0C53}"/>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Save what worked</a:t>
            </a:r>
            <a:endParaRPr lang="en-US" sz="1600" dirty="0"/>
          </a:p>
        </p:txBody>
      </p:sp>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FINAL ACTION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30" name="Shape 28"/>
          <p:cNvSpPr/>
          <p:nvPr/>
        </p:nvSpPr>
        <p:spPr>
          <a:xfrm>
            <a:off x="1182243" y="5090160"/>
            <a:ext cx="9829800" cy="1024128"/>
          </a:xfrm>
          <a:prstGeom prst="roundRect">
            <a:avLst>
              <a:gd name="adj" fmla="val 5357"/>
            </a:avLst>
          </a:prstGeom>
          <a:solidFill>
            <a:srgbClr val="FFFFFF"/>
          </a:solidFill>
          <a:ln w="10160">
            <a:solidFill>
              <a:srgbClr val="C9DFE5"/>
            </a:solidFill>
            <a:prstDash val="solid"/>
          </a:ln>
        </p:spPr>
        <p:txBody>
          <a:bodyPr/>
          <a:lstStyle/>
          <a:p>
            <a:endParaRPr lang="en-US"/>
          </a:p>
        </p:txBody>
      </p:sp>
      <p:sp>
        <p:nvSpPr>
          <p:cNvPr id="31" name="Text 29"/>
          <p:cNvSpPr/>
          <p:nvPr/>
        </p:nvSpPr>
        <p:spPr>
          <a:xfrm>
            <a:off x="1456563" y="5300472"/>
            <a:ext cx="3246120" cy="182880"/>
          </a:xfrm>
          <a:prstGeom prst="rect">
            <a:avLst/>
          </a:prstGeom>
          <a:noFill/>
          <a:ln/>
        </p:spPr>
        <p:txBody>
          <a:bodyPr wrap="square" lIns="0" tIns="0" rIns="0" bIns="0" rtlCol="0" anchor="ctr"/>
          <a:lstStyle/>
          <a:p>
            <a:pPr marL="0" indent="0">
              <a:buNone/>
            </a:pPr>
            <a:r>
              <a:rPr lang="en-US" sz="1180" b="1" dirty="0">
                <a:solidFill>
                  <a:srgbClr val="16324F"/>
                </a:solidFill>
              </a:rPr>
              <a:t>Presented by Ian Burton Price</a:t>
            </a:r>
            <a:endParaRPr lang="en-US" sz="1180" dirty="0"/>
          </a:p>
        </p:txBody>
      </p:sp>
      <p:sp>
        <p:nvSpPr>
          <p:cNvPr id="32" name="Text 30"/>
          <p:cNvSpPr/>
          <p:nvPr/>
        </p:nvSpPr>
        <p:spPr>
          <a:xfrm>
            <a:off x="1456563" y="5574792"/>
            <a:ext cx="4206240" cy="329184"/>
          </a:xfrm>
          <a:prstGeom prst="rect">
            <a:avLst/>
          </a:prstGeom>
          <a:noFill/>
          <a:ln/>
        </p:spPr>
        <p:txBody>
          <a:bodyPr wrap="square" lIns="0" tIns="0" rIns="0" bIns="0" rtlCol="0" anchor="ctr">
            <a:normAutofit/>
          </a:bodyPr>
          <a:lstStyle/>
          <a:p>
            <a:pPr marL="0" indent="0">
              <a:buNone/>
            </a:pPr>
            <a:r>
              <a:rPr lang="en-US" sz="980">
                <a:solidFill>
                  <a:srgbClr val="52606D"/>
                </a:solidFill>
              </a:rPr>
              <a:t>REALTOR® | Dalton Wade Real Estate Group</a:t>
            </a:r>
            <a:endParaRPr lang="en-US" sz="980" dirty="0"/>
          </a:p>
          <a:p>
            <a:pPr marL="0" indent="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icPr>
            <a:picLocks noChangeAspect="1"/>
          </p:cNvPicPr>
          <p:nvPr/>
        </p:nvPicPr>
        <p:blipFill>
          <a:blip r:embed="rId5"/>
          <a:stretch>
            <a:fillRect/>
          </a:stretch>
        </p:blipFill>
        <p:spPr>
          <a:xfrm>
            <a:off x="8250555" y="541020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5" name="Text 3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47/47</a:t>
            </a:r>
            <a:endParaRPr lang="en-US" sz="720"/>
          </a:p>
        </p:txBody>
      </p:sp>
      <p:sp>
        <p:nvSpPr>
          <p:cNvPr id="38" name="Shape 9">
            <a:extLst>
              <a:ext uri="{FF2B5EF4-FFF2-40B4-BE49-F238E27FC236}">
                <a16:creationId xmlns:a16="http://schemas.microsoft.com/office/drawing/2014/main" id="{7BC8DF3F-A63F-F1D6-E6AB-025C5682DE75}"/>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39" name="Text 10">
            <a:extLst>
              <a:ext uri="{FF2B5EF4-FFF2-40B4-BE49-F238E27FC236}">
                <a16:creationId xmlns:a16="http://schemas.microsoft.com/office/drawing/2014/main" id="{879D7FE8-20D1-EB67-7B79-A1BBFF1B7756}"/>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40" name="Shape 11">
            <a:extLst>
              <a:ext uri="{FF2B5EF4-FFF2-40B4-BE49-F238E27FC236}">
                <a16:creationId xmlns:a16="http://schemas.microsoft.com/office/drawing/2014/main" id="{2B942183-0F46-A7F9-03E5-AB87947E6C0C}"/>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41" name="Text 12">
            <a:extLst>
              <a:ext uri="{FF2B5EF4-FFF2-40B4-BE49-F238E27FC236}">
                <a16:creationId xmlns:a16="http://schemas.microsoft.com/office/drawing/2014/main" id="{86BB6B95-7220-1188-CD48-96590D9EC97B}"/>
              </a:ext>
            </a:extLst>
          </p:cNvPr>
          <p:cNvSpPr/>
          <p:nvPr/>
        </p:nvSpPr>
        <p:spPr>
          <a:xfrm>
            <a:off x="1314201" y="385354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Choose one workflow</a:t>
            </a:r>
            <a:endParaRPr lang="en-US" sz="1600" dirty="0"/>
          </a:p>
        </p:txBody>
      </p:sp>
      <p:sp>
        <p:nvSpPr>
          <p:cNvPr id="42" name="Shape 13">
            <a:extLst>
              <a:ext uri="{FF2B5EF4-FFF2-40B4-BE49-F238E27FC236}">
                <a16:creationId xmlns:a16="http://schemas.microsoft.com/office/drawing/2014/main" id="{CD26EF73-B58D-6435-3617-65BAD6F095CA}"/>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43" name="Text 14">
            <a:extLst>
              <a:ext uri="{FF2B5EF4-FFF2-40B4-BE49-F238E27FC236}">
                <a16:creationId xmlns:a16="http://schemas.microsoft.com/office/drawing/2014/main" id="{9F19A20B-6A7C-C7FF-DE37-98C9ED41D59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44" name="Shape 15">
            <a:extLst>
              <a:ext uri="{FF2B5EF4-FFF2-40B4-BE49-F238E27FC236}">
                <a16:creationId xmlns:a16="http://schemas.microsoft.com/office/drawing/2014/main" id="{48347CB6-36EF-3C6B-5C1D-BCD11E9CC6E0}"/>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45" name="Text 16">
            <a:extLst>
              <a:ext uri="{FF2B5EF4-FFF2-40B4-BE49-F238E27FC236}">
                <a16:creationId xmlns:a16="http://schemas.microsoft.com/office/drawing/2014/main" id="{317E5AD8-D204-DD6B-2AF2-010D7D435890}"/>
              </a:ext>
            </a:extLst>
          </p:cNvPr>
          <p:cNvSpPr/>
          <p:nvPr/>
        </p:nvSpPr>
        <p:spPr>
          <a:xfrm>
            <a:off x="3241040" y="3858622"/>
            <a:ext cx="1727200" cy="640080"/>
          </a:xfrm>
          <a:prstGeom prst="rect">
            <a:avLst/>
          </a:prstGeom>
          <a:noFill/>
          <a:ln/>
        </p:spPr>
        <p:txBody>
          <a:bodyPr wrap="square" lIns="0" tIns="0" rIns="0" bIns="0" rtlCol="0" anchor="ctr">
            <a:noAutofit/>
          </a:bodyPr>
          <a:lstStyle/>
          <a:p>
            <a:pPr algn="ctr"/>
            <a:r>
              <a:rPr lang="en-US" sz="1600" b="1" dirty="0">
                <a:solidFill>
                  <a:srgbClr val="102033"/>
                </a:solidFill>
              </a:rPr>
              <a:t>Write one reusable prompt</a:t>
            </a:r>
            <a:endParaRPr lang="en-US" sz="1600" dirty="0"/>
          </a:p>
        </p:txBody>
      </p:sp>
      <p:sp>
        <p:nvSpPr>
          <p:cNvPr id="46" name="Shape 17">
            <a:extLst>
              <a:ext uri="{FF2B5EF4-FFF2-40B4-BE49-F238E27FC236}">
                <a16:creationId xmlns:a16="http://schemas.microsoft.com/office/drawing/2014/main" id="{4B7189B6-1C55-5C05-D600-B5F1914A3973}"/>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47" name="Text 18">
            <a:extLst>
              <a:ext uri="{FF2B5EF4-FFF2-40B4-BE49-F238E27FC236}">
                <a16:creationId xmlns:a16="http://schemas.microsoft.com/office/drawing/2014/main" id="{E65A8906-C4FD-8235-9EDF-977045AFF358}"/>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48" name="Shape 19">
            <a:extLst>
              <a:ext uri="{FF2B5EF4-FFF2-40B4-BE49-F238E27FC236}">
                <a16:creationId xmlns:a16="http://schemas.microsoft.com/office/drawing/2014/main" id="{577642D2-5D7B-DE45-0DC4-BBC7B2CB130D}"/>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49" name="Text 20">
            <a:extLst>
              <a:ext uri="{FF2B5EF4-FFF2-40B4-BE49-F238E27FC236}">
                <a16:creationId xmlns:a16="http://schemas.microsoft.com/office/drawing/2014/main" id="{31C0B51B-BADD-6F2F-860A-2D496F4B872B}"/>
              </a:ext>
            </a:extLst>
          </p:cNvPr>
          <p:cNvSpPr/>
          <p:nvPr/>
        </p:nvSpPr>
        <p:spPr>
          <a:xfrm>
            <a:off x="5390901" y="3884022"/>
            <a:ext cx="1417320" cy="640080"/>
          </a:xfrm>
          <a:prstGeom prst="rect">
            <a:avLst/>
          </a:prstGeom>
          <a:noFill/>
          <a:ln/>
        </p:spPr>
        <p:txBody>
          <a:bodyPr wrap="square" lIns="0" tIns="0" rIns="0" bIns="0" rtlCol="0" anchor="ctr">
            <a:noAutofit/>
          </a:bodyPr>
          <a:lstStyle/>
          <a:p>
            <a:pPr algn="ctr"/>
            <a:r>
              <a:rPr lang="en-US" sz="1600" b="1" dirty="0">
                <a:solidFill>
                  <a:srgbClr val="102033"/>
                </a:solidFill>
              </a:rPr>
              <a:t>Use it three times</a:t>
            </a:r>
            <a:endParaRPr lang="en-US" sz="1600" dirty="0"/>
          </a:p>
        </p:txBody>
      </p:sp>
      <p:sp>
        <p:nvSpPr>
          <p:cNvPr id="50" name="Shape 21">
            <a:extLst>
              <a:ext uri="{FF2B5EF4-FFF2-40B4-BE49-F238E27FC236}">
                <a16:creationId xmlns:a16="http://schemas.microsoft.com/office/drawing/2014/main" id="{3437ECB7-6364-5225-4CCA-23CC41166F83}"/>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51" name="Text 22">
            <a:extLst>
              <a:ext uri="{FF2B5EF4-FFF2-40B4-BE49-F238E27FC236}">
                <a16:creationId xmlns:a16="http://schemas.microsoft.com/office/drawing/2014/main" id="{1E191D64-51BC-6906-6B93-5DCB8E85569A}"/>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52" name="Shape 23">
            <a:extLst>
              <a:ext uri="{FF2B5EF4-FFF2-40B4-BE49-F238E27FC236}">
                <a16:creationId xmlns:a16="http://schemas.microsoft.com/office/drawing/2014/main" id="{64FD0804-7ADD-7F1F-C947-22E59369E02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54" name="Shape 25">
            <a:extLst>
              <a:ext uri="{FF2B5EF4-FFF2-40B4-BE49-F238E27FC236}">
                <a16:creationId xmlns:a16="http://schemas.microsoft.com/office/drawing/2014/main" id="{A732572E-55E2-2F53-30E6-9E92155FF718}"/>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55" name="Text 26">
            <a:extLst>
              <a:ext uri="{FF2B5EF4-FFF2-40B4-BE49-F238E27FC236}">
                <a16:creationId xmlns:a16="http://schemas.microsoft.com/office/drawing/2014/main" id="{6346FEC9-1A35-CE18-8213-0E772DAF630E}"/>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56" name="Text 27">
            <a:extLst>
              <a:ext uri="{FF2B5EF4-FFF2-40B4-BE49-F238E27FC236}">
                <a16:creationId xmlns:a16="http://schemas.microsoft.com/office/drawing/2014/main" id="{7DFCEEEB-E4CC-371A-4565-E3B2604794AF}"/>
              </a:ext>
            </a:extLst>
          </p:cNvPr>
          <p:cNvSpPr/>
          <p:nvPr/>
        </p:nvSpPr>
        <p:spPr>
          <a:xfrm>
            <a:off x="9265422" y="3884022"/>
            <a:ext cx="1890258" cy="640080"/>
          </a:xfrm>
          <a:prstGeom prst="rect">
            <a:avLst/>
          </a:prstGeom>
          <a:noFill/>
          <a:ln/>
        </p:spPr>
        <p:txBody>
          <a:bodyPr wrap="square" lIns="0" tIns="0" rIns="0" bIns="0" rtlCol="0" anchor="ctr">
            <a:normAutofit/>
          </a:bodyPr>
          <a:lstStyle/>
          <a:p>
            <a:pPr algn="ctr"/>
            <a:r>
              <a:rPr lang="en-US" sz="1600" b="1" dirty="0">
                <a:solidFill>
                  <a:srgbClr val="102033"/>
                </a:solidFill>
              </a:rPr>
              <a:t>Review before using with clients</a:t>
            </a:r>
            <a:endParaRPr lang="en-US" sz="1600" dirty="0"/>
          </a:p>
        </p:txBody>
      </p:sp>
      <p:pic>
        <p:nvPicPr>
          <p:cNvPr id="68" name="Graphic 67" descr="Pencil outline">
            <a:extLst>
              <a:ext uri="{FF2B5EF4-FFF2-40B4-BE49-F238E27FC236}">
                <a16:creationId xmlns:a16="http://schemas.microsoft.com/office/drawing/2014/main" id="{5AD04963-CCD1-5357-ABCD-DAE258CA34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97360" y="3074415"/>
            <a:ext cx="609600" cy="609600"/>
          </a:xfrm>
          <a:prstGeom prst="rect">
            <a:avLst/>
          </a:prstGeom>
        </p:spPr>
      </p:pic>
      <p:pic>
        <p:nvPicPr>
          <p:cNvPr id="72" name="Graphic 71" descr="Folder outline">
            <a:extLst>
              <a:ext uri="{FF2B5EF4-FFF2-40B4-BE49-F238E27FC236}">
                <a16:creationId xmlns:a16="http://schemas.microsoft.com/office/drawing/2014/main" id="{9ABCEC08-A83A-1F3F-EC8D-D8C6F8B1557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18120" y="3100748"/>
            <a:ext cx="609600" cy="609600"/>
          </a:xfrm>
          <a:prstGeom prst="rect">
            <a:avLst/>
          </a:prstGeom>
        </p:spPr>
      </p:pic>
      <p:pic>
        <p:nvPicPr>
          <p:cNvPr id="73" name="Graphic 72" descr="Shield Tick with solid fill">
            <a:extLst>
              <a:ext uri="{FF2B5EF4-FFF2-40B4-BE49-F238E27FC236}">
                <a16:creationId xmlns:a16="http://schemas.microsoft.com/office/drawing/2014/main" id="{D6F457BA-5CAC-CFBD-0E1A-AEFCC5592D3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90922" y="3100748"/>
            <a:ext cx="594722" cy="594722"/>
          </a:xfrm>
          <a:prstGeom prst="rect">
            <a:avLst/>
          </a:prstGeom>
        </p:spPr>
      </p:pic>
      <p:pic>
        <p:nvPicPr>
          <p:cNvPr id="77" name="Graphic 76" descr="Star outline">
            <a:extLst>
              <a:ext uri="{FF2B5EF4-FFF2-40B4-BE49-F238E27FC236}">
                <a16:creationId xmlns:a16="http://schemas.microsoft.com/office/drawing/2014/main" id="{DCC8A758-A0C8-9CF5-0619-E0A2297EE9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15814" y="3328774"/>
            <a:ext cx="204261" cy="204261"/>
          </a:xfrm>
          <a:prstGeom prst="rect">
            <a:avLst/>
          </a:prstGeom>
        </p:spPr>
      </p:pic>
      <p:pic>
        <p:nvPicPr>
          <p:cNvPr id="78" name="Course resources QR code" descr="qr-gohouse-miami-ai-course.png"/>
          <p:cNvPicPr>
            <a:picLocks noChangeAspect="1"/>
          </p:cNvPicPr>
          <p:nvPr/>
        </p:nvPicPr>
        <p:blipFill>
          <a:blip r:embed="rId10"/>
          <a:stretch>
            <a:fillRect/>
          </a:stretch>
        </p:blipFill>
        <p:spPr>
          <a:xfrm>
            <a:off x="5559552" y="5266944"/>
            <a:ext cx="713232" cy="713232"/>
          </a:xfrm>
          <a:prstGeom prst="rect">
            <a:avLst/>
          </a:prstGeom>
        </p:spPr>
      </p:pic>
      <p:sp>
        <p:nvSpPr>
          <p:cNvPr id="79" name="Course resources label"/>
          <p:cNvSpPr txBox="1"/>
          <p:nvPr/>
        </p:nvSpPr>
        <p:spPr>
          <a:xfrm>
            <a:off x="6364224" y="5303520"/>
            <a:ext cx="1536192" cy="182880"/>
          </a:xfrm>
          <a:prstGeom prst="rect">
            <a:avLst/>
          </a:prstGeom>
          <a:noFill/>
        </p:spPr>
        <p:txBody>
          <a:bodyPr wrap="none">
            <a:spAutoFit/>
          </a:bodyPr>
          <a:lstStyle/>
          <a:p>
            <a:pPr algn="l"/>
            <a:r>
              <a:rPr sz="850" b="1">
                <a:solidFill>
                  <a:srgbClr val="0E335F"/>
                </a:solidFill>
                <a:latin typeface="Aptos Display"/>
              </a:rPr>
              <a:t>Scan for class resources</a:t>
            </a:r>
          </a:p>
        </p:txBody>
      </p:sp>
      <p:sp>
        <p:nvSpPr>
          <p:cNvPr id="80" name="Course resources support"/>
          <p:cNvSpPr txBox="1"/>
          <p:nvPr/>
        </p:nvSpPr>
        <p:spPr>
          <a:xfrm>
            <a:off x="6364224" y="5522976"/>
            <a:ext cx="1627632" cy="329184"/>
          </a:xfrm>
          <a:prstGeom prst="rect">
            <a:avLst/>
          </a:prstGeom>
          <a:noFill/>
        </p:spPr>
        <p:txBody>
          <a:bodyPr wrap="square">
            <a:spAutoFit/>
          </a:bodyPr>
          <a:lstStyle/>
          <a:p>
            <a:pPr algn="l"/>
            <a:r>
              <a:rPr sz="650">
                <a:solidFill>
                  <a:srgbClr val="4F5E70"/>
                </a:solidFill>
                <a:latin typeface="Aptos"/>
              </a:rPr>
              <a:t>Prompt library, plan, checklists, and deck PDF.</a:t>
            </a:r>
          </a:p>
        </p:txBody>
      </p:sp>
      <p:sp>
        <p:nvSpPr>
          <p:cNvPr id="81" name="Course resources url"/>
          <p:cNvSpPr txBox="1"/>
          <p:nvPr/>
        </p:nvSpPr>
        <p:spPr>
          <a:xfrm>
            <a:off x="6364224" y="5843016"/>
            <a:ext cx="1554480" cy="146304"/>
          </a:xfrm>
          <a:prstGeom prst="rect">
            <a:avLst/>
          </a:prstGeom>
          <a:noFill/>
        </p:spPr>
        <p:txBody>
          <a:bodyPr wrap="none">
            <a:spAutoFit/>
          </a:bodyPr>
          <a:lstStyle/>
          <a:p>
            <a:pPr algn="l"/>
            <a:r>
              <a:rPr sz="620">
                <a:solidFill>
                  <a:srgbClr val="2D6F83"/>
                </a:solidFill>
                <a:latin typeface="Aptos"/>
              </a:rPr>
              <a:t>gohouse.ai/miami-ai-course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429</TotalTime>
  <Words>4998</Words>
  <Application>Microsoft Office PowerPoint</Application>
  <PresentationFormat>Widescreen</PresentationFormat>
  <Paragraphs>693</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Office</cp:lastModifiedBy>
  <cp:revision>19</cp:revision>
  <dcterms:created xsi:type="dcterms:W3CDTF">2026-06-05T14:56:03Z</dcterms:created>
  <dcterms:modified xsi:type="dcterms:W3CDTF">2026-06-25T18:16:16Z</dcterms:modified>
</cp:coreProperties>
</file>