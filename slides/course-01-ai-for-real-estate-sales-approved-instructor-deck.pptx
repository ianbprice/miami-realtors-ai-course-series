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 and vendor-neutral.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instructor context brief. Mention GoHouse.ai only as professional background, not as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Ian Burton Price is a REALTOR with Dalton Wade Real Estate Group and serves as V.P. of Growth and Partnerships at GoHouse.ai. His work focuses on practical AI adoption, buyer-intent intelligence, lead follow-up, agent productivity, and business development within the real estate industry.
Ian brings experience across real estate sales, online lead generation, call systems, CRM-adjacent workflows, automation, and client communication systems. His teaching approach is practical and workflow-driven, helping agents understand how AI can support everyday tasks such as follow-up, listing preparation, client updates, appointment preparation, and business operations.
Rather than treating AI as a replacement for professional judgment, Ian emphasizes responsible use, human review, privacy awareness, Fair Housing sensitivity, and brokerage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approved learning objectives, rewritten for a live workshop slide. The full formal objectives remain preserved in the approved syllabus and can be referenced verbally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timing as the approved two-hour path. The segments total 120 minutes. Exercises may expand or compress slightly, but keep the overall class within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formula becomes a usable prompt. Keep the prompt readable and emphasize role, task, context, tone, constraints, and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 referral, social media lead, and sign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 Different lead sources need different first responses because the relationship context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 This is a sample lead created for classroom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 Add appointments per 100 leads as an optional metric for teams or brokers.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 MLS information still requires human review because MLS data is entered by people and can contain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language, exaggerated claims, or unsupported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agents to preserve a clean source facts block manually in the same chat or notes. Do not claim AI memory is reliable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that this is an objection-practice example, not a rate prediction slide. 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 Encourage attendees to customize the bracketed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AI output repeatable, save the prompt, the verified fact block, the tone instruction, the final reviewed version, and the reason it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Shape 4"/>
          <p:cNvSpPr/>
          <p:nvPr/>
        </p:nvSpPr>
        <p:spPr>
          <a:xfrm>
            <a:off x="7178040" y="2148840"/>
            <a:ext cx="2880360" cy="1874520"/>
          </a:xfrm>
          <a:prstGeom prst="roundRect">
            <a:avLst>
              <a:gd name="adj" fmla="val 2927"/>
            </a:avLst>
          </a:prstGeom>
          <a:solidFill>
            <a:srgbClr val="1E4768">
              <a:alpha val="82000"/>
            </a:srgbClr>
          </a:solidFill>
          <a:ln w="12700">
            <a:solidFill>
              <a:srgbClr val="5FBDBD">
                <a:alpha val="55000"/>
              </a:srgbClr>
            </a:solidFill>
            <a:prstDash val="solid"/>
          </a:ln>
        </p:spPr>
      </p:sp>
      <p:sp>
        <p:nvSpPr>
          <p:cNvPr id="7" name="Text 5"/>
          <p:cNvSpPr/>
          <p:nvPr/>
        </p:nvSpPr>
        <p:spPr>
          <a:xfrm>
            <a:off x="7479792" y="2487168"/>
            <a:ext cx="2286000" cy="182880"/>
          </a:xfrm>
          <a:prstGeom prst="rect">
            <a:avLst/>
          </a:prstGeom>
          <a:noFill/>
          <a:ln/>
        </p:spPr>
        <p:txBody>
          <a:bodyPr wrap="square" lIns="0" tIns="0" rIns="0" bIns="0" rtlCol="0" anchor="ctr"/>
          <a:lstStyle/>
          <a:p>
            <a:pPr indent="0" marL="0">
              <a:buNone/>
            </a:pPr>
            <a:r>
              <a:rPr lang="en-US" sz="1050" b="1" dirty="0">
                <a:solidFill>
                  <a:srgbClr val="F2B84B"/>
                </a:solidFill>
              </a:rPr>
              <a:t>Practical workshop focus</a:t>
            </a:r>
            <a:endParaRPr lang="en-US" sz="1050" dirty="0"/>
          </a:p>
        </p:txBody>
      </p:sp>
      <p:sp>
        <p:nvSpPr>
          <p:cNvPr id="8" name="Text 6"/>
          <p:cNvSpPr/>
          <p:nvPr/>
        </p:nvSpPr>
        <p:spPr>
          <a:xfrm>
            <a:off x="7479792" y="2788920"/>
            <a:ext cx="2240280" cy="713232"/>
          </a:xfrm>
          <a:prstGeom prst="rect">
            <a:avLst/>
          </a:prstGeom>
          <a:noFill/>
          <a:ln/>
        </p:spPr>
        <p:txBody>
          <a:bodyPr wrap="square" lIns="254" tIns="254" rIns="254" bIns="254" rtlCol="0" anchor="ctr">
            <a:normAutofit/>
          </a:bodyPr>
          <a:lstStyle/>
          <a:p>
            <a:pPr indent="0" marL="0">
              <a:buNone/>
            </a:pPr>
            <a:r>
              <a:rPr lang="en-US" sz="1220" dirty="0">
                <a:solidFill>
                  <a:srgbClr val="D7EDEE"/>
                </a:solidFill>
              </a:rPr>
              <a:t>Client messages</a:t>
            </a:r>
            <a:endParaRPr lang="en-US" sz="1220" dirty="0"/>
          </a:p>
          <a:p>
            <a:pPr indent="0" marL="0">
              <a:buNone/>
            </a:pPr>
            <a:r>
              <a:rPr lang="en-US" sz="1220" dirty="0">
                <a:solidFill>
                  <a:srgbClr val="D7EDEE"/>
                </a:solidFill>
              </a:rPr>
              <a:t>Lead follow-up</a:t>
            </a:r>
            <a:endParaRPr lang="en-US" sz="1220" dirty="0"/>
          </a:p>
          <a:p>
            <a:pPr indent="0" marL="0">
              <a:buNone/>
            </a:pPr>
            <a:r>
              <a:rPr lang="en-US" sz="1220" dirty="0">
                <a:solidFill>
                  <a:srgbClr val="D7EDEE"/>
                </a:solidFill>
              </a:rPr>
              <a:t>Listing prep</a:t>
            </a:r>
            <a:endParaRPr lang="en-US" sz="1220" dirty="0"/>
          </a:p>
          <a:p>
            <a:pPr indent="0" marL="0">
              <a:buNone/>
            </a:pPr>
            <a:r>
              <a:rPr lang="en-US" sz="1220" dirty="0">
                <a:solidFill>
                  <a:srgbClr val="D7EDEE"/>
                </a:solidFill>
              </a:rPr>
              <a:t>Appointment prep</a:t>
            </a:r>
            <a:endParaRPr lang="en-US" sz="1220" dirty="0"/>
          </a:p>
        </p:txBody>
      </p:sp>
      <p:sp>
        <p:nvSpPr>
          <p:cNvPr id="9" name="Text 7"/>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10" name="Text 8"/>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11" name="Text 9"/>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2" name="Shape 10"/>
          <p:cNvSpPr/>
          <p:nvPr/>
        </p:nvSpPr>
        <p:spPr>
          <a:xfrm>
            <a:off x="749808" y="3054096"/>
            <a:ext cx="2011680" cy="0"/>
          </a:xfrm>
          <a:prstGeom prst="line">
            <a:avLst/>
          </a:prstGeom>
          <a:noFill/>
          <a:ln w="50800">
            <a:solidFill>
              <a:srgbClr val="F45B69"/>
            </a:solidFill>
            <a:prstDash val="solid"/>
          </a:ln>
        </p:spPr>
      </p:sp>
      <p:sp>
        <p:nvSpPr>
          <p:cNvPr id="13" name="Shape 11"/>
          <p:cNvSpPr/>
          <p:nvPr/>
        </p:nvSpPr>
        <p:spPr>
          <a:xfrm>
            <a:off x="749808" y="3346704"/>
            <a:ext cx="1572768" cy="310896"/>
          </a:xfrm>
          <a:prstGeom prst="roundRect">
            <a:avLst>
              <a:gd name="adj" fmla="val 11765"/>
            </a:avLst>
          </a:prstGeom>
          <a:solidFill>
            <a:srgbClr val="008F8F"/>
          </a:solidFill>
          <a:ln w="12700">
            <a:solidFill>
              <a:srgbClr val="008F8F"/>
            </a:solidFill>
            <a:prstDash val="solid"/>
          </a:ln>
        </p:spPr>
      </p:sp>
      <p:sp>
        <p:nvSpPr>
          <p:cNvPr id="14" name="Text 12"/>
          <p:cNvSpPr/>
          <p:nvPr/>
        </p:nvSpPr>
        <p:spPr>
          <a:xfrm>
            <a:off x="877824" y="34335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5" name="Text 13"/>
          <p:cNvSpPr/>
          <p:nvPr/>
        </p:nvSpPr>
        <p:spPr>
          <a:xfrm>
            <a:off x="2487168" y="3401568"/>
            <a:ext cx="2423160" cy="146304"/>
          </a:xfrm>
          <a:prstGeom prst="rect">
            <a:avLst/>
          </a:prstGeom>
          <a:noFill/>
          <a:ln/>
        </p:spPr>
        <p:txBody>
          <a:bodyPr wrap="square" lIns="0" tIns="0" rIns="0" bIns="0" rtlCol="0" anchor="ctr"/>
          <a:lstStyle/>
          <a:p>
            <a:pPr indent="0" marL="0">
              <a:buNone/>
            </a:pPr>
            <a:r>
              <a:rPr lang="en-US" sz="1030" b="1" dirty="0">
                <a:solidFill>
                  <a:srgbClr val="D7EDEE"/>
                </a:solidFill>
              </a:rPr>
              <a:t>Presented by Ian Burton Price</a:t>
            </a:r>
            <a:endParaRPr lang="en-US" sz="1030" dirty="0"/>
          </a:p>
        </p:txBody>
      </p:sp>
      <p:pic>
        <p:nvPicPr>
          <p:cNvPr id="16" name="Image 0" descr="C:\Users\TR4_1950X\Documents\New project\assets\brand\gohouse-logo-w-text-large-transparent.png">    </p:cNvPr>
          <p:cNvPicPr>
            <a:picLocks noChangeAspect="1"/>
          </p:cNvPicPr>
          <p:nvPr/>
        </p:nvPicPr>
        <p:blipFill>
          <a:blip r:embed="rId1"/>
          <a:stretch>
            <a:fillRect/>
          </a:stretch>
        </p:blipFill>
        <p:spPr>
          <a:xfrm>
            <a:off x="4736592" y="3264408"/>
            <a:ext cx="960120" cy="192024"/>
          </a:xfrm>
          <a:prstGeom prst="rect">
            <a:avLst/>
          </a:prstGeom>
        </p:spPr>
      </p:pic>
      <p:sp>
        <p:nvSpPr>
          <p:cNvPr id="17" name="Shape 14"/>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8" name="Image 1" descr="C:\Users\TR4_1950X\Documents\New project\assets\brand\miami-realtors-rworld-combined-logo.png">    </p:cNvPr>
          <p:cNvPicPr>
            <a:picLocks noChangeAspect="1"/>
          </p:cNvPicPr>
          <p:nvPr/>
        </p:nvPicPr>
        <p:blipFill>
          <a:blip r:embed="rId2"/>
          <a:stretch>
            <a:fillRect/>
          </a:stretch>
        </p:blipFill>
        <p:spPr>
          <a:xfrm>
            <a:off x="749808" y="4315968"/>
            <a:ext cx="3988979" cy="599846"/>
          </a:xfrm>
          <a:prstGeom prst="rect">
            <a:avLst/>
          </a:prstGeom>
        </p:spPr>
      </p:pic>
      <p:sp>
        <p:nvSpPr>
          <p:cNvPr id="19" name="Text 15"/>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20" name="Text 16"/>
          <p:cNvSpPr/>
          <p:nvPr/>
        </p:nvSpPr>
        <p:spPr>
          <a:xfrm>
            <a:off x="749808" y="5760720"/>
            <a:ext cx="4937760" cy="201168"/>
          </a:xfrm>
          <a:prstGeom prst="rect">
            <a:avLst/>
          </a:prstGeom>
          <a:noFill/>
          <a:ln/>
        </p:spPr>
        <p:txBody>
          <a:bodyPr wrap="square" lIns="0" tIns="0" rIns="0" bIns="0" rtlCol="0" anchor="ctr"/>
          <a:lstStyle/>
          <a:p>
            <a:pPr indent="0" marL="0">
              <a:buNone/>
            </a:pPr>
            <a:r>
              <a:rPr lang="en-US" sz="950" dirty="0">
                <a:solidFill>
                  <a:srgbClr val="AFC8CF"/>
                </a:solidFill>
              </a:rPr>
              <a:t>Practical AI Training for Real Estate Professionals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sz="166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Workshop point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Connect the idea to a real client, lead, listing, or daily workflow.</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2/46</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ABOUT THE 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About the Instructor</a:t>
            </a:r>
            <a:endParaRPr lang="en-US" sz="3000" dirty="0"/>
          </a:p>
        </p:txBody>
      </p:sp>
      <p:sp>
        <p:nvSpPr>
          <p:cNvPr id="11" name="Shape 9"/>
          <p:cNvSpPr/>
          <p:nvPr/>
        </p:nvSpPr>
        <p:spPr>
          <a:xfrm>
            <a:off x="868680" y="1828800"/>
            <a:ext cx="4800600" cy="3520440"/>
          </a:xfrm>
          <a:prstGeom prst="roundRect">
            <a:avLst>
              <a:gd name="adj" fmla="val 1558"/>
            </a:avLst>
          </a:prstGeom>
          <a:solidFill>
            <a:srgbClr val="FFFFFF"/>
          </a:solidFill>
          <a:ln w="10160">
            <a:solidFill>
              <a:srgbClr val="D8E6E8"/>
            </a:solidFill>
            <a:prstDash val="solid"/>
          </a:ln>
        </p:spPr>
      </p:sp>
      <p:sp>
        <p:nvSpPr>
          <p:cNvPr id="12" name="Text 10"/>
          <p:cNvSpPr/>
          <p:nvPr/>
        </p:nvSpPr>
        <p:spPr>
          <a:xfrm>
            <a:off x="1170432" y="2084832"/>
            <a:ext cx="1280160" cy="164592"/>
          </a:xfrm>
          <a:prstGeom prst="rect">
            <a:avLst/>
          </a:prstGeom>
          <a:noFill/>
          <a:ln/>
        </p:spPr>
        <p:txBody>
          <a:bodyPr wrap="square" lIns="0" tIns="0" rIns="0" bIns="0" rtlCol="0" anchor="ctr"/>
          <a:lstStyle/>
          <a:p>
            <a:pPr indent="0" marL="0">
              <a:buNone/>
            </a:pPr>
            <a:r>
              <a:rPr lang="en-US" sz="950" b="1" dirty="0">
                <a:solidFill>
                  <a:srgbClr val="008F8F"/>
                </a:solidFill>
              </a:rPr>
              <a:t>Instructor</a:t>
            </a:r>
            <a:endParaRPr lang="en-US" sz="950" dirty="0"/>
          </a:p>
        </p:txBody>
      </p:sp>
      <p:sp>
        <p:nvSpPr>
          <p:cNvPr id="13" name="Text 11"/>
          <p:cNvSpPr/>
          <p:nvPr/>
        </p:nvSpPr>
        <p:spPr>
          <a:xfrm>
            <a:off x="1170432" y="2395728"/>
            <a:ext cx="4160520" cy="347472"/>
          </a:xfrm>
          <a:prstGeom prst="rect">
            <a:avLst/>
          </a:prstGeom>
          <a:noFill/>
          <a:ln/>
        </p:spPr>
        <p:txBody>
          <a:bodyPr wrap="square" lIns="0" tIns="0" rIns="0" bIns="0" rtlCol="0" anchor="ctr">
            <a:normAutofit/>
          </a:bodyPr>
          <a:lstStyle/>
          <a:p>
            <a:pPr indent="0" marL="0">
              <a:buNone/>
            </a:pPr>
            <a:r>
              <a:rPr lang="en-US" sz="2200" b="1" dirty="0">
                <a:solidFill>
                  <a:srgbClr val="16324F"/>
                </a:solidFill>
              </a:rPr>
              <a:t>Ian Burton Price</a:t>
            </a:r>
            <a:endParaRPr lang="en-US" sz="2200" dirty="0"/>
          </a:p>
        </p:txBody>
      </p:sp>
      <p:sp>
        <p:nvSpPr>
          <p:cNvPr id="14" name="Text 12"/>
          <p:cNvSpPr/>
          <p:nvPr/>
        </p:nvSpPr>
        <p:spPr>
          <a:xfrm>
            <a:off x="1170432" y="2816352"/>
            <a:ext cx="4160520" cy="274320"/>
          </a:xfrm>
          <a:prstGeom prst="rect">
            <a:avLst/>
          </a:prstGeom>
          <a:noFill/>
          <a:ln/>
        </p:spPr>
        <p:txBody>
          <a:bodyPr wrap="square" lIns="0" tIns="0" rIns="0" bIns="0" rtlCol="0" anchor="ctr">
            <a:normAutofit/>
          </a:bodyPr>
          <a:lstStyle/>
          <a:p>
            <a:pPr indent="0" marL="0">
              <a:buNone/>
            </a:pPr>
            <a:r>
              <a:rPr lang="en-US" sz="1280" dirty="0">
                <a:solidFill>
                  <a:srgbClr val="52606D"/>
                </a:solidFill>
              </a:rPr>
              <a:t>REALTOR® | Dalton Wade Real Estate Group</a:t>
            </a:r>
            <a:endParaRPr lang="en-US" sz="1280" dirty="0"/>
          </a:p>
          <a:p>
            <a:pPr indent="0" marL="0">
              <a:buNone/>
            </a:pPr>
            <a:r>
              <a:rPr lang="en-US" sz="1280" dirty="0">
                <a:solidFill>
                  <a:srgbClr val="52606D"/>
                </a:solidFill>
              </a:rPr>
              <a:t>V.P. of Growth and Partnerships | GoHouse.ai</a:t>
            </a:r>
            <a:endParaRPr lang="en-US" sz="1280" dirty="0"/>
          </a:p>
        </p:txBody>
      </p:sp>
      <p:pic>
        <p:nvPicPr>
          <p:cNvPr id="15" name="Image 0" descr="C:\Users\TR4_1950X\Documents\New project\assets\brand\gohouse-logo-w-text-large-transparent.png">    </p:cNvPr>
          <p:cNvPicPr>
            <a:picLocks noChangeAspect="1"/>
          </p:cNvPicPr>
          <p:nvPr/>
        </p:nvPicPr>
        <p:blipFill>
          <a:blip r:embed="rId1"/>
          <a:stretch>
            <a:fillRect/>
          </a:stretch>
        </p:blipFill>
        <p:spPr>
          <a:xfrm>
            <a:off x="3794760" y="3127248"/>
            <a:ext cx="1078992" cy="215798"/>
          </a:xfrm>
          <a:prstGeom prst="rect">
            <a:avLst/>
          </a:prstGeom>
        </p:spPr>
      </p:pic>
      <p:sp>
        <p:nvSpPr>
          <p:cNvPr id="16" name="Shape 13"/>
          <p:cNvSpPr/>
          <p:nvPr/>
        </p:nvSpPr>
        <p:spPr>
          <a:xfrm>
            <a:off x="1170432" y="3291840"/>
            <a:ext cx="1234440" cy="0"/>
          </a:xfrm>
          <a:prstGeom prst="line">
            <a:avLst/>
          </a:prstGeom>
          <a:noFill/>
          <a:ln w="38100">
            <a:solidFill>
              <a:srgbClr val="F45B69"/>
            </a:solidFill>
            <a:prstDash val="solid"/>
          </a:ln>
        </p:spPr>
      </p:sp>
      <p:sp>
        <p:nvSpPr>
          <p:cNvPr id="17" name="Text 14"/>
          <p:cNvSpPr/>
          <p:nvPr/>
        </p:nvSpPr>
        <p:spPr>
          <a:xfrm>
            <a:off x="1170432" y="3566160"/>
            <a:ext cx="4069080" cy="1170432"/>
          </a:xfrm>
          <a:prstGeom prst="rect">
            <a:avLst/>
          </a:prstGeom>
          <a:noFill/>
          <a:ln/>
        </p:spPr>
        <p:txBody>
          <a:bodyPr wrap="square" lIns="254" tIns="254" rIns="254" bIns="254" rtlCol="0" anchor="ctr">
            <a:normAutofit/>
          </a:bodyPr>
          <a:lstStyle/>
          <a:p>
            <a:pPr indent="0" marL="0">
              <a:buNone/>
            </a:pPr>
            <a:r>
              <a:rPr lang="en-US" sz="117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170" dirty="0"/>
          </a:p>
        </p:txBody>
      </p:sp>
      <p:sp>
        <p:nvSpPr>
          <p:cNvPr id="18" name="Shape 15"/>
          <p:cNvSpPr/>
          <p:nvPr/>
        </p:nvSpPr>
        <p:spPr>
          <a:xfrm>
            <a:off x="6172200" y="1737360"/>
            <a:ext cx="128016" cy="3657600"/>
          </a:xfrm>
          <a:prstGeom prst="rect">
            <a:avLst/>
          </a:prstGeom>
          <a:solidFill>
            <a:srgbClr val="008F8F"/>
          </a:solidFill>
          <a:ln w="12700">
            <a:solidFill>
              <a:srgbClr val="008F8F"/>
            </a:solidFill>
            <a:prstDash val="solid"/>
          </a:ln>
        </p:spPr>
      </p:sp>
      <p:sp>
        <p:nvSpPr>
          <p:cNvPr id="19" name="Shape 16"/>
          <p:cNvSpPr/>
          <p:nvPr/>
        </p:nvSpPr>
        <p:spPr>
          <a:xfrm>
            <a:off x="6309360" y="1828800"/>
            <a:ext cx="4434840" cy="3520440"/>
          </a:xfrm>
          <a:prstGeom prst="roundRect">
            <a:avLst>
              <a:gd name="adj" fmla="val 1558"/>
            </a:avLst>
          </a:prstGeom>
          <a:solidFill>
            <a:srgbClr val="EAF7F7"/>
          </a:solidFill>
          <a:ln w="10160">
            <a:solidFill>
              <a:srgbClr val="BFDADC"/>
            </a:solidFill>
            <a:prstDash val="solid"/>
          </a:ln>
        </p:spPr>
      </p:sp>
      <p:sp>
        <p:nvSpPr>
          <p:cNvPr id="20" name="Text 17"/>
          <p:cNvSpPr/>
          <p:nvPr/>
        </p:nvSpPr>
        <p:spPr>
          <a:xfrm>
            <a:off x="6629400" y="2130552"/>
            <a:ext cx="3017520" cy="347472"/>
          </a:xfrm>
          <a:prstGeom prst="rect">
            <a:avLst/>
          </a:prstGeom>
          <a:noFill/>
          <a:ln/>
        </p:spPr>
        <p:txBody>
          <a:bodyPr wrap="square" lIns="0" tIns="0" rIns="0" bIns="0" rtlCol="0" anchor="ctr"/>
          <a:lstStyle/>
          <a:p>
            <a:pPr indent="0" marL="0">
              <a:buNone/>
            </a:pPr>
            <a:r>
              <a:rPr lang="en-US" sz="2200" b="1" dirty="0">
                <a:solidFill>
                  <a:srgbClr val="16324F"/>
                </a:solidFill>
              </a:rPr>
              <a:t>Teaching Focus:</a:t>
            </a:r>
            <a:endParaRPr lang="en-US" sz="2200" dirty="0"/>
          </a:p>
        </p:txBody>
      </p:sp>
      <p:sp>
        <p:nvSpPr>
          <p:cNvPr id="21" name="Text 18"/>
          <p:cNvSpPr/>
          <p:nvPr/>
        </p:nvSpPr>
        <p:spPr>
          <a:xfrm>
            <a:off x="6629400" y="2788920"/>
            <a:ext cx="3520440" cy="749808"/>
          </a:xfrm>
          <a:prstGeom prst="rect">
            <a:avLst/>
          </a:prstGeom>
          <a:noFill/>
          <a:ln/>
        </p:spPr>
        <p:txBody>
          <a:bodyPr wrap="square" lIns="254" tIns="254" rIns="254" bIns="254" rtlCol="0" anchor="ctr">
            <a:normAutofit/>
          </a:bodyPr>
          <a:lstStyle/>
          <a:p>
            <a:pPr indent="0" marL="0">
              <a:buNone/>
            </a:pPr>
            <a:r>
              <a:rPr lang="en-US" sz="1300" dirty="0">
                <a:solidFill>
                  <a:srgbClr val="102033"/>
                </a:solidFill>
              </a:rPr>
              <a:t>Practical, vendor-neutral AI workflows agents can understand, review, and apply without replacing their professional judgment.</a:t>
            </a:r>
            <a:endParaRPr lang="en-US" sz="1300" dirty="0"/>
          </a:p>
        </p:txBody>
      </p:sp>
      <p:sp>
        <p:nvSpPr>
          <p:cNvPr id="22" name="Shape 19"/>
          <p:cNvSpPr/>
          <p:nvPr/>
        </p:nvSpPr>
        <p:spPr>
          <a:xfrm>
            <a:off x="6629400" y="3986784"/>
            <a:ext cx="1097280" cy="0"/>
          </a:xfrm>
          <a:prstGeom prst="line">
            <a:avLst/>
          </a:prstGeom>
          <a:noFill/>
          <a:ln w="38100">
            <a:solidFill>
              <a:srgbClr val="008F8F"/>
            </a:solidFill>
            <a:prstDash val="solid"/>
          </a:ln>
        </p:spPr>
      </p:sp>
      <p:sp>
        <p:nvSpPr>
          <p:cNvPr id="23" name="Text 20"/>
          <p:cNvSpPr/>
          <p:nvPr/>
        </p:nvSpPr>
        <p:spPr>
          <a:xfrm>
            <a:off x="6629400" y="4315968"/>
            <a:ext cx="3520440" cy="502920"/>
          </a:xfrm>
          <a:prstGeom prst="rect">
            <a:avLst/>
          </a:prstGeom>
          <a:noFill/>
          <a:ln/>
        </p:spPr>
        <p:txBody>
          <a:bodyPr wrap="square" lIns="254" tIns="254" rIns="254" bIns="254" rtlCol="0" anchor="ctr">
            <a:normAutofit/>
          </a:bodyPr>
          <a:lstStyle/>
          <a:p>
            <a:pPr indent="0" marL="0">
              <a:buNone/>
            </a:pPr>
            <a:r>
              <a:rPr lang="en-US" sz="1050" b="1" dirty="0">
                <a:solidFill>
                  <a:srgbClr val="2E7D5B"/>
                </a:solidFill>
              </a:rPr>
              <a:t>GoHouse.ai is part of Ian's professional background. No GoHouse.ai product is required for this course.</a:t>
            </a:r>
            <a:endParaRPr lang="en-US" sz="1050" dirty="0"/>
          </a:p>
        </p:txBody>
      </p:sp>
      <p:sp>
        <p:nvSpPr>
          <p:cNvPr id="24" name="Shape 21"/>
          <p:cNvSpPr/>
          <p:nvPr/>
        </p:nvSpPr>
        <p:spPr>
          <a:xfrm>
            <a:off x="502920" y="6473952"/>
            <a:ext cx="11201400" cy="0"/>
          </a:xfrm>
          <a:prstGeom prst="line">
            <a:avLst/>
          </a:prstGeom>
          <a:noFill/>
          <a:ln w="9525">
            <a:solidFill>
              <a:srgbClr val="D8E6E8"/>
            </a:solidFill>
            <a:prstDash val="solid"/>
          </a:ln>
        </p:spPr>
      </p:sp>
      <p:sp>
        <p:nvSpPr>
          <p:cNvPr id="25"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3/46</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520" dirty="0">
                <a:solidFill>
                  <a:srgbClr val="102033"/>
                </a:solidFill>
                <a:latin typeface="Aptos" pitchFamily="34" charset="0"/>
                <a:ea typeface="Aptos" pitchFamily="34" charset="-122"/>
                <a:cs typeface="Aptos" pitchFamily="34" charset="-120"/>
              </a:rPr>
              <a:t>Draft clearer emails, texts, listing copy, and client updates.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Personalize buyer and seller communication using better context.</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Prepare for appointments, objections, and follow-up conversations.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sz="152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4/46</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444752"/>
            <a:ext cx="5303520" cy="201168"/>
          </a:xfrm>
          <a:prstGeom prst="rect">
            <a:avLst/>
          </a:prstGeom>
          <a:noFill/>
          <a:ln/>
        </p:spPr>
        <p:txBody>
          <a:bodyPr wrap="square" lIns="0" tIns="0" rIns="0" bIns="0" rtlCol="0" anchor="ctr"/>
          <a:lstStyle/>
          <a:p>
            <a:pPr indent="0" marL="0">
              <a:buNone/>
            </a:pPr>
            <a:r>
              <a:rPr lang="en-US" sz="1050" b="1" dirty="0">
                <a:solidFill>
                  <a:srgbClr val="52606D"/>
                </a:solidFill>
              </a:rPr>
              <a:t>120 minutes: 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22m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13m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 / wrap-up</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5/46</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useful when it supports work agents already do.</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Consumers expect quick, clear responses across text, email, phone, and web inquiries.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Most agents have more follow-up tasks than hours in the day.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AI reduces blank-page time for common communication and prep tasks.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sz="166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7/46</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8/46</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9/46</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10/46</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TOOL CHECK</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Check brokerage policy before using client or transaction information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Avoid pasting private client details into public AI tools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 verified property, MLS, and market data</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Review every message before sending</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Keep AI as a drafting assistant, not the final authority</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Private, verified, compliant, reviewed</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Treat public AI tools carefully and review every output before use.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11/46</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12/46</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PRACTICE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13/46</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prompts reduce risk by giving AI facts, tone, boundaries, and review rules.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listing description for a nice house in Coral Gables.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14/46</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841248" y="1755648"/>
            <a:ext cx="4526280" cy="841248"/>
          </a:xfrm>
          <a:prstGeom prst="roundRect">
            <a:avLst>
              <a:gd name="adj" fmla="val 6522"/>
            </a:avLst>
          </a:prstGeom>
          <a:solidFill>
            <a:srgbClr val="FFFFFF"/>
          </a:solidFill>
          <a:ln w="10160">
            <a:solidFill>
              <a:srgbClr val="D8E6E8"/>
            </a:solidFill>
            <a:prstDash val="solid"/>
          </a:ln>
        </p:spPr>
      </p:sp>
      <p:sp>
        <p:nvSpPr>
          <p:cNvPr id="12" name="Text 10"/>
          <p:cNvSpPr/>
          <p:nvPr/>
        </p:nvSpPr>
        <p:spPr>
          <a:xfrm>
            <a:off x="1078992" y="1892808"/>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Role</a:t>
            </a:r>
            <a:endParaRPr lang="en-US" sz="1080" dirty="0"/>
          </a:p>
        </p:txBody>
      </p:sp>
      <p:sp>
        <p:nvSpPr>
          <p:cNvPr id="13" name="Text 11"/>
          <p:cNvSpPr/>
          <p:nvPr/>
        </p:nvSpPr>
        <p:spPr>
          <a:xfrm>
            <a:off x="1078992" y="2157984"/>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You are helping me as a real estate professional</a:t>
            </a:r>
            <a:endParaRPr lang="en-US" sz="1300" dirty="0"/>
          </a:p>
        </p:txBody>
      </p:sp>
      <p:sp>
        <p:nvSpPr>
          <p:cNvPr id="14" name="Shape 12"/>
          <p:cNvSpPr/>
          <p:nvPr/>
        </p:nvSpPr>
        <p:spPr>
          <a:xfrm>
            <a:off x="6007608" y="1755648"/>
            <a:ext cx="4526280" cy="841248"/>
          </a:xfrm>
          <a:prstGeom prst="roundRect">
            <a:avLst>
              <a:gd name="adj" fmla="val 6522"/>
            </a:avLst>
          </a:prstGeom>
          <a:solidFill>
            <a:srgbClr val="FFFFFF"/>
          </a:solidFill>
          <a:ln w="10160">
            <a:solidFill>
              <a:srgbClr val="D8E6E8"/>
            </a:solidFill>
            <a:prstDash val="solid"/>
          </a:ln>
        </p:spPr>
      </p:sp>
      <p:sp>
        <p:nvSpPr>
          <p:cNvPr id="15" name="Text 13"/>
          <p:cNvSpPr/>
          <p:nvPr/>
        </p:nvSpPr>
        <p:spPr>
          <a:xfrm>
            <a:off x="6245352" y="1892808"/>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Task</a:t>
            </a:r>
            <a:endParaRPr lang="en-US" sz="1080" dirty="0"/>
          </a:p>
        </p:txBody>
      </p:sp>
      <p:sp>
        <p:nvSpPr>
          <p:cNvPr id="16" name="Text 14"/>
          <p:cNvSpPr/>
          <p:nvPr/>
        </p:nvSpPr>
        <p:spPr>
          <a:xfrm>
            <a:off x="6245352" y="2157984"/>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Draft a text / email / script / checklist</a:t>
            </a:r>
            <a:endParaRPr lang="en-US" sz="1300" dirty="0"/>
          </a:p>
        </p:txBody>
      </p:sp>
      <p:sp>
        <p:nvSpPr>
          <p:cNvPr id="17" name="Shape 15"/>
          <p:cNvSpPr/>
          <p:nvPr/>
        </p:nvSpPr>
        <p:spPr>
          <a:xfrm>
            <a:off x="841248" y="2926080"/>
            <a:ext cx="4526280" cy="841248"/>
          </a:xfrm>
          <a:prstGeom prst="roundRect">
            <a:avLst>
              <a:gd name="adj" fmla="val 6522"/>
            </a:avLst>
          </a:prstGeom>
          <a:solidFill>
            <a:srgbClr val="FFFFFF"/>
          </a:solidFill>
          <a:ln w="10160">
            <a:solidFill>
              <a:srgbClr val="D8E6E8"/>
            </a:solidFill>
            <a:prstDash val="solid"/>
          </a:ln>
        </p:spPr>
      </p:sp>
      <p:sp>
        <p:nvSpPr>
          <p:cNvPr id="18" name="Text 16"/>
          <p:cNvSpPr/>
          <p:nvPr/>
        </p:nvSpPr>
        <p:spPr>
          <a:xfrm>
            <a:off x="1078992" y="3063240"/>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Context</a:t>
            </a:r>
            <a:endParaRPr lang="en-US" sz="1080" dirty="0"/>
          </a:p>
        </p:txBody>
      </p:sp>
      <p:sp>
        <p:nvSpPr>
          <p:cNvPr id="19" name="Text 17"/>
          <p:cNvSpPr/>
          <p:nvPr/>
        </p:nvSpPr>
        <p:spPr>
          <a:xfrm>
            <a:off x="1078992" y="3328416"/>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Client situation, property, timeline, concern</a:t>
            </a:r>
            <a:endParaRPr lang="en-US" sz="1300" dirty="0"/>
          </a:p>
        </p:txBody>
      </p:sp>
      <p:sp>
        <p:nvSpPr>
          <p:cNvPr id="20" name="Shape 18"/>
          <p:cNvSpPr/>
          <p:nvPr/>
        </p:nvSpPr>
        <p:spPr>
          <a:xfrm>
            <a:off x="6007608" y="2926080"/>
            <a:ext cx="4526280" cy="841248"/>
          </a:xfrm>
          <a:prstGeom prst="roundRect">
            <a:avLst>
              <a:gd name="adj" fmla="val 6522"/>
            </a:avLst>
          </a:prstGeom>
          <a:solidFill>
            <a:srgbClr val="FFFFFF"/>
          </a:solidFill>
          <a:ln w="10160">
            <a:solidFill>
              <a:srgbClr val="D8E6E8"/>
            </a:solidFill>
            <a:prstDash val="solid"/>
          </a:ln>
        </p:spPr>
      </p:sp>
      <p:sp>
        <p:nvSpPr>
          <p:cNvPr id="21" name="Text 19"/>
          <p:cNvSpPr/>
          <p:nvPr/>
        </p:nvSpPr>
        <p:spPr>
          <a:xfrm>
            <a:off x="6245352" y="3063240"/>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Tone</a:t>
            </a:r>
            <a:endParaRPr lang="en-US" sz="1080" dirty="0"/>
          </a:p>
        </p:txBody>
      </p:sp>
      <p:sp>
        <p:nvSpPr>
          <p:cNvPr id="22" name="Text 20"/>
          <p:cNvSpPr/>
          <p:nvPr/>
        </p:nvSpPr>
        <p:spPr>
          <a:xfrm>
            <a:off x="6245352" y="3328416"/>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Warm, concise, direct, educational</a:t>
            </a:r>
            <a:endParaRPr lang="en-US" sz="1300" dirty="0"/>
          </a:p>
        </p:txBody>
      </p:sp>
      <p:sp>
        <p:nvSpPr>
          <p:cNvPr id="23" name="Shape 21"/>
          <p:cNvSpPr/>
          <p:nvPr/>
        </p:nvSpPr>
        <p:spPr>
          <a:xfrm>
            <a:off x="841248" y="4096512"/>
            <a:ext cx="4526280" cy="841248"/>
          </a:xfrm>
          <a:prstGeom prst="roundRect">
            <a:avLst>
              <a:gd name="adj" fmla="val 6522"/>
            </a:avLst>
          </a:prstGeom>
          <a:solidFill>
            <a:srgbClr val="FFFFFF"/>
          </a:solidFill>
          <a:ln w="10160">
            <a:solidFill>
              <a:srgbClr val="D8E6E8"/>
            </a:solidFill>
            <a:prstDash val="solid"/>
          </a:ln>
        </p:spPr>
      </p:sp>
      <p:sp>
        <p:nvSpPr>
          <p:cNvPr id="24" name="Text 22"/>
          <p:cNvSpPr/>
          <p:nvPr/>
        </p:nvSpPr>
        <p:spPr>
          <a:xfrm>
            <a:off x="1078992" y="4233672"/>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Constraints</a:t>
            </a:r>
            <a:endParaRPr lang="en-US" sz="1080" dirty="0"/>
          </a:p>
        </p:txBody>
      </p:sp>
      <p:sp>
        <p:nvSpPr>
          <p:cNvPr id="25" name="Text 23"/>
          <p:cNvSpPr/>
          <p:nvPr/>
        </p:nvSpPr>
        <p:spPr>
          <a:xfrm>
            <a:off x="1078992" y="4498848"/>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Avoid claims, private data, Fair Housing risk</a:t>
            </a:r>
            <a:endParaRPr lang="en-US" sz="1300" dirty="0"/>
          </a:p>
        </p:txBody>
      </p:sp>
      <p:sp>
        <p:nvSpPr>
          <p:cNvPr id="26" name="Shape 24"/>
          <p:cNvSpPr/>
          <p:nvPr/>
        </p:nvSpPr>
        <p:spPr>
          <a:xfrm>
            <a:off x="6007608" y="4096512"/>
            <a:ext cx="4526280" cy="841248"/>
          </a:xfrm>
          <a:prstGeom prst="roundRect">
            <a:avLst>
              <a:gd name="adj" fmla="val 6522"/>
            </a:avLst>
          </a:prstGeom>
          <a:solidFill>
            <a:srgbClr val="FFFFFF"/>
          </a:solidFill>
          <a:ln w="10160">
            <a:solidFill>
              <a:srgbClr val="D8E6E8"/>
            </a:solidFill>
            <a:prstDash val="solid"/>
          </a:ln>
        </p:spPr>
      </p:sp>
      <p:sp>
        <p:nvSpPr>
          <p:cNvPr id="27" name="Text 25"/>
          <p:cNvSpPr/>
          <p:nvPr/>
        </p:nvSpPr>
        <p:spPr>
          <a:xfrm>
            <a:off x="6245352" y="4233672"/>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Goal</a:t>
            </a:r>
            <a:endParaRPr lang="en-US" sz="1080" dirty="0"/>
          </a:p>
        </p:txBody>
      </p:sp>
      <p:sp>
        <p:nvSpPr>
          <p:cNvPr id="28" name="Text 26"/>
          <p:cNvSpPr/>
          <p:nvPr/>
        </p:nvSpPr>
        <p:spPr>
          <a:xfrm>
            <a:off x="6245352" y="4498848"/>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Reply, next step, clarity, appointment</a:t>
            </a:r>
            <a:endParaRPr lang="en-US" sz="130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follow-up text for a buyer.</a:t>
            </a:r>
            <a:endParaRPr lang="en-US" sz="136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40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17/46</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Now apply the formula to a real client communication moment.</a:t>
            </a:r>
            <a:endParaRPr lang="en-US" sz="1250" dirty="0"/>
          </a:p>
        </p:txBody>
      </p:sp>
      <p:sp>
        <p:nvSpPr>
          <p:cNvPr id="12" name="Shape 10"/>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3" name="Shape 11"/>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4" name="Text 12"/>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buyer toured two condos, liked one, but is worried about monthly payment.</a:t>
            </a:r>
            <a:endParaRPr lang="en-US" sz="1330" dirty="0"/>
          </a:p>
        </p:txBody>
      </p:sp>
      <p:sp>
        <p:nvSpPr>
          <p:cNvPr id="15" name="Text 13"/>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6" name="Shape 14"/>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7" name="Shape 15"/>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8" name="Text 16"/>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80" dirty="0"/>
          </a:p>
        </p:txBody>
      </p:sp>
      <p:sp>
        <p:nvSpPr>
          <p:cNvPr id="19" name="Text 17"/>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20" name="Shape 18"/>
          <p:cNvSpPr/>
          <p:nvPr/>
        </p:nvSpPr>
        <p:spPr>
          <a:xfrm>
            <a:off x="502920" y="6473952"/>
            <a:ext cx="11201400" cy="0"/>
          </a:xfrm>
          <a:prstGeom prst="line">
            <a:avLst/>
          </a:prstGeom>
          <a:noFill/>
          <a:ln w="9525">
            <a:solidFill>
              <a:srgbClr val="D8E6E8"/>
            </a:solidFill>
            <a:prstDash val="solid"/>
          </a:ln>
        </p:spPr>
      </p:sp>
      <p:sp>
        <p:nvSpPr>
          <p:cNvPr id="21" name="Text 1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18/46</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30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listing had showings but no offers this week.</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19/46</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20/46</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868680" y="1719072"/>
            <a:ext cx="9829800" cy="621792"/>
          </a:xfrm>
          <a:prstGeom prst="roundRect">
            <a:avLst>
              <a:gd name="adj" fmla="val 8824"/>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Rewrite this text so it sounds warm, concise, and natural for a REALTOR: [draft]</a:t>
            </a:r>
            <a:endParaRPr lang="en-US" sz="1400" dirty="0"/>
          </a:p>
        </p:txBody>
      </p:sp>
      <p:sp>
        <p:nvSpPr>
          <p:cNvPr id="15" name="Shape 13"/>
          <p:cNvSpPr/>
          <p:nvPr/>
        </p:nvSpPr>
        <p:spPr>
          <a:xfrm>
            <a:off x="868680" y="2523744"/>
            <a:ext cx="9829800" cy="621792"/>
          </a:xfrm>
          <a:prstGeom prst="roundRect">
            <a:avLst>
              <a:gd name="adj" fmla="val 8824"/>
            </a:avLst>
          </a:prstGeom>
          <a:solidFill>
            <a:srgbClr val="FFFFFF"/>
          </a:solidFill>
          <a:ln w="10160">
            <a:solidFill>
              <a:srgbClr val="D8E6E8"/>
            </a:solidFill>
            <a:prstDash val="solid"/>
          </a:ln>
        </p:spPr>
      </p:sp>
      <p:sp>
        <p:nvSpPr>
          <p:cNvPr id="16" name="Shape 14"/>
          <p:cNvSpPr/>
          <p:nvPr/>
        </p:nvSpPr>
        <p:spPr>
          <a:xfrm>
            <a:off x="1078992" y="2606040"/>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6974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624328"/>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Create a buyer follow-up email based on these call notes: [notes]. Ask one clear next-step question.</a:t>
            </a:r>
            <a:endParaRPr lang="en-US" sz="1400" dirty="0"/>
          </a:p>
        </p:txBody>
      </p:sp>
      <p:sp>
        <p:nvSpPr>
          <p:cNvPr id="19" name="Shape 17"/>
          <p:cNvSpPr/>
          <p:nvPr/>
        </p:nvSpPr>
        <p:spPr>
          <a:xfrm>
            <a:off x="868680" y="3328416"/>
            <a:ext cx="9829800" cy="621792"/>
          </a:xfrm>
          <a:prstGeom prst="roundRect">
            <a:avLst>
              <a:gd name="adj" fmla="val 8824"/>
            </a:avLst>
          </a:prstGeom>
          <a:solidFill>
            <a:srgbClr val="EAF7F7"/>
          </a:solidFill>
          <a:ln w="10160">
            <a:solidFill>
              <a:srgbClr val="B8DDE0"/>
            </a:solidFill>
            <a:prstDash val="solid"/>
          </a:ln>
        </p:spPr>
      </p:sp>
      <p:sp>
        <p:nvSpPr>
          <p:cNvPr id="20" name="Shape 18"/>
          <p:cNvSpPr/>
          <p:nvPr/>
        </p:nvSpPr>
        <p:spPr>
          <a:xfrm>
            <a:off x="1078992" y="3410712"/>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5021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429000"/>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Draft a seller update after a quiet week. Be honest, professional, and solution-oriented.</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21/46</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11" name="Shape 9"/>
          <p:cNvSpPr/>
          <p:nvPr/>
        </p:nvSpPr>
        <p:spPr>
          <a:xfrm>
            <a:off x="868680" y="1719072"/>
            <a:ext cx="9829800" cy="621792"/>
          </a:xfrm>
          <a:prstGeom prst="roundRect">
            <a:avLst>
              <a:gd name="adj" fmla="val 8824"/>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Create three versions of this follow-up: text, email, and voicemail.</a:t>
            </a:r>
            <a:endParaRPr lang="en-US" sz="1400" dirty="0"/>
          </a:p>
        </p:txBody>
      </p:sp>
      <p:sp>
        <p:nvSpPr>
          <p:cNvPr id="15" name="Shape 13"/>
          <p:cNvSpPr/>
          <p:nvPr/>
        </p:nvSpPr>
        <p:spPr>
          <a:xfrm>
            <a:off x="868680" y="2523744"/>
            <a:ext cx="9829800" cy="621792"/>
          </a:xfrm>
          <a:prstGeom prst="roundRect">
            <a:avLst>
              <a:gd name="adj" fmla="val 8824"/>
            </a:avLst>
          </a:prstGeom>
          <a:solidFill>
            <a:srgbClr val="FFFFFF"/>
          </a:solidFill>
          <a:ln w="10160">
            <a:solidFill>
              <a:srgbClr val="D8E6E8"/>
            </a:solidFill>
            <a:prstDash val="solid"/>
          </a:ln>
        </p:spPr>
      </p:sp>
      <p:sp>
        <p:nvSpPr>
          <p:cNvPr id="16" name="Shape 14"/>
          <p:cNvSpPr/>
          <p:nvPr/>
        </p:nvSpPr>
        <p:spPr>
          <a:xfrm>
            <a:off x="1078992" y="2606040"/>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6974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624328"/>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Review this message for accuracy, Fair Housing risk, and claims I should verify.</a:t>
            </a:r>
            <a:endParaRPr lang="en-US" sz="1400" dirty="0"/>
          </a:p>
        </p:txBody>
      </p:sp>
      <p:sp>
        <p:nvSpPr>
          <p:cNvPr id="19" name="Shape 17"/>
          <p:cNvSpPr/>
          <p:nvPr/>
        </p:nvSpPr>
        <p:spPr>
          <a:xfrm>
            <a:off x="868680" y="3328416"/>
            <a:ext cx="9829800" cy="621792"/>
          </a:xfrm>
          <a:prstGeom prst="roundRect">
            <a:avLst>
              <a:gd name="adj" fmla="val 8824"/>
            </a:avLst>
          </a:prstGeom>
          <a:solidFill>
            <a:srgbClr val="EAF7F7"/>
          </a:solidFill>
          <a:ln w="10160">
            <a:solidFill>
              <a:srgbClr val="B8DDE0"/>
            </a:solidFill>
            <a:prstDash val="solid"/>
          </a:ln>
        </p:spPr>
      </p:sp>
      <p:sp>
        <p:nvSpPr>
          <p:cNvPr id="20" name="Shape 18"/>
          <p:cNvSpPr/>
          <p:nvPr/>
        </p:nvSpPr>
        <p:spPr>
          <a:xfrm>
            <a:off x="1078992" y="3410712"/>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5021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429000"/>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Give me three tone options: concise, reassuring, and more direct.</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22/46</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Context before cadence: different lead sources need different first responses.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4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Many leads arrive with limited context, whether they come from portals, IDX, open houses, referrals, social media, sign calls, or past database activity.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Speed matters, but fast and generic still feels automated.</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Different lead sources need different first responses because the relationship context is different.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Useful follow-up gives the person a reason to continue the conversation.</a:t>
            </a:r>
            <a:endParaRPr lang="en-US" sz="166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24/46</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CRM VS AI</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CRM template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Saved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Same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Fast but generic</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AI-assisted draft</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Source + context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Situation-aware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Agent-reviewed before sending</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25/46</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868680" y="1783080"/>
            <a:ext cx="2926080" cy="1024128"/>
          </a:xfrm>
          <a:prstGeom prst="roundRect">
            <a:avLst>
              <a:gd name="adj" fmla="val 5357"/>
            </a:avLst>
          </a:prstGeom>
          <a:solidFill>
            <a:srgbClr val="EAF7F7"/>
          </a:solidFill>
          <a:ln w="10160">
            <a:solidFill>
              <a:srgbClr val="D8E6E8"/>
            </a:solidFill>
            <a:prstDash val="solid"/>
          </a:ln>
        </p:spPr>
      </p:sp>
      <p:sp>
        <p:nvSpPr>
          <p:cNvPr id="12" name="Shape 10"/>
          <p:cNvSpPr/>
          <p:nvPr/>
        </p:nvSpPr>
        <p:spPr>
          <a:xfrm>
            <a:off x="1069848" y="2039112"/>
            <a:ext cx="402336" cy="402336"/>
          </a:xfrm>
          <a:prstGeom prst="ellipse">
            <a:avLst/>
          </a:prstGeom>
          <a:solidFill>
            <a:srgbClr val="008F8F"/>
          </a:solidFill>
          <a:ln w="12700">
            <a:solidFill>
              <a:srgbClr val="008F8F"/>
            </a:solidFill>
            <a:prstDash val="solid"/>
          </a:ln>
        </p:spPr>
      </p:sp>
      <p:sp>
        <p:nvSpPr>
          <p:cNvPr id="13" name="Text 11"/>
          <p:cNvSpPr/>
          <p:nvPr/>
        </p:nvSpPr>
        <p:spPr>
          <a:xfrm>
            <a:off x="106984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1848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Capture source, context, and recent activity</a:t>
            </a:r>
            <a:endParaRPr lang="en-US" sz="1180" dirty="0"/>
          </a:p>
        </p:txBody>
      </p:sp>
      <p:sp>
        <p:nvSpPr>
          <p:cNvPr id="15" name="Shape 13"/>
          <p:cNvSpPr/>
          <p:nvPr/>
        </p:nvSpPr>
        <p:spPr>
          <a:xfrm>
            <a:off x="4389120" y="1783080"/>
            <a:ext cx="2926080" cy="1024128"/>
          </a:xfrm>
          <a:prstGeom prst="roundRect">
            <a:avLst>
              <a:gd name="adj" fmla="val 5357"/>
            </a:avLst>
          </a:prstGeom>
          <a:solidFill>
            <a:srgbClr val="FFFFFF"/>
          </a:solidFill>
          <a:ln w="10160">
            <a:solidFill>
              <a:srgbClr val="D8E6E8"/>
            </a:solidFill>
            <a:prstDash val="solid"/>
          </a:ln>
        </p:spPr>
      </p:sp>
      <p:sp>
        <p:nvSpPr>
          <p:cNvPr id="16" name="Shape 14"/>
          <p:cNvSpPr/>
          <p:nvPr/>
        </p:nvSpPr>
        <p:spPr>
          <a:xfrm>
            <a:off x="4590288" y="2039112"/>
            <a:ext cx="402336" cy="402336"/>
          </a:xfrm>
          <a:prstGeom prst="ellipse">
            <a:avLst/>
          </a:prstGeom>
          <a:solidFill>
            <a:srgbClr val="2F80ED"/>
          </a:solidFill>
          <a:ln w="12700">
            <a:solidFill>
              <a:srgbClr val="2F80ED"/>
            </a:solidFill>
            <a:prstDash val="solid"/>
          </a:ln>
        </p:spPr>
      </p:sp>
      <p:sp>
        <p:nvSpPr>
          <p:cNvPr id="17" name="Text 15"/>
          <p:cNvSpPr/>
          <p:nvPr/>
        </p:nvSpPr>
        <p:spPr>
          <a:xfrm>
            <a:off x="459028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513892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Identify likely intent without assuming certainty</a:t>
            </a:r>
            <a:endParaRPr lang="en-US" sz="1180" dirty="0"/>
          </a:p>
        </p:txBody>
      </p:sp>
      <p:sp>
        <p:nvSpPr>
          <p:cNvPr id="19" name="Shape 17"/>
          <p:cNvSpPr/>
          <p:nvPr/>
        </p:nvSpPr>
        <p:spPr>
          <a:xfrm>
            <a:off x="7909560" y="1783080"/>
            <a:ext cx="2926080" cy="1024128"/>
          </a:xfrm>
          <a:prstGeom prst="roundRect">
            <a:avLst>
              <a:gd name="adj" fmla="val 5357"/>
            </a:avLst>
          </a:prstGeom>
          <a:solidFill>
            <a:srgbClr val="EAF7F7"/>
          </a:solidFill>
          <a:ln w="10160">
            <a:solidFill>
              <a:srgbClr val="D8E6E8"/>
            </a:solidFill>
            <a:prstDash val="solid"/>
          </a:ln>
        </p:spPr>
      </p:sp>
      <p:sp>
        <p:nvSpPr>
          <p:cNvPr id="20" name="Shape 18"/>
          <p:cNvSpPr/>
          <p:nvPr/>
        </p:nvSpPr>
        <p:spPr>
          <a:xfrm>
            <a:off x="8110728" y="2039112"/>
            <a:ext cx="402336" cy="402336"/>
          </a:xfrm>
          <a:prstGeom prst="ellipse">
            <a:avLst/>
          </a:prstGeom>
          <a:solidFill>
            <a:srgbClr val="F45B69"/>
          </a:solidFill>
          <a:ln w="12700">
            <a:solidFill>
              <a:srgbClr val="F45B69"/>
            </a:solidFill>
            <a:prstDash val="solid"/>
          </a:ln>
        </p:spPr>
      </p:sp>
      <p:sp>
        <p:nvSpPr>
          <p:cNvPr id="21" name="Text 19"/>
          <p:cNvSpPr/>
          <p:nvPr/>
        </p:nvSpPr>
        <p:spPr>
          <a:xfrm>
            <a:off x="811072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865936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Choose the best channel</a:t>
            </a:r>
            <a:endParaRPr lang="en-US" sz="1180" dirty="0"/>
          </a:p>
        </p:txBody>
      </p:sp>
      <p:sp>
        <p:nvSpPr>
          <p:cNvPr id="23" name="Shape 21"/>
          <p:cNvSpPr/>
          <p:nvPr/>
        </p:nvSpPr>
        <p:spPr>
          <a:xfrm>
            <a:off x="868680" y="3291840"/>
            <a:ext cx="2926080" cy="1024128"/>
          </a:xfrm>
          <a:prstGeom prst="roundRect">
            <a:avLst>
              <a:gd name="adj" fmla="val 5357"/>
            </a:avLst>
          </a:prstGeom>
          <a:solidFill>
            <a:srgbClr val="FFFFFF"/>
          </a:solidFill>
          <a:ln w="10160">
            <a:solidFill>
              <a:srgbClr val="D8E6E8"/>
            </a:solidFill>
            <a:prstDash val="solid"/>
          </a:ln>
        </p:spPr>
      </p:sp>
      <p:sp>
        <p:nvSpPr>
          <p:cNvPr id="24" name="Shape 22"/>
          <p:cNvSpPr/>
          <p:nvPr/>
        </p:nvSpPr>
        <p:spPr>
          <a:xfrm>
            <a:off x="1069848" y="3547872"/>
            <a:ext cx="402336" cy="402336"/>
          </a:xfrm>
          <a:prstGeom prst="ellipse">
            <a:avLst/>
          </a:prstGeom>
          <a:solidFill>
            <a:srgbClr val="2E7D5B"/>
          </a:solidFill>
          <a:ln w="12700">
            <a:solidFill>
              <a:srgbClr val="2E7D5B"/>
            </a:solidFill>
            <a:prstDash val="solid"/>
          </a:ln>
        </p:spPr>
      </p:sp>
      <p:sp>
        <p:nvSpPr>
          <p:cNvPr id="25" name="Text 23"/>
          <p:cNvSpPr/>
          <p:nvPr/>
        </p:nvSpPr>
        <p:spPr>
          <a:xfrm>
            <a:off x="106984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1848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Draft one useful message</a:t>
            </a:r>
            <a:endParaRPr lang="en-US" sz="1180" dirty="0"/>
          </a:p>
        </p:txBody>
      </p:sp>
      <p:sp>
        <p:nvSpPr>
          <p:cNvPr id="27" name="Shape 25"/>
          <p:cNvSpPr/>
          <p:nvPr/>
        </p:nvSpPr>
        <p:spPr>
          <a:xfrm>
            <a:off x="4389120" y="3291840"/>
            <a:ext cx="2926080" cy="1024128"/>
          </a:xfrm>
          <a:prstGeom prst="roundRect">
            <a:avLst>
              <a:gd name="adj" fmla="val 5357"/>
            </a:avLst>
          </a:prstGeom>
          <a:solidFill>
            <a:srgbClr val="EAF7F7"/>
          </a:solidFill>
          <a:ln w="10160">
            <a:solidFill>
              <a:srgbClr val="D8E6E8"/>
            </a:solidFill>
            <a:prstDash val="solid"/>
          </a:ln>
        </p:spPr>
      </p:sp>
      <p:sp>
        <p:nvSpPr>
          <p:cNvPr id="28" name="Shape 26"/>
          <p:cNvSpPr/>
          <p:nvPr/>
        </p:nvSpPr>
        <p:spPr>
          <a:xfrm>
            <a:off x="4590288" y="3547872"/>
            <a:ext cx="402336" cy="402336"/>
          </a:xfrm>
          <a:prstGeom prst="ellipse">
            <a:avLst/>
          </a:prstGeom>
          <a:solidFill>
            <a:srgbClr val="F2B84B"/>
          </a:solidFill>
          <a:ln w="12700">
            <a:solidFill>
              <a:srgbClr val="F2B84B"/>
            </a:solidFill>
            <a:prstDash val="solid"/>
          </a:ln>
        </p:spPr>
      </p:sp>
      <p:sp>
        <p:nvSpPr>
          <p:cNvPr id="29" name="Text 27"/>
          <p:cNvSpPr/>
          <p:nvPr/>
        </p:nvSpPr>
        <p:spPr>
          <a:xfrm>
            <a:off x="459028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513892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Review for accuracy and tone</a:t>
            </a:r>
            <a:endParaRPr lang="en-US" sz="1180" dirty="0"/>
          </a:p>
        </p:txBody>
      </p:sp>
      <p:sp>
        <p:nvSpPr>
          <p:cNvPr id="31" name="Shape 29"/>
          <p:cNvSpPr/>
          <p:nvPr/>
        </p:nvSpPr>
        <p:spPr>
          <a:xfrm>
            <a:off x="7909560" y="3291840"/>
            <a:ext cx="2926080" cy="1024128"/>
          </a:xfrm>
          <a:prstGeom prst="roundRect">
            <a:avLst>
              <a:gd name="adj" fmla="val 5357"/>
            </a:avLst>
          </a:prstGeom>
          <a:solidFill>
            <a:srgbClr val="FFFFFF"/>
          </a:solidFill>
          <a:ln w="10160">
            <a:solidFill>
              <a:srgbClr val="D8E6E8"/>
            </a:solidFill>
            <a:prstDash val="solid"/>
          </a:ln>
        </p:spPr>
      </p:sp>
      <p:sp>
        <p:nvSpPr>
          <p:cNvPr id="32" name="Shape 30"/>
          <p:cNvSpPr/>
          <p:nvPr/>
        </p:nvSpPr>
        <p:spPr>
          <a:xfrm>
            <a:off x="8110728" y="3547872"/>
            <a:ext cx="402336" cy="402336"/>
          </a:xfrm>
          <a:prstGeom prst="ellipse">
            <a:avLst/>
          </a:prstGeom>
          <a:solidFill>
            <a:srgbClr val="16324F"/>
          </a:solidFill>
          <a:ln w="12700">
            <a:solidFill>
              <a:srgbClr val="16324F"/>
            </a:solidFill>
            <a:prstDash val="solid"/>
          </a:ln>
        </p:spPr>
      </p:sp>
      <p:sp>
        <p:nvSpPr>
          <p:cNvPr id="33" name="Text 31"/>
          <p:cNvSpPr/>
          <p:nvPr/>
        </p:nvSpPr>
        <p:spPr>
          <a:xfrm>
            <a:off x="811072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4" name="Text 32"/>
          <p:cNvSpPr/>
          <p:nvPr/>
        </p:nvSpPr>
        <p:spPr>
          <a:xfrm>
            <a:off x="865936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Send and log next step</a:t>
            </a:r>
            <a:endParaRPr lang="en-US" sz="1180" dirty="0"/>
          </a:p>
        </p:txBody>
      </p:sp>
      <p:sp>
        <p:nvSpPr>
          <p:cNvPr id="35" name="Shape 33"/>
          <p:cNvSpPr/>
          <p:nvPr/>
        </p:nvSpPr>
        <p:spPr>
          <a:xfrm>
            <a:off x="502920" y="6473952"/>
            <a:ext cx="11201400" cy="0"/>
          </a:xfrm>
          <a:prstGeom prst="line">
            <a:avLst/>
          </a:prstGeom>
          <a:noFill/>
          <a:ln w="9525">
            <a:solidFill>
              <a:srgbClr val="D8E6E8"/>
            </a:solidFill>
            <a:prstDash val="solid"/>
          </a:ln>
        </p:spPr>
      </p:sp>
      <p:sp>
        <p:nvSpPr>
          <p:cNvPr id="36" name="Text 3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26/46</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SAMPLE LEAD</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4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Lead asked: "Is the condo on Brickell still available?"</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Weak: "Yes, it is available. Let me know if you want to see it."</a:t>
            </a:r>
            <a:endParaRPr lang="en-US" sz="1380" dirty="0"/>
          </a:p>
          <a:p>
            <a:pPr indent="0" marL="0">
              <a:buNone/>
            </a:pPr>
            <a:endParaRPr lang="en-US" sz="1380" dirty="0"/>
          </a:p>
          <a:p>
            <a:pPr indent="0" marL="0">
              <a:buNone/>
            </a:pPr>
            <a:r>
              <a:rPr lang="en-US" sz="1380" dirty="0">
                <a:solidFill>
                  <a:srgbClr val="102033"/>
                </a:solidFill>
              </a:rPr>
              <a:t>Better: "I can verify the latest status for you. Are you focused only on Brickell, or would similar buildings with strong amenities also be worth sending over?"</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27/46</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a first-response set</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CRM templates repeat a saved message. AI helps adapt the message to the situation, then you review it before sending.</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28/46</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Appointments / 100 leads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Is the source becoming more useful?</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29/46</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24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Property features and improvements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Showing feedback and buyer questions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Seller goals and timing</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Factual neighborhood context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Desired tone and format</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verified facts and tell AI not to invent missing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31/46</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copy adds warmth without inventing facts.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3 bedrooms / 2 bathrooms</a:t>
            </a:r>
            <a:endParaRPr lang="en-US" sz="1360" dirty="0"/>
          </a:p>
          <a:p>
            <a:pPr indent="0" marL="0">
              <a:buNone/>
            </a:pPr>
            <a:r>
              <a:rPr lang="en-US" sz="1360" dirty="0">
                <a:solidFill>
                  <a:srgbClr val="102033"/>
                </a:solidFill>
              </a:rPr>
              <a:t>Updated kitchen</a:t>
            </a:r>
            <a:endParaRPr lang="en-US" sz="1360" dirty="0"/>
          </a:p>
          <a:p>
            <a:pPr indent="0" marL="0">
              <a:buNone/>
            </a:pPr>
            <a:r>
              <a:rPr lang="en-US" sz="1360" dirty="0">
                <a:solidFill>
                  <a:srgbClr val="102033"/>
                </a:solidFill>
              </a:rPr>
              <a:t>Covered patio</a:t>
            </a:r>
            <a:endParaRPr lang="en-US" sz="1360" dirty="0"/>
          </a:p>
          <a:p>
            <a:pPr indent="0" marL="0">
              <a:buNone/>
            </a:pPr>
            <a:r>
              <a:rPr lang="en-US" sz="1360" dirty="0">
                <a:solidFill>
                  <a:srgbClr val="102033"/>
                </a:solidFill>
              </a:rPr>
              <a:t>2-car garage</a:t>
            </a:r>
            <a:endParaRPr lang="en-US" sz="1360" dirty="0"/>
          </a:p>
          <a:p>
            <a:pPr indent="0" marL="0">
              <a:buNone/>
            </a:pPr>
            <a:r>
              <a:rPr lang="en-US" sz="1360" dirty="0">
                <a:solidFill>
                  <a:srgbClr val="102033"/>
                </a:solidFill>
              </a:rPr>
              <a:t>Nearby dining, parks, and everyday amenities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This 3-bedroom, 2-bath home pairs practical everyday function with inviting outdoor space. Highlights include an updated kitchen, covered patio, and 2-car garage, with convenient access to nearby dining, parks, and everyday amenities. The description stays focused on verified features while giving the listing a clearer, more polished presentation.</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32/46</a:t>
            </a:r>
            <a:endParaRPr lang="en-US" sz="7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SOURCE FACTS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Source facts</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Verified details kept in the chat</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copy</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33/46</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Now try the same process with three high-use formats.</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34/46</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APPOINTMENT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Build buyer consultation and listing appointment agendas.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Create discovery questions from client context.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Practice common objections before the live conversation.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Explain market conditions in plain language, with verified facts.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Prepare follow-up after the appointment.</a:t>
            </a:r>
            <a:endParaRPr lang="en-US" sz="1660" dirty="0"/>
          </a:p>
        </p:txBody>
      </p:sp>
      <p:sp>
        <p:nvSpPr>
          <p:cNvPr id="12" name="Shape 10"/>
          <p:cNvSpPr/>
          <p:nvPr/>
        </p:nvSpPr>
        <p:spPr>
          <a:xfrm>
            <a:off x="7479792" y="1737360"/>
            <a:ext cx="91440" cy="2971800"/>
          </a:xfrm>
          <a:prstGeom prst="rect">
            <a:avLst/>
          </a:prstGeom>
          <a:solidFill>
            <a:srgbClr val="008F8F"/>
          </a:solidFill>
          <a:ln w="12700">
            <a:solidFill>
              <a:srgbClr val="008F8F"/>
            </a:solidFill>
            <a:prstDash val="solid"/>
          </a:ln>
        </p:spPr>
      </p:sp>
      <p:sp>
        <p:nvSpPr>
          <p:cNvPr id="13" name="Shape 11"/>
          <p:cNvSpPr/>
          <p:nvPr/>
        </p:nvSpPr>
        <p:spPr>
          <a:xfrm>
            <a:off x="7607808" y="1828800"/>
            <a:ext cx="3246120" cy="2788920"/>
          </a:xfrm>
          <a:prstGeom prst="roundRect">
            <a:avLst>
              <a:gd name="adj" fmla="val 1967"/>
            </a:avLst>
          </a:prstGeom>
          <a:solidFill>
            <a:srgbClr val="EAF7F7"/>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35/46</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wants to overprice</a:t>
            </a:r>
            <a:endParaRPr lang="en-US" sz="3000" dirty="0"/>
          </a:p>
        </p:txBody>
      </p:sp>
      <p:sp>
        <p:nvSpPr>
          <p:cNvPr id="11" name="Shape 9"/>
          <p:cNvSpPr/>
          <p:nvPr/>
        </p:nvSpPr>
        <p:spPr>
          <a:xfrm>
            <a:off x="914400" y="1783080"/>
            <a:ext cx="128016" cy="2743200"/>
          </a:xfrm>
          <a:prstGeom prst="rect">
            <a:avLst/>
          </a:prstGeom>
          <a:solidFill>
            <a:srgbClr val="008F8F"/>
          </a:solidFill>
          <a:ln w="12700">
            <a:solidFill>
              <a:srgbClr val="008F8F"/>
            </a:solidFill>
            <a:prstDash val="solid"/>
          </a:ln>
        </p:spPr>
      </p:sp>
      <p:sp>
        <p:nvSpPr>
          <p:cNvPr id="12" name="Shape 10"/>
          <p:cNvSpPr/>
          <p:nvPr/>
        </p:nvSpPr>
        <p:spPr>
          <a:xfrm>
            <a:off x="1097280" y="1783080"/>
            <a:ext cx="9555480" cy="2743200"/>
          </a:xfrm>
          <a:prstGeom prst="roundRect">
            <a:avLst>
              <a:gd name="adj" fmla="val 2000"/>
            </a:avLst>
          </a:prstGeom>
          <a:solidFill>
            <a:srgbClr val="FFFFFF"/>
          </a:solidFill>
          <a:ln w="10160">
            <a:solidFill>
              <a:srgbClr val="C9DFE5"/>
            </a:solidFill>
            <a:prstDash val="solid"/>
          </a:ln>
        </p:spPr>
      </p:sp>
      <p:sp>
        <p:nvSpPr>
          <p:cNvPr id="13" name="Text 11"/>
          <p:cNvSpPr/>
          <p:nvPr/>
        </p:nvSpPr>
        <p:spPr>
          <a:xfrm>
            <a:off x="1508760" y="2212848"/>
            <a:ext cx="8549640" cy="1417320"/>
          </a:xfrm>
          <a:prstGeom prst="rect">
            <a:avLst/>
          </a:prstGeom>
          <a:noFill/>
          <a:ln/>
        </p:spPr>
        <p:txBody>
          <a:bodyPr wrap="square" lIns="381" tIns="381" rIns="381" bIns="381" rtlCol="0" anchor="ctr">
            <a:normAutofit/>
          </a:bodyPr>
          <a:lstStyle/>
          <a:p>
            <a:pPr indent="0" marL="0">
              <a:buNone/>
            </a:pPr>
            <a:r>
              <a:rPr lang="en-US" sz="172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1720" dirty="0"/>
          </a:p>
        </p:txBody>
      </p:sp>
      <p:sp>
        <p:nvSpPr>
          <p:cNvPr id="14" name="Text 12"/>
          <p:cNvSpPr/>
          <p:nvPr/>
        </p:nvSpPr>
        <p:spPr>
          <a:xfrm>
            <a:off x="1508760" y="3968496"/>
            <a:ext cx="1828800" cy="164592"/>
          </a:xfrm>
          <a:prstGeom prst="rect">
            <a:avLst/>
          </a:prstGeom>
          <a:noFill/>
          <a:ln/>
        </p:spPr>
        <p:txBody>
          <a:bodyPr wrap="square" lIns="0" tIns="0" rIns="0" bIns="0" rtlCol="0" anchor="ctr"/>
          <a:lstStyle/>
          <a:p>
            <a:pPr indent="0" marL="0">
              <a:buNone/>
            </a:pPr>
            <a:r>
              <a:rPr lang="en-US" sz="1000" b="1" dirty="0">
                <a:solidFill>
                  <a:srgbClr val="008F8F"/>
                </a:solidFill>
              </a:rPr>
              <a:t>Role-play prompt</a:t>
            </a:r>
            <a:endParaRPr lang="en-US" sz="100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36/46</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914400" y="1783080"/>
            <a:ext cx="128016" cy="2743200"/>
          </a:xfrm>
          <a:prstGeom prst="rect">
            <a:avLst/>
          </a:prstGeom>
          <a:solidFill>
            <a:srgbClr val="008F8F"/>
          </a:solidFill>
          <a:ln w="12700">
            <a:solidFill>
              <a:srgbClr val="008F8F"/>
            </a:solidFill>
            <a:prstDash val="solid"/>
          </a:ln>
        </p:spPr>
      </p:sp>
      <p:sp>
        <p:nvSpPr>
          <p:cNvPr id="12" name="Shape 10"/>
          <p:cNvSpPr/>
          <p:nvPr/>
        </p:nvSpPr>
        <p:spPr>
          <a:xfrm>
            <a:off x="1097280" y="1783080"/>
            <a:ext cx="9555480" cy="2743200"/>
          </a:xfrm>
          <a:prstGeom prst="roundRect">
            <a:avLst>
              <a:gd name="adj" fmla="val 2000"/>
            </a:avLst>
          </a:prstGeom>
          <a:solidFill>
            <a:srgbClr val="FFFFFF"/>
          </a:solidFill>
          <a:ln w="10160">
            <a:solidFill>
              <a:srgbClr val="C9DFE5"/>
            </a:solidFill>
            <a:prstDash val="solid"/>
          </a:ln>
        </p:spPr>
      </p:sp>
      <p:sp>
        <p:nvSpPr>
          <p:cNvPr id="13" name="Text 11"/>
          <p:cNvSpPr/>
          <p:nvPr/>
        </p:nvSpPr>
        <p:spPr>
          <a:xfrm>
            <a:off x="1508760" y="2212848"/>
            <a:ext cx="8549640" cy="1417320"/>
          </a:xfrm>
          <a:prstGeom prst="rect">
            <a:avLst/>
          </a:prstGeom>
          <a:noFill/>
          <a:ln/>
        </p:spPr>
        <p:txBody>
          <a:bodyPr wrap="square" lIns="381" tIns="381" rIns="381" bIns="381" rtlCol="0" anchor="ctr">
            <a:normAutofit/>
          </a:bodyPr>
          <a:lstStyle/>
          <a:p>
            <a:pPr indent="0" marL="0">
              <a:buNone/>
            </a:pPr>
            <a:r>
              <a:rPr lang="en-US" sz="1720" i="1" dirty="0">
                <a:solidFill>
                  <a:srgbClr val="102033"/>
                </a:solidFill>
              </a:rPr>
              <a:t>"Use AI to practice the conversation without making predictions or giving financial advice. Prompt: Act as a cautious buyer who wants to wait for rates to drop. Help me respond in a way that is educational, not pushy. Challenge any claims that sound too certain."</a:t>
            </a:r>
            <a:endParaRPr lang="en-US" sz="1720" dirty="0"/>
          </a:p>
        </p:txBody>
      </p:sp>
      <p:sp>
        <p:nvSpPr>
          <p:cNvPr id="14" name="Text 12"/>
          <p:cNvSpPr/>
          <p:nvPr/>
        </p:nvSpPr>
        <p:spPr>
          <a:xfrm>
            <a:off x="1508760" y="3968496"/>
            <a:ext cx="1828800" cy="164592"/>
          </a:xfrm>
          <a:prstGeom prst="rect">
            <a:avLst/>
          </a:prstGeom>
          <a:noFill/>
          <a:ln/>
        </p:spPr>
        <p:txBody>
          <a:bodyPr wrap="square" lIns="0" tIns="0" rIns="0" bIns="0" rtlCol="0" anchor="ctr"/>
          <a:lstStyle/>
          <a:p>
            <a:pPr indent="0" marL="0">
              <a:buNone/>
            </a:pPr>
            <a:r>
              <a:rPr lang="en-US" sz="1000" b="1" dirty="0">
                <a:solidFill>
                  <a:srgbClr val="008F8F"/>
                </a:solidFill>
              </a:rPr>
              <a:t>Role-play prompt</a:t>
            </a:r>
            <a:endParaRPr lang="en-US" sz="100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37/46</a:t>
            </a:r>
            <a:endParaRPr lang="en-US" sz="72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38/46</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40/46</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Protect private client information.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Review all output before use.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Follow brokerage policies, MLS rules, and advertising requirements.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Avoid discriminatory targeting or language.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 AI to support professional judgment, not replace it.</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41/46</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868680" y="1783080"/>
            <a:ext cx="4526280" cy="1042416"/>
          </a:xfrm>
          <a:prstGeom prst="roundRect">
            <a:avLst>
              <a:gd name="adj" fmla="val 5263"/>
            </a:avLst>
          </a:prstGeom>
          <a:solidFill>
            <a:srgbClr val="EAF7F7"/>
          </a:solidFill>
          <a:ln w="10160">
            <a:solidFill>
              <a:srgbClr val="D8E6E8"/>
            </a:solidFill>
            <a:prstDash val="solid"/>
          </a:ln>
        </p:spPr>
      </p:sp>
      <p:sp>
        <p:nvSpPr>
          <p:cNvPr id="12" name="Text 10"/>
          <p:cNvSpPr/>
          <p:nvPr/>
        </p:nvSpPr>
        <p:spPr>
          <a:xfrm>
            <a:off x="1124712" y="196596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Private data</a:t>
            </a:r>
            <a:endParaRPr lang="en-US" sz="1120" dirty="0"/>
          </a:p>
        </p:txBody>
      </p:sp>
      <p:sp>
        <p:nvSpPr>
          <p:cNvPr id="13" name="Text 11"/>
          <p:cNvSpPr/>
          <p:nvPr/>
        </p:nvSpPr>
        <p:spPr>
          <a:xfrm>
            <a:off x="1124712" y="225856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Remove names, contact info, financial details, and sensitive context before using public tools.</a:t>
            </a:r>
            <a:endParaRPr lang="en-US" sz="1070" dirty="0"/>
          </a:p>
        </p:txBody>
      </p:sp>
      <p:sp>
        <p:nvSpPr>
          <p:cNvPr id="14" name="Shape 12"/>
          <p:cNvSpPr/>
          <p:nvPr/>
        </p:nvSpPr>
        <p:spPr>
          <a:xfrm>
            <a:off x="5943600" y="1783080"/>
            <a:ext cx="4526280" cy="1042416"/>
          </a:xfrm>
          <a:prstGeom prst="roundRect">
            <a:avLst>
              <a:gd name="adj" fmla="val 5263"/>
            </a:avLst>
          </a:prstGeom>
          <a:solidFill>
            <a:srgbClr val="FFFFFF"/>
          </a:solidFill>
          <a:ln w="10160">
            <a:solidFill>
              <a:srgbClr val="D8E6E8"/>
            </a:solidFill>
            <a:prstDash val="solid"/>
          </a:ln>
        </p:spPr>
      </p:sp>
      <p:sp>
        <p:nvSpPr>
          <p:cNvPr id="15" name="Text 13"/>
          <p:cNvSpPr/>
          <p:nvPr/>
        </p:nvSpPr>
        <p:spPr>
          <a:xfrm>
            <a:off x="6199632" y="196596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Advertising</a:t>
            </a:r>
            <a:endParaRPr lang="en-US" sz="1120" dirty="0"/>
          </a:p>
        </p:txBody>
      </p:sp>
      <p:sp>
        <p:nvSpPr>
          <p:cNvPr id="16" name="Text 14"/>
          <p:cNvSpPr/>
          <p:nvPr/>
        </p:nvSpPr>
        <p:spPr>
          <a:xfrm>
            <a:off x="6199632" y="225856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Review claims, disclosures, brokerage rules, and platform requirements.</a:t>
            </a:r>
            <a:endParaRPr lang="en-US" sz="1070" dirty="0"/>
          </a:p>
        </p:txBody>
      </p:sp>
      <p:sp>
        <p:nvSpPr>
          <p:cNvPr id="17" name="Shape 15"/>
          <p:cNvSpPr/>
          <p:nvPr/>
        </p:nvSpPr>
        <p:spPr>
          <a:xfrm>
            <a:off x="868680" y="3200400"/>
            <a:ext cx="4526280" cy="1042416"/>
          </a:xfrm>
          <a:prstGeom prst="roundRect">
            <a:avLst>
              <a:gd name="adj" fmla="val 5263"/>
            </a:avLst>
          </a:prstGeom>
          <a:solidFill>
            <a:srgbClr val="EAF7F7"/>
          </a:solidFill>
          <a:ln w="10160">
            <a:solidFill>
              <a:srgbClr val="D8E6E8"/>
            </a:solidFill>
            <a:prstDash val="solid"/>
          </a:ln>
        </p:spPr>
      </p:sp>
      <p:sp>
        <p:nvSpPr>
          <p:cNvPr id="18" name="Text 16"/>
          <p:cNvSpPr/>
          <p:nvPr/>
        </p:nvSpPr>
        <p:spPr>
          <a:xfrm>
            <a:off x="1124712" y="338328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MLS</a:t>
            </a:r>
            <a:endParaRPr lang="en-US" sz="1120" dirty="0"/>
          </a:p>
        </p:txBody>
      </p:sp>
      <p:sp>
        <p:nvSpPr>
          <p:cNvPr id="19" name="Text 17"/>
          <p:cNvSpPr/>
          <p:nvPr/>
        </p:nvSpPr>
        <p:spPr>
          <a:xfrm>
            <a:off x="1124712" y="367588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Follow MLS rules for listing data, remarks, photos, and public display.</a:t>
            </a:r>
            <a:endParaRPr lang="en-US" sz="1070" dirty="0"/>
          </a:p>
        </p:txBody>
      </p:sp>
      <p:sp>
        <p:nvSpPr>
          <p:cNvPr id="20" name="Shape 18"/>
          <p:cNvSpPr/>
          <p:nvPr/>
        </p:nvSpPr>
        <p:spPr>
          <a:xfrm>
            <a:off x="5943600" y="3200400"/>
            <a:ext cx="4526280" cy="1042416"/>
          </a:xfrm>
          <a:prstGeom prst="roundRect">
            <a:avLst>
              <a:gd name="adj" fmla="val 5263"/>
            </a:avLst>
          </a:prstGeom>
          <a:solidFill>
            <a:srgbClr val="FFFFFF"/>
          </a:solidFill>
          <a:ln w="10160">
            <a:solidFill>
              <a:srgbClr val="D8E6E8"/>
            </a:solidFill>
            <a:prstDash val="solid"/>
          </a:ln>
        </p:spPr>
      </p:sp>
      <p:sp>
        <p:nvSpPr>
          <p:cNvPr id="21" name="Text 19"/>
          <p:cNvSpPr/>
          <p:nvPr/>
        </p:nvSpPr>
        <p:spPr>
          <a:xfrm>
            <a:off x="6199632" y="338328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Consumer communication</a:t>
            </a:r>
            <a:endParaRPr lang="en-US" sz="1120" dirty="0"/>
          </a:p>
        </p:txBody>
      </p:sp>
      <p:sp>
        <p:nvSpPr>
          <p:cNvPr id="22" name="Text 20"/>
          <p:cNvSpPr/>
          <p:nvPr/>
        </p:nvSpPr>
        <p:spPr>
          <a:xfrm>
            <a:off x="6199632" y="367588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Keep records, respect opt-outs, and do not automate beyond policy.</a:t>
            </a:r>
            <a:endParaRPr lang="en-US" sz="107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42/46</a:t>
            </a:r>
            <a:endParaRPr lang="en-US" sz="72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43/46</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868680" y="1719072"/>
            <a:ext cx="9829800" cy="530352"/>
          </a:xfrm>
          <a:prstGeom prst="roundRect">
            <a:avLst>
              <a:gd name="adj" fmla="val 10345"/>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Draft a client message from these notes: [notes]. Make it concise, warm, and specific.</a:t>
            </a:r>
            <a:endParaRPr lang="en-US" sz="1280" dirty="0"/>
          </a:p>
        </p:txBody>
      </p:sp>
      <p:sp>
        <p:nvSpPr>
          <p:cNvPr id="15" name="Shape 13"/>
          <p:cNvSpPr/>
          <p:nvPr/>
        </p:nvSpPr>
        <p:spPr>
          <a:xfrm>
            <a:off x="868680" y="2395728"/>
            <a:ext cx="9829800" cy="530352"/>
          </a:xfrm>
          <a:prstGeom prst="roundRect">
            <a:avLst>
              <a:gd name="adj" fmla="val 10345"/>
            </a:avLst>
          </a:prstGeom>
          <a:solidFill>
            <a:srgbClr val="FFFFFF"/>
          </a:solidFill>
          <a:ln w="10160">
            <a:solidFill>
              <a:srgbClr val="D8E6E8"/>
            </a:solidFill>
            <a:prstDash val="solid"/>
          </a:ln>
        </p:spPr>
      </p:sp>
      <p:sp>
        <p:nvSpPr>
          <p:cNvPr id="16" name="Shape 14"/>
          <p:cNvSpPr/>
          <p:nvPr/>
        </p:nvSpPr>
        <p:spPr>
          <a:xfrm>
            <a:off x="1078992" y="247802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6946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96312"/>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Create three versions of this follow-up: text, email, and voicemail.</a:t>
            </a:r>
            <a:endParaRPr lang="en-US" sz="1280" dirty="0"/>
          </a:p>
        </p:txBody>
      </p:sp>
      <p:sp>
        <p:nvSpPr>
          <p:cNvPr id="19" name="Shape 17"/>
          <p:cNvSpPr/>
          <p:nvPr/>
        </p:nvSpPr>
        <p:spPr>
          <a:xfrm>
            <a:off x="868680" y="3072384"/>
            <a:ext cx="9829800" cy="530352"/>
          </a:xfrm>
          <a:prstGeom prst="roundRect">
            <a:avLst>
              <a:gd name="adj" fmla="val 10345"/>
            </a:avLst>
          </a:prstGeom>
          <a:solidFill>
            <a:srgbClr val="EAF7F7"/>
          </a:solidFill>
          <a:ln w="10160">
            <a:solidFill>
              <a:srgbClr val="B8DDE0"/>
            </a:solidFill>
            <a:prstDash val="solid"/>
          </a:ln>
        </p:spPr>
      </p:sp>
      <p:sp>
        <p:nvSpPr>
          <p:cNvPr id="20" name="Shape 18"/>
          <p:cNvSpPr/>
          <p:nvPr/>
        </p:nvSpPr>
        <p:spPr>
          <a:xfrm>
            <a:off x="1078992" y="3154680"/>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246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172968"/>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Review this message for accuracy, Fair Housing risk, and claims I should verify.</a:t>
            </a:r>
            <a:endParaRPr lang="en-US" sz="1280" dirty="0"/>
          </a:p>
        </p:txBody>
      </p:sp>
      <p:sp>
        <p:nvSpPr>
          <p:cNvPr id="23" name="Shape 21"/>
          <p:cNvSpPr/>
          <p:nvPr/>
        </p:nvSpPr>
        <p:spPr>
          <a:xfrm>
            <a:off x="868680" y="3749040"/>
            <a:ext cx="9829800" cy="530352"/>
          </a:xfrm>
          <a:prstGeom prst="roundRect">
            <a:avLst>
              <a:gd name="adj" fmla="val 10345"/>
            </a:avLst>
          </a:prstGeom>
          <a:solidFill>
            <a:srgbClr val="FFFFFF"/>
          </a:solidFill>
          <a:ln w="10160">
            <a:solidFill>
              <a:srgbClr val="D8E6E8"/>
            </a:solidFill>
            <a:prstDash val="solid"/>
          </a:ln>
        </p:spPr>
      </p:sp>
      <p:sp>
        <p:nvSpPr>
          <p:cNvPr id="24" name="Shape 22"/>
          <p:cNvSpPr/>
          <p:nvPr/>
        </p:nvSpPr>
        <p:spPr>
          <a:xfrm>
            <a:off x="1078992" y="3831336"/>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92277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849624"/>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Turn these verified listing facts into a listing paragraph, social caption, and open house invite.</a:t>
            </a:r>
            <a:endParaRPr lang="en-US" sz="1280" dirty="0"/>
          </a:p>
        </p:txBody>
      </p:sp>
      <p:sp>
        <p:nvSpPr>
          <p:cNvPr id="27" name="Shape 25"/>
          <p:cNvSpPr/>
          <p:nvPr/>
        </p:nvSpPr>
        <p:spPr>
          <a:xfrm>
            <a:off x="868680" y="4425696"/>
            <a:ext cx="9829800" cy="530352"/>
          </a:xfrm>
          <a:prstGeom prst="roundRect">
            <a:avLst>
              <a:gd name="adj" fmla="val 10345"/>
            </a:avLst>
          </a:prstGeom>
          <a:solidFill>
            <a:srgbClr val="EAF7F7"/>
          </a:solidFill>
          <a:ln w="10160">
            <a:solidFill>
              <a:srgbClr val="B8DDE0"/>
            </a:solidFill>
            <a:prstDash val="solid"/>
          </a:ln>
        </p:spPr>
      </p:sp>
      <p:sp>
        <p:nvSpPr>
          <p:cNvPr id="28" name="Shape 26"/>
          <p:cNvSpPr/>
          <p:nvPr/>
        </p:nvSpPr>
        <p:spPr>
          <a:xfrm>
            <a:off x="1078992" y="4507992"/>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59943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526280"/>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Role-play as [buyer/seller type] and help me practice responding professionally.</a:t>
            </a:r>
            <a:endParaRPr lang="en-US" sz="128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44/46</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SAVE CONTEXT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best prompt</a:t>
            </a:r>
            <a:endParaRPr lang="en-US" sz="118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verified fact block</a:t>
            </a:r>
            <a:endParaRPr lang="en-US" sz="118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final reviewed version</a:t>
            </a:r>
            <a:endParaRPr lang="en-US" sz="118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Note what worked</a:t>
            </a:r>
            <a:endParaRPr lang="en-US" sz="118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Reuse as a template next time</a:t>
            </a:r>
            <a:endParaRPr lang="en-US" sz="118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45/46</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ACTION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11" name="Shape 9"/>
          <p:cNvSpPr/>
          <p:nvPr/>
        </p:nvSpPr>
        <p:spPr>
          <a:xfrm>
            <a:off x="749808" y="2148840"/>
            <a:ext cx="402336" cy="402336"/>
          </a:xfrm>
          <a:prstGeom prst="ellipse">
            <a:avLst/>
          </a:prstGeom>
          <a:solidFill>
            <a:srgbClr val="008F8F"/>
          </a:solidFill>
          <a:ln w="12700">
            <a:solidFill>
              <a:srgbClr val="008F8F"/>
            </a:solidFill>
            <a:prstDash val="solid"/>
          </a:ln>
        </p:spPr>
      </p:sp>
      <p:sp>
        <p:nvSpPr>
          <p:cNvPr id="12" name="Text 10"/>
          <p:cNvSpPr/>
          <p:nvPr/>
        </p:nvSpPr>
        <p:spPr>
          <a:xfrm>
            <a:off x="749808"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61288" y="2350008"/>
            <a:ext cx="1078992" cy="0"/>
          </a:xfrm>
          <a:prstGeom prst="line">
            <a:avLst/>
          </a:prstGeom>
          <a:noFill/>
          <a:ln w="16510">
            <a:solidFill>
              <a:srgbClr val="D8E6E8"/>
            </a:solidFill>
            <a:prstDash val="solid"/>
            <a:tailEnd type="triangle"/>
          </a:ln>
        </p:spPr>
      </p:sp>
      <p:sp>
        <p:nvSpPr>
          <p:cNvPr id="14" name="Text 12"/>
          <p:cNvSpPr/>
          <p:nvPr/>
        </p:nvSpPr>
        <p:spPr>
          <a:xfrm>
            <a:off x="640080"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Choose one workflow</a:t>
            </a:r>
            <a:endParaRPr lang="en-US" sz="1100" dirty="0"/>
          </a:p>
        </p:txBody>
      </p:sp>
      <p:sp>
        <p:nvSpPr>
          <p:cNvPr id="15" name="Shape 13"/>
          <p:cNvSpPr/>
          <p:nvPr/>
        </p:nvSpPr>
        <p:spPr>
          <a:xfrm>
            <a:off x="2743200" y="2148840"/>
            <a:ext cx="402336" cy="402336"/>
          </a:xfrm>
          <a:prstGeom prst="ellipse">
            <a:avLst/>
          </a:prstGeom>
          <a:solidFill>
            <a:srgbClr val="2F80ED"/>
          </a:solidFill>
          <a:ln w="12700">
            <a:solidFill>
              <a:srgbClr val="2F80ED"/>
            </a:solidFill>
            <a:prstDash val="solid"/>
          </a:ln>
        </p:spPr>
      </p:sp>
      <p:sp>
        <p:nvSpPr>
          <p:cNvPr id="16" name="Text 14"/>
          <p:cNvSpPr/>
          <p:nvPr/>
        </p:nvSpPr>
        <p:spPr>
          <a:xfrm>
            <a:off x="2743200"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154680" y="2350008"/>
            <a:ext cx="1078992" cy="0"/>
          </a:xfrm>
          <a:prstGeom prst="line">
            <a:avLst/>
          </a:prstGeom>
          <a:noFill/>
          <a:ln w="16510">
            <a:solidFill>
              <a:srgbClr val="D8E6E8"/>
            </a:solidFill>
            <a:prstDash val="solid"/>
            <a:tailEnd type="triangle"/>
          </a:ln>
        </p:spPr>
      </p:sp>
      <p:sp>
        <p:nvSpPr>
          <p:cNvPr id="18" name="Text 16"/>
          <p:cNvSpPr/>
          <p:nvPr/>
        </p:nvSpPr>
        <p:spPr>
          <a:xfrm>
            <a:off x="2633472"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Write one reusable prompt</a:t>
            </a:r>
            <a:endParaRPr lang="en-US" sz="1100" dirty="0"/>
          </a:p>
        </p:txBody>
      </p:sp>
      <p:sp>
        <p:nvSpPr>
          <p:cNvPr id="19" name="Shape 17"/>
          <p:cNvSpPr/>
          <p:nvPr/>
        </p:nvSpPr>
        <p:spPr>
          <a:xfrm>
            <a:off x="4736592" y="2148840"/>
            <a:ext cx="402336" cy="402336"/>
          </a:xfrm>
          <a:prstGeom prst="ellipse">
            <a:avLst/>
          </a:prstGeom>
          <a:solidFill>
            <a:srgbClr val="F45B69"/>
          </a:solidFill>
          <a:ln w="12700">
            <a:solidFill>
              <a:srgbClr val="F45B69"/>
            </a:solidFill>
            <a:prstDash val="solid"/>
          </a:ln>
        </p:spPr>
      </p:sp>
      <p:sp>
        <p:nvSpPr>
          <p:cNvPr id="20" name="Text 18"/>
          <p:cNvSpPr/>
          <p:nvPr/>
        </p:nvSpPr>
        <p:spPr>
          <a:xfrm>
            <a:off x="4736592"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148072" y="2350008"/>
            <a:ext cx="1078992" cy="0"/>
          </a:xfrm>
          <a:prstGeom prst="line">
            <a:avLst/>
          </a:prstGeom>
          <a:noFill/>
          <a:ln w="16510">
            <a:solidFill>
              <a:srgbClr val="D8E6E8"/>
            </a:solidFill>
            <a:prstDash val="solid"/>
            <a:tailEnd type="triangle"/>
          </a:ln>
        </p:spPr>
      </p:sp>
      <p:sp>
        <p:nvSpPr>
          <p:cNvPr id="22" name="Text 20"/>
          <p:cNvSpPr/>
          <p:nvPr/>
        </p:nvSpPr>
        <p:spPr>
          <a:xfrm>
            <a:off x="4626864"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Use it three times</a:t>
            </a:r>
            <a:endParaRPr lang="en-US" sz="1100" dirty="0"/>
          </a:p>
        </p:txBody>
      </p:sp>
      <p:sp>
        <p:nvSpPr>
          <p:cNvPr id="23" name="Shape 21"/>
          <p:cNvSpPr/>
          <p:nvPr/>
        </p:nvSpPr>
        <p:spPr>
          <a:xfrm>
            <a:off x="6729984" y="2148840"/>
            <a:ext cx="402336" cy="402336"/>
          </a:xfrm>
          <a:prstGeom prst="ellipse">
            <a:avLst/>
          </a:prstGeom>
          <a:solidFill>
            <a:srgbClr val="2E7D5B"/>
          </a:solidFill>
          <a:ln w="12700">
            <a:solidFill>
              <a:srgbClr val="2E7D5B"/>
            </a:solidFill>
            <a:prstDash val="solid"/>
          </a:ln>
        </p:spPr>
      </p:sp>
      <p:sp>
        <p:nvSpPr>
          <p:cNvPr id="24" name="Text 22"/>
          <p:cNvSpPr/>
          <p:nvPr/>
        </p:nvSpPr>
        <p:spPr>
          <a:xfrm>
            <a:off x="6729984"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141464" y="2350008"/>
            <a:ext cx="1078992" cy="0"/>
          </a:xfrm>
          <a:prstGeom prst="line">
            <a:avLst/>
          </a:prstGeom>
          <a:noFill/>
          <a:ln w="16510">
            <a:solidFill>
              <a:srgbClr val="D8E6E8"/>
            </a:solidFill>
            <a:prstDash val="solid"/>
            <a:tailEnd type="triangle"/>
          </a:ln>
        </p:spPr>
      </p:sp>
      <p:sp>
        <p:nvSpPr>
          <p:cNvPr id="26" name="Text 24"/>
          <p:cNvSpPr/>
          <p:nvPr/>
        </p:nvSpPr>
        <p:spPr>
          <a:xfrm>
            <a:off x="6620256"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Save what worked</a:t>
            </a:r>
            <a:endParaRPr lang="en-US" sz="1100" dirty="0"/>
          </a:p>
        </p:txBody>
      </p:sp>
      <p:sp>
        <p:nvSpPr>
          <p:cNvPr id="27" name="Shape 25"/>
          <p:cNvSpPr/>
          <p:nvPr/>
        </p:nvSpPr>
        <p:spPr>
          <a:xfrm>
            <a:off x="8723376" y="2148840"/>
            <a:ext cx="402336" cy="402336"/>
          </a:xfrm>
          <a:prstGeom prst="ellipse">
            <a:avLst/>
          </a:prstGeom>
          <a:solidFill>
            <a:srgbClr val="F2B84B"/>
          </a:solidFill>
          <a:ln w="12700">
            <a:solidFill>
              <a:srgbClr val="F2B84B"/>
            </a:solidFill>
            <a:prstDash val="solid"/>
          </a:ln>
        </p:spPr>
      </p:sp>
      <p:sp>
        <p:nvSpPr>
          <p:cNvPr id="28" name="Text 26"/>
          <p:cNvSpPr/>
          <p:nvPr/>
        </p:nvSpPr>
        <p:spPr>
          <a:xfrm>
            <a:off x="8723376"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613648"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Review before using with clients</a:t>
            </a:r>
            <a:endParaRPr lang="en-US" sz="1100" dirty="0"/>
          </a:p>
        </p:txBody>
      </p:sp>
      <p:sp>
        <p:nvSpPr>
          <p:cNvPr id="30" name="Shape 28"/>
          <p:cNvSpPr/>
          <p:nvPr/>
        </p:nvSpPr>
        <p:spPr>
          <a:xfrm>
            <a:off x="841248" y="3977640"/>
            <a:ext cx="9829800" cy="1024128"/>
          </a:xfrm>
          <a:prstGeom prst="roundRect">
            <a:avLst>
              <a:gd name="adj" fmla="val 5357"/>
            </a:avLst>
          </a:prstGeom>
          <a:solidFill>
            <a:srgbClr val="FFFFFF"/>
          </a:solidFill>
          <a:ln w="10160">
            <a:solidFill>
              <a:srgbClr val="C9DFE5"/>
            </a:solidFill>
            <a:prstDash val="solid"/>
          </a:ln>
        </p:spPr>
      </p:sp>
      <p:sp>
        <p:nvSpPr>
          <p:cNvPr id="31" name="Text 29"/>
          <p:cNvSpPr/>
          <p:nvPr/>
        </p:nvSpPr>
        <p:spPr>
          <a:xfrm>
            <a:off x="1115568" y="4187952"/>
            <a:ext cx="3246120" cy="182880"/>
          </a:xfrm>
          <a:prstGeom prst="rect">
            <a:avLst/>
          </a:prstGeom>
          <a:noFill/>
          <a:ln/>
        </p:spPr>
        <p:txBody>
          <a:bodyPr wrap="square" lIns="0" tIns="0" rIns="0" bIns="0" rtlCol="0" anchor="ctr"/>
          <a:lstStyle/>
          <a:p>
            <a:pPr indent="0" marL="0">
              <a:buNone/>
            </a:pPr>
            <a:r>
              <a:rPr lang="en-US" sz="1180" b="1" dirty="0">
                <a:solidFill>
                  <a:srgbClr val="16324F"/>
                </a:solidFill>
              </a:rPr>
              <a:t>Presented by Ian Burton Price</a:t>
            </a:r>
            <a:endParaRPr lang="en-US" sz="1180" dirty="0"/>
          </a:p>
        </p:txBody>
      </p:sp>
      <p:sp>
        <p:nvSpPr>
          <p:cNvPr id="32" name="Text 30"/>
          <p:cNvSpPr/>
          <p:nvPr/>
        </p:nvSpPr>
        <p:spPr>
          <a:xfrm>
            <a:off x="1115568" y="4462272"/>
            <a:ext cx="4206240" cy="329184"/>
          </a:xfrm>
          <a:prstGeom prst="rect">
            <a:avLst/>
          </a:prstGeom>
          <a:noFill/>
          <a:ln/>
        </p:spPr>
        <p:txBody>
          <a:bodyPr wrap="square" lIns="0" tIns="0" rIns="0" bIns="0" rtlCol="0" anchor="ctr">
            <a:normAutofit/>
          </a:bodyPr>
          <a:lstStyle/>
          <a:p>
            <a:pPr indent="0" marL="0">
              <a:buNone/>
            </a:pPr>
            <a:r>
              <a:rPr lang="en-US" sz="980" dirty="0">
                <a:solidFill>
                  <a:srgbClr val="52606D"/>
                </a:solidFill>
              </a:rPr>
              <a:t>REALTOR® | Dalton Wade Real Estate Group</a:t>
            </a:r>
            <a:endParaRPr lang="en-US" sz="980" dirty="0"/>
          </a:p>
          <a:p>
            <a:pPr indent="0" marL="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r>
          <p:cNvPicPr>
            <a:picLocks noChangeAspect="1"/>
          </p:cNvPicPr>
          <p:nvPr/>
        </p:nvPicPr>
        <p:blipFill>
          <a:blip r:embed="rId1"/>
          <a:stretch>
            <a:fillRect/>
          </a:stretch>
        </p:blipFill>
        <p:spPr>
          <a:xfrm>
            <a:off x="7909560" y="429768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sp>
      <p:sp>
        <p:nvSpPr>
          <p:cNvPr id="35" name="Text 3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46/46</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2026-06-05T14:44:32Z</dcterms:created>
  <dcterms:modified xsi:type="dcterms:W3CDTF">2026-06-05T14:44:32Z</dcterms:modified>
</cp:coreProperties>
</file>