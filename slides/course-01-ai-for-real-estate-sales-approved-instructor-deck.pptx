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attendees. Set expectations: practical, non-technical, compliance-aware, and vendor-neutral.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the instructor context brief. Mention GoHouse.ai only as professional background, not as a product pitch.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Ian Burton Price is a REALTOR with Dalton Wade Real Estate Group and serves as V.P. of Growth and Partnerships at GoHouse.ai. His work focuses on practical AI adoption, buyer-intent intelligence, lead follow-up, agent productivity, and business development within the real estate industry.
Ian brings experience across real estate sales, online lead generation, call systems, CRM-adjacent workflows, automation, and client communication systems. His teaching approach is practical and workflow-driven, helping agents understand how AI can support everyday tasks such as follow-up, listing preparation, client updates, appointment preparation, and business operations.
Rather than treating AI as a replacement for professional judgment, Ian emphasizes responsible use, human review, privacy awareness, Fair Housing sensitivity, and brokerage compliance.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approved learning objectives, rewritten for a live workshop slide. The full formal objectives remain preserved in the approved syllabus and can be referenced verbally if needed.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timing as the approved two-hour path. The segments total 120 minutes. Exercises may expand or compress slightly, but keep the overall class within two hours.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Tie to texts, emails, listing notes, showing feedback, and CRM updates.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a vague social post prompt with a repeatable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down one task for later exercises.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AI predicts useful language; it does not verify your facts.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Explain that agents should treat AI like a public communication channel unless their brokerage has approved the tool, settings, and data-handling process. Do not paste client names, phone numbers, emails, financial details, motivation, medical or family circumstances, lockbox or access information, seller strategy, or confidential negotiation context into public AI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this review lens throughout the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Connect this directly to the review lens. "Family neighborhood" can create Fair Housing risk. "Young professionals" can imply demographic targeting. "Best schools" needs verification and may create risk if used carelessly. "Quiet" may be subjective. Safer rewrite: "This home offers convenient access to nearby parks, dining, and local amenities. Buyers are encouraged to review school information and neighborhood details using their own preferred sources."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that the prompt provides facts, tone, constraints, and review boundaries.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 this formula repeatedly.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shows how the formula becomes a usable prompt. Keep the prompt readable and emphasize role, task, context, tone, constraints, and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Point out empathy, value, and easy next question. Avoid lender-specific promises.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no panic, no blame, no invented stats.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phrase "just checking in" is the teaching target. Sample text version: "Hi [Name], I saw you were looking at 2-bedroom condos. Are you still focused on that area, or would it help if I sent a few similar options with updated availability?" Sample email version: "Hi [Name], I wanted to follow up with something useful rather than just check in. Are you still comparing 2-bedroom condos, or has your search shifted to a different area, price range, or timeline?"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Encourage attendees to save prompts that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chat per client, property, or workflow when context matters. Use separate chats when topics, clients, or confidential contexts should not mix.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examples: portal, IDX, open house, valuation lead, old database contact, referral, social media lead, and sign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distinction is important: AI should not auto-send. The agent provides context, reviews the output, edits it, and decides what gets 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not imply AI should auto-send without human review. Different lead sources need different first responses because the relationship context is different.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Emphasize that availability must be verified. This is a sample lead created for classroom safety.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Have attendees work in pairs or individually. Sample text: "Hi [Name], I saw your inquiry about a 2-bedroom condo. Are you mainly trying to confirm availability, compare similar options, or schedule a time to see it?" Sample email: "Hi [Name], thanks for reaching out about the 2-bedroom condo. I can verify the latest status and send a few similar options if you are open to comparing. Are you looking for something soon, or are you still in the early research stage?" Sample voicemail opener: "Hi [Name], this is Ian. I saw your inquiry about the 2-bedroom condo and wanted to help you confirm the next best step. I will also send a quick message so you can reply when convenient."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measurement simple. Add appointments per 100 leads as an optional metric for teams or brokers.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Warn against asking AI to invent descriptions from an address. MLS information still requires human review because MLS data is entered by people and can contain mistakes.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useful copy without protected-class language, exaggerated claims, or unsupported details.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agents to preserve a clean source facts block manually in the same chat or notes. Do not claim AI memory is reliable by itself.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Remind attendees that MLS, brokerage, and advertising rules still apply. Sample verified property fact set: 3 bedrooms; 2 bathrooms; updated kitchen; covered patio; 2-car garage; near dining, parks, and everyday conveniences; open house Saturday, 12 PM to 2 PM. Do not mention schools, demographics, safety, or anything not verified.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value is preparation and clarity, not replacing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the room identify better language for pricing conversations.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Clarify that this is an objection-practice example, not a rate prediction slide. Avoid rate predictions and financial advice. Suggest lender involvement for specifics.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exercise creates a usable takeaway. Sample buyer consultation agenda: 1. Search goals and timeline. 2. Budget and financing status. 3. Preferred areas and property types. 4. Must-haves versus flexible items. 5. Next steps and communication plan. Discovery questions: What is prompting the move? What would make a home worth seeing immediately? What are you trying to avoid? How soon would you want to act if the right property appeared? Who else should be part of the decision? Likely objections: "I want to wait for rates to drop." "I am not sure where I want to live." "I do not want to feel pressured." Follow-up email: "Thank you for taking the time to talk today. Based on our conversation, I will focus on [property type], [area], and [key criteria]. I will send options that match those priorities and flag anything that may be worth discussing quickly."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into the next approved syllabus section. State the practical outcome before beginning the content.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Small repeated usage beats one dramatic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Some AI assistants can summarize, remind, or prepare routine updates, but agents should confirm tool permissions and privacy settings first. Some tools allow saved instructions, privacy settings, project-level instructions, or workflow guardrails. These can help, but they do not replace brokerage policy, human review, or compliance judgment.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AI can help draft and organize communication, but agents should follow brokerage policy, MLS rules, advertising rules, opt-out requirements, and applicable communication laws before automating texts, emails, or calls. Do not imply AI should auto-send messages without human review and policy approval.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Ask attendees to write one workflow they will actually use.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one chat per client, property, or workflow when context matters. Use separate chats when topics, clients, or confidential contexts should not mix. Encourage attendees to customize the bracketed fields.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 make AI output repeatable, save the prompt, the verified fact block, the tone instruction, the final reviewed version, and the reason it worked.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course provides general education, not legal, financial, brokerage, MLS, or Fair Housing advice. Point attendees to brokerage AI policies, Fair Housing and advertising guidance, MLS rules, and appropriate professionals when needed. Close on action and presenter contact, not a generic thank-you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6324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16324F"/>
          </a:solidFill>
          <a:ln w="12700">
            <a:solidFill>
              <a:srgbClr val="16324F"/>
            </a:solidFill>
            <a:prstDash val="solid"/>
          </a:ln>
        </p:spPr>
      </p:sp>
      <p:sp>
        <p:nvSpPr>
          <p:cNvPr id="3" name="Shape 1"/>
          <p:cNvSpPr/>
          <p:nvPr/>
        </p:nvSpPr>
        <p:spPr>
          <a:xfrm>
            <a:off x="8138160" y="-502920"/>
            <a:ext cx="4389120" cy="4389120"/>
          </a:xfrm>
          <a:prstGeom prst="arc">
            <a:avLst/>
          </a:prstGeom>
          <a:solidFill>
            <a:srgbClr val="16324F">
              <a:alpha val="0"/>
            </a:srgbClr>
          </a:solidFill>
          <a:ln w="25400">
            <a:solidFill>
              <a:srgbClr val="5FBDBD">
                <a:alpha val="72000"/>
              </a:srgbClr>
            </a:solidFill>
            <a:prstDash val="solid"/>
          </a:ln>
        </p:spPr>
      </p:sp>
      <p:sp>
        <p:nvSpPr>
          <p:cNvPr id="4" name="Shape 2"/>
          <p:cNvSpPr/>
          <p:nvPr/>
        </p:nvSpPr>
        <p:spPr>
          <a:xfrm>
            <a:off x="10826496" y="0"/>
            <a:ext cx="201168" cy="6858000"/>
          </a:xfrm>
          <a:prstGeom prst="rect">
            <a:avLst/>
          </a:prstGeom>
          <a:solidFill>
            <a:srgbClr val="008F8F">
              <a:alpha val="75000"/>
            </a:srgbClr>
          </a:solidFill>
          <a:ln w="12700">
            <a:solidFill>
              <a:srgbClr val="008F8F">
                <a:alpha val="0"/>
              </a:srgbClr>
            </a:solidFill>
            <a:prstDash val="solid"/>
          </a:ln>
        </p:spPr>
      </p:sp>
      <p:sp>
        <p:nvSpPr>
          <p:cNvPr id="5" name="Shape 3"/>
          <p:cNvSpPr/>
          <p:nvPr/>
        </p:nvSpPr>
        <p:spPr>
          <a:xfrm>
            <a:off x="11082528" y="0"/>
            <a:ext cx="91440" cy="6858000"/>
          </a:xfrm>
          <a:prstGeom prst="rect">
            <a:avLst/>
          </a:prstGeom>
          <a:solidFill>
            <a:srgbClr val="F2B84B">
              <a:alpha val="88000"/>
            </a:srgbClr>
          </a:solidFill>
          <a:ln w="12700">
            <a:solidFill>
              <a:srgbClr val="F2B84B">
                <a:alpha val="0"/>
              </a:srgbClr>
            </a:solidFill>
            <a:prstDash val="solid"/>
          </a:ln>
        </p:spPr>
      </p:sp>
      <p:sp>
        <p:nvSpPr>
          <p:cNvPr id="6" name="Shape 4"/>
          <p:cNvSpPr/>
          <p:nvPr/>
        </p:nvSpPr>
        <p:spPr>
          <a:xfrm>
            <a:off x="7178040" y="2148840"/>
            <a:ext cx="2880360" cy="1874520"/>
          </a:xfrm>
          <a:prstGeom prst="roundRect">
            <a:avLst>
              <a:gd name="adj" fmla="val 2927"/>
            </a:avLst>
          </a:prstGeom>
          <a:solidFill>
            <a:srgbClr val="1E4768">
              <a:alpha val="82000"/>
            </a:srgbClr>
          </a:solidFill>
          <a:ln w="12700">
            <a:solidFill>
              <a:srgbClr val="5FBDBD">
                <a:alpha val="55000"/>
              </a:srgbClr>
            </a:solidFill>
            <a:prstDash val="solid"/>
          </a:ln>
        </p:spPr>
      </p:sp>
      <p:sp>
        <p:nvSpPr>
          <p:cNvPr id="7" name="Text 5"/>
          <p:cNvSpPr/>
          <p:nvPr/>
        </p:nvSpPr>
        <p:spPr>
          <a:xfrm>
            <a:off x="7479792" y="2487168"/>
            <a:ext cx="2286000" cy="182880"/>
          </a:xfrm>
          <a:prstGeom prst="rect">
            <a:avLst/>
          </a:prstGeom>
          <a:noFill/>
          <a:ln/>
        </p:spPr>
        <p:txBody>
          <a:bodyPr wrap="square" lIns="0" tIns="0" rIns="0" bIns="0" rtlCol="0" anchor="ctr"/>
          <a:lstStyle/>
          <a:p>
            <a:pPr indent="0" marL="0">
              <a:buNone/>
            </a:pPr>
            <a:r>
              <a:rPr lang="en-US" sz="1050" b="1" dirty="0">
                <a:solidFill>
                  <a:srgbClr val="F2B84B"/>
                </a:solidFill>
              </a:rPr>
              <a:t>Practical workshop focus</a:t>
            </a:r>
            <a:endParaRPr lang="en-US" sz="1050" dirty="0"/>
          </a:p>
        </p:txBody>
      </p:sp>
      <p:sp>
        <p:nvSpPr>
          <p:cNvPr id="8" name="Text 6"/>
          <p:cNvSpPr/>
          <p:nvPr/>
        </p:nvSpPr>
        <p:spPr>
          <a:xfrm>
            <a:off x="7479792" y="2788920"/>
            <a:ext cx="2240280" cy="713232"/>
          </a:xfrm>
          <a:prstGeom prst="rect">
            <a:avLst/>
          </a:prstGeom>
          <a:noFill/>
          <a:ln/>
        </p:spPr>
        <p:txBody>
          <a:bodyPr wrap="square" lIns="254" tIns="254" rIns="254" bIns="254" rtlCol="0" anchor="ctr">
            <a:normAutofit/>
          </a:bodyPr>
          <a:lstStyle/>
          <a:p>
            <a:pPr indent="0" marL="0">
              <a:buNone/>
            </a:pPr>
            <a:r>
              <a:rPr lang="en-US" sz="1220" dirty="0">
                <a:solidFill>
                  <a:srgbClr val="D7EDEE"/>
                </a:solidFill>
              </a:rPr>
              <a:t>Client messages</a:t>
            </a:r>
            <a:endParaRPr lang="en-US" sz="1220" dirty="0"/>
          </a:p>
          <a:p>
            <a:pPr indent="0" marL="0">
              <a:buNone/>
            </a:pPr>
            <a:r>
              <a:rPr lang="en-US" sz="1220" dirty="0">
                <a:solidFill>
                  <a:srgbClr val="D7EDEE"/>
                </a:solidFill>
              </a:rPr>
              <a:t>Lead follow-up</a:t>
            </a:r>
            <a:endParaRPr lang="en-US" sz="1220" dirty="0"/>
          </a:p>
          <a:p>
            <a:pPr indent="0" marL="0">
              <a:buNone/>
            </a:pPr>
            <a:r>
              <a:rPr lang="en-US" sz="1220" dirty="0">
                <a:solidFill>
                  <a:srgbClr val="D7EDEE"/>
                </a:solidFill>
              </a:rPr>
              <a:t>Listing prep</a:t>
            </a:r>
            <a:endParaRPr lang="en-US" sz="1220" dirty="0"/>
          </a:p>
          <a:p>
            <a:pPr indent="0" marL="0">
              <a:buNone/>
            </a:pPr>
            <a:r>
              <a:rPr lang="en-US" sz="1220" dirty="0">
                <a:solidFill>
                  <a:srgbClr val="D7EDEE"/>
                </a:solidFill>
              </a:rPr>
              <a:t>Appointment prep</a:t>
            </a:r>
            <a:endParaRPr lang="en-US" sz="1220" dirty="0"/>
          </a:p>
        </p:txBody>
      </p:sp>
      <p:sp>
        <p:nvSpPr>
          <p:cNvPr id="9" name="Text 7"/>
          <p:cNvSpPr/>
          <p:nvPr/>
        </p:nvSpPr>
        <p:spPr>
          <a:xfrm>
            <a:off x="731520" y="685800"/>
            <a:ext cx="6217920" cy="228600"/>
          </a:xfrm>
          <a:prstGeom prst="rect">
            <a:avLst/>
          </a:prstGeom>
          <a:noFill/>
          <a:ln/>
        </p:spPr>
        <p:txBody>
          <a:bodyPr wrap="square" lIns="0" tIns="0" rIns="0" bIns="0" rtlCol="0" anchor="ctr"/>
          <a:lstStyle/>
          <a:p>
            <a:pPr indent="0" marL="0">
              <a:buNone/>
            </a:pPr>
            <a:r>
              <a:rPr lang="en-US" sz="1050" b="1" dirty="0">
                <a:solidFill>
                  <a:srgbClr val="F2B84B"/>
                </a:solidFill>
              </a:rPr>
              <a:t>APPROVED REALTOR® EDUCATION COURSE</a:t>
            </a:r>
            <a:endParaRPr lang="en-US" sz="1050" dirty="0"/>
          </a:p>
        </p:txBody>
      </p:sp>
      <p:sp>
        <p:nvSpPr>
          <p:cNvPr id="10" name="Text 8"/>
          <p:cNvSpPr/>
          <p:nvPr/>
        </p:nvSpPr>
        <p:spPr>
          <a:xfrm>
            <a:off x="713232" y="1508760"/>
            <a:ext cx="8961120" cy="777240"/>
          </a:xfrm>
          <a:prstGeom prst="rect">
            <a:avLst/>
          </a:prstGeom>
          <a:noFill/>
          <a:ln/>
        </p:spPr>
        <p:txBody>
          <a:bodyPr wrap="square" lIns="0" tIns="0" rIns="0" bIns="0" rtlCol="0" anchor="ctr">
            <a:normAutofit/>
          </a:bodyPr>
          <a:lstStyle/>
          <a:p>
            <a:pPr indent="0" marL="0">
              <a:buNone/>
            </a:pPr>
            <a:r>
              <a:rPr lang="en-US" sz="4200" b="1" dirty="0">
                <a:solidFill>
                  <a:srgbClr val="FFFFFF"/>
                </a:solidFill>
                <a:latin typeface="Aptos Display" pitchFamily="34" charset="0"/>
                <a:ea typeface="Aptos Display" pitchFamily="34" charset="-122"/>
                <a:cs typeface="Aptos Display" pitchFamily="34" charset="-120"/>
              </a:rPr>
              <a:t>AI for Real Estate Sales</a:t>
            </a:r>
            <a:endParaRPr lang="en-US" sz="4200" dirty="0"/>
          </a:p>
        </p:txBody>
      </p:sp>
      <p:sp>
        <p:nvSpPr>
          <p:cNvPr id="11" name="Text 9"/>
          <p:cNvSpPr/>
          <p:nvPr/>
        </p:nvSpPr>
        <p:spPr>
          <a:xfrm>
            <a:off x="749808" y="2340864"/>
            <a:ext cx="7955280" cy="411480"/>
          </a:xfrm>
          <a:prstGeom prst="rect">
            <a:avLst/>
          </a:prstGeom>
          <a:noFill/>
          <a:ln/>
        </p:spPr>
        <p:txBody>
          <a:bodyPr wrap="square" lIns="0" tIns="0" rIns="0" bIns="0" rtlCol="0" anchor="ctr"/>
          <a:lstStyle/>
          <a:p>
            <a:pPr indent="0" marL="0">
              <a:buNone/>
            </a:pPr>
            <a:r>
              <a:rPr lang="en-US" sz="2200" dirty="0">
                <a:solidFill>
                  <a:srgbClr val="D7EDEE"/>
                </a:solidFill>
              </a:rPr>
              <a:t>From Confusion to Daily Use</a:t>
            </a:r>
            <a:endParaRPr lang="en-US" sz="2200" dirty="0"/>
          </a:p>
        </p:txBody>
      </p:sp>
      <p:sp>
        <p:nvSpPr>
          <p:cNvPr id="12" name="Shape 10"/>
          <p:cNvSpPr/>
          <p:nvPr/>
        </p:nvSpPr>
        <p:spPr>
          <a:xfrm>
            <a:off x="749808" y="3054096"/>
            <a:ext cx="2011680" cy="0"/>
          </a:xfrm>
          <a:prstGeom prst="line">
            <a:avLst/>
          </a:prstGeom>
          <a:noFill/>
          <a:ln w="50800">
            <a:solidFill>
              <a:srgbClr val="F45B69"/>
            </a:solidFill>
            <a:prstDash val="solid"/>
          </a:ln>
        </p:spPr>
      </p:sp>
      <p:sp>
        <p:nvSpPr>
          <p:cNvPr id="13" name="Shape 11"/>
          <p:cNvSpPr/>
          <p:nvPr/>
        </p:nvSpPr>
        <p:spPr>
          <a:xfrm>
            <a:off x="749808" y="3346704"/>
            <a:ext cx="1572768" cy="310896"/>
          </a:xfrm>
          <a:prstGeom prst="roundRect">
            <a:avLst>
              <a:gd name="adj" fmla="val 11765"/>
            </a:avLst>
          </a:prstGeom>
          <a:solidFill>
            <a:srgbClr val="008F8F"/>
          </a:solidFill>
          <a:ln w="12700">
            <a:solidFill>
              <a:srgbClr val="008F8F"/>
            </a:solidFill>
            <a:prstDash val="solid"/>
          </a:ln>
        </p:spPr>
      </p:sp>
      <p:sp>
        <p:nvSpPr>
          <p:cNvPr id="14" name="Text 12"/>
          <p:cNvSpPr/>
          <p:nvPr/>
        </p:nvSpPr>
        <p:spPr>
          <a:xfrm>
            <a:off x="877824" y="34335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LIVE WORKSHOP</a:t>
            </a:r>
            <a:endParaRPr lang="en-US" sz="720" dirty="0"/>
          </a:p>
        </p:txBody>
      </p:sp>
      <p:sp>
        <p:nvSpPr>
          <p:cNvPr id="15" name="Text 13"/>
          <p:cNvSpPr/>
          <p:nvPr/>
        </p:nvSpPr>
        <p:spPr>
          <a:xfrm>
            <a:off x="2487168" y="3401568"/>
            <a:ext cx="2423160" cy="146304"/>
          </a:xfrm>
          <a:prstGeom prst="rect">
            <a:avLst/>
          </a:prstGeom>
          <a:noFill/>
          <a:ln/>
        </p:spPr>
        <p:txBody>
          <a:bodyPr wrap="square" lIns="0" tIns="0" rIns="0" bIns="0" rtlCol="0" anchor="ctr"/>
          <a:lstStyle/>
          <a:p>
            <a:pPr indent="0" marL="0">
              <a:buNone/>
            </a:pPr>
            <a:r>
              <a:rPr lang="en-US" sz="1030" b="1" dirty="0">
                <a:solidFill>
                  <a:srgbClr val="D7EDEE"/>
                </a:solidFill>
              </a:rPr>
              <a:t>Presented by Ian Burton Price</a:t>
            </a:r>
            <a:endParaRPr lang="en-US" sz="1030" dirty="0"/>
          </a:p>
        </p:txBody>
      </p:sp>
      <p:pic>
        <p:nvPicPr>
          <p:cNvPr id="16" name="Image 0" descr="C:\Users\TR4_1950X\Documents\New project\assets\brand\gohouse-logo-w-text-large-transparent.png">    </p:cNvPr>
          <p:cNvPicPr>
            <a:picLocks noChangeAspect="1"/>
          </p:cNvPicPr>
          <p:nvPr/>
        </p:nvPicPr>
        <p:blipFill>
          <a:blip r:embed="rId1"/>
          <a:stretch>
            <a:fillRect/>
          </a:stretch>
        </p:blipFill>
        <p:spPr>
          <a:xfrm>
            <a:off x="4736592" y="3264408"/>
            <a:ext cx="960120" cy="192024"/>
          </a:xfrm>
          <a:prstGeom prst="rect">
            <a:avLst/>
          </a:prstGeom>
        </p:spPr>
      </p:pic>
      <p:sp>
        <p:nvSpPr>
          <p:cNvPr id="17" name="Shape 14"/>
          <p:cNvSpPr/>
          <p:nvPr/>
        </p:nvSpPr>
        <p:spPr>
          <a:xfrm>
            <a:off x="603504" y="4206240"/>
            <a:ext cx="4281587" cy="819302"/>
          </a:xfrm>
          <a:prstGeom prst="roundRect">
            <a:avLst>
              <a:gd name="adj" fmla="val 4464"/>
            </a:avLst>
          </a:prstGeom>
          <a:solidFill>
            <a:srgbClr val="FFFFFF">
              <a:alpha val="97000"/>
            </a:srgbClr>
          </a:solidFill>
          <a:ln w="7620">
            <a:solidFill>
              <a:srgbClr val="D7E4EA">
                <a:alpha val="75000"/>
              </a:srgbClr>
            </a:solidFill>
            <a:prstDash val="solid"/>
          </a:ln>
        </p:spPr>
      </p:sp>
      <p:pic>
        <p:nvPicPr>
          <p:cNvPr id="18" name="Image 1" descr="C:\Users\TR4_1950X\Documents\New project\assets\brand\miami-realtors-rworld-combined-logo.png">    </p:cNvPr>
          <p:cNvPicPr>
            <a:picLocks noChangeAspect="1"/>
          </p:cNvPicPr>
          <p:nvPr/>
        </p:nvPicPr>
        <p:blipFill>
          <a:blip r:embed="rId2"/>
          <a:stretch>
            <a:fillRect/>
          </a:stretch>
        </p:blipFill>
        <p:spPr>
          <a:xfrm>
            <a:off x="749808" y="4315968"/>
            <a:ext cx="3988979" cy="599846"/>
          </a:xfrm>
          <a:prstGeom prst="rect">
            <a:avLst/>
          </a:prstGeom>
        </p:spPr>
      </p:pic>
      <p:sp>
        <p:nvSpPr>
          <p:cNvPr id="19" name="Text 15"/>
          <p:cNvSpPr/>
          <p:nvPr/>
        </p:nvSpPr>
        <p:spPr>
          <a:xfrm>
            <a:off x="749808" y="5440680"/>
            <a:ext cx="6217920" cy="256032"/>
          </a:xfrm>
          <a:prstGeom prst="rect">
            <a:avLst/>
          </a:prstGeom>
          <a:noFill/>
          <a:ln/>
        </p:spPr>
        <p:txBody>
          <a:bodyPr wrap="square" lIns="0" tIns="0" rIns="0" bIns="0" rtlCol="0" anchor="ctr"/>
          <a:lstStyle/>
          <a:p>
            <a:pPr indent="0" marL="0">
              <a:buNone/>
            </a:pPr>
            <a:r>
              <a:rPr lang="en-US" sz="1200" dirty="0">
                <a:solidFill>
                  <a:srgbClr val="D7EDEE"/>
                </a:solidFill>
              </a:rPr>
              <a:t>For MIAMI REALTORS® + RWorld members</a:t>
            </a:r>
            <a:endParaRPr lang="en-US" sz="1200" dirty="0"/>
          </a:p>
        </p:txBody>
      </p:sp>
      <p:sp>
        <p:nvSpPr>
          <p:cNvPr id="20" name="Text 16"/>
          <p:cNvSpPr/>
          <p:nvPr/>
        </p:nvSpPr>
        <p:spPr>
          <a:xfrm>
            <a:off x="749808" y="5760720"/>
            <a:ext cx="4937760" cy="201168"/>
          </a:xfrm>
          <a:prstGeom prst="rect">
            <a:avLst/>
          </a:prstGeom>
          <a:noFill/>
          <a:ln/>
        </p:spPr>
        <p:txBody>
          <a:bodyPr wrap="square" lIns="0" tIns="0" rIns="0" bIns="0" rtlCol="0" anchor="ctr"/>
          <a:lstStyle/>
          <a:p>
            <a:pPr indent="0" marL="0">
              <a:buNone/>
            </a:pPr>
            <a:r>
              <a:rPr lang="en-US" sz="950" dirty="0">
                <a:solidFill>
                  <a:srgbClr val="AFC8CF"/>
                </a:solidFill>
              </a:rPr>
              <a:t>Practical AI Training for Real Estate Professionals</a:t>
            </a:r>
            <a:endParaRPr lang="en-US" sz="9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INSTRUCTOR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Today is about practical AI workflows you can actually use</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Ian Burton Price brings real estate sales, lead follow-up, and AI workflow experience to the classroom.</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We will focus on messages, notes, follow-up, listing prep, appointment prep, and daily productivity.</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The class is taught as a live workshop: short concepts, real estate examples, and hands-on practice.</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Questions are welcome throughout, especially when a workflow needs to fit your brokerage or market.</a:t>
            </a:r>
            <a:endParaRPr lang="en-US" sz="166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F5C8C5"/>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Workshop point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Connect the idea to a real client, lead, listing, or daily workflow.</a:t>
            </a:r>
            <a:endParaRPr lang="en-US" sz="1220" dirty="0"/>
          </a:p>
        </p:txBody>
      </p:sp>
      <p:sp>
        <p:nvSpPr>
          <p:cNvPr id="16" name="Shape 14"/>
          <p:cNvSpPr/>
          <p:nvPr/>
        </p:nvSpPr>
        <p:spPr>
          <a:xfrm>
            <a:off x="7882128" y="4160520"/>
            <a:ext cx="1097280" cy="0"/>
          </a:xfrm>
          <a:prstGeom prst="line">
            <a:avLst/>
          </a:prstGeom>
          <a:noFill/>
          <a:ln w="38100">
            <a:solidFill>
              <a:srgbClr val="F45B69"/>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2/46</a:t>
            </a:r>
            <a:endParaRPr lang="en-US" sz="7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ABOUT THE INSTRUCTOR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About the Instructor</a:t>
            </a:r>
            <a:endParaRPr lang="en-US" sz="3000" dirty="0"/>
          </a:p>
        </p:txBody>
      </p:sp>
      <p:sp>
        <p:nvSpPr>
          <p:cNvPr id="11" name="Shape 9"/>
          <p:cNvSpPr/>
          <p:nvPr/>
        </p:nvSpPr>
        <p:spPr>
          <a:xfrm>
            <a:off x="868680" y="1828800"/>
            <a:ext cx="4800600" cy="3520440"/>
          </a:xfrm>
          <a:prstGeom prst="roundRect">
            <a:avLst>
              <a:gd name="adj" fmla="val 1558"/>
            </a:avLst>
          </a:prstGeom>
          <a:solidFill>
            <a:srgbClr val="FFFFFF"/>
          </a:solidFill>
          <a:ln w="10160">
            <a:solidFill>
              <a:srgbClr val="D8E6E8"/>
            </a:solidFill>
            <a:prstDash val="solid"/>
          </a:ln>
        </p:spPr>
      </p:sp>
      <p:sp>
        <p:nvSpPr>
          <p:cNvPr id="12" name="Text 10"/>
          <p:cNvSpPr/>
          <p:nvPr/>
        </p:nvSpPr>
        <p:spPr>
          <a:xfrm>
            <a:off x="1170432" y="2084832"/>
            <a:ext cx="1280160" cy="164592"/>
          </a:xfrm>
          <a:prstGeom prst="rect">
            <a:avLst/>
          </a:prstGeom>
          <a:noFill/>
          <a:ln/>
        </p:spPr>
        <p:txBody>
          <a:bodyPr wrap="square" lIns="0" tIns="0" rIns="0" bIns="0" rtlCol="0" anchor="ctr"/>
          <a:lstStyle/>
          <a:p>
            <a:pPr indent="0" marL="0">
              <a:buNone/>
            </a:pPr>
            <a:r>
              <a:rPr lang="en-US" sz="950" b="1" dirty="0">
                <a:solidFill>
                  <a:srgbClr val="008F8F"/>
                </a:solidFill>
              </a:rPr>
              <a:t>Instructor</a:t>
            </a:r>
            <a:endParaRPr lang="en-US" sz="950" dirty="0"/>
          </a:p>
        </p:txBody>
      </p:sp>
      <p:sp>
        <p:nvSpPr>
          <p:cNvPr id="13" name="Text 11"/>
          <p:cNvSpPr/>
          <p:nvPr/>
        </p:nvSpPr>
        <p:spPr>
          <a:xfrm>
            <a:off x="1170432" y="2395728"/>
            <a:ext cx="4160520" cy="347472"/>
          </a:xfrm>
          <a:prstGeom prst="rect">
            <a:avLst/>
          </a:prstGeom>
          <a:noFill/>
          <a:ln/>
        </p:spPr>
        <p:txBody>
          <a:bodyPr wrap="square" lIns="0" tIns="0" rIns="0" bIns="0" rtlCol="0" anchor="ctr">
            <a:normAutofit/>
          </a:bodyPr>
          <a:lstStyle/>
          <a:p>
            <a:pPr indent="0" marL="0">
              <a:buNone/>
            </a:pPr>
            <a:r>
              <a:rPr lang="en-US" sz="2200" b="1" dirty="0">
                <a:solidFill>
                  <a:srgbClr val="16324F"/>
                </a:solidFill>
              </a:rPr>
              <a:t>Ian Burton Price</a:t>
            </a:r>
            <a:endParaRPr lang="en-US" sz="2200" dirty="0"/>
          </a:p>
        </p:txBody>
      </p:sp>
      <p:sp>
        <p:nvSpPr>
          <p:cNvPr id="14" name="Text 12"/>
          <p:cNvSpPr/>
          <p:nvPr/>
        </p:nvSpPr>
        <p:spPr>
          <a:xfrm>
            <a:off x="1170432" y="2816352"/>
            <a:ext cx="4160520" cy="274320"/>
          </a:xfrm>
          <a:prstGeom prst="rect">
            <a:avLst/>
          </a:prstGeom>
          <a:noFill/>
          <a:ln/>
        </p:spPr>
        <p:txBody>
          <a:bodyPr wrap="square" lIns="0" tIns="0" rIns="0" bIns="0" rtlCol="0" anchor="ctr">
            <a:normAutofit/>
          </a:bodyPr>
          <a:lstStyle/>
          <a:p>
            <a:pPr indent="0" marL="0">
              <a:buNone/>
            </a:pPr>
            <a:r>
              <a:rPr lang="en-US" sz="1280" dirty="0">
                <a:solidFill>
                  <a:srgbClr val="52606D"/>
                </a:solidFill>
              </a:rPr>
              <a:t>REALTOR® | Dalton Wade Real Estate Group</a:t>
            </a:r>
            <a:endParaRPr lang="en-US" sz="1280" dirty="0"/>
          </a:p>
          <a:p>
            <a:pPr indent="0" marL="0">
              <a:buNone/>
            </a:pPr>
            <a:r>
              <a:rPr lang="en-US" sz="1280" dirty="0">
                <a:solidFill>
                  <a:srgbClr val="52606D"/>
                </a:solidFill>
              </a:rPr>
              <a:t>V.P. of Growth and Partnerships | GoHouse.ai</a:t>
            </a:r>
            <a:endParaRPr lang="en-US" sz="1280" dirty="0"/>
          </a:p>
        </p:txBody>
      </p:sp>
      <p:pic>
        <p:nvPicPr>
          <p:cNvPr id="15" name="Image 0" descr="C:\Users\TR4_1950X\Documents\New project\assets\brand\gohouse-logo-w-text-large-transparent.png">    </p:cNvPr>
          <p:cNvPicPr>
            <a:picLocks noChangeAspect="1"/>
          </p:cNvPicPr>
          <p:nvPr/>
        </p:nvPicPr>
        <p:blipFill>
          <a:blip r:embed="rId1"/>
          <a:stretch>
            <a:fillRect/>
          </a:stretch>
        </p:blipFill>
        <p:spPr>
          <a:xfrm>
            <a:off x="3794760" y="3127248"/>
            <a:ext cx="1078992" cy="215798"/>
          </a:xfrm>
          <a:prstGeom prst="rect">
            <a:avLst/>
          </a:prstGeom>
        </p:spPr>
      </p:pic>
      <p:sp>
        <p:nvSpPr>
          <p:cNvPr id="16" name="Shape 13"/>
          <p:cNvSpPr/>
          <p:nvPr/>
        </p:nvSpPr>
        <p:spPr>
          <a:xfrm>
            <a:off x="1170432" y="3291840"/>
            <a:ext cx="1234440" cy="0"/>
          </a:xfrm>
          <a:prstGeom prst="line">
            <a:avLst/>
          </a:prstGeom>
          <a:noFill/>
          <a:ln w="38100">
            <a:solidFill>
              <a:srgbClr val="F45B69"/>
            </a:solidFill>
            <a:prstDash val="solid"/>
          </a:ln>
        </p:spPr>
      </p:sp>
      <p:sp>
        <p:nvSpPr>
          <p:cNvPr id="17" name="Text 14"/>
          <p:cNvSpPr/>
          <p:nvPr/>
        </p:nvSpPr>
        <p:spPr>
          <a:xfrm>
            <a:off x="1170432" y="3566160"/>
            <a:ext cx="4069080" cy="1170432"/>
          </a:xfrm>
          <a:prstGeom prst="rect">
            <a:avLst/>
          </a:prstGeom>
          <a:noFill/>
          <a:ln/>
        </p:spPr>
        <p:txBody>
          <a:bodyPr wrap="square" lIns="254" tIns="254" rIns="254" bIns="254" rtlCol="0" anchor="ctr">
            <a:normAutofit/>
          </a:bodyPr>
          <a:lstStyle/>
          <a:p>
            <a:pPr indent="0" marL="0">
              <a:buNone/>
            </a:pPr>
            <a:r>
              <a:rPr lang="en-US" sz="1170" dirty="0">
                <a:solidFill>
                  <a:srgbClr val="102033"/>
                </a:solidFill>
              </a:rPr>
              <a:t>Ian works at the intersection of real estate, AI, lead follow-up, and practical business systems. His focus is helping real estate professionals use technology responsibly to improve communication, prioritize follow-up, prepare for client conversations, and build more consistent daily workflows.</a:t>
            </a:r>
            <a:endParaRPr lang="en-US" sz="1170" dirty="0"/>
          </a:p>
        </p:txBody>
      </p:sp>
      <p:sp>
        <p:nvSpPr>
          <p:cNvPr id="18" name="Shape 15"/>
          <p:cNvSpPr/>
          <p:nvPr/>
        </p:nvSpPr>
        <p:spPr>
          <a:xfrm>
            <a:off x="6172200" y="1737360"/>
            <a:ext cx="128016" cy="3657600"/>
          </a:xfrm>
          <a:prstGeom prst="rect">
            <a:avLst/>
          </a:prstGeom>
          <a:solidFill>
            <a:srgbClr val="008F8F"/>
          </a:solidFill>
          <a:ln w="12700">
            <a:solidFill>
              <a:srgbClr val="008F8F"/>
            </a:solidFill>
            <a:prstDash val="solid"/>
          </a:ln>
        </p:spPr>
      </p:sp>
      <p:sp>
        <p:nvSpPr>
          <p:cNvPr id="19" name="Shape 16"/>
          <p:cNvSpPr/>
          <p:nvPr/>
        </p:nvSpPr>
        <p:spPr>
          <a:xfrm>
            <a:off x="6309360" y="1828800"/>
            <a:ext cx="4434840" cy="3520440"/>
          </a:xfrm>
          <a:prstGeom prst="roundRect">
            <a:avLst>
              <a:gd name="adj" fmla="val 1558"/>
            </a:avLst>
          </a:prstGeom>
          <a:solidFill>
            <a:srgbClr val="EAF7F7"/>
          </a:solidFill>
          <a:ln w="10160">
            <a:solidFill>
              <a:srgbClr val="BFDADC"/>
            </a:solidFill>
            <a:prstDash val="solid"/>
          </a:ln>
        </p:spPr>
      </p:sp>
      <p:sp>
        <p:nvSpPr>
          <p:cNvPr id="20" name="Text 17"/>
          <p:cNvSpPr/>
          <p:nvPr/>
        </p:nvSpPr>
        <p:spPr>
          <a:xfrm>
            <a:off x="6629400" y="2130552"/>
            <a:ext cx="3017520" cy="347472"/>
          </a:xfrm>
          <a:prstGeom prst="rect">
            <a:avLst/>
          </a:prstGeom>
          <a:noFill/>
          <a:ln/>
        </p:spPr>
        <p:txBody>
          <a:bodyPr wrap="square" lIns="0" tIns="0" rIns="0" bIns="0" rtlCol="0" anchor="ctr"/>
          <a:lstStyle/>
          <a:p>
            <a:pPr indent="0" marL="0">
              <a:buNone/>
            </a:pPr>
            <a:r>
              <a:rPr lang="en-US" sz="2200" b="1" dirty="0">
                <a:solidFill>
                  <a:srgbClr val="16324F"/>
                </a:solidFill>
              </a:rPr>
              <a:t>Teaching Focus:</a:t>
            </a:r>
            <a:endParaRPr lang="en-US" sz="2200" dirty="0"/>
          </a:p>
        </p:txBody>
      </p:sp>
      <p:sp>
        <p:nvSpPr>
          <p:cNvPr id="21" name="Text 18"/>
          <p:cNvSpPr/>
          <p:nvPr/>
        </p:nvSpPr>
        <p:spPr>
          <a:xfrm>
            <a:off x="6629400" y="2788920"/>
            <a:ext cx="3520440" cy="749808"/>
          </a:xfrm>
          <a:prstGeom prst="rect">
            <a:avLst/>
          </a:prstGeom>
          <a:noFill/>
          <a:ln/>
        </p:spPr>
        <p:txBody>
          <a:bodyPr wrap="square" lIns="254" tIns="254" rIns="254" bIns="254" rtlCol="0" anchor="ctr">
            <a:normAutofit/>
          </a:bodyPr>
          <a:lstStyle/>
          <a:p>
            <a:pPr indent="0" marL="0">
              <a:buNone/>
            </a:pPr>
            <a:r>
              <a:rPr lang="en-US" sz="1300" dirty="0">
                <a:solidFill>
                  <a:srgbClr val="102033"/>
                </a:solidFill>
              </a:rPr>
              <a:t>Practical, vendor-neutral AI workflows agents can understand, review, and apply without replacing their professional judgment.</a:t>
            </a:r>
            <a:endParaRPr lang="en-US" sz="1300" dirty="0"/>
          </a:p>
        </p:txBody>
      </p:sp>
      <p:sp>
        <p:nvSpPr>
          <p:cNvPr id="22" name="Shape 19"/>
          <p:cNvSpPr/>
          <p:nvPr/>
        </p:nvSpPr>
        <p:spPr>
          <a:xfrm>
            <a:off x="6629400" y="3986784"/>
            <a:ext cx="1097280" cy="0"/>
          </a:xfrm>
          <a:prstGeom prst="line">
            <a:avLst/>
          </a:prstGeom>
          <a:noFill/>
          <a:ln w="38100">
            <a:solidFill>
              <a:srgbClr val="008F8F"/>
            </a:solidFill>
            <a:prstDash val="solid"/>
          </a:ln>
        </p:spPr>
      </p:sp>
      <p:sp>
        <p:nvSpPr>
          <p:cNvPr id="23" name="Text 20"/>
          <p:cNvSpPr/>
          <p:nvPr/>
        </p:nvSpPr>
        <p:spPr>
          <a:xfrm>
            <a:off x="6629400" y="4315968"/>
            <a:ext cx="3520440" cy="502920"/>
          </a:xfrm>
          <a:prstGeom prst="rect">
            <a:avLst/>
          </a:prstGeom>
          <a:noFill/>
          <a:ln/>
        </p:spPr>
        <p:txBody>
          <a:bodyPr wrap="square" lIns="254" tIns="254" rIns="254" bIns="254" rtlCol="0" anchor="ctr">
            <a:normAutofit/>
          </a:bodyPr>
          <a:lstStyle/>
          <a:p>
            <a:pPr indent="0" marL="0">
              <a:buNone/>
            </a:pPr>
            <a:r>
              <a:rPr lang="en-US" sz="1050" b="1" dirty="0">
                <a:solidFill>
                  <a:srgbClr val="2E7D5B"/>
                </a:solidFill>
              </a:rPr>
              <a:t>GoHouse.ai is part of Ian's professional background. No GoHouse.ai product is required for this course.</a:t>
            </a:r>
            <a:endParaRPr lang="en-US" sz="1050" dirty="0"/>
          </a:p>
        </p:txBody>
      </p:sp>
      <p:sp>
        <p:nvSpPr>
          <p:cNvPr id="24" name="Shape 21"/>
          <p:cNvSpPr/>
          <p:nvPr/>
        </p:nvSpPr>
        <p:spPr>
          <a:xfrm>
            <a:off x="502920" y="6473952"/>
            <a:ext cx="11201400" cy="0"/>
          </a:xfrm>
          <a:prstGeom prst="line">
            <a:avLst/>
          </a:prstGeom>
          <a:noFill/>
          <a:ln w="9525">
            <a:solidFill>
              <a:srgbClr val="D8E6E8"/>
            </a:solidFill>
            <a:prstDash val="solid"/>
          </a:ln>
        </p:spPr>
      </p:sp>
      <p:sp>
        <p:nvSpPr>
          <p:cNvPr id="25"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6"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3/46</a:t>
            </a:r>
            <a:endParaRPr lang="en-US" sz="7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COURSE PROMISE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By the end, AI should feel useful in your normal sales day</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520" dirty="0">
                <a:solidFill>
                  <a:srgbClr val="102033"/>
                </a:solidFill>
                <a:latin typeface="Aptos" pitchFamily="34" charset="0"/>
                <a:ea typeface="Aptos" pitchFamily="34" charset="-122"/>
                <a:cs typeface="Aptos" pitchFamily="34" charset="-120"/>
              </a:rPr>
              <a:t>Draft clearer emails, texts, listing copy, and client updates.</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Personalize buyer and seller communication using better context.</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Prepare for appointments, objections, and follow-up conversations.</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Build one simple daily AI workflow for productivity and consistency.</a:t>
            </a:r>
            <a:endParaRPr lang="en-US" sz="1520" dirty="0"/>
          </a:p>
          <a:p>
            <a:pPr marL="203200" indent="-203200">
              <a:buSzPct val="100000"/>
              <a:buChar char="•"/>
            </a:pPr>
            <a:r>
              <a:rPr lang="en-US" sz="1520" dirty="0">
                <a:solidFill>
                  <a:srgbClr val="102033"/>
                </a:solidFill>
                <a:latin typeface="Aptos" pitchFamily="34" charset="0"/>
                <a:ea typeface="Aptos" pitchFamily="34" charset="-122"/>
                <a:cs typeface="Aptos" pitchFamily="34" charset="-120"/>
              </a:rPr>
              <a:t>Recognize basic risks involving accuracy, privacy, Fair Housing, and overreliance.</a:t>
            </a:r>
            <a:endParaRPr lang="en-US" sz="152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 it where work repeats</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Start with messages, notes, follow-up, and prep before chasing new tools.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4/46</a:t>
            </a:r>
            <a:endParaRPr lang="en-US" sz="7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SESSION MAP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The two-hour path</a:t>
            </a:r>
            <a:endParaRPr lang="en-US" sz="3000" dirty="0"/>
          </a:p>
        </p:txBody>
      </p:sp>
      <p:sp>
        <p:nvSpPr>
          <p:cNvPr id="11" name="Text 9"/>
          <p:cNvSpPr/>
          <p:nvPr/>
        </p:nvSpPr>
        <p:spPr>
          <a:xfrm>
            <a:off x="786384" y="1444752"/>
            <a:ext cx="5303520" cy="201168"/>
          </a:xfrm>
          <a:prstGeom prst="rect">
            <a:avLst/>
          </a:prstGeom>
          <a:noFill/>
          <a:ln/>
        </p:spPr>
        <p:txBody>
          <a:bodyPr wrap="square" lIns="0" tIns="0" rIns="0" bIns="0" rtlCol="0" anchor="ctr"/>
          <a:lstStyle/>
          <a:p>
            <a:pPr indent="0" marL="0">
              <a:buNone/>
            </a:pPr>
            <a:r>
              <a:rPr lang="en-US" sz="1050" b="1" dirty="0">
                <a:solidFill>
                  <a:srgbClr val="52606D"/>
                </a:solidFill>
              </a:rPr>
              <a:t>120 minutes: concept -&gt; example -&gt; practice -&gt; takeaway</a:t>
            </a:r>
            <a:endParaRPr lang="en-US" sz="1050" dirty="0"/>
          </a:p>
        </p:txBody>
      </p:sp>
      <p:sp>
        <p:nvSpPr>
          <p:cNvPr id="12" name="Shape 10"/>
          <p:cNvSpPr/>
          <p:nvPr/>
        </p:nvSpPr>
        <p:spPr>
          <a:xfrm>
            <a:off x="777240" y="2523744"/>
            <a:ext cx="2148840" cy="0"/>
          </a:xfrm>
          <a:prstGeom prst="line">
            <a:avLst/>
          </a:prstGeom>
          <a:noFill/>
          <a:ln w="12700">
            <a:solidFill>
              <a:srgbClr val="D8E6E8"/>
            </a:solidFill>
            <a:prstDash val="solid"/>
          </a:ln>
        </p:spPr>
      </p:sp>
      <p:sp>
        <p:nvSpPr>
          <p:cNvPr id="13" name="Shape 11"/>
          <p:cNvSpPr/>
          <p:nvPr/>
        </p:nvSpPr>
        <p:spPr>
          <a:xfrm>
            <a:off x="777240" y="1828800"/>
            <a:ext cx="402336" cy="402336"/>
          </a:xfrm>
          <a:prstGeom prst="ellipse">
            <a:avLst/>
          </a:prstGeom>
          <a:solidFill>
            <a:srgbClr val="008F8F"/>
          </a:solidFill>
          <a:ln w="12700">
            <a:solidFill>
              <a:srgbClr val="008F8F"/>
            </a:solidFill>
            <a:prstDash val="solid"/>
          </a:ln>
        </p:spPr>
      </p:sp>
      <p:sp>
        <p:nvSpPr>
          <p:cNvPr id="14" name="Text 12"/>
          <p:cNvSpPr/>
          <p:nvPr/>
        </p:nvSpPr>
        <p:spPr>
          <a:xfrm>
            <a:off x="77724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5" name="Text 13"/>
          <p:cNvSpPr/>
          <p:nvPr/>
        </p:nvSpPr>
        <p:spPr>
          <a:xfrm>
            <a:off x="130759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10m</a:t>
            </a:r>
            <a:endParaRPr lang="en-US" sz="900" dirty="0"/>
          </a:p>
        </p:txBody>
      </p:sp>
      <p:sp>
        <p:nvSpPr>
          <p:cNvPr id="16" name="Text 14"/>
          <p:cNvSpPr/>
          <p:nvPr/>
        </p:nvSpPr>
        <p:spPr>
          <a:xfrm>
            <a:off x="130759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Reality check</a:t>
            </a:r>
            <a:endParaRPr lang="en-US" sz="1500" dirty="0"/>
          </a:p>
        </p:txBody>
      </p:sp>
      <p:sp>
        <p:nvSpPr>
          <p:cNvPr id="17" name="Shape 15"/>
          <p:cNvSpPr/>
          <p:nvPr/>
        </p:nvSpPr>
        <p:spPr>
          <a:xfrm>
            <a:off x="3566160" y="2523744"/>
            <a:ext cx="2148840" cy="0"/>
          </a:xfrm>
          <a:prstGeom prst="line">
            <a:avLst/>
          </a:prstGeom>
          <a:noFill/>
          <a:ln w="12700">
            <a:solidFill>
              <a:srgbClr val="D8E6E8"/>
            </a:solidFill>
            <a:prstDash val="solid"/>
          </a:ln>
        </p:spPr>
      </p:sp>
      <p:sp>
        <p:nvSpPr>
          <p:cNvPr id="18" name="Shape 16"/>
          <p:cNvSpPr/>
          <p:nvPr/>
        </p:nvSpPr>
        <p:spPr>
          <a:xfrm>
            <a:off x="3566160" y="1828800"/>
            <a:ext cx="402336" cy="402336"/>
          </a:xfrm>
          <a:prstGeom prst="ellipse">
            <a:avLst/>
          </a:prstGeom>
          <a:solidFill>
            <a:srgbClr val="2F80ED"/>
          </a:solidFill>
          <a:ln w="12700">
            <a:solidFill>
              <a:srgbClr val="2F80ED"/>
            </a:solidFill>
            <a:prstDash val="solid"/>
          </a:ln>
        </p:spPr>
      </p:sp>
      <p:sp>
        <p:nvSpPr>
          <p:cNvPr id="19" name="Text 17"/>
          <p:cNvSpPr/>
          <p:nvPr/>
        </p:nvSpPr>
        <p:spPr>
          <a:xfrm>
            <a:off x="356616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20" name="Text 18"/>
          <p:cNvSpPr/>
          <p:nvPr/>
        </p:nvSpPr>
        <p:spPr>
          <a:xfrm>
            <a:off x="409651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21" name="Text 19"/>
          <p:cNvSpPr/>
          <p:nvPr/>
        </p:nvSpPr>
        <p:spPr>
          <a:xfrm>
            <a:off x="409651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Strengths + risks</a:t>
            </a:r>
            <a:endParaRPr lang="en-US" sz="1500" dirty="0"/>
          </a:p>
        </p:txBody>
      </p:sp>
      <p:sp>
        <p:nvSpPr>
          <p:cNvPr id="22" name="Shape 20"/>
          <p:cNvSpPr/>
          <p:nvPr/>
        </p:nvSpPr>
        <p:spPr>
          <a:xfrm>
            <a:off x="6355080" y="2523744"/>
            <a:ext cx="2148840" cy="0"/>
          </a:xfrm>
          <a:prstGeom prst="line">
            <a:avLst/>
          </a:prstGeom>
          <a:noFill/>
          <a:ln w="12700">
            <a:solidFill>
              <a:srgbClr val="D8E6E8"/>
            </a:solidFill>
            <a:prstDash val="solid"/>
          </a:ln>
        </p:spPr>
      </p:sp>
      <p:sp>
        <p:nvSpPr>
          <p:cNvPr id="23" name="Shape 21"/>
          <p:cNvSpPr/>
          <p:nvPr/>
        </p:nvSpPr>
        <p:spPr>
          <a:xfrm>
            <a:off x="6355080" y="1828800"/>
            <a:ext cx="402336" cy="402336"/>
          </a:xfrm>
          <a:prstGeom prst="ellipse">
            <a:avLst/>
          </a:prstGeom>
          <a:solidFill>
            <a:srgbClr val="F45B69"/>
          </a:solidFill>
          <a:ln w="12700">
            <a:solidFill>
              <a:srgbClr val="F45B69"/>
            </a:solidFill>
            <a:prstDash val="solid"/>
          </a:ln>
        </p:spPr>
      </p:sp>
      <p:sp>
        <p:nvSpPr>
          <p:cNvPr id="24" name="Text 22"/>
          <p:cNvSpPr/>
          <p:nvPr/>
        </p:nvSpPr>
        <p:spPr>
          <a:xfrm>
            <a:off x="635508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5" name="Text 23"/>
          <p:cNvSpPr/>
          <p:nvPr/>
        </p:nvSpPr>
        <p:spPr>
          <a:xfrm>
            <a:off x="688543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22m</a:t>
            </a:r>
            <a:endParaRPr lang="en-US" sz="900" dirty="0"/>
          </a:p>
        </p:txBody>
      </p:sp>
      <p:sp>
        <p:nvSpPr>
          <p:cNvPr id="26" name="Text 24"/>
          <p:cNvSpPr/>
          <p:nvPr/>
        </p:nvSpPr>
        <p:spPr>
          <a:xfrm>
            <a:off x="688543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Client communication</a:t>
            </a:r>
            <a:endParaRPr lang="en-US" sz="1500" dirty="0"/>
          </a:p>
        </p:txBody>
      </p:sp>
      <p:sp>
        <p:nvSpPr>
          <p:cNvPr id="27" name="Shape 25"/>
          <p:cNvSpPr/>
          <p:nvPr/>
        </p:nvSpPr>
        <p:spPr>
          <a:xfrm>
            <a:off x="9144000" y="2523744"/>
            <a:ext cx="2148840" cy="0"/>
          </a:xfrm>
          <a:prstGeom prst="line">
            <a:avLst/>
          </a:prstGeom>
          <a:noFill/>
          <a:ln w="12700">
            <a:solidFill>
              <a:srgbClr val="D8E6E8"/>
            </a:solidFill>
            <a:prstDash val="solid"/>
          </a:ln>
        </p:spPr>
      </p:sp>
      <p:sp>
        <p:nvSpPr>
          <p:cNvPr id="28" name="Shape 26"/>
          <p:cNvSpPr/>
          <p:nvPr/>
        </p:nvSpPr>
        <p:spPr>
          <a:xfrm>
            <a:off x="9144000" y="1828800"/>
            <a:ext cx="402336" cy="402336"/>
          </a:xfrm>
          <a:prstGeom prst="ellipse">
            <a:avLst/>
          </a:prstGeom>
          <a:solidFill>
            <a:srgbClr val="F2B84B"/>
          </a:solidFill>
          <a:ln w="12700">
            <a:solidFill>
              <a:srgbClr val="F2B84B"/>
            </a:solidFill>
            <a:prstDash val="solid"/>
          </a:ln>
        </p:spPr>
      </p:sp>
      <p:sp>
        <p:nvSpPr>
          <p:cNvPr id="29" name="Text 27"/>
          <p:cNvSpPr/>
          <p:nvPr/>
        </p:nvSpPr>
        <p:spPr>
          <a:xfrm>
            <a:off x="9144000" y="192024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30" name="Text 28"/>
          <p:cNvSpPr/>
          <p:nvPr/>
        </p:nvSpPr>
        <p:spPr>
          <a:xfrm>
            <a:off x="9674352" y="184708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18m</a:t>
            </a:r>
            <a:endParaRPr lang="en-US" sz="900" dirty="0"/>
          </a:p>
        </p:txBody>
      </p:sp>
      <p:sp>
        <p:nvSpPr>
          <p:cNvPr id="31" name="Text 29"/>
          <p:cNvSpPr/>
          <p:nvPr/>
        </p:nvSpPr>
        <p:spPr>
          <a:xfrm>
            <a:off x="9674352" y="213969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Lead follow-up</a:t>
            </a:r>
            <a:endParaRPr lang="en-US" sz="1500" dirty="0"/>
          </a:p>
        </p:txBody>
      </p:sp>
      <p:sp>
        <p:nvSpPr>
          <p:cNvPr id="32" name="Shape 30"/>
          <p:cNvSpPr/>
          <p:nvPr/>
        </p:nvSpPr>
        <p:spPr>
          <a:xfrm>
            <a:off x="777240" y="4078224"/>
            <a:ext cx="2148840" cy="0"/>
          </a:xfrm>
          <a:prstGeom prst="line">
            <a:avLst/>
          </a:prstGeom>
          <a:noFill/>
          <a:ln w="12700">
            <a:solidFill>
              <a:srgbClr val="E7D9B6"/>
            </a:solidFill>
            <a:prstDash val="solid"/>
          </a:ln>
        </p:spPr>
      </p:sp>
      <p:sp>
        <p:nvSpPr>
          <p:cNvPr id="33" name="Shape 31"/>
          <p:cNvSpPr/>
          <p:nvPr/>
        </p:nvSpPr>
        <p:spPr>
          <a:xfrm>
            <a:off x="777240" y="3383280"/>
            <a:ext cx="402336" cy="402336"/>
          </a:xfrm>
          <a:prstGeom prst="ellipse">
            <a:avLst/>
          </a:prstGeom>
          <a:solidFill>
            <a:srgbClr val="008F8F"/>
          </a:solidFill>
          <a:ln w="12700">
            <a:solidFill>
              <a:srgbClr val="008F8F"/>
            </a:solidFill>
            <a:prstDash val="solid"/>
          </a:ln>
        </p:spPr>
      </p:sp>
      <p:sp>
        <p:nvSpPr>
          <p:cNvPr id="34" name="Text 32"/>
          <p:cNvSpPr/>
          <p:nvPr/>
        </p:nvSpPr>
        <p:spPr>
          <a:xfrm>
            <a:off x="77724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5" name="Text 33"/>
          <p:cNvSpPr/>
          <p:nvPr/>
        </p:nvSpPr>
        <p:spPr>
          <a:xfrm>
            <a:off x="130759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36" name="Text 34"/>
          <p:cNvSpPr/>
          <p:nvPr/>
        </p:nvSpPr>
        <p:spPr>
          <a:xfrm>
            <a:off x="130759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Listings + marketing</a:t>
            </a:r>
            <a:endParaRPr lang="en-US" sz="1500" dirty="0"/>
          </a:p>
        </p:txBody>
      </p:sp>
      <p:sp>
        <p:nvSpPr>
          <p:cNvPr id="37" name="Shape 35"/>
          <p:cNvSpPr/>
          <p:nvPr/>
        </p:nvSpPr>
        <p:spPr>
          <a:xfrm>
            <a:off x="3566160" y="4078224"/>
            <a:ext cx="2148840" cy="0"/>
          </a:xfrm>
          <a:prstGeom prst="line">
            <a:avLst/>
          </a:prstGeom>
          <a:noFill/>
          <a:ln w="12700">
            <a:solidFill>
              <a:srgbClr val="E7D9B6"/>
            </a:solidFill>
            <a:prstDash val="solid"/>
          </a:ln>
        </p:spPr>
      </p:sp>
      <p:sp>
        <p:nvSpPr>
          <p:cNvPr id="38" name="Shape 36"/>
          <p:cNvSpPr/>
          <p:nvPr/>
        </p:nvSpPr>
        <p:spPr>
          <a:xfrm>
            <a:off x="3566160" y="3383280"/>
            <a:ext cx="402336" cy="402336"/>
          </a:xfrm>
          <a:prstGeom prst="ellipse">
            <a:avLst/>
          </a:prstGeom>
          <a:solidFill>
            <a:srgbClr val="2F80ED"/>
          </a:solidFill>
          <a:ln w="12700">
            <a:solidFill>
              <a:srgbClr val="2F80ED"/>
            </a:solidFill>
            <a:prstDash val="solid"/>
          </a:ln>
        </p:spPr>
      </p:sp>
      <p:sp>
        <p:nvSpPr>
          <p:cNvPr id="39" name="Text 37"/>
          <p:cNvSpPr/>
          <p:nvPr/>
        </p:nvSpPr>
        <p:spPr>
          <a:xfrm>
            <a:off x="356616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40" name="Text 38"/>
          <p:cNvSpPr/>
          <p:nvPr/>
        </p:nvSpPr>
        <p:spPr>
          <a:xfrm>
            <a:off x="409651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17m</a:t>
            </a:r>
            <a:endParaRPr lang="en-US" sz="900" dirty="0"/>
          </a:p>
        </p:txBody>
      </p:sp>
      <p:sp>
        <p:nvSpPr>
          <p:cNvPr id="41" name="Text 39"/>
          <p:cNvSpPr/>
          <p:nvPr/>
        </p:nvSpPr>
        <p:spPr>
          <a:xfrm>
            <a:off x="409651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Appointment prep</a:t>
            </a:r>
            <a:endParaRPr lang="en-US" sz="1500" dirty="0"/>
          </a:p>
        </p:txBody>
      </p:sp>
      <p:sp>
        <p:nvSpPr>
          <p:cNvPr id="42" name="Shape 40"/>
          <p:cNvSpPr/>
          <p:nvPr/>
        </p:nvSpPr>
        <p:spPr>
          <a:xfrm>
            <a:off x="6355080" y="4078224"/>
            <a:ext cx="2148840" cy="0"/>
          </a:xfrm>
          <a:prstGeom prst="line">
            <a:avLst/>
          </a:prstGeom>
          <a:noFill/>
          <a:ln w="12700">
            <a:solidFill>
              <a:srgbClr val="E7D9B6"/>
            </a:solidFill>
            <a:prstDash val="solid"/>
          </a:ln>
        </p:spPr>
      </p:sp>
      <p:sp>
        <p:nvSpPr>
          <p:cNvPr id="43" name="Shape 41"/>
          <p:cNvSpPr/>
          <p:nvPr/>
        </p:nvSpPr>
        <p:spPr>
          <a:xfrm>
            <a:off x="6355080" y="3383280"/>
            <a:ext cx="402336" cy="402336"/>
          </a:xfrm>
          <a:prstGeom prst="ellipse">
            <a:avLst/>
          </a:prstGeom>
          <a:solidFill>
            <a:srgbClr val="F45B69"/>
          </a:solidFill>
          <a:ln w="12700">
            <a:solidFill>
              <a:srgbClr val="F45B69"/>
            </a:solidFill>
            <a:prstDash val="solid"/>
          </a:ln>
        </p:spPr>
      </p:sp>
      <p:sp>
        <p:nvSpPr>
          <p:cNvPr id="44" name="Text 42"/>
          <p:cNvSpPr/>
          <p:nvPr/>
        </p:nvSpPr>
        <p:spPr>
          <a:xfrm>
            <a:off x="635508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7</a:t>
            </a:r>
            <a:endParaRPr lang="en-US" sz="800" dirty="0"/>
          </a:p>
        </p:txBody>
      </p:sp>
      <p:sp>
        <p:nvSpPr>
          <p:cNvPr id="45" name="Text 43"/>
          <p:cNvSpPr/>
          <p:nvPr/>
        </p:nvSpPr>
        <p:spPr>
          <a:xfrm>
            <a:off x="688543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13m</a:t>
            </a:r>
            <a:endParaRPr lang="en-US" sz="900" dirty="0"/>
          </a:p>
        </p:txBody>
      </p:sp>
      <p:sp>
        <p:nvSpPr>
          <p:cNvPr id="46" name="Text 44"/>
          <p:cNvSpPr/>
          <p:nvPr/>
        </p:nvSpPr>
        <p:spPr>
          <a:xfrm>
            <a:off x="688543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Workflow + guardrails</a:t>
            </a:r>
            <a:endParaRPr lang="en-US" sz="1500" dirty="0"/>
          </a:p>
        </p:txBody>
      </p:sp>
      <p:sp>
        <p:nvSpPr>
          <p:cNvPr id="47" name="Shape 45"/>
          <p:cNvSpPr/>
          <p:nvPr/>
        </p:nvSpPr>
        <p:spPr>
          <a:xfrm>
            <a:off x="9144000" y="4078224"/>
            <a:ext cx="2148840" cy="0"/>
          </a:xfrm>
          <a:prstGeom prst="line">
            <a:avLst/>
          </a:prstGeom>
          <a:noFill/>
          <a:ln w="12700">
            <a:solidFill>
              <a:srgbClr val="E7D9B6"/>
            </a:solidFill>
            <a:prstDash val="solid"/>
          </a:ln>
        </p:spPr>
      </p:sp>
      <p:sp>
        <p:nvSpPr>
          <p:cNvPr id="48" name="Shape 46"/>
          <p:cNvSpPr/>
          <p:nvPr/>
        </p:nvSpPr>
        <p:spPr>
          <a:xfrm>
            <a:off x="9144000" y="3383280"/>
            <a:ext cx="402336" cy="402336"/>
          </a:xfrm>
          <a:prstGeom prst="ellipse">
            <a:avLst/>
          </a:prstGeom>
          <a:solidFill>
            <a:srgbClr val="F2B84B"/>
          </a:solidFill>
          <a:ln w="12700">
            <a:solidFill>
              <a:srgbClr val="F2B84B"/>
            </a:solidFill>
            <a:prstDash val="solid"/>
          </a:ln>
        </p:spPr>
      </p:sp>
      <p:sp>
        <p:nvSpPr>
          <p:cNvPr id="49" name="Text 47"/>
          <p:cNvSpPr/>
          <p:nvPr/>
        </p:nvSpPr>
        <p:spPr>
          <a:xfrm>
            <a:off x="9144000" y="34747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8</a:t>
            </a:r>
            <a:endParaRPr lang="en-US" sz="800" dirty="0"/>
          </a:p>
        </p:txBody>
      </p:sp>
      <p:sp>
        <p:nvSpPr>
          <p:cNvPr id="50" name="Text 48"/>
          <p:cNvSpPr/>
          <p:nvPr/>
        </p:nvSpPr>
        <p:spPr>
          <a:xfrm>
            <a:off x="9674352" y="3401568"/>
            <a:ext cx="685800" cy="164592"/>
          </a:xfrm>
          <a:prstGeom prst="rect">
            <a:avLst/>
          </a:prstGeom>
          <a:noFill/>
          <a:ln/>
        </p:spPr>
        <p:txBody>
          <a:bodyPr wrap="square" lIns="0" tIns="0" rIns="0" bIns="0" rtlCol="0" anchor="ctr"/>
          <a:lstStyle/>
          <a:p>
            <a:pPr indent="0" marL="0">
              <a:buNone/>
            </a:pPr>
            <a:r>
              <a:rPr lang="en-US" sz="900" b="1" dirty="0">
                <a:solidFill>
                  <a:srgbClr val="52606D"/>
                </a:solidFill>
              </a:rPr>
              <a:t>5m</a:t>
            </a:r>
            <a:endParaRPr lang="en-US" sz="900" dirty="0"/>
          </a:p>
        </p:txBody>
      </p:sp>
      <p:sp>
        <p:nvSpPr>
          <p:cNvPr id="51" name="Text 49"/>
          <p:cNvSpPr/>
          <p:nvPr/>
        </p:nvSpPr>
        <p:spPr>
          <a:xfrm>
            <a:off x="9674352" y="3694176"/>
            <a:ext cx="1920240" cy="320040"/>
          </a:xfrm>
          <a:prstGeom prst="rect">
            <a:avLst/>
          </a:prstGeom>
          <a:noFill/>
          <a:ln/>
        </p:spPr>
        <p:txBody>
          <a:bodyPr wrap="square" lIns="0" tIns="0" rIns="0" bIns="0" rtlCol="0" anchor="ctr">
            <a:normAutofit/>
          </a:bodyPr>
          <a:lstStyle/>
          <a:p>
            <a:pPr indent="0" marL="0">
              <a:buNone/>
            </a:pPr>
            <a:r>
              <a:rPr lang="en-US" sz="1500" b="1" dirty="0">
                <a:solidFill>
                  <a:srgbClr val="102033"/>
                </a:solidFill>
              </a:rPr>
              <a:t>Prompt practice / wrap-up</a:t>
            </a:r>
            <a:endParaRPr lang="en-US" sz="1500" dirty="0"/>
          </a:p>
        </p:txBody>
      </p:sp>
      <p:sp>
        <p:nvSpPr>
          <p:cNvPr id="52" name="Shape 50"/>
          <p:cNvSpPr/>
          <p:nvPr/>
        </p:nvSpPr>
        <p:spPr>
          <a:xfrm>
            <a:off x="502920" y="6473952"/>
            <a:ext cx="11201400" cy="0"/>
          </a:xfrm>
          <a:prstGeom prst="line">
            <a:avLst/>
          </a:prstGeom>
          <a:noFill/>
          <a:ln w="9525">
            <a:solidFill>
              <a:srgbClr val="D8E6E8"/>
            </a:solidFill>
            <a:prstDash val="solid"/>
          </a:ln>
        </p:spPr>
      </p:sp>
      <p:sp>
        <p:nvSpPr>
          <p:cNvPr id="53" name="Text 5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54" name="Text 5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5/46</a:t>
            </a:r>
            <a:endParaRPr lang="en-US" sz="7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F80ED"/>
          </a:solidFill>
          <a:ln w="12700">
            <a:solidFill>
              <a:srgbClr val="2F80ED"/>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01</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1</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AI Reality Check</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AI is useful when it supports work agents already do.</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WHY NOW</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AI matters because speed and consistency shape client experience</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Consumers expect quick, clear responses across text, email, phone, and web inquiries.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Most agents have more follow-up tasks than hours in the day.</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AI reduces blank-page time for common communication and prep tasks.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The advantage is not one impressive prompt. It is using AI repeatably on work that already happens.</a:t>
            </a:r>
            <a:endParaRPr lang="en-US" sz="1660" dirty="0"/>
          </a:p>
        </p:txBody>
      </p:sp>
      <p:sp>
        <p:nvSpPr>
          <p:cNvPr id="12" name="Shape 10"/>
          <p:cNvSpPr/>
          <p:nvPr/>
        </p:nvSpPr>
        <p:spPr>
          <a:xfrm>
            <a:off x="7479792" y="1737360"/>
            <a:ext cx="91440" cy="2971800"/>
          </a:xfrm>
          <a:prstGeom prst="rect">
            <a:avLst/>
          </a:prstGeom>
          <a:solidFill>
            <a:srgbClr val="F45B69"/>
          </a:solidFill>
          <a:ln w="12700">
            <a:solidFill>
              <a:srgbClr val="F45B69"/>
            </a:solidFill>
            <a:prstDash val="solid"/>
          </a:ln>
        </p:spPr>
      </p:sp>
      <p:sp>
        <p:nvSpPr>
          <p:cNvPr id="13" name="Shape 11"/>
          <p:cNvSpPr/>
          <p:nvPr/>
        </p:nvSpPr>
        <p:spPr>
          <a:xfrm>
            <a:off x="7607808" y="1828800"/>
            <a:ext cx="3246120" cy="2788920"/>
          </a:xfrm>
          <a:prstGeom prst="roundRect">
            <a:avLst>
              <a:gd name="adj" fmla="val 1967"/>
            </a:avLst>
          </a:prstGeom>
          <a:solidFill>
            <a:srgbClr val="FFF0EF"/>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Speed plus judgment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AI can reduce blank-page time; the agent still owns accuracy and relationship quality.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7/46</a:t>
            </a:r>
            <a:endParaRPr lang="en-US" sz="7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SHIFT</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Move from random prompts to repeatable business assistance</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Random AI use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One-off prompts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Generic output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No saved process</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Repeatable workflow</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Known use case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Context-rich prompt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Reviewed reusable output</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8/46</a:t>
            </a:r>
            <a:endParaRPr lang="en-US" sz="7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DISCUSSION</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Where would 20 saved minutes matter most this week?</a:t>
            </a:r>
            <a:endParaRPr lang="en-US" sz="3000" dirty="0"/>
          </a:p>
        </p:txBody>
      </p:sp>
      <p:sp>
        <p:nvSpPr>
          <p:cNvPr id="11" name="Shape 9"/>
          <p:cNvSpPr/>
          <p:nvPr/>
        </p:nvSpPr>
        <p:spPr>
          <a:xfrm>
            <a:off x="868680" y="1517904"/>
            <a:ext cx="1572768" cy="310896"/>
          </a:xfrm>
          <a:prstGeom prst="roundRect">
            <a:avLst>
              <a:gd name="adj" fmla="val 11765"/>
            </a:avLst>
          </a:prstGeom>
          <a:solidFill>
            <a:srgbClr val="2F80ED"/>
          </a:solidFill>
          <a:ln w="12700">
            <a:solidFill>
              <a:srgbClr val="2F80ED"/>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DISCUSS</a:t>
            </a:r>
            <a:endParaRPr lang="en-US" sz="720" dirty="0"/>
          </a:p>
        </p:txBody>
      </p:sp>
      <p:sp>
        <p:nvSpPr>
          <p:cNvPr id="13" name="Shape 11"/>
          <p:cNvSpPr/>
          <p:nvPr/>
        </p:nvSpPr>
        <p:spPr>
          <a:xfrm>
            <a:off x="822960" y="1810512"/>
            <a:ext cx="5413248" cy="109728"/>
          </a:xfrm>
          <a:prstGeom prst="rect">
            <a:avLst/>
          </a:prstGeom>
          <a:solidFill>
            <a:srgbClr val="2F80ED"/>
          </a:solidFill>
          <a:ln w="12700">
            <a:solidFill>
              <a:srgbClr val="2F80ED"/>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you delay because it is repetitive, awkward, or annoying.</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Seller update after low activity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Follow-up after a showing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Open house recap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CRM note cleanup</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Social caption from listing facts</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9/46</a:t>
            </a:r>
            <a:endParaRPr lang="en-US" sz="7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AI BASICS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 plain-English way to think about AI</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Good at</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Rewriting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Summarizing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Brainstorming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Organizing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Role-play</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Not safe for</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Guaranteeing facts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Legal advice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Local market certainty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MLS rule interpretation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Fair Housing judgment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Final decisions</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10/46</a:t>
            </a:r>
            <a:endParaRPr lang="en-US" sz="7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TOOL CHECK</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Before you use an AI tool</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Check brokerage policy before using client or transaction information</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Avoid pasting private client details into public AI tools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Use verified property, MLS, and market data</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Review every message before sending</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Keep AI as a drafting assistant, not the final authority</a:t>
            </a:r>
            <a:endParaRPr lang="en-US" sz="166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Private, verified, compliant, reviewed</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Treat public AI tools carefully and review every output before use.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11/46</a:t>
            </a:r>
            <a:endParaRPr lang="en-US" sz="7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REVIEW LENS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Four questions before using AI output with a client</a:t>
            </a:r>
            <a:endParaRPr lang="en-US" sz="30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true?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Verify property facts, stats, dates, and claims.</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allowed?</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Check brokerage, MLS, advertising, and communication rules.</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fair?</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Avoid protected-class language, steering, or discriminatory targeting.</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Is it yours?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Edit for your voice, judgment, and client relationship.</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12/46</a:t>
            </a:r>
            <a:endParaRPr lang="en-US" sz="7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PRACTICE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Practice: Spot the Risk</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Review this AI-generated sentence: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This quiet family neighborhood is perfect for young professionals and has the best schools in the area.</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could create risk?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What facts need verification?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How could it be rewritten safely?</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13/46</a:t>
            </a:r>
            <a:endParaRPr lang="en-US" sz="7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BEFORE / AFTER</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The fix is better instructions, not just better wording</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Better prompts reduce risk by giving AI facts, tone, boundaries, and review rules.</a:t>
            </a:r>
            <a:endParaRPr lang="en-US" sz="1250" dirty="0"/>
          </a:p>
        </p:txBody>
      </p:sp>
      <p:sp>
        <p:nvSpPr>
          <p:cNvPr id="12" name="Shape 10"/>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3" name="Text 11"/>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4" name="Text 12"/>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Write a listing description for a nice house in Coral Gables.</a:t>
            </a:r>
            <a:endParaRPr lang="en-US" sz="1360" dirty="0"/>
          </a:p>
        </p:txBody>
      </p:sp>
      <p:sp>
        <p:nvSpPr>
          <p:cNvPr id="15" name="Shape 13"/>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6" name="Text 14"/>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7" name="Text 15"/>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Using only the verified facts below, draft a warm 130-word listing description. Avoid Fair Housing risk, school claims, or invented features. Facts: 3 bedrooms, 2 baths, updated kitchen, covered patio, 2-car garage, near parks and dining.</a:t>
            </a:r>
            <a:endParaRPr lang="en-US" sz="1400" dirty="0"/>
          </a:p>
        </p:txBody>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14/46</a:t>
            </a:r>
            <a:endParaRPr lang="en-US" sz="7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45B69"/>
          </a:solidFill>
          <a:ln w="12700">
            <a:solidFill>
              <a:srgbClr val="F45B69"/>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02</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2</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Client Communication</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Better context creates messages that sound more like a professional agent.</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FORMULA</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Use the real estate prompt formula</a:t>
            </a:r>
            <a:endParaRPr lang="en-US" sz="3000" dirty="0"/>
          </a:p>
        </p:txBody>
      </p:sp>
      <p:sp>
        <p:nvSpPr>
          <p:cNvPr id="11" name="Shape 9"/>
          <p:cNvSpPr/>
          <p:nvPr/>
        </p:nvSpPr>
        <p:spPr>
          <a:xfrm>
            <a:off x="841248" y="1755648"/>
            <a:ext cx="4526280" cy="841248"/>
          </a:xfrm>
          <a:prstGeom prst="roundRect">
            <a:avLst>
              <a:gd name="adj" fmla="val 6522"/>
            </a:avLst>
          </a:prstGeom>
          <a:solidFill>
            <a:srgbClr val="FFFFFF"/>
          </a:solidFill>
          <a:ln w="10160">
            <a:solidFill>
              <a:srgbClr val="D8E6E8"/>
            </a:solidFill>
            <a:prstDash val="solid"/>
          </a:ln>
        </p:spPr>
      </p:sp>
      <p:sp>
        <p:nvSpPr>
          <p:cNvPr id="12" name="Text 10"/>
          <p:cNvSpPr/>
          <p:nvPr/>
        </p:nvSpPr>
        <p:spPr>
          <a:xfrm>
            <a:off x="1078992" y="1892808"/>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Role</a:t>
            </a:r>
            <a:endParaRPr lang="en-US" sz="1080" dirty="0"/>
          </a:p>
        </p:txBody>
      </p:sp>
      <p:sp>
        <p:nvSpPr>
          <p:cNvPr id="13" name="Text 11"/>
          <p:cNvSpPr/>
          <p:nvPr/>
        </p:nvSpPr>
        <p:spPr>
          <a:xfrm>
            <a:off x="1078992" y="2157984"/>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You are helping me as a real estate professional</a:t>
            </a:r>
            <a:endParaRPr lang="en-US" sz="1300" dirty="0"/>
          </a:p>
        </p:txBody>
      </p:sp>
      <p:sp>
        <p:nvSpPr>
          <p:cNvPr id="14" name="Shape 12"/>
          <p:cNvSpPr/>
          <p:nvPr/>
        </p:nvSpPr>
        <p:spPr>
          <a:xfrm>
            <a:off x="6007608" y="1755648"/>
            <a:ext cx="4526280" cy="841248"/>
          </a:xfrm>
          <a:prstGeom prst="roundRect">
            <a:avLst>
              <a:gd name="adj" fmla="val 6522"/>
            </a:avLst>
          </a:prstGeom>
          <a:solidFill>
            <a:srgbClr val="FFFFFF"/>
          </a:solidFill>
          <a:ln w="10160">
            <a:solidFill>
              <a:srgbClr val="D8E6E8"/>
            </a:solidFill>
            <a:prstDash val="solid"/>
          </a:ln>
        </p:spPr>
      </p:sp>
      <p:sp>
        <p:nvSpPr>
          <p:cNvPr id="15" name="Text 13"/>
          <p:cNvSpPr/>
          <p:nvPr/>
        </p:nvSpPr>
        <p:spPr>
          <a:xfrm>
            <a:off x="6245352" y="1892808"/>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Task</a:t>
            </a:r>
            <a:endParaRPr lang="en-US" sz="1080" dirty="0"/>
          </a:p>
        </p:txBody>
      </p:sp>
      <p:sp>
        <p:nvSpPr>
          <p:cNvPr id="16" name="Text 14"/>
          <p:cNvSpPr/>
          <p:nvPr/>
        </p:nvSpPr>
        <p:spPr>
          <a:xfrm>
            <a:off x="6245352" y="2157984"/>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Draft a text / email / script / checklist</a:t>
            </a:r>
            <a:endParaRPr lang="en-US" sz="1300" dirty="0"/>
          </a:p>
        </p:txBody>
      </p:sp>
      <p:sp>
        <p:nvSpPr>
          <p:cNvPr id="17" name="Shape 15"/>
          <p:cNvSpPr/>
          <p:nvPr/>
        </p:nvSpPr>
        <p:spPr>
          <a:xfrm>
            <a:off x="841248" y="2926080"/>
            <a:ext cx="4526280" cy="841248"/>
          </a:xfrm>
          <a:prstGeom prst="roundRect">
            <a:avLst>
              <a:gd name="adj" fmla="val 6522"/>
            </a:avLst>
          </a:prstGeom>
          <a:solidFill>
            <a:srgbClr val="FFFFFF"/>
          </a:solidFill>
          <a:ln w="10160">
            <a:solidFill>
              <a:srgbClr val="D8E6E8"/>
            </a:solidFill>
            <a:prstDash val="solid"/>
          </a:ln>
        </p:spPr>
      </p:sp>
      <p:sp>
        <p:nvSpPr>
          <p:cNvPr id="18" name="Text 16"/>
          <p:cNvSpPr/>
          <p:nvPr/>
        </p:nvSpPr>
        <p:spPr>
          <a:xfrm>
            <a:off x="1078992" y="3063240"/>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Context</a:t>
            </a:r>
            <a:endParaRPr lang="en-US" sz="1080" dirty="0"/>
          </a:p>
        </p:txBody>
      </p:sp>
      <p:sp>
        <p:nvSpPr>
          <p:cNvPr id="19" name="Text 17"/>
          <p:cNvSpPr/>
          <p:nvPr/>
        </p:nvSpPr>
        <p:spPr>
          <a:xfrm>
            <a:off x="1078992" y="3328416"/>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Client situation, property, timeline, concern</a:t>
            </a:r>
            <a:endParaRPr lang="en-US" sz="1300" dirty="0"/>
          </a:p>
        </p:txBody>
      </p:sp>
      <p:sp>
        <p:nvSpPr>
          <p:cNvPr id="20" name="Shape 18"/>
          <p:cNvSpPr/>
          <p:nvPr/>
        </p:nvSpPr>
        <p:spPr>
          <a:xfrm>
            <a:off x="6007608" y="2926080"/>
            <a:ext cx="4526280" cy="841248"/>
          </a:xfrm>
          <a:prstGeom prst="roundRect">
            <a:avLst>
              <a:gd name="adj" fmla="val 6522"/>
            </a:avLst>
          </a:prstGeom>
          <a:solidFill>
            <a:srgbClr val="FFFFFF"/>
          </a:solidFill>
          <a:ln w="10160">
            <a:solidFill>
              <a:srgbClr val="D8E6E8"/>
            </a:solidFill>
            <a:prstDash val="solid"/>
          </a:ln>
        </p:spPr>
      </p:sp>
      <p:sp>
        <p:nvSpPr>
          <p:cNvPr id="21" name="Text 19"/>
          <p:cNvSpPr/>
          <p:nvPr/>
        </p:nvSpPr>
        <p:spPr>
          <a:xfrm>
            <a:off x="6245352" y="3063240"/>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Tone</a:t>
            </a:r>
            <a:endParaRPr lang="en-US" sz="1080" dirty="0"/>
          </a:p>
        </p:txBody>
      </p:sp>
      <p:sp>
        <p:nvSpPr>
          <p:cNvPr id="22" name="Text 20"/>
          <p:cNvSpPr/>
          <p:nvPr/>
        </p:nvSpPr>
        <p:spPr>
          <a:xfrm>
            <a:off x="6245352" y="3328416"/>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Warm, concise, direct, educational</a:t>
            </a:r>
            <a:endParaRPr lang="en-US" sz="1300" dirty="0"/>
          </a:p>
        </p:txBody>
      </p:sp>
      <p:sp>
        <p:nvSpPr>
          <p:cNvPr id="23" name="Shape 21"/>
          <p:cNvSpPr/>
          <p:nvPr/>
        </p:nvSpPr>
        <p:spPr>
          <a:xfrm>
            <a:off x="841248" y="4096512"/>
            <a:ext cx="4526280" cy="841248"/>
          </a:xfrm>
          <a:prstGeom prst="roundRect">
            <a:avLst>
              <a:gd name="adj" fmla="val 6522"/>
            </a:avLst>
          </a:prstGeom>
          <a:solidFill>
            <a:srgbClr val="FFFFFF"/>
          </a:solidFill>
          <a:ln w="10160">
            <a:solidFill>
              <a:srgbClr val="D8E6E8"/>
            </a:solidFill>
            <a:prstDash val="solid"/>
          </a:ln>
        </p:spPr>
      </p:sp>
      <p:sp>
        <p:nvSpPr>
          <p:cNvPr id="24" name="Text 22"/>
          <p:cNvSpPr/>
          <p:nvPr/>
        </p:nvSpPr>
        <p:spPr>
          <a:xfrm>
            <a:off x="1078992" y="4233672"/>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Constraints</a:t>
            </a:r>
            <a:endParaRPr lang="en-US" sz="1080" dirty="0"/>
          </a:p>
        </p:txBody>
      </p:sp>
      <p:sp>
        <p:nvSpPr>
          <p:cNvPr id="25" name="Text 23"/>
          <p:cNvSpPr/>
          <p:nvPr/>
        </p:nvSpPr>
        <p:spPr>
          <a:xfrm>
            <a:off x="1078992" y="4498848"/>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Avoid claims, private data, Fair Housing risk</a:t>
            </a:r>
            <a:endParaRPr lang="en-US" sz="1300" dirty="0"/>
          </a:p>
        </p:txBody>
      </p:sp>
      <p:sp>
        <p:nvSpPr>
          <p:cNvPr id="26" name="Shape 24"/>
          <p:cNvSpPr/>
          <p:nvPr/>
        </p:nvSpPr>
        <p:spPr>
          <a:xfrm>
            <a:off x="6007608" y="4096512"/>
            <a:ext cx="4526280" cy="841248"/>
          </a:xfrm>
          <a:prstGeom prst="roundRect">
            <a:avLst>
              <a:gd name="adj" fmla="val 6522"/>
            </a:avLst>
          </a:prstGeom>
          <a:solidFill>
            <a:srgbClr val="FFFFFF"/>
          </a:solidFill>
          <a:ln w="10160">
            <a:solidFill>
              <a:srgbClr val="D8E6E8"/>
            </a:solidFill>
            <a:prstDash val="solid"/>
          </a:ln>
        </p:spPr>
      </p:sp>
      <p:sp>
        <p:nvSpPr>
          <p:cNvPr id="27" name="Text 25"/>
          <p:cNvSpPr/>
          <p:nvPr/>
        </p:nvSpPr>
        <p:spPr>
          <a:xfrm>
            <a:off x="6245352" y="4233672"/>
            <a:ext cx="1325880" cy="164592"/>
          </a:xfrm>
          <a:prstGeom prst="rect">
            <a:avLst/>
          </a:prstGeom>
          <a:noFill/>
          <a:ln/>
        </p:spPr>
        <p:txBody>
          <a:bodyPr wrap="square" lIns="0" tIns="0" rIns="0" bIns="0" rtlCol="0" anchor="ctr"/>
          <a:lstStyle/>
          <a:p>
            <a:pPr indent="0" marL="0">
              <a:buNone/>
            </a:pPr>
            <a:r>
              <a:rPr lang="en-US" sz="1080" b="1" dirty="0">
                <a:solidFill>
                  <a:srgbClr val="008F8F"/>
                </a:solidFill>
              </a:rPr>
              <a:t>Goal</a:t>
            </a:r>
            <a:endParaRPr lang="en-US" sz="1080" dirty="0"/>
          </a:p>
        </p:txBody>
      </p:sp>
      <p:sp>
        <p:nvSpPr>
          <p:cNvPr id="28" name="Text 26"/>
          <p:cNvSpPr/>
          <p:nvPr/>
        </p:nvSpPr>
        <p:spPr>
          <a:xfrm>
            <a:off x="6245352" y="4498848"/>
            <a:ext cx="3977640" cy="219456"/>
          </a:xfrm>
          <a:prstGeom prst="rect">
            <a:avLst/>
          </a:prstGeom>
          <a:noFill/>
          <a:ln/>
        </p:spPr>
        <p:txBody>
          <a:bodyPr wrap="square" lIns="0" tIns="0" rIns="0" bIns="0" rtlCol="0" anchor="ctr">
            <a:normAutofit/>
          </a:bodyPr>
          <a:lstStyle/>
          <a:p>
            <a:pPr indent="0" marL="0">
              <a:buNone/>
            </a:pPr>
            <a:r>
              <a:rPr lang="en-US" sz="1300" dirty="0">
                <a:solidFill>
                  <a:srgbClr val="102033"/>
                </a:solidFill>
              </a:rPr>
              <a:t>Reply, next step, clarity, appointment</a:t>
            </a:r>
            <a:endParaRPr lang="en-US" sz="130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16/46</a:t>
            </a:r>
            <a:endParaRPr lang="en-US" sz="7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Formula in action: client follow-up prompt</a:t>
            </a:r>
            <a:endParaRPr lang="en-US" sz="3000" dirty="0"/>
          </a:p>
        </p:txBody>
      </p:sp>
      <p:sp>
        <p:nvSpPr>
          <p:cNvPr id="11" name="Shape 9"/>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2" name="Text 10"/>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3" name="Text 11"/>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Write a follow-up text for a buyer.</a:t>
            </a:r>
            <a:endParaRPr lang="en-US" sz="1360" dirty="0"/>
          </a:p>
        </p:txBody>
      </p:sp>
      <p:sp>
        <p:nvSpPr>
          <p:cNvPr id="14" name="Shape 12"/>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5" name="Text 13"/>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6" name="Text 14"/>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You are helping me as a real estate professional. Draft a warm, concise text for a buyer who toured two condos, liked one, but is worried about monthly payment. Avoid financial advice or promises. Ask one clear next-step question.</a:t>
            </a:r>
            <a:endParaRPr lang="en-US" sz="1400" dirty="0"/>
          </a:p>
        </p:txBody>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17/46</a:t>
            </a:r>
            <a:endParaRPr lang="en-US" sz="7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BUYER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Apply the formula to a real client communication moment</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Now apply the formula to a real client communication moment.</a:t>
            </a:r>
            <a:endParaRPr lang="en-US" sz="1250" dirty="0"/>
          </a:p>
        </p:txBody>
      </p:sp>
      <p:sp>
        <p:nvSpPr>
          <p:cNvPr id="12" name="Shape 10"/>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3" name="Shape 11"/>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4" name="Text 12"/>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A buyer toured two condos, liked one, but is worried about monthly payment.</a:t>
            </a:r>
            <a:endParaRPr lang="en-US" sz="1330" dirty="0"/>
          </a:p>
        </p:txBody>
      </p:sp>
      <p:sp>
        <p:nvSpPr>
          <p:cNvPr id="15" name="Text 13"/>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6" name="Shape 14"/>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7" name="Shape 15"/>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8" name="Text 16"/>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I know the monthly payment is the big question. I can send a quick side-by-side with estimated HOA, taxes, and payment ranges so you can compare without guessing. Would that be helpful before we decide whether to see similar options?</a:t>
            </a:r>
            <a:endParaRPr lang="en-US" sz="1380" dirty="0"/>
          </a:p>
        </p:txBody>
      </p:sp>
      <p:sp>
        <p:nvSpPr>
          <p:cNvPr id="19" name="Text 17"/>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20" name="Shape 18"/>
          <p:cNvSpPr/>
          <p:nvPr/>
        </p:nvSpPr>
        <p:spPr>
          <a:xfrm>
            <a:off x="502920" y="6473952"/>
            <a:ext cx="11201400" cy="0"/>
          </a:xfrm>
          <a:prstGeom prst="line">
            <a:avLst/>
          </a:prstGeom>
          <a:noFill/>
          <a:ln w="9525">
            <a:solidFill>
              <a:srgbClr val="D8E6E8"/>
            </a:solidFill>
            <a:prstDash val="solid"/>
          </a:ln>
        </p:spPr>
      </p:sp>
      <p:sp>
        <p:nvSpPr>
          <p:cNvPr id="21" name="Text 1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2" name="Text 2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18/46</a:t>
            </a:r>
            <a:endParaRPr lang="en-US" sz="7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SELLER EXAMPLE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Seller update: honest without sounding negative</a:t>
            </a:r>
            <a:endParaRPr lang="en-US" sz="30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A listing had showings but no offers this week.</a:t>
            </a:r>
            <a:endParaRPr lang="en-US" sz="133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 had three showings this week and the consistent feedback was positive on condition, with some hesitation around pricing compared with recent nearby options. My recommendation is that we review the newest activity together and decide whether a small adjustment would improve our position.</a:t>
            </a:r>
            <a:endParaRPr lang="en-US" sz="138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19/46</a:t>
            </a:r>
            <a:endParaRPr lang="en-US" sz="7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Improve this follow-up message</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Original message: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Just checking in to see if you are still interested.</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Give the lead a reason to reply</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Ask one specific question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Keep it under 45 words</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20/46</a:t>
            </a:r>
            <a:endParaRPr lang="en-US" sz="7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1</a:t>
            </a:r>
            <a:endParaRPr lang="en-US" sz="3000" dirty="0"/>
          </a:p>
        </p:txBody>
      </p:sp>
      <p:sp>
        <p:nvSpPr>
          <p:cNvPr id="11" name="Shape 9"/>
          <p:cNvSpPr/>
          <p:nvPr/>
        </p:nvSpPr>
        <p:spPr>
          <a:xfrm>
            <a:off x="868680" y="1719072"/>
            <a:ext cx="9829800" cy="621792"/>
          </a:xfrm>
          <a:prstGeom prst="roundRect">
            <a:avLst>
              <a:gd name="adj" fmla="val 8824"/>
            </a:avLst>
          </a:prstGeom>
          <a:solidFill>
            <a:srgbClr val="EAF7F7"/>
          </a:solidFill>
          <a:ln w="10160">
            <a:solidFill>
              <a:srgbClr val="B8DDE0"/>
            </a:solidFill>
            <a:prstDash val="solid"/>
          </a:ln>
        </p:spPr>
      </p:sp>
      <p:sp>
        <p:nvSpPr>
          <p:cNvPr id="12" name="Shape 10"/>
          <p:cNvSpPr/>
          <p:nvPr/>
        </p:nvSpPr>
        <p:spPr>
          <a:xfrm>
            <a:off x="1078992" y="1801368"/>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8928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19656"/>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Rewrite this text so it sounds warm, concise, and natural for a REALTOR: [draft]</a:t>
            </a:r>
            <a:endParaRPr lang="en-US" sz="1400" dirty="0"/>
          </a:p>
        </p:txBody>
      </p:sp>
      <p:sp>
        <p:nvSpPr>
          <p:cNvPr id="15" name="Shape 13"/>
          <p:cNvSpPr/>
          <p:nvPr/>
        </p:nvSpPr>
        <p:spPr>
          <a:xfrm>
            <a:off x="868680" y="2523744"/>
            <a:ext cx="9829800" cy="621792"/>
          </a:xfrm>
          <a:prstGeom prst="roundRect">
            <a:avLst>
              <a:gd name="adj" fmla="val 8824"/>
            </a:avLst>
          </a:prstGeom>
          <a:solidFill>
            <a:srgbClr val="FFFFFF"/>
          </a:solidFill>
          <a:ln w="10160">
            <a:solidFill>
              <a:srgbClr val="D8E6E8"/>
            </a:solidFill>
            <a:prstDash val="solid"/>
          </a:ln>
        </p:spPr>
      </p:sp>
      <p:sp>
        <p:nvSpPr>
          <p:cNvPr id="16" name="Shape 14"/>
          <p:cNvSpPr/>
          <p:nvPr/>
        </p:nvSpPr>
        <p:spPr>
          <a:xfrm>
            <a:off x="1078992" y="2606040"/>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6974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624328"/>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Create a buyer follow-up email based on these call notes: [notes]. Ask one clear next-step question.</a:t>
            </a:r>
            <a:endParaRPr lang="en-US" sz="1400" dirty="0"/>
          </a:p>
        </p:txBody>
      </p:sp>
      <p:sp>
        <p:nvSpPr>
          <p:cNvPr id="19" name="Shape 17"/>
          <p:cNvSpPr/>
          <p:nvPr/>
        </p:nvSpPr>
        <p:spPr>
          <a:xfrm>
            <a:off x="868680" y="3328416"/>
            <a:ext cx="9829800" cy="621792"/>
          </a:xfrm>
          <a:prstGeom prst="roundRect">
            <a:avLst>
              <a:gd name="adj" fmla="val 8824"/>
            </a:avLst>
          </a:prstGeom>
          <a:solidFill>
            <a:srgbClr val="EAF7F7"/>
          </a:solidFill>
          <a:ln w="10160">
            <a:solidFill>
              <a:srgbClr val="B8DDE0"/>
            </a:solidFill>
            <a:prstDash val="solid"/>
          </a:ln>
        </p:spPr>
      </p:sp>
      <p:sp>
        <p:nvSpPr>
          <p:cNvPr id="20" name="Shape 18"/>
          <p:cNvSpPr/>
          <p:nvPr/>
        </p:nvSpPr>
        <p:spPr>
          <a:xfrm>
            <a:off x="1078992" y="3410712"/>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5021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429000"/>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Draft a seller update after a quiet week. Be honest, professional, and solution-oriented.</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21/46</a:t>
            </a:r>
            <a:endParaRPr lang="en-US" sz="7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PROMPTS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Reusable communication prompts: Part 2</a:t>
            </a:r>
            <a:endParaRPr lang="en-US" sz="3000" dirty="0"/>
          </a:p>
        </p:txBody>
      </p:sp>
      <p:sp>
        <p:nvSpPr>
          <p:cNvPr id="11" name="Shape 9"/>
          <p:cNvSpPr/>
          <p:nvPr/>
        </p:nvSpPr>
        <p:spPr>
          <a:xfrm>
            <a:off x="868680" y="1719072"/>
            <a:ext cx="9829800" cy="621792"/>
          </a:xfrm>
          <a:prstGeom prst="roundRect">
            <a:avLst>
              <a:gd name="adj" fmla="val 8824"/>
            </a:avLst>
          </a:prstGeom>
          <a:solidFill>
            <a:srgbClr val="EAF7F7"/>
          </a:solidFill>
          <a:ln w="10160">
            <a:solidFill>
              <a:srgbClr val="B8DDE0"/>
            </a:solidFill>
            <a:prstDash val="solid"/>
          </a:ln>
        </p:spPr>
      </p:sp>
      <p:sp>
        <p:nvSpPr>
          <p:cNvPr id="12" name="Shape 10"/>
          <p:cNvSpPr/>
          <p:nvPr/>
        </p:nvSpPr>
        <p:spPr>
          <a:xfrm>
            <a:off x="1078992" y="1801368"/>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8928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19656"/>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Create three versions of this follow-up: text, email, and voicemail.</a:t>
            </a:r>
            <a:endParaRPr lang="en-US" sz="1400" dirty="0"/>
          </a:p>
        </p:txBody>
      </p:sp>
      <p:sp>
        <p:nvSpPr>
          <p:cNvPr id="15" name="Shape 13"/>
          <p:cNvSpPr/>
          <p:nvPr/>
        </p:nvSpPr>
        <p:spPr>
          <a:xfrm>
            <a:off x="868680" y="2523744"/>
            <a:ext cx="9829800" cy="621792"/>
          </a:xfrm>
          <a:prstGeom prst="roundRect">
            <a:avLst>
              <a:gd name="adj" fmla="val 8824"/>
            </a:avLst>
          </a:prstGeom>
          <a:solidFill>
            <a:srgbClr val="FFFFFF"/>
          </a:solidFill>
          <a:ln w="10160">
            <a:solidFill>
              <a:srgbClr val="D8E6E8"/>
            </a:solidFill>
            <a:prstDash val="solid"/>
          </a:ln>
        </p:spPr>
      </p:sp>
      <p:sp>
        <p:nvSpPr>
          <p:cNvPr id="16" name="Shape 14"/>
          <p:cNvSpPr/>
          <p:nvPr/>
        </p:nvSpPr>
        <p:spPr>
          <a:xfrm>
            <a:off x="1078992" y="2606040"/>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6974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624328"/>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Review this message for accuracy, Fair Housing risk, and claims I should verify.</a:t>
            </a:r>
            <a:endParaRPr lang="en-US" sz="1400" dirty="0"/>
          </a:p>
        </p:txBody>
      </p:sp>
      <p:sp>
        <p:nvSpPr>
          <p:cNvPr id="19" name="Shape 17"/>
          <p:cNvSpPr/>
          <p:nvPr/>
        </p:nvSpPr>
        <p:spPr>
          <a:xfrm>
            <a:off x="868680" y="3328416"/>
            <a:ext cx="9829800" cy="621792"/>
          </a:xfrm>
          <a:prstGeom prst="roundRect">
            <a:avLst>
              <a:gd name="adj" fmla="val 8824"/>
            </a:avLst>
          </a:prstGeom>
          <a:solidFill>
            <a:srgbClr val="EAF7F7"/>
          </a:solidFill>
          <a:ln w="10160">
            <a:solidFill>
              <a:srgbClr val="B8DDE0"/>
            </a:solidFill>
            <a:prstDash val="solid"/>
          </a:ln>
        </p:spPr>
      </p:sp>
      <p:sp>
        <p:nvSpPr>
          <p:cNvPr id="20" name="Shape 18"/>
          <p:cNvSpPr/>
          <p:nvPr/>
        </p:nvSpPr>
        <p:spPr>
          <a:xfrm>
            <a:off x="1078992" y="3410712"/>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5021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429000"/>
            <a:ext cx="8549640" cy="256032"/>
          </a:xfrm>
          <a:prstGeom prst="rect">
            <a:avLst/>
          </a:prstGeom>
          <a:noFill/>
          <a:ln/>
        </p:spPr>
        <p:txBody>
          <a:bodyPr wrap="square" lIns="254" tIns="254" rIns="254" bIns="254" rtlCol="0" anchor="ctr">
            <a:normAutofit/>
          </a:bodyPr>
          <a:lstStyle/>
          <a:p>
            <a:pPr indent="0" marL="0">
              <a:buNone/>
            </a:pPr>
            <a:r>
              <a:rPr lang="en-US" sz="1400" dirty="0">
                <a:solidFill>
                  <a:srgbClr val="102033"/>
                </a:solidFill>
              </a:rPr>
              <a:t>Give me three tone options: concise, reassuring, and more direct.</a:t>
            </a:r>
            <a:endParaRPr lang="en-US" sz="140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22/46</a:t>
            </a:r>
            <a:endParaRPr lang="en-US" sz="7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F2B84B"/>
          </a:solidFill>
          <a:ln w="12700">
            <a:solidFill>
              <a:srgbClr val="F2B84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03</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3</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Lead Follow-Up</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Context before cadence: different lead sources need different first responses.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LEAD REALITY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Most follow-up fails because it is generic, late, or stops too soon</a:t>
            </a:r>
            <a:endParaRPr lang="en-US" sz="24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Many leads arrive with limited context, whether they come from portals, IDX, open houses, referrals, social media, sign calls, or past database activity.</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Speed matters, but fast and generic still feels automated.</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Different lead sources need different first responses because the relationship context is different.</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Useful follow-up gives the person a reason to continue the conversation.</a:t>
            </a:r>
            <a:endParaRPr lang="en-US" sz="1660" dirty="0"/>
          </a:p>
        </p:txBody>
      </p:sp>
      <p:sp>
        <p:nvSpPr>
          <p:cNvPr id="12" name="Shape 10"/>
          <p:cNvSpPr/>
          <p:nvPr/>
        </p:nvSpPr>
        <p:spPr>
          <a:xfrm>
            <a:off x="7479792" y="1737360"/>
            <a:ext cx="91440" cy="2971800"/>
          </a:xfrm>
          <a:prstGeom prst="rect">
            <a:avLst/>
          </a:prstGeom>
          <a:solidFill>
            <a:srgbClr val="2E7D5B"/>
          </a:solidFill>
          <a:ln w="12700">
            <a:solidFill>
              <a:srgbClr val="2E7D5B"/>
            </a:solidFill>
            <a:prstDash val="solid"/>
          </a:ln>
        </p:spPr>
      </p:sp>
      <p:sp>
        <p:nvSpPr>
          <p:cNvPr id="13" name="Shape 11"/>
          <p:cNvSpPr/>
          <p:nvPr/>
        </p:nvSpPr>
        <p:spPr>
          <a:xfrm>
            <a:off x="7607808" y="1828800"/>
            <a:ext cx="3246120" cy="2788920"/>
          </a:xfrm>
          <a:prstGeom prst="roundRect">
            <a:avLst>
              <a:gd name="adj" fmla="val 1967"/>
            </a:avLst>
          </a:prstGeom>
          <a:solidFill>
            <a:srgbClr val="E9F8F0"/>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Useful beats frequent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Better follow-up gives the lead a reason to respond and a clear next step.</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24/46</a:t>
            </a:r>
            <a:endParaRPr lang="en-US" sz="72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CRM VS AI</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CRM templates are static. AI-assisted drafts adapt to context.</a:t>
            </a:r>
            <a:endParaRPr lang="en-US" sz="3000" dirty="0"/>
          </a:p>
        </p:txBody>
      </p:sp>
      <p:sp>
        <p:nvSpPr>
          <p:cNvPr id="11" name="Shape 9"/>
          <p:cNvSpPr/>
          <p:nvPr/>
        </p:nvSpPr>
        <p:spPr>
          <a:xfrm>
            <a:off x="868680" y="1828800"/>
            <a:ext cx="4754880" cy="3429000"/>
          </a:xfrm>
          <a:prstGeom prst="roundRect">
            <a:avLst>
              <a:gd name="adj" fmla="val 1600"/>
            </a:avLst>
          </a:prstGeom>
          <a:solidFill>
            <a:srgbClr val="FFF0EF"/>
          </a:solidFill>
          <a:ln w="10160">
            <a:solidFill>
              <a:srgbClr val="D8E6E8"/>
            </a:solidFill>
            <a:prstDash val="solid"/>
          </a:ln>
        </p:spPr>
      </p:sp>
      <p:sp>
        <p:nvSpPr>
          <p:cNvPr id="12" name="Text 10"/>
          <p:cNvSpPr/>
          <p:nvPr/>
        </p:nvSpPr>
        <p:spPr>
          <a:xfrm>
            <a:off x="116128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CRM template</a:t>
            </a:r>
            <a:endParaRPr lang="en-US" sz="1900" dirty="0"/>
          </a:p>
        </p:txBody>
      </p:sp>
      <p:sp>
        <p:nvSpPr>
          <p:cNvPr id="13" name="Text 11"/>
          <p:cNvSpPr/>
          <p:nvPr/>
        </p:nvSpPr>
        <p:spPr>
          <a:xfrm>
            <a:off x="128016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Saved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Same wording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Fast but generic</a:t>
            </a:r>
            <a:endParaRPr lang="en-US" sz="1500" dirty="0"/>
          </a:p>
        </p:txBody>
      </p:sp>
      <p:sp>
        <p:nvSpPr>
          <p:cNvPr id="14" name="Shape 12"/>
          <p:cNvSpPr/>
          <p:nvPr/>
        </p:nvSpPr>
        <p:spPr>
          <a:xfrm>
            <a:off x="6172200" y="1828800"/>
            <a:ext cx="4754880" cy="3429000"/>
          </a:xfrm>
          <a:prstGeom prst="roundRect">
            <a:avLst>
              <a:gd name="adj" fmla="val 1600"/>
            </a:avLst>
          </a:prstGeom>
          <a:solidFill>
            <a:srgbClr val="EAF7F7"/>
          </a:solidFill>
          <a:ln w="10160">
            <a:solidFill>
              <a:srgbClr val="D8E6E8"/>
            </a:solidFill>
            <a:prstDash val="solid"/>
          </a:ln>
        </p:spPr>
      </p:sp>
      <p:sp>
        <p:nvSpPr>
          <p:cNvPr id="15" name="Text 13"/>
          <p:cNvSpPr/>
          <p:nvPr/>
        </p:nvSpPr>
        <p:spPr>
          <a:xfrm>
            <a:off x="6464808" y="2103120"/>
            <a:ext cx="3931920" cy="292608"/>
          </a:xfrm>
          <a:prstGeom prst="rect">
            <a:avLst/>
          </a:prstGeom>
          <a:noFill/>
          <a:ln/>
        </p:spPr>
        <p:txBody>
          <a:bodyPr wrap="square" lIns="0" tIns="0" rIns="0" bIns="0" rtlCol="0" anchor="ctr"/>
          <a:lstStyle/>
          <a:p>
            <a:pPr indent="0" marL="0">
              <a:buNone/>
            </a:pPr>
            <a:r>
              <a:rPr lang="en-US" sz="1900" b="1" dirty="0">
                <a:solidFill>
                  <a:srgbClr val="16324F"/>
                </a:solidFill>
              </a:rPr>
              <a:t>AI-assisted draft</a:t>
            </a:r>
            <a:endParaRPr lang="en-US" sz="1900" dirty="0"/>
          </a:p>
        </p:txBody>
      </p:sp>
      <p:sp>
        <p:nvSpPr>
          <p:cNvPr id="16" name="Text 14"/>
          <p:cNvSpPr/>
          <p:nvPr/>
        </p:nvSpPr>
        <p:spPr>
          <a:xfrm>
            <a:off x="6583680" y="2651760"/>
            <a:ext cx="4023360" cy="210312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Source + context</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Situation-aware wording</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Agent-reviewed before sending</a:t>
            </a:r>
            <a:endParaRPr lang="en-US" sz="1500" dirty="0"/>
          </a:p>
        </p:txBody>
      </p:sp>
      <p:sp>
        <p:nvSpPr>
          <p:cNvPr id="17" name="Shape 15"/>
          <p:cNvSpPr/>
          <p:nvPr/>
        </p:nvSpPr>
        <p:spPr>
          <a:xfrm>
            <a:off x="5650992" y="3017520"/>
            <a:ext cx="438912" cy="475488"/>
          </a:xfrm>
          <a:prstGeom prst="chevron">
            <a:avLst/>
          </a:prstGeom>
          <a:solidFill>
            <a:srgbClr val="008F8F"/>
          </a:solidFill>
          <a:ln w="12700">
            <a:solidFill>
              <a:srgbClr val="008F8F"/>
            </a:solidFill>
            <a:prstDash val="solid"/>
          </a:ln>
        </p:spPr>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25/46</a:t>
            </a:r>
            <a:endParaRPr lang="en-US" sz="72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WORKFLOW</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Lead note to next-best message</a:t>
            </a:r>
            <a:endParaRPr lang="en-US" sz="3000" dirty="0"/>
          </a:p>
        </p:txBody>
      </p:sp>
      <p:sp>
        <p:nvSpPr>
          <p:cNvPr id="11" name="Shape 9"/>
          <p:cNvSpPr/>
          <p:nvPr/>
        </p:nvSpPr>
        <p:spPr>
          <a:xfrm>
            <a:off x="868680" y="1783080"/>
            <a:ext cx="2926080" cy="1024128"/>
          </a:xfrm>
          <a:prstGeom prst="roundRect">
            <a:avLst>
              <a:gd name="adj" fmla="val 5357"/>
            </a:avLst>
          </a:prstGeom>
          <a:solidFill>
            <a:srgbClr val="EAF7F7"/>
          </a:solidFill>
          <a:ln w="10160">
            <a:solidFill>
              <a:srgbClr val="D8E6E8"/>
            </a:solidFill>
            <a:prstDash val="solid"/>
          </a:ln>
        </p:spPr>
      </p:sp>
      <p:sp>
        <p:nvSpPr>
          <p:cNvPr id="12" name="Shape 10"/>
          <p:cNvSpPr/>
          <p:nvPr/>
        </p:nvSpPr>
        <p:spPr>
          <a:xfrm>
            <a:off x="1069848" y="2039112"/>
            <a:ext cx="402336" cy="402336"/>
          </a:xfrm>
          <a:prstGeom prst="ellipse">
            <a:avLst/>
          </a:prstGeom>
          <a:solidFill>
            <a:srgbClr val="008F8F"/>
          </a:solidFill>
          <a:ln w="12700">
            <a:solidFill>
              <a:srgbClr val="008F8F"/>
            </a:solidFill>
            <a:prstDash val="solid"/>
          </a:ln>
        </p:spPr>
      </p:sp>
      <p:sp>
        <p:nvSpPr>
          <p:cNvPr id="13" name="Text 11"/>
          <p:cNvSpPr/>
          <p:nvPr/>
        </p:nvSpPr>
        <p:spPr>
          <a:xfrm>
            <a:off x="1069848" y="21305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18488" y="203911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Capture source, context, and recent activity</a:t>
            </a:r>
            <a:endParaRPr lang="en-US" sz="1180" dirty="0"/>
          </a:p>
        </p:txBody>
      </p:sp>
      <p:sp>
        <p:nvSpPr>
          <p:cNvPr id="15" name="Shape 13"/>
          <p:cNvSpPr/>
          <p:nvPr/>
        </p:nvSpPr>
        <p:spPr>
          <a:xfrm>
            <a:off x="4389120" y="1783080"/>
            <a:ext cx="2926080" cy="1024128"/>
          </a:xfrm>
          <a:prstGeom prst="roundRect">
            <a:avLst>
              <a:gd name="adj" fmla="val 5357"/>
            </a:avLst>
          </a:prstGeom>
          <a:solidFill>
            <a:srgbClr val="FFFFFF"/>
          </a:solidFill>
          <a:ln w="10160">
            <a:solidFill>
              <a:srgbClr val="D8E6E8"/>
            </a:solidFill>
            <a:prstDash val="solid"/>
          </a:ln>
        </p:spPr>
      </p:sp>
      <p:sp>
        <p:nvSpPr>
          <p:cNvPr id="16" name="Shape 14"/>
          <p:cNvSpPr/>
          <p:nvPr/>
        </p:nvSpPr>
        <p:spPr>
          <a:xfrm>
            <a:off x="4590288" y="2039112"/>
            <a:ext cx="402336" cy="402336"/>
          </a:xfrm>
          <a:prstGeom prst="ellipse">
            <a:avLst/>
          </a:prstGeom>
          <a:solidFill>
            <a:srgbClr val="2F80ED"/>
          </a:solidFill>
          <a:ln w="12700">
            <a:solidFill>
              <a:srgbClr val="2F80ED"/>
            </a:solidFill>
            <a:prstDash val="solid"/>
          </a:ln>
        </p:spPr>
      </p:sp>
      <p:sp>
        <p:nvSpPr>
          <p:cNvPr id="17" name="Text 15"/>
          <p:cNvSpPr/>
          <p:nvPr/>
        </p:nvSpPr>
        <p:spPr>
          <a:xfrm>
            <a:off x="4590288" y="21305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5138928" y="203911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Identify likely intent without assuming certainty</a:t>
            </a:r>
            <a:endParaRPr lang="en-US" sz="1180" dirty="0"/>
          </a:p>
        </p:txBody>
      </p:sp>
      <p:sp>
        <p:nvSpPr>
          <p:cNvPr id="19" name="Shape 17"/>
          <p:cNvSpPr/>
          <p:nvPr/>
        </p:nvSpPr>
        <p:spPr>
          <a:xfrm>
            <a:off x="7909560" y="1783080"/>
            <a:ext cx="2926080" cy="1024128"/>
          </a:xfrm>
          <a:prstGeom prst="roundRect">
            <a:avLst>
              <a:gd name="adj" fmla="val 5357"/>
            </a:avLst>
          </a:prstGeom>
          <a:solidFill>
            <a:srgbClr val="EAF7F7"/>
          </a:solidFill>
          <a:ln w="10160">
            <a:solidFill>
              <a:srgbClr val="D8E6E8"/>
            </a:solidFill>
            <a:prstDash val="solid"/>
          </a:ln>
        </p:spPr>
      </p:sp>
      <p:sp>
        <p:nvSpPr>
          <p:cNvPr id="20" name="Shape 18"/>
          <p:cNvSpPr/>
          <p:nvPr/>
        </p:nvSpPr>
        <p:spPr>
          <a:xfrm>
            <a:off x="8110728" y="2039112"/>
            <a:ext cx="402336" cy="402336"/>
          </a:xfrm>
          <a:prstGeom prst="ellipse">
            <a:avLst/>
          </a:prstGeom>
          <a:solidFill>
            <a:srgbClr val="F45B69"/>
          </a:solidFill>
          <a:ln w="12700">
            <a:solidFill>
              <a:srgbClr val="F45B69"/>
            </a:solidFill>
            <a:prstDash val="solid"/>
          </a:ln>
        </p:spPr>
      </p:sp>
      <p:sp>
        <p:nvSpPr>
          <p:cNvPr id="21" name="Text 19"/>
          <p:cNvSpPr/>
          <p:nvPr/>
        </p:nvSpPr>
        <p:spPr>
          <a:xfrm>
            <a:off x="8110728" y="21305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8659368" y="203911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Choose the best channel</a:t>
            </a:r>
            <a:endParaRPr lang="en-US" sz="1180" dirty="0"/>
          </a:p>
        </p:txBody>
      </p:sp>
      <p:sp>
        <p:nvSpPr>
          <p:cNvPr id="23" name="Shape 21"/>
          <p:cNvSpPr/>
          <p:nvPr/>
        </p:nvSpPr>
        <p:spPr>
          <a:xfrm>
            <a:off x="868680" y="3291840"/>
            <a:ext cx="2926080" cy="1024128"/>
          </a:xfrm>
          <a:prstGeom prst="roundRect">
            <a:avLst>
              <a:gd name="adj" fmla="val 5357"/>
            </a:avLst>
          </a:prstGeom>
          <a:solidFill>
            <a:srgbClr val="FFFFFF"/>
          </a:solidFill>
          <a:ln w="10160">
            <a:solidFill>
              <a:srgbClr val="D8E6E8"/>
            </a:solidFill>
            <a:prstDash val="solid"/>
          </a:ln>
        </p:spPr>
      </p:sp>
      <p:sp>
        <p:nvSpPr>
          <p:cNvPr id="24" name="Shape 22"/>
          <p:cNvSpPr/>
          <p:nvPr/>
        </p:nvSpPr>
        <p:spPr>
          <a:xfrm>
            <a:off x="1069848" y="3547872"/>
            <a:ext cx="402336" cy="402336"/>
          </a:xfrm>
          <a:prstGeom prst="ellipse">
            <a:avLst/>
          </a:prstGeom>
          <a:solidFill>
            <a:srgbClr val="2E7D5B"/>
          </a:solidFill>
          <a:ln w="12700">
            <a:solidFill>
              <a:srgbClr val="2E7D5B"/>
            </a:solidFill>
            <a:prstDash val="solid"/>
          </a:ln>
        </p:spPr>
      </p:sp>
      <p:sp>
        <p:nvSpPr>
          <p:cNvPr id="25" name="Text 23"/>
          <p:cNvSpPr/>
          <p:nvPr/>
        </p:nvSpPr>
        <p:spPr>
          <a:xfrm>
            <a:off x="1069848" y="36393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18488" y="354787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Draft one useful message</a:t>
            </a:r>
            <a:endParaRPr lang="en-US" sz="1180" dirty="0"/>
          </a:p>
        </p:txBody>
      </p:sp>
      <p:sp>
        <p:nvSpPr>
          <p:cNvPr id="27" name="Shape 25"/>
          <p:cNvSpPr/>
          <p:nvPr/>
        </p:nvSpPr>
        <p:spPr>
          <a:xfrm>
            <a:off x="4389120" y="3291840"/>
            <a:ext cx="2926080" cy="1024128"/>
          </a:xfrm>
          <a:prstGeom prst="roundRect">
            <a:avLst>
              <a:gd name="adj" fmla="val 5357"/>
            </a:avLst>
          </a:prstGeom>
          <a:solidFill>
            <a:srgbClr val="EAF7F7"/>
          </a:solidFill>
          <a:ln w="10160">
            <a:solidFill>
              <a:srgbClr val="D8E6E8"/>
            </a:solidFill>
            <a:prstDash val="solid"/>
          </a:ln>
        </p:spPr>
      </p:sp>
      <p:sp>
        <p:nvSpPr>
          <p:cNvPr id="28" name="Shape 26"/>
          <p:cNvSpPr/>
          <p:nvPr/>
        </p:nvSpPr>
        <p:spPr>
          <a:xfrm>
            <a:off x="4590288" y="3547872"/>
            <a:ext cx="402336" cy="402336"/>
          </a:xfrm>
          <a:prstGeom prst="ellipse">
            <a:avLst/>
          </a:prstGeom>
          <a:solidFill>
            <a:srgbClr val="F2B84B"/>
          </a:solidFill>
          <a:ln w="12700">
            <a:solidFill>
              <a:srgbClr val="F2B84B"/>
            </a:solidFill>
            <a:prstDash val="solid"/>
          </a:ln>
        </p:spPr>
      </p:sp>
      <p:sp>
        <p:nvSpPr>
          <p:cNvPr id="29" name="Text 27"/>
          <p:cNvSpPr/>
          <p:nvPr/>
        </p:nvSpPr>
        <p:spPr>
          <a:xfrm>
            <a:off x="4590288" y="36393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5138928" y="354787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Review for accuracy and tone</a:t>
            </a:r>
            <a:endParaRPr lang="en-US" sz="1180" dirty="0"/>
          </a:p>
        </p:txBody>
      </p:sp>
      <p:sp>
        <p:nvSpPr>
          <p:cNvPr id="31" name="Shape 29"/>
          <p:cNvSpPr/>
          <p:nvPr/>
        </p:nvSpPr>
        <p:spPr>
          <a:xfrm>
            <a:off x="7909560" y="3291840"/>
            <a:ext cx="2926080" cy="1024128"/>
          </a:xfrm>
          <a:prstGeom prst="roundRect">
            <a:avLst>
              <a:gd name="adj" fmla="val 5357"/>
            </a:avLst>
          </a:prstGeom>
          <a:solidFill>
            <a:srgbClr val="FFFFFF"/>
          </a:solidFill>
          <a:ln w="10160">
            <a:solidFill>
              <a:srgbClr val="D8E6E8"/>
            </a:solidFill>
            <a:prstDash val="solid"/>
          </a:ln>
        </p:spPr>
      </p:sp>
      <p:sp>
        <p:nvSpPr>
          <p:cNvPr id="32" name="Shape 30"/>
          <p:cNvSpPr/>
          <p:nvPr/>
        </p:nvSpPr>
        <p:spPr>
          <a:xfrm>
            <a:off x="8110728" y="3547872"/>
            <a:ext cx="402336" cy="402336"/>
          </a:xfrm>
          <a:prstGeom prst="ellipse">
            <a:avLst/>
          </a:prstGeom>
          <a:solidFill>
            <a:srgbClr val="16324F"/>
          </a:solidFill>
          <a:ln w="12700">
            <a:solidFill>
              <a:srgbClr val="16324F"/>
            </a:solidFill>
            <a:prstDash val="solid"/>
          </a:ln>
        </p:spPr>
      </p:sp>
      <p:sp>
        <p:nvSpPr>
          <p:cNvPr id="33" name="Text 31"/>
          <p:cNvSpPr/>
          <p:nvPr/>
        </p:nvSpPr>
        <p:spPr>
          <a:xfrm>
            <a:off x="8110728" y="363931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6</a:t>
            </a:r>
            <a:endParaRPr lang="en-US" sz="800" dirty="0"/>
          </a:p>
        </p:txBody>
      </p:sp>
      <p:sp>
        <p:nvSpPr>
          <p:cNvPr id="34" name="Text 32"/>
          <p:cNvSpPr/>
          <p:nvPr/>
        </p:nvSpPr>
        <p:spPr>
          <a:xfrm>
            <a:off x="8659368" y="3547872"/>
            <a:ext cx="2011680" cy="384048"/>
          </a:xfrm>
          <a:prstGeom prst="rect">
            <a:avLst/>
          </a:prstGeom>
          <a:noFill/>
          <a:ln/>
        </p:spPr>
        <p:txBody>
          <a:bodyPr wrap="square" lIns="0" tIns="0" rIns="0" bIns="0" rtlCol="0" anchor="ctr">
            <a:normAutofit/>
          </a:bodyPr>
          <a:lstStyle/>
          <a:p>
            <a:pPr indent="0" marL="0">
              <a:buNone/>
            </a:pPr>
            <a:r>
              <a:rPr lang="en-US" sz="1180" b="1" dirty="0">
                <a:solidFill>
                  <a:srgbClr val="102033"/>
                </a:solidFill>
              </a:rPr>
              <a:t>Send and log next step</a:t>
            </a:r>
            <a:endParaRPr lang="en-US" sz="1180" dirty="0"/>
          </a:p>
        </p:txBody>
      </p:sp>
      <p:sp>
        <p:nvSpPr>
          <p:cNvPr id="35" name="Shape 33"/>
          <p:cNvSpPr/>
          <p:nvPr/>
        </p:nvSpPr>
        <p:spPr>
          <a:xfrm>
            <a:off x="502920" y="6473952"/>
            <a:ext cx="11201400" cy="0"/>
          </a:xfrm>
          <a:prstGeom prst="line">
            <a:avLst/>
          </a:prstGeom>
          <a:noFill/>
          <a:ln w="9525">
            <a:solidFill>
              <a:srgbClr val="D8E6E8"/>
            </a:solidFill>
            <a:prstDash val="solid"/>
          </a:ln>
        </p:spPr>
      </p:sp>
      <p:sp>
        <p:nvSpPr>
          <p:cNvPr id="36" name="Text 3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7" name="Text 3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26/46</a:t>
            </a:r>
            <a:endParaRPr lang="en-US" sz="72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SAMPLE LEAD</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Property inquiry response that does more than answer "available?"</a:t>
            </a:r>
            <a:endParaRPr lang="en-US" sz="2400" dirty="0"/>
          </a:p>
        </p:txBody>
      </p:sp>
      <p:sp>
        <p:nvSpPr>
          <p:cNvPr id="11" name="Shape 9"/>
          <p:cNvSpPr/>
          <p:nvPr/>
        </p:nvSpPr>
        <p:spPr>
          <a:xfrm>
            <a:off x="868680" y="1828800"/>
            <a:ext cx="3063240" cy="2971800"/>
          </a:xfrm>
          <a:prstGeom prst="roundRect">
            <a:avLst>
              <a:gd name="adj" fmla="val 1846"/>
            </a:avLst>
          </a:prstGeom>
          <a:solidFill>
            <a:srgbClr val="FFFFFF"/>
          </a:solidFill>
          <a:ln w="10160">
            <a:solidFill>
              <a:srgbClr val="D8E6E8"/>
            </a:solidFill>
            <a:prstDash val="solid"/>
          </a:ln>
        </p:spPr>
      </p:sp>
      <p:sp>
        <p:nvSpPr>
          <p:cNvPr id="12" name="Shape 10"/>
          <p:cNvSpPr/>
          <p:nvPr/>
        </p:nvSpPr>
        <p:spPr>
          <a:xfrm>
            <a:off x="1143000" y="2121408"/>
            <a:ext cx="2514600" cy="1051560"/>
          </a:xfrm>
          <a:prstGeom prst="roundRect">
            <a:avLst>
              <a:gd name="adj" fmla="val 10435"/>
            </a:avLst>
          </a:prstGeom>
          <a:solidFill>
            <a:srgbClr val="F0F3FF"/>
          </a:solidFill>
          <a:ln w="12700">
            <a:solidFill>
              <a:srgbClr val="D8DDF4"/>
            </a:solidFill>
            <a:prstDash val="solid"/>
          </a:ln>
        </p:spPr>
      </p:sp>
      <p:sp>
        <p:nvSpPr>
          <p:cNvPr id="13" name="Text 11"/>
          <p:cNvSpPr/>
          <p:nvPr/>
        </p:nvSpPr>
        <p:spPr>
          <a:xfrm>
            <a:off x="1325880" y="2377440"/>
            <a:ext cx="2148840" cy="685800"/>
          </a:xfrm>
          <a:prstGeom prst="rect">
            <a:avLst/>
          </a:prstGeom>
          <a:noFill/>
          <a:ln/>
        </p:spPr>
        <p:txBody>
          <a:bodyPr wrap="square" lIns="381" tIns="381" rIns="381" bIns="381" rtlCol="0" anchor="ctr">
            <a:normAutofit/>
          </a:bodyPr>
          <a:lstStyle/>
          <a:p>
            <a:pPr indent="0" marL="0">
              <a:buNone/>
            </a:pPr>
            <a:r>
              <a:rPr lang="en-US" sz="1330" b="1" dirty="0">
                <a:solidFill>
                  <a:srgbClr val="16324F"/>
                </a:solidFill>
              </a:rPr>
              <a:t>Lead asked: "Is the condo on Brickell still available?"</a:t>
            </a:r>
            <a:endParaRPr lang="en-US" sz="1330" dirty="0"/>
          </a:p>
        </p:txBody>
      </p:sp>
      <p:sp>
        <p:nvSpPr>
          <p:cNvPr id="14" name="Text 12"/>
          <p:cNvSpPr/>
          <p:nvPr/>
        </p:nvSpPr>
        <p:spPr>
          <a:xfrm>
            <a:off x="1143000" y="3730752"/>
            <a:ext cx="1371600" cy="182880"/>
          </a:xfrm>
          <a:prstGeom prst="rect">
            <a:avLst/>
          </a:prstGeom>
          <a:noFill/>
          <a:ln/>
        </p:spPr>
        <p:txBody>
          <a:bodyPr wrap="square" lIns="0" tIns="0" rIns="0" bIns="0" rtlCol="0" anchor="ctr"/>
          <a:lstStyle/>
          <a:p>
            <a:pPr indent="0" marL="0">
              <a:buNone/>
            </a:pPr>
            <a:r>
              <a:rPr lang="en-US" sz="950" b="1" dirty="0">
                <a:solidFill>
                  <a:srgbClr val="008F8F"/>
                </a:solidFill>
              </a:rPr>
              <a:t>Client context</a:t>
            </a:r>
            <a:endParaRPr lang="en-US" sz="950" dirty="0"/>
          </a:p>
        </p:txBody>
      </p:sp>
      <p:sp>
        <p:nvSpPr>
          <p:cNvPr id="15" name="Shape 13"/>
          <p:cNvSpPr/>
          <p:nvPr/>
        </p:nvSpPr>
        <p:spPr>
          <a:xfrm>
            <a:off x="4572000" y="1828800"/>
            <a:ext cx="6080760" cy="2971800"/>
          </a:xfrm>
          <a:prstGeom prst="roundRect">
            <a:avLst>
              <a:gd name="adj" fmla="val 1846"/>
            </a:avLst>
          </a:prstGeom>
          <a:solidFill>
            <a:srgbClr val="EAF7F7"/>
          </a:solidFill>
          <a:ln w="10160">
            <a:solidFill>
              <a:srgbClr val="D8E6E8"/>
            </a:solidFill>
            <a:prstDash val="solid"/>
          </a:ln>
        </p:spPr>
      </p:sp>
      <p:sp>
        <p:nvSpPr>
          <p:cNvPr id="16" name="Shape 14"/>
          <p:cNvSpPr/>
          <p:nvPr/>
        </p:nvSpPr>
        <p:spPr>
          <a:xfrm>
            <a:off x="4892040" y="2212848"/>
            <a:ext cx="5440680" cy="1600200"/>
          </a:xfrm>
          <a:prstGeom prst="roundRect">
            <a:avLst>
              <a:gd name="adj" fmla="val 6857"/>
            </a:avLst>
          </a:prstGeom>
          <a:solidFill>
            <a:srgbClr val="FFFFFF"/>
          </a:solidFill>
          <a:ln w="12700">
            <a:solidFill>
              <a:srgbClr val="CFE5E8"/>
            </a:solidFill>
            <a:prstDash val="solid"/>
          </a:ln>
        </p:spPr>
      </p:sp>
      <p:sp>
        <p:nvSpPr>
          <p:cNvPr id="17" name="Text 15"/>
          <p:cNvSpPr/>
          <p:nvPr/>
        </p:nvSpPr>
        <p:spPr>
          <a:xfrm>
            <a:off x="5166360" y="2450592"/>
            <a:ext cx="4892040" cy="1234440"/>
          </a:xfrm>
          <a:prstGeom prst="rect">
            <a:avLst/>
          </a:prstGeom>
          <a:noFill/>
          <a:ln/>
        </p:spPr>
        <p:txBody>
          <a:bodyPr wrap="square" lIns="381" tIns="381" rIns="381" bIns="381" rtlCol="0" anchor="ctr">
            <a:normAutofit/>
          </a:bodyPr>
          <a:lstStyle/>
          <a:p>
            <a:pPr indent="0" marL="0">
              <a:buNone/>
            </a:pPr>
            <a:r>
              <a:rPr lang="en-US" sz="1380" dirty="0">
                <a:solidFill>
                  <a:srgbClr val="102033"/>
                </a:solidFill>
              </a:rPr>
              <a:t>Weak: "Yes, it is available. Let me know if you want to see it."</a:t>
            </a:r>
            <a:endParaRPr lang="en-US" sz="1380" dirty="0"/>
          </a:p>
          <a:p>
            <a:pPr indent="0" marL="0">
              <a:buNone/>
            </a:pPr>
            <a:endParaRPr lang="en-US" sz="1380" dirty="0"/>
          </a:p>
          <a:p>
            <a:pPr indent="0" marL="0">
              <a:buNone/>
            </a:pPr>
            <a:r>
              <a:rPr lang="en-US" sz="1380" dirty="0">
                <a:solidFill>
                  <a:srgbClr val="102033"/>
                </a:solidFill>
              </a:rPr>
              <a:t>Better: "I can verify the latest status for you. Are you focused only on Brickell, or would similar buildings with strong amenities also be worth sending over?"</a:t>
            </a:r>
            <a:endParaRPr lang="en-US" sz="1380" dirty="0"/>
          </a:p>
        </p:txBody>
      </p:sp>
      <p:sp>
        <p:nvSpPr>
          <p:cNvPr id="18" name="Text 16"/>
          <p:cNvSpPr/>
          <p:nvPr/>
        </p:nvSpPr>
        <p:spPr>
          <a:xfrm>
            <a:off x="4892040" y="4133088"/>
            <a:ext cx="2057400" cy="182880"/>
          </a:xfrm>
          <a:prstGeom prst="rect">
            <a:avLst/>
          </a:prstGeom>
          <a:noFill/>
          <a:ln/>
        </p:spPr>
        <p:txBody>
          <a:bodyPr wrap="square" lIns="0" tIns="0" rIns="0" bIns="0" rtlCol="0" anchor="ctr"/>
          <a:lstStyle/>
          <a:p>
            <a:pPr indent="0" marL="0">
              <a:buNone/>
            </a:pPr>
            <a:r>
              <a:rPr lang="en-US" sz="950" b="1" dirty="0">
                <a:solidFill>
                  <a:srgbClr val="008F8F"/>
                </a:solidFill>
              </a:rPr>
              <a:t>Agent-reviewed response</a:t>
            </a:r>
            <a:endParaRPr lang="en-US" sz="950" dirty="0"/>
          </a:p>
        </p:txBody>
      </p:sp>
      <p:sp>
        <p:nvSpPr>
          <p:cNvPr id="19" name="Shape 17"/>
          <p:cNvSpPr/>
          <p:nvPr/>
        </p:nvSpPr>
        <p:spPr>
          <a:xfrm>
            <a:off x="502920" y="6473952"/>
            <a:ext cx="11201400" cy="0"/>
          </a:xfrm>
          <a:prstGeom prst="line">
            <a:avLst/>
          </a:prstGeom>
          <a:noFill/>
          <a:ln w="9525">
            <a:solidFill>
              <a:srgbClr val="D8E6E8"/>
            </a:solidFill>
            <a:prstDash val="solid"/>
          </a:ln>
        </p:spPr>
      </p:sp>
      <p:sp>
        <p:nvSpPr>
          <p:cNvPr id="20" name="Text 1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1" name="Text 1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27/46</a:t>
            </a:r>
            <a:endParaRPr lang="en-US" sz="72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Build a first-response set</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Sample lead: A buyer asks about a 2-bedroom condo and leaves no timeline.</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CRM templates repeat a saved message. AI helps adapt the message to the situation, then you review it before sending.</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text message</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short email</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voicemail opener</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one appointment-oriented next step</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28/46</a:t>
            </a:r>
            <a:endParaRPr lang="en-US" sz="72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MEASURE</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Track whether AI is improving follow-up quality</a:t>
            </a:r>
            <a:endParaRPr lang="en-US" sz="3000" dirty="0"/>
          </a:p>
        </p:txBody>
      </p:sp>
      <p:sp>
        <p:nvSpPr>
          <p:cNvPr id="11" name="Shape 9"/>
          <p:cNvSpPr/>
          <p:nvPr/>
        </p:nvSpPr>
        <p:spPr>
          <a:xfrm>
            <a:off x="868680" y="1828800"/>
            <a:ext cx="4572000" cy="1078992"/>
          </a:xfrm>
          <a:prstGeom prst="roundRect">
            <a:avLst>
              <a:gd name="adj" fmla="val 5085"/>
            </a:avLst>
          </a:prstGeom>
          <a:solidFill>
            <a:srgbClr val="FFFFFF"/>
          </a:solidFill>
          <a:ln w="10160">
            <a:solidFill>
              <a:srgbClr val="D8E6E8"/>
            </a:solidFill>
            <a:prstDash val="solid"/>
          </a:ln>
        </p:spPr>
      </p:sp>
      <p:sp>
        <p:nvSpPr>
          <p:cNvPr id="12" name="Shape 10"/>
          <p:cNvSpPr/>
          <p:nvPr/>
        </p:nvSpPr>
        <p:spPr>
          <a:xfrm>
            <a:off x="1097280" y="2084832"/>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4" name="Text 12"/>
          <p:cNvSpPr/>
          <p:nvPr/>
        </p:nvSpPr>
        <p:spPr>
          <a:xfrm>
            <a:off x="16916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Response rate</a:t>
            </a:r>
            <a:endParaRPr lang="en-US" sz="1450" dirty="0"/>
          </a:p>
        </p:txBody>
      </p:sp>
      <p:sp>
        <p:nvSpPr>
          <p:cNvPr id="15" name="Text 13"/>
          <p:cNvSpPr/>
          <p:nvPr/>
        </p:nvSpPr>
        <p:spPr>
          <a:xfrm>
            <a:off x="16916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more leads replying?</a:t>
            </a:r>
            <a:endParaRPr lang="en-US" sz="1070" dirty="0"/>
          </a:p>
        </p:txBody>
      </p:sp>
      <p:sp>
        <p:nvSpPr>
          <p:cNvPr id="16" name="Shape 14"/>
          <p:cNvSpPr/>
          <p:nvPr/>
        </p:nvSpPr>
        <p:spPr>
          <a:xfrm>
            <a:off x="6126480" y="1828800"/>
            <a:ext cx="4572000" cy="1078992"/>
          </a:xfrm>
          <a:prstGeom prst="roundRect">
            <a:avLst>
              <a:gd name="adj" fmla="val 5085"/>
            </a:avLst>
          </a:prstGeom>
          <a:solidFill>
            <a:srgbClr val="FFFFFF"/>
          </a:solidFill>
          <a:ln w="10160">
            <a:solidFill>
              <a:srgbClr val="D8E6E8"/>
            </a:solidFill>
            <a:prstDash val="solid"/>
          </a:ln>
        </p:spPr>
      </p:sp>
      <p:sp>
        <p:nvSpPr>
          <p:cNvPr id="17" name="Shape 15"/>
          <p:cNvSpPr/>
          <p:nvPr/>
        </p:nvSpPr>
        <p:spPr>
          <a:xfrm>
            <a:off x="6355080" y="2084832"/>
            <a:ext cx="402336" cy="402336"/>
          </a:xfrm>
          <a:prstGeom prst="ellipse">
            <a:avLst/>
          </a:prstGeom>
          <a:solidFill>
            <a:srgbClr val="2F80ED"/>
          </a:solidFill>
          <a:ln w="12700">
            <a:solidFill>
              <a:srgbClr val="2F80ED"/>
            </a:solidFill>
            <a:prstDash val="solid"/>
          </a:ln>
        </p:spPr>
      </p:sp>
      <p:sp>
        <p:nvSpPr>
          <p:cNvPr id="18" name="Text 16"/>
          <p:cNvSpPr/>
          <p:nvPr/>
        </p:nvSpPr>
        <p:spPr>
          <a:xfrm>
            <a:off x="6355080" y="217627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19" name="Text 17"/>
          <p:cNvSpPr/>
          <p:nvPr/>
        </p:nvSpPr>
        <p:spPr>
          <a:xfrm>
            <a:off x="6949440" y="202996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Contact rate</a:t>
            </a:r>
            <a:endParaRPr lang="en-US" sz="1450" dirty="0"/>
          </a:p>
        </p:txBody>
      </p:sp>
      <p:sp>
        <p:nvSpPr>
          <p:cNvPr id="20" name="Text 18"/>
          <p:cNvSpPr/>
          <p:nvPr/>
        </p:nvSpPr>
        <p:spPr>
          <a:xfrm>
            <a:off x="6949440" y="233172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conversations starting?</a:t>
            </a:r>
            <a:endParaRPr lang="en-US" sz="1070" dirty="0"/>
          </a:p>
        </p:txBody>
      </p:sp>
      <p:sp>
        <p:nvSpPr>
          <p:cNvPr id="21" name="Shape 19"/>
          <p:cNvSpPr/>
          <p:nvPr/>
        </p:nvSpPr>
        <p:spPr>
          <a:xfrm>
            <a:off x="868680" y="3246120"/>
            <a:ext cx="4572000" cy="1078992"/>
          </a:xfrm>
          <a:prstGeom prst="roundRect">
            <a:avLst>
              <a:gd name="adj" fmla="val 5085"/>
            </a:avLst>
          </a:prstGeom>
          <a:solidFill>
            <a:srgbClr val="FFFFFF"/>
          </a:solidFill>
          <a:ln w="10160">
            <a:solidFill>
              <a:srgbClr val="D8E6E8"/>
            </a:solidFill>
            <a:prstDash val="solid"/>
          </a:ln>
        </p:spPr>
      </p:sp>
      <p:sp>
        <p:nvSpPr>
          <p:cNvPr id="22" name="Shape 20"/>
          <p:cNvSpPr/>
          <p:nvPr/>
        </p:nvSpPr>
        <p:spPr>
          <a:xfrm>
            <a:off x="1097280" y="3502152"/>
            <a:ext cx="402336" cy="402336"/>
          </a:xfrm>
          <a:prstGeom prst="ellipse">
            <a:avLst/>
          </a:prstGeom>
          <a:solidFill>
            <a:srgbClr val="F45B69"/>
          </a:solidFill>
          <a:ln w="12700">
            <a:solidFill>
              <a:srgbClr val="F45B69"/>
            </a:solidFill>
            <a:prstDash val="solid"/>
          </a:ln>
        </p:spPr>
      </p:sp>
      <p:sp>
        <p:nvSpPr>
          <p:cNvPr id="23" name="Text 21"/>
          <p:cNvSpPr/>
          <p:nvPr/>
        </p:nvSpPr>
        <p:spPr>
          <a:xfrm>
            <a:off x="10972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4" name="Text 22"/>
          <p:cNvSpPr/>
          <p:nvPr/>
        </p:nvSpPr>
        <p:spPr>
          <a:xfrm>
            <a:off x="16916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 rate</a:t>
            </a:r>
            <a:endParaRPr lang="en-US" sz="1450" dirty="0"/>
          </a:p>
        </p:txBody>
      </p:sp>
      <p:sp>
        <p:nvSpPr>
          <p:cNvPr id="25" name="Text 23"/>
          <p:cNvSpPr/>
          <p:nvPr/>
        </p:nvSpPr>
        <p:spPr>
          <a:xfrm>
            <a:off x="16916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Are replies becoming meetings?</a:t>
            </a:r>
            <a:endParaRPr lang="en-US" sz="1070" dirty="0"/>
          </a:p>
        </p:txBody>
      </p:sp>
      <p:sp>
        <p:nvSpPr>
          <p:cNvPr id="26" name="Shape 24"/>
          <p:cNvSpPr/>
          <p:nvPr/>
        </p:nvSpPr>
        <p:spPr>
          <a:xfrm>
            <a:off x="6126480" y="3246120"/>
            <a:ext cx="4572000" cy="1078992"/>
          </a:xfrm>
          <a:prstGeom prst="roundRect">
            <a:avLst>
              <a:gd name="adj" fmla="val 5085"/>
            </a:avLst>
          </a:prstGeom>
          <a:solidFill>
            <a:srgbClr val="FFFFFF"/>
          </a:solidFill>
          <a:ln w="10160">
            <a:solidFill>
              <a:srgbClr val="D8E6E8"/>
            </a:solidFill>
            <a:prstDash val="solid"/>
          </a:ln>
        </p:spPr>
      </p:sp>
      <p:sp>
        <p:nvSpPr>
          <p:cNvPr id="27" name="Shape 25"/>
          <p:cNvSpPr/>
          <p:nvPr/>
        </p:nvSpPr>
        <p:spPr>
          <a:xfrm>
            <a:off x="6355080" y="3502152"/>
            <a:ext cx="402336" cy="402336"/>
          </a:xfrm>
          <a:prstGeom prst="ellipse">
            <a:avLst/>
          </a:prstGeom>
          <a:solidFill>
            <a:srgbClr val="2E7D5B"/>
          </a:solidFill>
          <a:ln w="12700">
            <a:solidFill>
              <a:srgbClr val="2E7D5B"/>
            </a:solidFill>
            <a:prstDash val="solid"/>
          </a:ln>
        </p:spPr>
      </p:sp>
      <p:sp>
        <p:nvSpPr>
          <p:cNvPr id="28" name="Text 26"/>
          <p:cNvSpPr/>
          <p:nvPr/>
        </p:nvSpPr>
        <p:spPr>
          <a:xfrm>
            <a:off x="6355080" y="359359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a:t>
            </a:r>
            <a:endParaRPr lang="en-US" sz="800" dirty="0"/>
          </a:p>
        </p:txBody>
      </p:sp>
      <p:sp>
        <p:nvSpPr>
          <p:cNvPr id="29" name="Text 27"/>
          <p:cNvSpPr/>
          <p:nvPr/>
        </p:nvSpPr>
        <p:spPr>
          <a:xfrm>
            <a:off x="6949440" y="3447288"/>
            <a:ext cx="3474720" cy="201168"/>
          </a:xfrm>
          <a:prstGeom prst="rect">
            <a:avLst/>
          </a:prstGeom>
          <a:noFill/>
          <a:ln/>
        </p:spPr>
        <p:txBody>
          <a:bodyPr wrap="square" lIns="0" tIns="0" rIns="0" bIns="0" rtlCol="0" anchor="ctr"/>
          <a:lstStyle/>
          <a:p>
            <a:pPr indent="0" marL="0">
              <a:buNone/>
            </a:pPr>
            <a:r>
              <a:rPr lang="en-US" sz="1450" b="1" dirty="0">
                <a:solidFill>
                  <a:srgbClr val="16324F"/>
                </a:solidFill>
              </a:rPr>
              <a:t>Appointments / 100 leads</a:t>
            </a:r>
            <a:endParaRPr lang="en-US" sz="1450" dirty="0"/>
          </a:p>
        </p:txBody>
      </p:sp>
      <p:sp>
        <p:nvSpPr>
          <p:cNvPr id="30" name="Text 28"/>
          <p:cNvSpPr/>
          <p:nvPr/>
        </p:nvSpPr>
        <p:spPr>
          <a:xfrm>
            <a:off x="6949440" y="3749040"/>
            <a:ext cx="3474720" cy="347472"/>
          </a:xfrm>
          <a:prstGeom prst="rect">
            <a:avLst/>
          </a:prstGeom>
          <a:noFill/>
          <a:ln/>
        </p:spPr>
        <p:txBody>
          <a:bodyPr wrap="square" lIns="0" tIns="0" rIns="0" bIns="0" rtlCol="0" anchor="ctr">
            <a:normAutofit/>
          </a:bodyPr>
          <a:lstStyle/>
          <a:p>
            <a:pPr indent="0" marL="0">
              <a:buNone/>
            </a:pPr>
            <a:r>
              <a:rPr lang="en-US" sz="1070" dirty="0">
                <a:solidFill>
                  <a:srgbClr val="52606D"/>
                </a:solidFill>
              </a:rPr>
              <a:t>Is the source becoming more useful?</a:t>
            </a:r>
            <a:endParaRPr lang="en-US" sz="107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29/46</a:t>
            </a:r>
            <a:endParaRPr lang="en-US" sz="72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2E7D5B"/>
          </a:solidFill>
          <a:ln w="12700">
            <a:solidFill>
              <a:srgbClr val="2E7D5B"/>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04</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4</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Listings and Marketing</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Facts first. Polish second. Human review always.</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PREP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2400" b="1" dirty="0">
                <a:solidFill>
                  <a:srgbClr val="102033"/>
                </a:solidFill>
                <a:latin typeface="Aptos Display" pitchFamily="34" charset="0"/>
                <a:ea typeface="Aptos Display" pitchFamily="34" charset="-122"/>
                <a:cs typeface="Aptos Display" pitchFamily="34" charset="-120"/>
              </a:rPr>
              <a:t>Start with verified facts and instruct AI not to invent missing details</a:t>
            </a:r>
            <a:endParaRPr lang="en-US" sz="24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Property features and improvements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Showing feedback and buyer questions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Seller goals and timing</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Factual neighborhood context</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Desired tone and format</a:t>
            </a:r>
            <a:endParaRPr lang="en-US" sz="166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Facts first</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Use verified facts and tell AI not to invent missing details.</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31/46</a:t>
            </a:r>
            <a:endParaRPr lang="en-US" sz="72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LISTING COPY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From bullet points to polished marketing copy</a:t>
            </a:r>
            <a:endParaRPr lang="en-US" sz="3000" dirty="0"/>
          </a:p>
        </p:txBody>
      </p:sp>
      <p:sp>
        <p:nvSpPr>
          <p:cNvPr id="11" name="Text 9"/>
          <p:cNvSpPr/>
          <p:nvPr/>
        </p:nvSpPr>
        <p:spPr>
          <a:xfrm>
            <a:off x="868680" y="1481328"/>
            <a:ext cx="9784080" cy="237744"/>
          </a:xfrm>
          <a:prstGeom prst="rect">
            <a:avLst/>
          </a:prstGeom>
          <a:noFill/>
          <a:ln/>
        </p:spPr>
        <p:txBody>
          <a:bodyPr wrap="square" lIns="0" tIns="0" rIns="0" bIns="0" rtlCol="0" anchor="ctr">
            <a:normAutofit/>
          </a:bodyPr>
          <a:lstStyle/>
          <a:p>
            <a:pPr indent="0" marL="0">
              <a:buNone/>
            </a:pPr>
            <a:r>
              <a:rPr lang="en-US" sz="1250" b="1" dirty="0">
                <a:solidFill>
                  <a:srgbClr val="52606D"/>
                </a:solidFill>
              </a:rPr>
              <a:t>Better copy adds warmth without inventing facts.</a:t>
            </a:r>
            <a:endParaRPr lang="en-US" sz="1250" dirty="0"/>
          </a:p>
        </p:txBody>
      </p:sp>
      <p:sp>
        <p:nvSpPr>
          <p:cNvPr id="12" name="Shape 10"/>
          <p:cNvSpPr/>
          <p:nvPr/>
        </p:nvSpPr>
        <p:spPr>
          <a:xfrm>
            <a:off x="868680" y="1828800"/>
            <a:ext cx="4663440" cy="3108960"/>
          </a:xfrm>
          <a:prstGeom prst="roundRect">
            <a:avLst>
              <a:gd name="adj" fmla="val 1765"/>
            </a:avLst>
          </a:prstGeom>
          <a:solidFill>
            <a:srgbClr val="FFF0EF"/>
          </a:solidFill>
          <a:ln w="10160">
            <a:solidFill>
              <a:srgbClr val="D8E6E8"/>
            </a:solidFill>
            <a:prstDash val="solid"/>
          </a:ln>
        </p:spPr>
      </p:sp>
      <p:sp>
        <p:nvSpPr>
          <p:cNvPr id="13" name="Text 11"/>
          <p:cNvSpPr/>
          <p:nvPr/>
        </p:nvSpPr>
        <p:spPr>
          <a:xfrm>
            <a:off x="1124712" y="2084832"/>
            <a:ext cx="1371600" cy="201168"/>
          </a:xfrm>
          <a:prstGeom prst="rect">
            <a:avLst/>
          </a:prstGeom>
          <a:noFill/>
          <a:ln/>
        </p:spPr>
        <p:txBody>
          <a:bodyPr wrap="square" lIns="0" tIns="0" rIns="0" bIns="0" rtlCol="0" anchor="ctr"/>
          <a:lstStyle/>
          <a:p>
            <a:pPr indent="0" marL="0">
              <a:buNone/>
            </a:pPr>
            <a:r>
              <a:rPr lang="en-US" sz="1000" b="1" dirty="0">
                <a:solidFill>
                  <a:srgbClr val="F45B69"/>
                </a:solidFill>
              </a:rPr>
              <a:t>Before</a:t>
            </a:r>
            <a:endParaRPr lang="en-US" sz="1000" dirty="0"/>
          </a:p>
        </p:txBody>
      </p:sp>
      <p:sp>
        <p:nvSpPr>
          <p:cNvPr id="14" name="Text 12"/>
          <p:cNvSpPr/>
          <p:nvPr/>
        </p:nvSpPr>
        <p:spPr>
          <a:xfrm>
            <a:off x="1143000" y="2514600"/>
            <a:ext cx="4069080" cy="1828800"/>
          </a:xfrm>
          <a:prstGeom prst="rect">
            <a:avLst/>
          </a:prstGeom>
          <a:noFill/>
          <a:ln/>
        </p:spPr>
        <p:txBody>
          <a:bodyPr wrap="square" lIns="381" tIns="381" rIns="381" bIns="381" rtlCol="0" anchor="ctr">
            <a:normAutofit/>
          </a:bodyPr>
          <a:lstStyle/>
          <a:p>
            <a:pPr indent="0" marL="0">
              <a:buNone/>
            </a:pPr>
            <a:r>
              <a:rPr lang="en-US" sz="1360" dirty="0">
                <a:solidFill>
                  <a:srgbClr val="102033"/>
                </a:solidFill>
              </a:rPr>
              <a:t>3 bedrooms / 2 bathrooms</a:t>
            </a:r>
            <a:endParaRPr lang="en-US" sz="1360" dirty="0"/>
          </a:p>
          <a:p>
            <a:pPr indent="0" marL="0">
              <a:buNone/>
            </a:pPr>
            <a:r>
              <a:rPr lang="en-US" sz="1360" dirty="0">
                <a:solidFill>
                  <a:srgbClr val="102033"/>
                </a:solidFill>
              </a:rPr>
              <a:t>Updated kitchen</a:t>
            </a:r>
            <a:endParaRPr lang="en-US" sz="1360" dirty="0"/>
          </a:p>
          <a:p>
            <a:pPr indent="0" marL="0">
              <a:buNone/>
            </a:pPr>
            <a:r>
              <a:rPr lang="en-US" sz="1360" dirty="0">
                <a:solidFill>
                  <a:srgbClr val="102033"/>
                </a:solidFill>
              </a:rPr>
              <a:t>Covered patio</a:t>
            </a:r>
            <a:endParaRPr lang="en-US" sz="1360" dirty="0"/>
          </a:p>
          <a:p>
            <a:pPr indent="0" marL="0">
              <a:buNone/>
            </a:pPr>
            <a:r>
              <a:rPr lang="en-US" sz="1360" dirty="0">
                <a:solidFill>
                  <a:srgbClr val="102033"/>
                </a:solidFill>
              </a:rPr>
              <a:t>2-car garage</a:t>
            </a:r>
            <a:endParaRPr lang="en-US" sz="1360" dirty="0"/>
          </a:p>
          <a:p>
            <a:pPr indent="0" marL="0">
              <a:buNone/>
            </a:pPr>
            <a:r>
              <a:rPr lang="en-US" sz="1360" dirty="0">
                <a:solidFill>
                  <a:srgbClr val="102033"/>
                </a:solidFill>
              </a:rPr>
              <a:t>Nearby dining, parks, and everyday amenities</a:t>
            </a:r>
            <a:endParaRPr lang="en-US" sz="1360" dirty="0"/>
          </a:p>
        </p:txBody>
      </p:sp>
      <p:sp>
        <p:nvSpPr>
          <p:cNvPr id="15" name="Shape 13"/>
          <p:cNvSpPr/>
          <p:nvPr/>
        </p:nvSpPr>
        <p:spPr>
          <a:xfrm>
            <a:off x="6080760" y="1828800"/>
            <a:ext cx="4663440" cy="3108960"/>
          </a:xfrm>
          <a:prstGeom prst="roundRect">
            <a:avLst>
              <a:gd name="adj" fmla="val 1765"/>
            </a:avLst>
          </a:prstGeom>
          <a:solidFill>
            <a:srgbClr val="EAF7F7"/>
          </a:solidFill>
          <a:ln w="10160">
            <a:solidFill>
              <a:srgbClr val="D8E6E8"/>
            </a:solidFill>
            <a:prstDash val="solid"/>
          </a:ln>
        </p:spPr>
      </p:sp>
      <p:sp>
        <p:nvSpPr>
          <p:cNvPr id="16" name="Text 14"/>
          <p:cNvSpPr/>
          <p:nvPr/>
        </p:nvSpPr>
        <p:spPr>
          <a:xfrm>
            <a:off x="6336792" y="2084832"/>
            <a:ext cx="1371600" cy="201168"/>
          </a:xfrm>
          <a:prstGeom prst="rect">
            <a:avLst/>
          </a:prstGeom>
          <a:noFill/>
          <a:ln/>
        </p:spPr>
        <p:txBody>
          <a:bodyPr wrap="square" lIns="0" tIns="0" rIns="0" bIns="0" rtlCol="0" anchor="ctr"/>
          <a:lstStyle/>
          <a:p>
            <a:pPr indent="0" marL="0">
              <a:buNone/>
            </a:pPr>
            <a:r>
              <a:rPr lang="en-US" sz="1000" b="1" dirty="0">
                <a:solidFill>
                  <a:srgbClr val="008F8F"/>
                </a:solidFill>
              </a:rPr>
              <a:t>After</a:t>
            </a:r>
            <a:endParaRPr lang="en-US" sz="1000" dirty="0"/>
          </a:p>
        </p:txBody>
      </p:sp>
      <p:sp>
        <p:nvSpPr>
          <p:cNvPr id="17" name="Text 15"/>
          <p:cNvSpPr/>
          <p:nvPr/>
        </p:nvSpPr>
        <p:spPr>
          <a:xfrm>
            <a:off x="6355080" y="2514600"/>
            <a:ext cx="4069080" cy="1828800"/>
          </a:xfrm>
          <a:prstGeom prst="rect">
            <a:avLst/>
          </a:prstGeom>
          <a:noFill/>
          <a:ln/>
        </p:spPr>
        <p:txBody>
          <a:bodyPr wrap="square" lIns="381" tIns="381" rIns="381" bIns="381" rtlCol="0" anchor="ctr">
            <a:normAutofit/>
          </a:bodyPr>
          <a:lstStyle/>
          <a:p>
            <a:pPr indent="0" marL="0">
              <a:buNone/>
            </a:pPr>
            <a:r>
              <a:rPr lang="en-US" sz="1400" dirty="0">
                <a:solidFill>
                  <a:srgbClr val="102033"/>
                </a:solidFill>
              </a:rPr>
              <a:t>This 3-bedroom, 2-bath home pairs practical everyday function with inviting outdoor space. Highlights include an updated kitchen, covered patio, and 2-car garage, with convenient access to nearby dining, parks, and everyday amenities. The description stays focused on verified features while giving the listing a clearer, more polished presentation.</a:t>
            </a:r>
            <a:endParaRPr lang="en-US" sz="1400" dirty="0"/>
          </a:p>
        </p:txBody>
      </p:sp>
      <p:sp>
        <p:nvSpPr>
          <p:cNvPr id="18" name="Shape 16"/>
          <p:cNvSpPr/>
          <p:nvPr/>
        </p:nvSpPr>
        <p:spPr>
          <a:xfrm>
            <a:off x="502920" y="6473952"/>
            <a:ext cx="11201400" cy="0"/>
          </a:xfrm>
          <a:prstGeom prst="line">
            <a:avLst/>
          </a:prstGeom>
          <a:noFill/>
          <a:ln w="9525">
            <a:solidFill>
              <a:srgbClr val="D8E6E8"/>
            </a:solidFill>
            <a:prstDash val="solid"/>
          </a:ln>
        </p:spPr>
      </p:sp>
      <p:sp>
        <p:nvSpPr>
          <p:cNvPr id="19" name="Text 17"/>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0" name="Text 18"/>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32/46</a:t>
            </a:r>
            <a:endParaRPr lang="en-US" sz="72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SOURCE FACTS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One clean fact block can create consistent marketing assets</a:t>
            </a:r>
            <a:endParaRPr lang="en-US" sz="3000" dirty="0"/>
          </a:p>
        </p:txBody>
      </p:sp>
      <p:sp>
        <p:nvSpPr>
          <p:cNvPr id="11" name="Shape 9"/>
          <p:cNvSpPr/>
          <p:nvPr/>
        </p:nvSpPr>
        <p:spPr>
          <a:xfrm>
            <a:off x="777240" y="1783080"/>
            <a:ext cx="3154680" cy="914400"/>
          </a:xfrm>
          <a:prstGeom prst="roundRect">
            <a:avLst>
              <a:gd name="adj" fmla="val 6000"/>
            </a:avLst>
          </a:prstGeom>
          <a:solidFill>
            <a:srgbClr val="FFFFFF"/>
          </a:solidFill>
          <a:ln w="10160">
            <a:solidFill>
              <a:srgbClr val="D8E6E8"/>
            </a:solidFill>
            <a:prstDash val="solid"/>
          </a:ln>
        </p:spPr>
      </p:sp>
      <p:sp>
        <p:nvSpPr>
          <p:cNvPr id="12" name="Text 10"/>
          <p:cNvSpPr/>
          <p:nvPr/>
        </p:nvSpPr>
        <p:spPr>
          <a:xfrm>
            <a:off x="100584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Source facts</a:t>
            </a:r>
            <a:endParaRPr lang="en-US" sz="1320" dirty="0"/>
          </a:p>
        </p:txBody>
      </p:sp>
      <p:sp>
        <p:nvSpPr>
          <p:cNvPr id="13" name="Text 11"/>
          <p:cNvSpPr/>
          <p:nvPr/>
        </p:nvSpPr>
        <p:spPr>
          <a:xfrm>
            <a:off x="100584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Verified details kept in the chat</a:t>
            </a:r>
            <a:endParaRPr lang="en-US" sz="1050" dirty="0"/>
          </a:p>
        </p:txBody>
      </p:sp>
      <p:sp>
        <p:nvSpPr>
          <p:cNvPr id="14" name="Shape 12"/>
          <p:cNvSpPr/>
          <p:nvPr/>
        </p:nvSpPr>
        <p:spPr>
          <a:xfrm>
            <a:off x="4389120" y="1783080"/>
            <a:ext cx="3154680" cy="914400"/>
          </a:xfrm>
          <a:prstGeom prst="roundRect">
            <a:avLst>
              <a:gd name="adj" fmla="val 6000"/>
            </a:avLst>
          </a:prstGeom>
          <a:solidFill>
            <a:srgbClr val="FFFFFF"/>
          </a:solidFill>
          <a:ln w="10160">
            <a:solidFill>
              <a:srgbClr val="D8E6E8"/>
            </a:solidFill>
            <a:prstDash val="solid"/>
          </a:ln>
        </p:spPr>
      </p:sp>
      <p:sp>
        <p:nvSpPr>
          <p:cNvPr id="15" name="Text 13"/>
          <p:cNvSpPr/>
          <p:nvPr/>
        </p:nvSpPr>
        <p:spPr>
          <a:xfrm>
            <a:off x="461772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Listing copy</a:t>
            </a:r>
            <a:endParaRPr lang="en-US" sz="1320" dirty="0"/>
          </a:p>
        </p:txBody>
      </p:sp>
      <p:sp>
        <p:nvSpPr>
          <p:cNvPr id="16" name="Text 14"/>
          <p:cNvSpPr/>
          <p:nvPr/>
        </p:nvSpPr>
        <p:spPr>
          <a:xfrm>
            <a:off x="461772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Polished narrative</a:t>
            </a:r>
            <a:endParaRPr lang="en-US" sz="1050" dirty="0"/>
          </a:p>
        </p:txBody>
      </p:sp>
      <p:sp>
        <p:nvSpPr>
          <p:cNvPr id="17" name="Shape 15"/>
          <p:cNvSpPr/>
          <p:nvPr/>
        </p:nvSpPr>
        <p:spPr>
          <a:xfrm>
            <a:off x="8001000" y="1783080"/>
            <a:ext cx="3154680" cy="914400"/>
          </a:xfrm>
          <a:prstGeom prst="roundRect">
            <a:avLst>
              <a:gd name="adj" fmla="val 6000"/>
            </a:avLst>
          </a:prstGeom>
          <a:solidFill>
            <a:srgbClr val="FFFFFF"/>
          </a:solidFill>
          <a:ln w="10160">
            <a:solidFill>
              <a:srgbClr val="D8E6E8"/>
            </a:solidFill>
            <a:prstDash val="solid"/>
          </a:ln>
        </p:spPr>
      </p:sp>
      <p:sp>
        <p:nvSpPr>
          <p:cNvPr id="18" name="Text 16"/>
          <p:cNvSpPr/>
          <p:nvPr/>
        </p:nvSpPr>
        <p:spPr>
          <a:xfrm>
            <a:off x="8229600" y="1947672"/>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Open house invite</a:t>
            </a:r>
            <a:endParaRPr lang="en-US" sz="1320" dirty="0"/>
          </a:p>
        </p:txBody>
      </p:sp>
      <p:sp>
        <p:nvSpPr>
          <p:cNvPr id="19" name="Text 17"/>
          <p:cNvSpPr/>
          <p:nvPr/>
        </p:nvSpPr>
        <p:spPr>
          <a:xfrm>
            <a:off x="8229600" y="2267712"/>
            <a:ext cx="2743200" cy="182880"/>
          </a:xfrm>
          <a:prstGeom prst="rect">
            <a:avLst/>
          </a:prstGeom>
          <a:noFill/>
          <a:ln/>
        </p:spPr>
        <p:txBody>
          <a:bodyPr wrap="square" lIns="0" tIns="0" rIns="0" bIns="0" rtlCol="0" anchor="ctr"/>
          <a:lstStyle/>
          <a:p>
            <a:pPr indent="0" marL="0">
              <a:buNone/>
            </a:pPr>
            <a:r>
              <a:rPr lang="en-US" sz="1050" dirty="0">
                <a:solidFill>
                  <a:srgbClr val="52606D"/>
                </a:solidFill>
              </a:rPr>
              <a:t>Short event copy</a:t>
            </a:r>
            <a:endParaRPr lang="en-US" sz="1050" dirty="0"/>
          </a:p>
        </p:txBody>
      </p:sp>
      <p:sp>
        <p:nvSpPr>
          <p:cNvPr id="20" name="Shape 18"/>
          <p:cNvSpPr/>
          <p:nvPr/>
        </p:nvSpPr>
        <p:spPr>
          <a:xfrm>
            <a:off x="777240" y="3136392"/>
            <a:ext cx="3154680" cy="914400"/>
          </a:xfrm>
          <a:prstGeom prst="roundRect">
            <a:avLst>
              <a:gd name="adj" fmla="val 6000"/>
            </a:avLst>
          </a:prstGeom>
          <a:solidFill>
            <a:srgbClr val="FFFFFF"/>
          </a:solidFill>
          <a:ln w="10160">
            <a:solidFill>
              <a:srgbClr val="D8E6E8"/>
            </a:solidFill>
            <a:prstDash val="solid"/>
          </a:ln>
        </p:spPr>
      </p:sp>
      <p:sp>
        <p:nvSpPr>
          <p:cNvPr id="21" name="Text 19"/>
          <p:cNvSpPr/>
          <p:nvPr/>
        </p:nvSpPr>
        <p:spPr>
          <a:xfrm>
            <a:off x="100584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Social post</a:t>
            </a:r>
            <a:endParaRPr lang="en-US" sz="1320" dirty="0"/>
          </a:p>
        </p:txBody>
      </p:sp>
      <p:sp>
        <p:nvSpPr>
          <p:cNvPr id="22" name="Text 20"/>
          <p:cNvSpPr/>
          <p:nvPr/>
        </p:nvSpPr>
        <p:spPr>
          <a:xfrm>
            <a:off x="100584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Caption + hook</a:t>
            </a:r>
            <a:endParaRPr lang="en-US" sz="1050" dirty="0"/>
          </a:p>
        </p:txBody>
      </p:sp>
      <p:sp>
        <p:nvSpPr>
          <p:cNvPr id="23" name="Shape 21"/>
          <p:cNvSpPr/>
          <p:nvPr/>
        </p:nvSpPr>
        <p:spPr>
          <a:xfrm>
            <a:off x="4389120" y="3136392"/>
            <a:ext cx="3154680" cy="914400"/>
          </a:xfrm>
          <a:prstGeom prst="roundRect">
            <a:avLst>
              <a:gd name="adj" fmla="val 6000"/>
            </a:avLst>
          </a:prstGeom>
          <a:solidFill>
            <a:srgbClr val="FFFFFF"/>
          </a:solidFill>
          <a:ln w="10160">
            <a:solidFill>
              <a:srgbClr val="D8E6E8"/>
            </a:solidFill>
            <a:prstDash val="solid"/>
          </a:ln>
        </p:spPr>
      </p:sp>
      <p:sp>
        <p:nvSpPr>
          <p:cNvPr id="24" name="Text 22"/>
          <p:cNvSpPr/>
          <p:nvPr/>
        </p:nvSpPr>
        <p:spPr>
          <a:xfrm>
            <a:off x="461772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Video script</a:t>
            </a:r>
            <a:endParaRPr lang="en-US" sz="1320" dirty="0"/>
          </a:p>
        </p:txBody>
      </p:sp>
      <p:sp>
        <p:nvSpPr>
          <p:cNvPr id="25" name="Text 23"/>
          <p:cNvSpPr/>
          <p:nvPr/>
        </p:nvSpPr>
        <p:spPr>
          <a:xfrm>
            <a:off x="461772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30-second talking points</a:t>
            </a:r>
            <a:endParaRPr lang="en-US" sz="1050" dirty="0"/>
          </a:p>
        </p:txBody>
      </p:sp>
      <p:sp>
        <p:nvSpPr>
          <p:cNvPr id="26" name="Shape 24"/>
          <p:cNvSpPr/>
          <p:nvPr/>
        </p:nvSpPr>
        <p:spPr>
          <a:xfrm>
            <a:off x="8001000" y="3136392"/>
            <a:ext cx="3154680" cy="914400"/>
          </a:xfrm>
          <a:prstGeom prst="roundRect">
            <a:avLst>
              <a:gd name="adj" fmla="val 6000"/>
            </a:avLst>
          </a:prstGeom>
          <a:solidFill>
            <a:srgbClr val="FFFFFF"/>
          </a:solidFill>
          <a:ln w="10160">
            <a:solidFill>
              <a:srgbClr val="D8E6E8"/>
            </a:solidFill>
            <a:prstDash val="solid"/>
          </a:ln>
        </p:spPr>
      </p:sp>
      <p:sp>
        <p:nvSpPr>
          <p:cNvPr id="27" name="Text 25"/>
          <p:cNvSpPr/>
          <p:nvPr/>
        </p:nvSpPr>
        <p:spPr>
          <a:xfrm>
            <a:off x="8229600" y="3300984"/>
            <a:ext cx="2743200" cy="182880"/>
          </a:xfrm>
          <a:prstGeom prst="rect">
            <a:avLst/>
          </a:prstGeom>
          <a:noFill/>
          <a:ln/>
        </p:spPr>
        <p:txBody>
          <a:bodyPr wrap="square" lIns="0" tIns="0" rIns="0" bIns="0" rtlCol="0" anchor="ctr"/>
          <a:lstStyle/>
          <a:p>
            <a:pPr indent="0" marL="0">
              <a:buNone/>
            </a:pPr>
            <a:r>
              <a:rPr lang="en-US" sz="1320" b="1" dirty="0">
                <a:solidFill>
                  <a:srgbClr val="16324F"/>
                </a:solidFill>
              </a:rPr>
              <a:t>Seller update</a:t>
            </a:r>
            <a:endParaRPr lang="en-US" sz="1320" dirty="0"/>
          </a:p>
        </p:txBody>
      </p:sp>
      <p:sp>
        <p:nvSpPr>
          <p:cNvPr id="28" name="Text 26"/>
          <p:cNvSpPr/>
          <p:nvPr/>
        </p:nvSpPr>
        <p:spPr>
          <a:xfrm>
            <a:off x="8229600" y="3621024"/>
            <a:ext cx="2743200" cy="182880"/>
          </a:xfrm>
          <a:prstGeom prst="rect">
            <a:avLst/>
          </a:prstGeom>
          <a:noFill/>
          <a:ln/>
        </p:spPr>
        <p:txBody>
          <a:bodyPr wrap="square" lIns="0" tIns="0" rIns="0" bIns="0" rtlCol="0" anchor="ctr"/>
          <a:lstStyle/>
          <a:p>
            <a:pPr indent="0" marL="0">
              <a:buNone/>
            </a:pPr>
            <a:r>
              <a:rPr lang="en-US" sz="1050" dirty="0">
                <a:solidFill>
                  <a:srgbClr val="52606D"/>
                </a:solidFill>
              </a:rPr>
              <a:t>Activity summary</a:t>
            </a:r>
            <a:endParaRPr lang="en-US" sz="1050" dirty="0"/>
          </a:p>
        </p:txBody>
      </p:sp>
      <p:sp>
        <p:nvSpPr>
          <p:cNvPr id="29" name="Shape 27"/>
          <p:cNvSpPr/>
          <p:nvPr/>
        </p:nvSpPr>
        <p:spPr>
          <a:xfrm>
            <a:off x="502920" y="6473952"/>
            <a:ext cx="11201400" cy="0"/>
          </a:xfrm>
          <a:prstGeom prst="line">
            <a:avLst/>
          </a:prstGeom>
          <a:noFill/>
          <a:ln w="9525">
            <a:solidFill>
              <a:srgbClr val="D8E6E8"/>
            </a:solidFill>
            <a:prstDash val="solid"/>
          </a:ln>
        </p:spPr>
      </p:sp>
      <p:sp>
        <p:nvSpPr>
          <p:cNvPr id="30" name="Text 28"/>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1" name="Text 29"/>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33/46</a:t>
            </a:r>
            <a:endParaRPr lang="en-US" sz="72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Practice: Turn one fact set into three assets</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Use only verified facts. Do not invent features.</a:t>
            </a:r>
            <a:endParaRPr lang="en-US" sz="1400" dirty="0"/>
          </a:p>
        </p:txBody>
      </p:sp>
      <p:sp>
        <p:nvSpPr>
          <p:cNvPr id="16" name="Text 14"/>
          <p:cNvSpPr/>
          <p:nvPr/>
        </p:nvSpPr>
        <p:spPr>
          <a:xfrm>
            <a:off x="1143000" y="2578608"/>
            <a:ext cx="4663440" cy="1143000"/>
          </a:xfrm>
          <a:prstGeom prst="rect">
            <a:avLst/>
          </a:prstGeom>
          <a:noFill/>
          <a:ln/>
        </p:spPr>
        <p:txBody>
          <a:bodyPr wrap="square" lIns="381" tIns="381" rIns="381" bIns="381" rtlCol="0" anchor="ctr">
            <a:normAutofit/>
          </a:bodyPr>
          <a:lstStyle/>
          <a:p>
            <a:pPr indent="0" marL="0">
              <a:buNone/>
            </a:pPr>
            <a:r>
              <a:rPr lang="en-US" sz="1700" b="1" dirty="0">
                <a:solidFill>
                  <a:srgbClr val="16324F"/>
                </a:solidFill>
              </a:rPr>
              <a:t>Now try the same process with three high-use formats.</a:t>
            </a:r>
            <a:endParaRPr lang="en-US" sz="1700" dirty="0"/>
          </a:p>
        </p:txBody>
      </p:sp>
      <p:sp>
        <p:nvSpPr>
          <p:cNvPr id="17" name="Text 15"/>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8" name="Shape 16"/>
          <p:cNvSpPr/>
          <p:nvPr/>
        </p:nvSpPr>
        <p:spPr>
          <a:xfrm>
            <a:off x="6446520" y="1810512"/>
            <a:ext cx="128016" cy="2697480"/>
          </a:xfrm>
          <a:prstGeom prst="rect">
            <a:avLst/>
          </a:prstGeom>
          <a:solidFill>
            <a:srgbClr val="2E7D5B"/>
          </a:solidFill>
          <a:ln w="12700">
            <a:solidFill>
              <a:srgbClr val="2E7D5B"/>
            </a:solidFill>
            <a:prstDash val="solid"/>
          </a:ln>
        </p:spPr>
      </p:sp>
      <p:sp>
        <p:nvSpPr>
          <p:cNvPr id="19" name="Shape 17"/>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20" name="Text 18"/>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listing paragraph</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35-word social caption</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One open house invite</a:t>
            </a:r>
            <a:endParaRPr lang="en-US" sz="1500" dirty="0"/>
          </a:p>
        </p:txBody>
      </p:sp>
      <p:sp>
        <p:nvSpPr>
          <p:cNvPr id="21" name="Text 19"/>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2" name="Shape 20"/>
          <p:cNvSpPr/>
          <p:nvPr/>
        </p:nvSpPr>
        <p:spPr>
          <a:xfrm>
            <a:off x="502920" y="6473952"/>
            <a:ext cx="11201400" cy="0"/>
          </a:xfrm>
          <a:prstGeom prst="line">
            <a:avLst/>
          </a:prstGeom>
          <a:noFill/>
          <a:ln w="9525">
            <a:solidFill>
              <a:srgbClr val="D8E6E8"/>
            </a:solidFill>
            <a:prstDash val="solid"/>
          </a:ln>
        </p:spPr>
      </p:sp>
      <p:sp>
        <p:nvSpPr>
          <p:cNvPr id="23" name="Text 21"/>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4" name="Text 22"/>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34/46</a:t>
            </a:r>
            <a:endParaRPr lang="en-US" sz="72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APPOINTMENT PREP</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AI helps you rehearse, organize, and simplify</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Build buyer consultation and listing appointment agendas.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Create discovery questions from client context.</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Practice common objections before the live conversation.</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Explain market conditions in plain language, with verified facts.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Prepare follow-up after the appointment.</a:t>
            </a:r>
            <a:endParaRPr lang="en-US" sz="1660" dirty="0"/>
          </a:p>
        </p:txBody>
      </p:sp>
      <p:sp>
        <p:nvSpPr>
          <p:cNvPr id="12" name="Shape 10"/>
          <p:cNvSpPr/>
          <p:nvPr/>
        </p:nvSpPr>
        <p:spPr>
          <a:xfrm>
            <a:off x="7479792" y="1737360"/>
            <a:ext cx="91440" cy="2971800"/>
          </a:xfrm>
          <a:prstGeom prst="rect">
            <a:avLst/>
          </a:prstGeom>
          <a:solidFill>
            <a:srgbClr val="008F8F"/>
          </a:solidFill>
          <a:ln w="12700">
            <a:solidFill>
              <a:srgbClr val="008F8F"/>
            </a:solidFill>
            <a:prstDash val="solid"/>
          </a:ln>
        </p:spPr>
      </p:sp>
      <p:sp>
        <p:nvSpPr>
          <p:cNvPr id="13" name="Shape 11"/>
          <p:cNvSpPr/>
          <p:nvPr/>
        </p:nvSpPr>
        <p:spPr>
          <a:xfrm>
            <a:off x="7607808" y="1828800"/>
            <a:ext cx="3246120" cy="2788920"/>
          </a:xfrm>
          <a:prstGeom prst="roundRect">
            <a:avLst>
              <a:gd name="adj" fmla="val 1967"/>
            </a:avLst>
          </a:prstGeom>
          <a:solidFill>
            <a:srgbClr val="EAF7F7"/>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Practice before pressure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Role-play makes client conversations clearer and less reactive.</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35/46</a:t>
            </a:r>
            <a:endParaRPr lang="en-US" sz="72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Seller wants to overprice</a:t>
            </a:r>
            <a:endParaRPr lang="en-US" sz="3000" dirty="0"/>
          </a:p>
        </p:txBody>
      </p:sp>
      <p:sp>
        <p:nvSpPr>
          <p:cNvPr id="11" name="Shape 9"/>
          <p:cNvSpPr/>
          <p:nvPr/>
        </p:nvSpPr>
        <p:spPr>
          <a:xfrm>
            <a:off x="914400" y="1783080"/>
            <a:ext cx="128016" cy="2743200"/>
          </a:xfrm>
          <a:prstGeom prst="rect">
            <a:avLst/>
          </a:prstGeom>
          <a:solidFill>
            <a:srgbClr val="008F8F"/>
          </a:solidFill>
          <a:ln w="12700">
            <a:solidFill>
              <a:srgbClr val="008F8F"/>
            </a:solidFill>
            <a:prstDash val="solid"/>
          </a:ln>
        </p:spPr>
      </p:sp>
      <p:sp>
        <p:nvSpPr>
          <p:cNvPr id="12" name="Shape 10"/>
          <p:cNvSpPr/>
          <p:nvPr/>
        </p:nvSpPr>
        <p:spPr>
          <a:xfrm>
            <a:off x="1097280" y="1783080"/>
            <a:ext cx="9555480" cy="2743200"/>
          </a:xfrm>
          <a:prstGeom prst="roundRect">
            <a:avLst>
              <a:gd name="adj" fmla="val 2000"/>
            </a:avLst>
          </a:prstGeom>
          <a:solidFill>
            <a:srgbClr val="FFFFFF"/>
          </a:solidFill>
          <a:ln w="10160">
            <a:solidFill>
              <a:srgbClr val="C9DFE5"/>
            </a:solidFill>
            <a:prstDash val="solid"/>
          </a:ln>
        </p:spPr>
      </p:sp>
      <p:sp>
        <p:nvSpPr>
          <p:cNvPr id="13" name="Text 11"/>
          <p:cNvSpPr/>
          <p:nvPr/>
        </p:nvSpPr>
        <p:spPr>
          <a:xfrm>
            <a:off x="1508760" y="2212848"/>
            <a:ext cx="8549640" cy="1417320"/>
          </a:xfrm>
          <a:prstGeom prst="rect">
            <a:avLst/>
          </a:prstGeom>
          <a:noFill/>
          <a:ln/>
        </p:spPr>
        <p:txBody>
          <a:bodyPr wrap="square" lIns="381" tIns="381" rIns="381" bIns="381" rtlCol="0" anchor="ctr">
            <a:normAutofit/>
          </a:bodyPr>
          <a:lstStyle/>
          <a:p>
            <a:pPr indent="0" marL="0">
              <a:buNone/>
            </a:pPr>
            <a:r>
              <a:rPr lang="en-US" sz="1720" i="1" dirty="0">
                <a:solidFill>
                  <a:srgbClr val="102033"/>
                </a:solidFill>
              </a:rPr>
              <a:t>"Role-play as a seller who believes their home is worth more than recent comparable sales. Push back realistically. After each of my responses, tell me what was clear, what sounded defensive, and what I should try next."</a:t>
            </a:r>
            <a:endParaRPr lang="en-US" sz="1720" dirty="0"/>
          </a:p>
        </p:txBody>
      </p:sp>
      <p:sp>
        <p:nvSpPr>
          <p:cNvPr id="14" name="Text 12"/>
          <p:cNvSpPr/>
          <p:nvPr/>
        </p:nvSpPr>
        <p:spPr>
          <a:xfrm>
            <a:off x="1508760" y="3968496"/>
            <a:ext cx="1828800" cy="164592"/>
          </a:xfrm>
          <a:prstGeom prst="rect">
            <a:avLst/>
          </a:prstGeom>
          <a:noFill/>
          <a:ln/>
        </p:spPr>
        <p:txBody>
          <a:bodyPr wrap="square" lIns="0" tIns="0" rIns="0" bIns="0" rtlCol="0" anchor="ctr"/>
          <a:lstStyle/>
          <a:p>
            <a:pPr indent="0" marL="0">
              <a:buNone/>
            </a:pPr>
            <a:r>
              <a:rPr lang="en-US" sz="1000" b="1" dirty="0">
                <a:solidFill>
                  <a:srgbClr val="008F8F"/>
                </a:solidFill>
              </a:rPr>
              <a:t>Role-play prompt</a:t>
            </a:r>
            <a:endParaRPr lang="en-US" sz="100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36/46</a:t>
            </a:r>
            <a:endParaRPr lang="en-US" sz="72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ROLE-PLAY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Buyer wants to wait for rates to drop</a:t>
            </a:r>
            <a:endParaRPr lang="en-US" sz="3000" dirty="0"/>
          </a:p>
        </p:txBody>
      </p:sp>
      <p:sp>
        <p:nvSpPr>
          <p:cNvPr id="11" name="Shape 9"/>
          <p:cNvSpPr/>
          <p:nvPr/>
        </p:nvSpPr>
        <p:spPr>
          <a:xfrm>
            <a:off x="914400" y="1783080"/>
            <a:ext cx="128016" cy="2743200"/>
          </a:xfrm>
          <a:prstGeom prst="rect">
            <a:avLst/>
          </a:prstGeom>
          <a:solidFill>
            <a:srgbClr val="008F8F"/>
          </a:solidFill>
          <a:ln w="12700">
            <a:solidFill>
              <a:srgbClr val="008F8F"/>
            </a:solidFill>
            <a:prstDash val="solid"/>
          </a:ln>
        </p:spPr>
      </p:sp>
      <p:sp>
        <p:nvSpPr>
          <p:cNvPr id="12" name="Shape 10"/>
          <p:cNvSpPr/>
          <p:nvPr/>
        </p:nvSpPr>
        <p:spPr>
          <a:xfrm>
            <a:off x="1097280" y="1783080"/>
            <a:ext cx="9555480" cy="2743200"/>
          </a:xfrm>
          <a:prstGeom prst="roundRect">
            <a:avLst>
              <a:gd name="adj" fmla="val 2000"/>
            </a:avLst>
          </a:prstGeom>
          <a:solidFill>
            <a:srgbClr val="FFFFFF"/>
          </a:solidFill>
          <a:ln w="10160">
            <a:solidFill>
              <a:srgbClr val="C9DFE5"/>
            </a:solidFill>
            <a:prstDash val="solid"/>
          </a:ln>
        </p:spPr>
      </p:sp>
      <p:sp>
        <p:nvSpPr>
          <p:cNvPr id="13" name="Text 11"/>
          <p:cNvSpPr/>
          <p:nvPr/>
        </p:nvSpPr>
        <p:spPr>
          <a:xfrm>
            <a:off x="1508760" y="2212848"/>
            <a:ext cx="8549640" cy="1417320"/>
          </a:xfrm>
          <a:prstGeom prst="rect">
            <a:avLst/>
          </a:prstGeom>
          <a:noFill/>
          <a:ln/>
        </p:spPr>
        <p:txBody>
          <a:bodyPr wrap="square" lIns="381" tIns="381" rIns="381" bIns="381" rtlCol="0" anchor="ctr">
            <a:normAutofit/>
          </a:bodyPr>
          <a:lstStyle/>
          <a:p>
            <a:pPr indent="0" marL="0">
              <a:buNone/>
            </a:pPr>
            <a:r>
              <a:rPr lang="en-US" sz="1720" i="1" dirty="0">
                <a:solidFill>
                  <a:srgbClr val="102033"/>
                </a:solidFill>
              </a:rPr>
              <a:t>"Use AI to practice the conversation without making predictions or giving financial advice. Prompt: Act as a cautious buyer who wants to wait for rates to drop. Help me respond in a way that is educational, not pushy. Challenge any claims that sound too certain."</a:t>
            </a:r>
            <a:endParaRPr lang="en-US" sz="1720" dirty="0"/>
          </a:p>
        </p:txBody>
      </p:sp>
      <p:sp>
        <p:nvSpPr>
          <p:cNvPr id="14" name="Text 12"/>
          <p:cNvSpPr/>
          <p:nvPr/>
        </p:nvSpPr>
        <p:spPr>
          <a:xfrm>
            <a:off x="1508760" y="3968496"/>
            <a:ext cx="1828800" cy="164592"/>
          </a:xfrm>
          <a:prstGeom prst="rect">
            <a:avLst/>
          </a:prstGeom>
          <a:noFill/>
          <a:ln/>
        </p:spPr>
        <p:txBody>
          <a:bodyPr wrap="square" lIns="0" tIns="0" rIns="0" bIns="0" rtlCol="0" anchor="ctr"/>
          <a:lstStyle/>
          <a:p>
            <a:pPr indent="0" marL="0">
              <a:buNone/>
            </a:pPr>
            <a:r>
              <a:rPr lang="en-US" sz="1000" b="1" dirty="0">
                <a:solidFill>
                  <a:srgbClr val="008F8F"/>
                </a:solidFill>
              </a:rPr>
              <a:t>Role-play prompt</a:t>
            </a:r>
            <a:endParaRPr lang="en-US" sz="1000" dirty="0"/>
          </a:p>
        </p:txBody>
      </p:sp>
      <p:sp>
        <p:nvSpPr>
          <p:cNvPr id="15" name="Shape 13"/>
          <p:cNvSpPr/>
          <p:nvPr/>
        </p:nvSpPr>
        <p:spPr>
          <a:xfrm>
            <a:off x="502920" y="6473952"/>
            <a:ext cx="11201400" cy="0"/>
          </a:xfrm>
          <a:prstGeom prst="line">
            <a:avLst/>
          </a:prstGeom>
          <a:noFill/>
          <a:ln w="9525">
            <a:solidFill>
              <a:srgbClr val="D8E6E8"/>
            </a:solidFill>
            <a:prstDash val="solid"/>
          </a:ln>
        </p:spPr>
      </p:sp>
      <p:sp>
        <p:nvSpPr>
          <p:cNvPr id="16" name="Text 14"/>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7" name="Text 15"/>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37/46</a:t>
            </a:r>
            <a:endParaRPr lang="en-US" sz="72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Create an appointment prep brief</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Choose buyer consultation or listing appointment.</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5-part agenda</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5 discovery questions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Add 3 likely objections</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Draft a follow-up email template</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38/46</a:t>
            </a:r>
            <a:endParaRPr lang="en-US" sz="72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D1B2A"/>
        </a:solidFill>
      </p:bgPr>
    </p:bg>
    <p:spTree>
      <p:nvGrpSpPr>
        <p:cNvPr id="1" name=""/>
        <p:cNvGrpSpPr/>
        <p:nvPr/>
      </p:nvGrpSpPr>
      <p:grpSpPr>
        <a:xfrm>
          <a:off x="0" y="0"/>
          <a:ext cx="0" cy="0"/>
          <a:chOff x="0" y="0"/>
          <a:chExt cx="0" cy="0"/>
        </a:xfrm>
      </p:grpSpPr>
      <p:sp>
        <p:nvSpPr>
          <p:cNvPr id="2" name="Shape 0"/>
          <p:cNvSpPr/>
          <p:nvPr/>
        </p:nvSpPr>
        <p:spPr>
          <a:xfrm>
            <a:off x="0" y="0"/>
            <a:ext cx="292608" cy="6858000"/>
          </a:xfrm>
          <a:prstGeom prst="rect">
            <a:avLst/>
          </a:prstGeom>
          <a:solidFill>
            <a:srgbClr val="008F8F"/>
          </a:solidFill>
          <a:ln w="12700">
            <a:solidFill>
              <a:srgbClr val="008F8F"/>
            </a:solidFill>
            <a:prstDash val="solid"/>
          </a:ln>
        </p:spPr>
      </p:sp>
      <p:sp>
        <p:nvSpPr>
          <p:cNvPr id="3" name="Shape 1"/>
          <p:cNvSpPr/>
          <p:nvPr/>
        </p:nvSpPr>
        <p:spPr>
          <a:xfrm>
            <a:off x="9921240" y="0"/>
            <a:ext cx="2267712" cy="6858000"/>
          </a:xfrm>
          <a:prstGeom prst="rect">
            <a:avLst/>
          </a:prstGeom>
          <a:solidFill>
            <a:srgbClr val="102B43">
              <a:alpha val="90000"/>
            </a:srgbClr>
          </a:solidFill>
          <a:ln w="12700">
            <a:solidFill>
              <a:srgbClr val="102B43">
                <a:alpha val="0"/>
              </a:srgbClr>
            </a:solidFill>
            <a:prstDash val="solid"/>
          </a:ln>
        </p:spPr>
      </p:sp>
      <p:sp>
        <p:nvSpPr>
          <p:cNvPr id="4" name="Text 2"/>
          <p:cNvSpPr/>
          <p:nvPr/>
        </p:nvSpPr>
        <p:spPr>
          <a:xfrm>
            <a:off x="7589520" y="1051560"/>
            <a:ext cx="3474720" cy="1005840"/>
          </a:xfrm>
          <a:prstGeom prst="rect">
            <a:avLst/>
          </a:prstGeom>
          <a:noFill/>
          <a:ln/>
        </p:spPr>
        <p:txBody>
          <a:bodyPr wrap="square" lIns="0" tIns="0" rIns="0" bIns="0" rtlCol="0" anchor="ctr"/>
          <a:lstStyle/>
          <a:p>
            <a:pPr algn="r" indent="0" marL="0">
              <a:buNone/>
            </a:pPr>
            <a:r>
              <a:rPr lang="en-US" sz="7800" b="1" dirty="0">
                <a:solidFill>
                  <a:srgbClr val="28465D"/>
                </a:solidFill>
                <a:latin typeface="Aptos Display" pitchFamily="34" charset="0"/>
                <a:ea typeface="Aptos Display" pitchFamily="34" charset="-122"/>
                <a:cs typeface="Aptos Display" pitchFamily="34" charset="-120"/>
              </a:rPr>
              <a:t>05</a:t>
            </a:r>
            <a:endParaRPr lang="en-US" sz="7800" dirty="0"/>
          </a:p>
        </p:txBody>
      </p:sp>
      <p:sp>
        <p:nvSpPr>
          <p:cNvPr id="5" name="Text 3"/>
          <p:cNvSpPr/>
          <p:nvPr/>
        </p:nvSpPr>
        <p:spPr>
          <a:xfrm>
            <a:off x="749808" y="822960"/>
            <a:ext cx="3840480" cy="256032"/>
          </a:xfrm>
          <a:prstGeom prst="rect">
            <a:avLst/>
          </a:prstGeom>
          <a:noFill/>
          <a:ln/>
        </p:spPr>
        <p:txBody>
          <a:bodyPr wrap="square" lIns="0" tIns="0" rIns="0" bIns="0" rtlCol="0" anchor="ctr"/>
          <a:lstStyle/>
          <a:p>
            <a:pPr indent="0" marL="0">
              <a:buNone/>
            </a:pPr>
            <a:r>
              <a:rPr lang="en-US" sz="1100" b="1" dirty="0">
                <a:solidFill>
                  <a:srgbClr val="F2B84B"/>
                </a:solidFill>
              </a:rPr>
              <a:t>SECTION 5</a:t>
            </a:r>
            <a:endParaRPr lang="en-US" sz="1100" dirty="0"/>
          </a:p>
        </p:txBody>
      </p:sp>
      <p:sp>
        <p:nvSpPr>
          <p:cNvPr id="6" name="Text 4"/>
          <p:cNvSpPr/>
          <p:nvPr/>
        </p:nvSpPr>
        <p:spPr>
          <a:xfrm>
            <a:off x="713232" y="1828800"/>
            <a:ext cx="8595360" cy="822960"/>
          </a:xfrm>
          <a:prstGeom prst="rect">
            <a:avLst/>
          </a:prstGeom>
          <a:noFill/>
          <a:ln/>
        </p:spPr>
        <p:txBody>
          <a:bodyPr wrap="square" lIns="0" tIns="0" rIns="0" bIns="0" rtlCol="0" anchor="ctr">
            <a:normAutofit/>
          </a:bodyPr>
          <a:lstStyle/>
          <a:p>
            <a:pPr indent="0" marL="0">
              <a:buNone/>
            </a:pPr>
            <a:r>
              <a:rPr lang="en-US" sz="3400" b="1" dirty="0">
                <a:solidFill>
                  <a:srgbClr val="FFFFFF"/>
                </a:solidFill>
                <a:latin typeface="Aptos Display" pitchFamily="34" charset="0"/>
                <a:ea typeface="Aptos Display" pitchFamily="34" charset="-122"/>
                <a:cs typeface="Aptos Display" pitchFamily="34" charset="-120"/>
              </a:rPr>
              <a:t>Daily Workflow and Guardrails</a:t>
            </a:r>
            <a:endParaRPr lang="en-US" sz="3400" dirty="0"/>
          </a:p>
        </p:txBody>
      </p:sp>
      <p:sp>
        <p:nvSpPr>
          <p:cNvPr id="7" name="Text 5"/>
          <p:cNvSpPr/>
          <p:nvPr/>
        </p:nvSpPr>
        <p:spPr>
          <a:xfrm>
            <a:off x="749808" y="2852928"/>
            <a:ext cx="7680960" cy="411480"/>
          </a:xfrm>
          <a:prstGeom prst="rect">
            <a:avLst/>
          </a:prstGeom>
          <a:noFill/>
          <a:ln/>
        </p:spPr>
        <p:txBody>
          <a:bodyPr wrap="square" lIns="0" tIns="0" rIns="0" bIns="0" rtlCol="0" anchor="ctr">
            <a:normAutofit/>
          </a:bodyPr>
          <a:lstStyle/>
          <a:p>
            <a:pPr indent="0" marL="0">
              <a:buNone/>
            </a:pPr>
            <a:r>
              <a:rPr lang="en-US" sz="1600" dirty="0">
                <a:solidFill>
                  <a:srgbClr val="DCEEEF"/>
                </a:solidFill>
              </a:rPr>
              <a:t>Attach AI to the day, not to a vague intention.</a:t>
            </a:r>
            <a:endParaRPr lang="en-US" sz="1600" dirty="0"/>
          </a:p>
        </p:txBody>
      </p:sp>
      <p:sp>
        <p:nvSpPr>
          <p:cNvPr id="8" name="Shape 6"/>
          <p:cNvSpPr/>
          <p:nvPr/>
        </p:nvSpPr>
        <p:spPr>
          <a:xfrm>
            <a:off x="749808" y="3657600"/>
            <a:ext cx="1828800" cy="0"/>
          </a:xfrm>
          <a:prstGeom prst="line">
            <a:avLst/>
          </a:prstGeom>
          <a:noFill/>
          <a:ln w="50800">
            <a:solidFill>
              <a:srgbClr val="F45B69"/>
            </a:solidFill>
            <a:prstDash val="solid"/>
          </a:ln>
        </p:spPr>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DAILY RHYTHM</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A simple daily AI workflow</a:t>
            </a:r>
            <a:endParaRPr lang="en-US" sz="3000" dirty="0"/>
          </a:p>
        </p:txBody>
      </p:sp>
      <p:sp>
        <p:nvSpPr>
          <p:cNvPr id="11" name="Shape 9"/>
          <p:cNvSpPr/>
          <p:nvPr/>
        </p:nvSpPr>
        <p:spPr>
          <a:xfrm>
            <a:off x="868680" y="1920240"/>
            <a:ext cx="2148840" cy="2377440"/>
          </a:xfrm>
          <a:prstGeom prst="roundRect">
            <a:avLst>
              <a:gd name="adj" fmla="val 2553"/>
            </a:avLst>
          </a:prstGeom>
          <a:solidFill>
            <a:srgbClr val="EAF7F7"/>
          </a:solidFill>
          <a:ln w="10160">
            <a:solidFill>
              <a:srgbClr val="D8E6E8"/>
            </a:solidFill>
            <a:prstDash val="solid"/>
          </a:ln>
        </p:spPr>
      </p:sp>
      <p:sp>
        <p:nvSpPr>
          <p:cNvPr id="12" name="Shape 10"/>
          <p:cNvSpPr/>
          <p:nvPr/>
        </p:nvSpPr>
        <p:spPr>
          <a:xfrm>
            <a:off x="1097280" y="2194560"/>
            <a:ext cx="402336" cy="402336"/>
          </a:xfrm>
          <a:prstGeom prst="ellipse">
            <a:avLst/>
          </a:prstGeom>
          <a:solidFill>
            <a:srgbClr val="008F8F"/>
          </a:solidFill>
          <a:ln w="12700">
            <a:solidFill>
              <a:srgbClr val="008F8F"/>
            </a:solidFill>
            <a:prstDash val="solid"/>
          </a:ln>
        </p:spPr>
      </p:sp>
      <p:sp>
        <p:nvSpPr>
          <p:cNvPr id="13" name="Text 11"/>
          <p:cNvSpPr/>
          <p:nvPr/>
        </p:nvSpPr>
        <p:spPr>
          <a:xfrm>
            <a:off x="109728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09728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Morning</a:t>
            </a:r>
            <a:endParaRPr lang="en-US" sz="1600" dirty="0"/>
          </a:p>
        </p:txBody>
      </p:sp>
      <p:sp>
        <p:nvSpPr>
          <p:cNvPr id="15" name="Text 13"/>
          <p:cNvSpPr/>
          <p:nvPr/>
        </p:nvSpPr>
        <p:spPr>
          <a:xfrm>
            <a:off x="109728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Prioritize tasks and prepare calls</a:t>
            </a:r>
            <a:endParaRPr lang="en-US" sz="1150" dirty="0"/>
          </a:p>
        </p:txBody>
      </p:sp>
      <p:sp>
        <p:nvSpPr>
          <p:cNvPr id="16" name="Shape 14"/>
          <p:cNvSpPr/>
          <p:nvPr/>
        </p:nvSpPr>
        <p:spPr>
          <a:xfrm>
            <a:off x="3474720" y="1920240"/>
            <a:ext cx="2148840" cy="2377440"/>
          </a:xfrm>
          <a:prstGeom prst="roundRect">
            <a:avLst>
              <a:gd name="adj" fmla="val 2553"/>
            </a:avLst>
          </a:prstGeom>
          <a:solidFill>
            <a:srgbClr val="FFFFFF"/>
          </a:solidFill>
          <a:ln w="10160">
            <a:solidFill>
              <a:srgbClr val="D8E6E8"/>
            </a:solidFill>
            <a:prstDash val="solid"/>
          </a:ln>
        </p:spPr>
      </p:sp>
      <p:sp>
        <p:nvSpPr>
          <p:cNvPr id="17" name="Shape 15"/>
          <p:cNvSpPr/>
          <p:nvPr/>
        </p:nvSpPr>
        <p:spPr>
          <a:xfrm>
            <a:off x="3703320" y="2194560"/>
            <a:ext cx="402336" cy="402336"/>
          </a:xfrm>
          <a:prstGeom prst="ellipse">
            <a:avLst/>
          </a:prstGeom>
          <a:solidFill>
            <a:srgbClr val="2F80ED"/>
          </a:solidFill>
          <a:ln w="12700">
            <a:solidFill>
              <a:srgbClr val="2F80ED"/>
            </a:solidFill>
            <a:prstDash val="solid"/>
          </a:ln>
        </p:spPr>
      </p:sp>
      <p:sp>
        <p:nvSpPr>
          <p:cNvPr id="18" name="Text 16"/>
          <p:cNvSpPr/>
          <p:nvPr/>
        </p:nvSpPr>
        <p:spPr>
          <a:xfrm>
            <a:off x="370332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9" name="Text 17"/>
          <p:cNvSpPr/>
          <p:nvPr/>
        </p:nvSpPr>
        <p:spPr>
          <a:xfrm>
            <a:off x="370332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Midday</a:t>
            </a:r>
            <a:endParaRPr lang="en-US" sz="1600" dirty="0"/>
          </a:p>
        </p:txBody>
      </p:sp>
      <p:sp>
        <p:nvSpPr>
          <p:cNvPr id="20" name="Text 18"/>
          <p:cNvSpPr/>
          <p:nvPr/>
        </p:nvSpPr>
        <p:spPr>
          <a:xfrm>
            <a:off x="370332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Draft follow-up and client updates</a:t>
            </a:r>
            <a:endParaRPr lang="en-US" sz="1150" dirty="0"/>
          </a:p>
        </p:txBody>
      </p:sp>
      <p:sp>
        <p:nvSpPr>
          <p:cNvPr id="21" name="Shape 19"/>
          <p:cNvSpPr/>
          <p:nvPr/>
        </p:nvSpPr>
        <p:spPr>
          <a:xfrm>
            <a:off x="6080760" y="1920240"/>
            <a:ext cx="2148840" cy="2377440"/>
          </a:xfrm>
          <a:prstGeom prst="roundRect">
            <a:avLst>
              <a:gd name="adj" fmla="val 2553"/>
            </a:avLst>
          </a:prstGeom>
          <a:solidFill>
            <a:srgbClr val="FFF4D9"/>
          </a:solidFill>
          <a:ln w="10160">
            <a:solidFill>
              <a:srgbClr val="D8E6E8"/>
            </a:solidFill>
            <a:prstDash val="solid"/>
          </a:ln>
        </p:spPr>
      </p:sp>
      <p:sp>
        <p:nvSpPr>
          <p:cNvPr id="22" name="Shape 20"/>
          <p:cNvSpPr/>
          <p:nvPr/>
        </p:nvSpPr>
        <p:spPr>
          <a:xfrm>
            <a:off x="6309360" y="2194560"/>
            <a:ext cx="402336" cy="402336"/>
          </a:xfrm>
          <a:prstGeom prst="ellipse">
            <a:avLst/>
          </a:prstGeom>
          <a:solidFill>
            <a:srgbClr val="F2B84B"/>
          </a:solidFill>
          <a:ln w="12700">
            <a:solidFill>
              <a:srgbClr val="F2B84B"/>
            </a:solidFill>
            <a:prstDash val="solid"/>
          </a:ln>
        </p:spPr>
      </p:sp>
      <p:sp>
        <p:nvSpPr>
          <p:cNvPr id="23" name="Text 21"/>
          <p:cNvSpPr/>
          <p:nvPr/>
        </p:nvSpPr>
        <p:spPr>
          <a:xfrm>
            <a:off x="630936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4" name="Text 22"/>
          <p:cNvSpPr/>
          <p:nvPr/>
        </p:nvSpPr>
        <p:spPr>
          <a:xfrm>
            <a:off x="630936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Afternoon</a:t>
            </a:r>
            <a:endParaRPr lang="en-US" sz="1600" dirty="0"/>
          </a:p>
        </p:txBody>
      </p:sp>
      <p:sp>
        <p:nvSpPr>
          <p:cNvPr id="25" name="Text 23"/>
          <p:cNvSpPr/>
          <p:nvPr/>
        </p:nvSpPr>
        <p:spPr>
          <a:xfrm>
            <a:off x="630936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Create listing/content drafts</a:t>
            </a:r>
            <a:endParaRPr lang="en-US" sz="1150" dirty="0"/>
          </a:p>
        </p:txBody>
      </p:sp>
      <p:sp>
        <p:nvSpPr>
          <p:cNvPr id="26" name="Shape 24"/>
          <p:cNvSpPr/>
          <p:nvPr/>
        </p:nvSpPr>
        <p:spPr>
          <a:xfrm>
            <a:off x="8686800" y="1920240"/>
            <a:ext cx="2148840" cy="2377440"/>
          </a:xfrm>
          <a:prstGeom prst="roundRect">
            <a:avLst>
              <a:gd name="adj" fmla="val 2553"/>
            </a:avLst>
          </a:prstGeom>
          <a:solidFill>
            <a:srgbClr val="FFFFFF"/>
          </a:solidFill>
          <a:ln w="10160">
            <a:solidFill>
              <a:srgbClr val="D8E6E8"/>
            </a:solidFill>
            <a:prstDash val="solid"/>
          </a:ln>
        </p:spPr>
      </p:sp>
      <p:sp>
        <p:nvSpPr>
          <p:cNvPr id="27" name="Shape 25"/>
          <p:cNvSpPr/>
          <p:nvPr/>
        </p:nvSpPr>
        <p:spPr>
          <a:xfrm>
            <a:off x="8915400" y="2194560"/>
            <a:ext cx="402336" cy="402336"/>
          </a:xfrm>
          <a:prstGeom prst="ellipse">
            <a:avLst/>
          </a:prstGeom>
          <a:solidFill>
            <a:srgbClr val="2E7D5B"/>
          </a:solidFill>
          <a:ln w="12700">
            <a:solidFill>
              <a:srgbClr val="2E7D5B"/>
            </a:solidFill>
            <a:prstDash val="solid"/>
          </a:ln>
        </p:spPr>
      </p:sp>
      <p:sp>
        <p:nvSpPr>
          <p:cNvPr id="28" name="Text 26"/>
          <p:cNvSpPr/>
          <p:nvPr/>
        </p:nvSpPr>
        <p:spPr>
          <a:xfrm>
            <a:off x="8915400" y="228600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9" name="Text 27"/>
          <p:cNvSpPr/>
          <p:nvPr/>
        </p:nvSpPr>
        <p:spPr>
          <a:xfrm>
            <a:off x="8915400" y="2880360"/>
            <a:ext cx="1691640" cy="256032"/>
          </a:xfrm>
          <a:prstGeom prst="rect">
            <a:avLst/>
          </a:prstGeom>
          <a:noFill/>
          <a:ln/>
        </p:spPr>
        <p:txBody>
          <a:bodyPr wrap="square" lIns="0" tIns="0" rIns="0" bIns="0" rtlCol="0" anchor="ctr"/>
          <a:lstStyle/>
          <a:p>
            <a:pPr indent="0" marL="0">
              <a:buNone/>
            </a:pPr>
            <a:r>
              <a:rPr lang="en-US" sz="1600" b="1" dirty="0">
                <a:solidFill>
                  <a:srgbClr val="16324F"/>
                </a:solidFill>
              </a:rPr>
              <a:t>End of day</a:t>
            </a:r>
            <a:endParaRPr lang="en-US" sz="1600" dirty="0"/>
          </a:p>
        </p:txBody>
      </p:sp>
      <p:sp>
        <p:nvSpPr>
          <p:cNvPr id="30" name="Text 28"/>
          <p:cNvSpPr/>
          <p:nvPr/>
        </p:nvSpPr>
        <p:spPr>
          <a:xfrm>
            <a:off x="8915400" y="3291840"/>
            <a:ext cx="1691640" cy="502920"/>
          </a:xfrm>
          <a:prstGeom prst="rect">
            <a:avLst/>
          </a:prstGeom>
          <a:noFill/>
          <a:ln/>
        </p:spPr>
        <p:txBody>
          <a:bodyPr wrap="square" lIns="0" tIns="0" rIns="0" bIns="0" rtlCol="0" anchor="ctr">
            <a:normAutofit/>
          </a:bodyPr>
          <a:lstStyle/>
          <a:p>
            <a:pPr indent="0" marL="0">
              <a:buNone/>
            </a:pPr>
            <a:r>
              <a:rPr lang="en-US" sz="1150" dirty="0">
                <a:solidFill>
                  <a:srgbClr val="52606D"/>
                </a:solidFill>
              </a:rPr>
              <a:t>Summarize notes and next steps</a:t>
            </a:r>
            <a:endParaRPr lang="en-US" sz="115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40/46</a:t>
            </a:r>
            <a:endParaRPr lang="en-US" sz="72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GUARDRAILS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Responsible AI use in a real estate business</a:t>
            </a:r>
            <a:endParaRPr lang="en-US" sz="3000" dirty="0"/>
          </a:p>
        </p:txBody>
      </p:sp>
      <p:sp>
        <p:nvSpPr>
          <p:cNvPr id="11" name="Text 9"/>
          <p:cNvSpPr/>
          <p:nvPr/>
        </p:nvSpPr>
        <p:spPr>
          <a:xfrm>
            <a:off x="868680" y="1874520"/>
            <a:ext cx="6400800" cy="3657600"/>
          </a:xfrm>
          <a:prstGeom prst="rect">
            <a:avLst/>
          </a:prstGeom>
          <a:noFill/>
          <a:ln/>
        </p:spPr>
        <p:txBody>
          <a:bodyPr wrap="square" lIns="254" tIns="254" rIns="254" bIns="254" rtlCol="0" anchor="t">
            <a:normAutofit/>
          </a:bodyPr>
          <a:lstStyle/>
          <a:p>
            <a:pPr marL="203200" indent="-203200">
              <a:buSzPct val="100000"/>
              <a:buChar char="•"/>
            </a:pPr>
            <a:r>
              <a:rPr lang="en-US" sz="1660" dirty="0">
                <a:solidFill>
                  <a:srgbClr val="102033"/>
                </a:solidFill>
                <a:latin typeface="Aptos" pitchFamily="34" charset="0"/>
                <a:ea typeface="Aptos" pitchFamily="34" charset="-122"/>
                <a:cs typeface="Aptos" pitchFamily="34" charset="-120"/>
              </a:rPr>
              <a:t>Protect private client information.</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Do not paste confidential data without authorization and safeguards.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Review all output before use.</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Follow brokerage policies, MLS rules, and advertising requirements.</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Avoid discriminatory targeting or language.</a:t>
            </a:r>
            <a:endParaRPr lang="en-US" sz="1660" dirty="0"/>
          </a:p>
          <a:p>
            <a:pPr marL="203200" indent="-203200">
              <a:buSzPct val="100000"/>
              <a:buChar char="•"/>
            </a:pPr>
            <a:r>
              <a:rPr lang="en-US" sz="1660" dirty="0">
                <a:solidFill>
                  <a:srgbClr val="102033"/>
                </a:solidFill>
                <a:latin typeface="Aptos" pitchFamily="34" charset="0"/>
                <a:ea typeface="Aptos" pitchFamily="34" charset="-122"/>
                <a:cs typeface="Aptos" pitchFamily="34" charset="-120"/>
              </a:rPr>
              <a:t>Use AI to support professional judgment, not replace it.</a:t>
            </a:r>
            <a:endParaRPr lang="en-US" sz="1660" dirty="0"/>
          </a:p>
        </p:txBody>
      </p:sp>
      <p:sp>
        <p:nvSpPr>
          <p:cNvPr id="12" name="Shape 10"/>
          <p:cNvSpPr/>
          <p:nvPr/>
        </p:nvSpPr>
        <p:spPr>
          <a:xfrm>
            <a:off x="7479792" y="1737360"/>
            <a:ext cx="91440" cy="2971800"/>
          </a:xfrm>
          <a:prstGeom prst="rect">
            <a:avLst/>
          </a:prstGeom>
          <a:solidFill>
            <a:srgbClr val="2F80ED"/>
          </a:solidFill>
          <a:ln w="12700">
            <a:solidFill>
              <a:srgbClr val="2F80ED"/>
            </a:solidFill>
            <a:prstDash val="solid"/>
          </a:ln>
        </p:spPr>
      </p:sp>
      <p:sp>
        <p:nvSpPr>
          <p:cNvPr id="13" name="Shape 11"/>
          <p:cNvSpPr/>
          <p:nvPr/>
        </p:nvSpPr>
        <p:spPr>
          <a:xfrm>
            <a:off x="7607808" y="1828800"/>
            <a:ext cx="3246120" cy="2788920"/>
          </a:xfrm>
          <a:prstGeom prst="roundRect">
            <a:avLst>
              <a:gd name="adj" fmla="val 1967"/>
            </a:avLst>
          </a:prstGeom>
          <a:solidFill>
            <a:srgbClr val="FFF4D9"/>
          </a:solidFill>
          <a:ln w="10160">
            <a:solidFill>
              <a:srgbClr val="BFDADC"/>
            </a:solidFill>
            <a:prstDash val="solid"/>
          </a:ln>
        </p:spPr>
      </p:sp>
      <p:sp>
        <p:nvSpPr>
          <p:cNvPr id="14" name="Text 12"/>
          <p:cNvSpPr/>
          <p:nvPr/>
        </p:nvSpPr>
        <p:spPr>
          <a:xfrm>
            <a:off x="7882128" y="2148840"/>
            <a:ext cx="2606040" cy="530352"/>
          </a:xfrm>
          <a:prstGeom prst="rect">
            <a:avLst/>
          </a:prstGeom>
          <a:noFill/>
          <a:ln/>
        </p:spPr>
        <p:txBody>
          <a:bodyPr wrap="square" lIns="0" tIns="0" rIns="0" bIns="0" rtlCol="0" anchor="ctr">
            <a:normAutofit/>
          </a:bodyPr>
          <a:lstStyle/>
          <a:p>
            <a:pPr indent="0" marL="0">
              <a:buNone/>
            </a:pPr>
            <a:r>
              <a:rPr lang="en-US" sz="1750" b="1" dirty="0">
                <a:solidFill>
                  <a:srgbClr val="16324F"/>
                </a:solidFill>
              </a:rPr>
              <a:t>Review before use</a:t>
            </a:r>
            <a:endParaRPr lang="en-US" sz="1750" dirty="0"/>
          </a:p>
        </p:txBody>
      </p:sp>
      <p:sp>
        <p:nvSpPr>
          <p:cNvPr id="15" name="Text 13"/>
          <p:cNvSpPr/>
          <p:nvPr/>
        </p:nvSpPr>
        <p:spPr>
          <a:xfrm>
            <a:off x="7882128" y="2944368"/>
            <a:ext cx="2514600" cy="960120"/>
          </a:xfrm>
          <a:prstGeom prst="rect">
            <a:avLst/>
          </a:prstGeom>
          <a:noFill/>
          <a:ln/>
        </p:spPr>
        <p:txBody>
          <a:bodyPr wrap="square" lIns="508" tIns="508" rIns="508" bIns="508" rtlCol="0" anchor="ctr">
            <a:normAutofit/>
          </a:bodyPr>
          <a:lstStyle/>
          <a:p>
            <a:pPr indent="0" marL="0">
              <a:buNone/>
            </a:pPr>
            <a:r>
              <a:rPr lang="en-US" sz="1220" dirty="0">
                <a:solidFill>
                  <a:srgbClr val="102033"/>
                </a:solidFill>
              </a:rPr>
              <a:t>Private data, brokerage policy, MLS rules, advertising, and Fair Housing still apply.</a:t>
            </a:r>
            <a:endParaRPr lang="en-US" sz="1220" dirty="0"/>
          </a:p>
        </p:txBody>
      </p:sp>
      <p:sp>
        <p:nvSpPr>
          <p:cNvPr id="16" name="Shape 14"/>
          <p:cNvSpPr/>
          <p:nvPr/>
        </p:nvSpPr>
        <p:spPr>
          <a:xfrm>
            <a:off x="7882128" y="4160520"/>
            <a:ext cx="1097280" cy="0"/>
          </a:xfrm>
          <a:prstGeom prst="line">
            <a:avLst/>
          </a:prstGeom>
          <a:noFill/>
          <a:ln w="38100">
            <a:solidFill>
              <a:srgbClr val="008F8F"/>
            </a:solidFill>
            <a:prstDash val="solid"/>
          </a:ln>
        </p:spPr>
      </p:sp>
      <p:sp>
        <p:nvSpPr>
          <p:cNvPr id="17" name="Shape 15"/>
          <p:cNvSpPr/>
          <p:nvPr/>
        </p:nvSpPr>
        <p:spPr>
          <a:xfrm>
            <a:off x="502920" y="6473952"/>
            <a:ext cx="11201400" cy="0"/>
          </a:xfrm>
          <a:prstGeom prst="line">
            <a:avLst/>
          </a:prstGeom>
          <a:noFill/>
          <a:ln w="9525">
            <a:solidFill>
              <a:srgbClr val="D8E6E8"/>
            </a:solidFill>
            <a:prstDash val="solid"/>
          </a:ln>
        </p:spPr>
      </p:sp>
      <p:sp>
        <p:nvSpPr>
          <p:cNvPr id="18" name="Text 16"/>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19" name="Text 17"/>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41/46</a:t>
            </a:r>
            <a:endParaRPr lang="en-US" sz="72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0E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0EF"/>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BROKERAGE + MLS</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When in doubt, slow down and verify</a:t>
            </a:r>
            <a:endParaRPr lang="en-US" sz="3000" dirty="0"/>
          </a:p>
        </p:txBody>
      </p:sp>
      <p:sp>
        <p:nvSpPr>
          <p:cNvPr id="11" name="Shape 9"/>
          <p:cNvSpPr/>
          <p:nvPr/>
        </p:nvSpPr>
        <p:spPr>
          <a:xfrm>
            <a:off x="868680" y="1783080"/>
            <a:ext cx="4526280" cy="1042416"/>
          </a:xfrm>
          <a:prstGeom prst="roundRect">
            <a:avLst>
              <a:gd name="adj" fmla="val 5263"/>
            </a:avLst>
          </a:prstGeom>
          <a:solidFill>
            <a:srgbClr val="EAF7F7"/>
          </a:solidFill>
          <a:ln w="10160">
            <a:solidFill>
              <a:srgbClr val="D8E6E8"/>
            </a:solidFill>
            <a:prstDash val="solid"/>
          </a:ln>
        </p:spPr>
      </p:sp>
      <p:sp>
        <p:nvSpPr>
          <p:cNvPr id="12" name="Text 10"/>
          <p:cNvSpPr/>
          <p:nvPr/>
        </p:nvSpPr>
        <p:spPr>
          <a:xfrm>
            <a:off x="1124712" y="196596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Private data</a:t>
            </a:r>
            <a:endParaRPr lang="en-US" sz="1120" dirty="0"/>
          </a:p>
        </p:txBody>
      </p:sp>
      <p:sp>
        <p:nvSpPr>
          <p:cNvPr id="13" name="Text 11"/>
          <p:cNvSpPr/>
          <p:nvPr/>
        </p:nvSpPr>
        <p:spPr>
          <a:xfrm>
            <a:off x="1124712" y="225856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Remove names, contact info, financial details, and sensitive context before using public tools.</a:t>
            </a:r>
            <a:endParaRPr lang="en-US" sz="1070" dirty="0"/>
          </a:p>
        </p:txBody>
      </p:sp>
      <p:sp>
        <p:nvSpPr>
          <p:cNvPr id="14" name="Shape 12"/>
          <p:cNvSpPr/>
          <p:nvPr/>
        </p:nvSpPr>
        <p:spPr>
          <a:xfrm>
            <a:off x="5943600" y="1783080"/>
            <a:ext cx="4526280" cy="1042416"/>
          </a:xfrm>
          <a:prstGeom prst="roundRect">
            <a:avLst>
              <a:gd name="adj" fmla="val 5263"/>
            </a:avLst>
          </a:prstGeom>
          <a:solidFill>
            <a:srgbClr val="FFFFFF"/>
          </a:solidFill>
          <a:ln w="10160">
            <a:solidFill>
              <a:srgbClr val="D8E6E8"/>
            </a:solidFill>
            <a:prstDash val="solid"/>
          </a:ln>
        </p:spPr>
      </p:sp>
      <p:sp>
        <p:nvSpPr>
          <p:cNvPr id="15" name="Text 13"/>
          <p:cNvSpPr/>
          <p:nvPr/>
        </p:nvSpPr>
        <p:spPr>
          <a:xfrm>
            <a:off x="6199632" y="196596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Advertising</a:t>
            </a:r>
            <a:endParaRPr lang="en-US" sz="1120" dirty="0"/>
          </a:p>
        </p:txBody>
      </p:sp>
      <p:sp>
        <p:nvSpPr>
          <p:cNvPr id="16" name="Text 14"/>
          <p:cNvSpPr/>
          <p:nvPr/>
        </p:nvSpPr>
        <p:spPr>
          <a:xfrm>
            <a:off x="6199632" y="225856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Review claims, disclosures, brokerage rules, and platform requirements.</a:t>
            </a:r>
            <a:endParaRPr lang="en-US" sz="1070" dirty="0"/>
          </a:p>
        </p:txBody>
      </p:sp>
      <p:sp>
        <p:nvSpPr>
          <p:cNvPr id="17" name="Shape 15"/>
          <p:cNvSpPr/>
          <p:nvPr/>
        </p:nvSpPr>
        <p:spPr>
          <a:xfrm>
            <a:off x="868680" y="3200400"/>
            <a:ext cx="4526280" cy="1042416"/>
          </a:xfrm>
          <a:prstGeom prst="roundRect">
            <a:avLst>
              <a:gd name="adj" fmla="val 5263"/>
            </a:avLst>
          </a:prstGeom>
          <a:solidFill>
            <a:srgbClr val="EAF7F7"/>
          </a:solidFill>
          <a:ln w="10160">
            <a:solidFill>
              <a:srgbClr val="D8E6E8"/>
            </a:solidFill>
            <a:prstDash val="solid"/>
          </a:ln>
        </p:spPr>
      </p:sp>
      <p:sp>
        <p:nvSpPr>
          <p:cNvPr id="18" name="Text 16"/>
          <p:cNvSpPr/>
          <p:nvPr/>
        </p:nvSpPr>
        <p:spPr>
          <a:xfrm>
            <a:off x="1124712" y="338328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MLS</a:t>
            </a:r>
            <a:endParaRPr lang="en-US" sz="1120" dirty="0"/>
          </a:p>
        </p:txBody>
      </p:sp>
      <p:sp>
        <p:nvSpPr>
          <p:cNvPr id="19" name="Text 17"/>
          <p:cNvSpPr/>
          <p:nvPr/>
        </p:nvSpPr>
        <p:spPr>
          <a:xfrm>
            <a:off x="1124712" y="367588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Follow MLS rules for listing data, remarks, photos, and public display.</a:t>
            </a:r>
            <a:endParaRPr lang="en-US" sz="1070" dirty="0"/>
          </a:p>
        </p:txBody>
      </p:sp>
      <p:sp>
        <p:nvSpPr>
          <p:cNvPr id="20" name="Shape 18"/>
          <p:cNvSpPr/>
          <p:nvPr/>
        </p:nvSpPr>
        <p:spPr>
          <a:xfrm>
            <a:off x="5943600" y="3200400"/>
            <a:ext cx="4526280" cy="1042416"/>
          </a:xfrm>
          <a:prstGeom prst="roundRect">
            <a:avLst>
              <a:gd name="adj" fmla="val 5263"/>
            </a:avLst>
          </a:prstGeom>
          <a:solidFill>
            <a:srgbClr val="FFFFFF"/>
          </a:solidFill>
          <a:ln w="10160">
            <a:solidFill>
              <a:srgbClr val="D8E6E8"/>
            </a:solidFill>
            <a:prstDash val="solid"/>
          </a:ln>
        </p:spPr>
      </p:sp>
      <p:sp>
        <p:nvSpPr>
          <p:cNvPr id="21" name="Text 19"/>
          <p:cNvSpPr/>
          <p:nvPr/>
        </p:nvSpPr>
        <p:spPr>
          <a:xfrm>
            <a:off x="6199632" y="3383280"/>
            <a:ext cx="3931920" cy="164592"/>
          </a:xfrm>
          <a:prstGeom prst="rect">
            <a:avLst/>
          </a:prstGeom>
          <a:noFill/>
          <a:ln/>
        </p:spPr>
        <p:txBody>
          <a:bodyPr wrap="square" lIns="0" tIns="0" rIns="0" bIns="0" rtlCol="0" anchor="ctr">
            <a:normAutofit/>
          </a:bodyPr>
          <a:lstStyle/>
          <a:p>
            <a:pPr indent="0" marL="0">
              <a:buNone/>
            </a:pPr>
            <a:r>
              <a:rPr lang="en-US" sz="1120" b="1" dirty="0">
                <a:solidFill>
                  <a:srgbClr val="008F8F"/>
                </a:solidFill>
              </a:rPr>
              <a:t>Consumer communication</a:t>
            </a:r>
            <a:endParaRPr lang="en-US" sz="1120" dirty="0"/>
          </a:p>
        </p:txBody>
      </p:sp>
      <p:sp>
        <p:nvSpPr>
          <p:cNvPr id="22" name="Text 20"/>
          <p:cNvSpPr/>
          <p:nvPr/>
        </p:nvSpPr>
        <p:spPr>
          <a:xfrm>
            <a:off x="6199632" y="3675888"/>
            <a:ext cx="3977640" cy="347472"/>
          </a:xfrm>
          <a:prstGeom prst="rect">
            <a:avLst/>
          </a:prstGeom>
          <a:noFill/>
          <a:ln/>
        </p:spPr>
        <p:txBody>
          <a:bodyPr wrap="square" lIns="0" tIns="0" rIns="0" bIns="0" rtlCol="0" anchor="ctr">
            <a:normAutofit/>
          </a:bodyPr>
          <a:lstStyle/>
          <a:p>
            <a:pPr indent="0" marL="0">
              <a:buNone/>
            </a:pPr>
            <a:r>
              <a:rPr lang="en-US" sz="1070" dirty="0">
                <a:solidFill>
                  <a:srgbClr val="102033"/>
                </a:solidFill>
              </a:rPr>
              <a:t>Keep records, respect opt-outs, and do not automate beyond policy.</a:t>
            </a:r>
            <a:endParaRPr lang="en-US" sz="1070" dirty="0"/>
          </a:p>
        </p:txBody>
      </p:sp>
      <p:sp>
        <p:nvSpPr>
          <p:cNvPr id="23" name="Shape 21"/>
          <p:cNvSpPr/>
          <p:nvPr/>
        </p:nvSpPr>
        <p:spPr>
          <a:xfrm>
            <a:off x="502920" y="6473952"/>
            <a:ext cx="11201400" cy="0"/>
          </a:xfrm>
          <a:prstGeom prst="line">
            <a:avLst/>
          </a:prstGeom>
          <a:noFill/>
          <a:ln w="9525">
            <a:solidFill>
              <a:srgbClr val="D8E6E8"/>
            </a:solidFill>
            <a:prstDash val="solid"/>
          </a:ln>
        </p:spPr>
      </p:sp>
      <p:sp>
        <p:nvSpPr>
          <p:cNvPr id="24" name="Text 2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5" name="Text 2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42/46</a:t>
            </a:r>
            <a:endParaRPr lang="en-US" sz="72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0F3FF"/>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0F3FF"/>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ACTIVITY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Build your daily AI workflow</a:t>
            </a:r>
            <a:endParaRPr lang="en-US" sz="3000" dirty="0"/>
          </a:p>
        </p:txBody>
      </p:sp>
      <p:sp>
        <p:nvSpPr>
          <p:cNvPr id="11" name="Shape 9"/>
          <p:cNvSpPr/>
          <p:nvPr/>
        </p:nvSpPr>
        <p:spPr>
          <a:xfrm>
            <a:off x="868680" y="1517904"/>
            <a:ext cx="1572768" cy="310896"/>
          </a:xfrm>
          <a:prstGeom prst="roundRect">
            <a:avLst>
              <a:gd name="adj" fmla="val 11765"/>
            </a:avLst>
          </a:prstGeom>
          <a:solidFill>
            <a:srgbClr val="F2B84B"/>
          </a:solidFill>
          <a:ln w="12700">
            <a:solidFill>
              <a:srgbClr val="F2B84B"/>
            </a:solidFill>
            <a:prstDash val="solid"/>
          </a:ln>
        </p:spPr>
      </p:sp>
      <p:sp>
        <p:nvSpPr>
          <p:cNvPr id="12" name="Text 10"/>
          <p:cNvSpPr/>
          <p:nvPr/>
        </p:nvSpPr>
        <p:spPr>
          <a:xfrm>
            <a:off x="996696" y="1604772"/>
            <a:ext cx="1298448" cy="91440"/>
          </a:xfrm>
          <a:prstGeom prst="rect">
            <a:avLst/>
          </a:prstGeom>
          <a:noFill/>
          <a:ln/>
        </p:spPr>
        <p:txBody>
          <a:bodyPr wrap="square" lIns="0" tIns="0" rIns="0" bIns="0" rtlCol="0" anchor="ctr">
            <a:normAutofit/>
          </a:bodyPr>
          <a:lstStyle/>
          <a:p>
            <a:pPr algn="ctr" indent="0" marL="0">
              <a:buNone/>
            </a:pPr>
            <a:r>
              <a:rPr lang="en-US" sz="720" b="1" dirty="0">
                <a:solidFill>
                  <a:srgbClr val="FFFFFF"/>
                </a:solidFill>
              </a:rPr>
              <a:t>PRACTICE</a:t>
            </a:r>
            <a:endParaRPr lang="en-US" sz="720" dirty="0"/>
          </a:p>
        </p:txBody>
      </p:sp>
      <p:sp>
        <p:nvSpPr>
          <p:cNvPr id="13" name="Shape 11"/>
          <p:cNvSpPr/>
          <p:nvPr/>
        </p:nvSpPr>
        <p:spPr>
          <a:xfrm>
            <a:off x="822960" y="1810512"/>
            <a:ext cx="5413248" cy="109728"/>
          </a:xfrm>
          <a:prstGeom prst="rect">
            <a:avLst/>
          </a:prstGeom>
          <a:solidFill>
            <a:srgbClr val="F2B84B"/>
          </a:solidFill>
          <a:ln w="12700">
            <a:solidFill>
              <a:srgbClr val="F2B84B"/>
            </a:solidFill>
            <a:prstDash val="solid"/>
          </a:ln>
        </p:spPr>
      </p:sp>
      <p:sp>
        <p:nvSpPr>
          <p:cNvPr id="14" name="Shape 12"/>
          <p:cNvSpPr/>
          <p:nvPr/>
        </p:nvSpPr>
        <p:spPr>
          <a:xfrm>
            <a:off x="868680" y="1874520"/>
            <a:ext cx="5303520" cy="2560320"/>
          </a:xfrm>
          <a:prstGeom prst="roundRect">
            <a:avLst>
              <a:gd name="adj" fmla="val 2143"/>
            </a:avLst>
          </a:prstGeom>
          <a:solidFill>
            <a:srgbClr val="FFFFFF"/>
          </a:solidFill>
          <a:ln w="10160">
            <a:solidFill>
              <a:srgbClr val="D8E6E8"/>
            </a:solidFill>
            <a:prstDash val="solid"/>
          </a:ln>
        </p:spPr>
      </p:sp>
      <p:sp>
        <p:nvSpPr>
          <p:cNvPr id="15" name="Text 13"/>
          <p:cNvSpPr/>
          <p:nvPr/>
        </p:nvSpPr>
        <p:spPr>
          <a:xfrm>
            <a:off x="1143000" y="2103120"/>
            <a:ext cx="4663440" cy="320040"/>
          </a:xfrm>
          <a:prstGeom prst="rect">
            <a:avLst/>
          </a:prstGeom>
          <a:noFill/>
          <a:ln/>
        </p:spPr>
        <p:txBody>
          <a:bodyPr wrap="square" lIns="0" tIns="0" rIns="0" bIns="0" rtlCol="0" anchor="ctr">
            <a:normAutofit/>
          </a:bodyPr>
          <a:lstStyle/>
          <a:p>
            <a:pPr indent="0" marL="0">
              <a:buNone/>
            </a:pPr>
            <a:r>
              <a:rPr lang="en-US" sz="1400" dirty="0">
                <a:solidFill>
                  <a:srgbClr val="52606D"/>
                </a:solidFill>
              </a:rPr>
              <a:t>Pick one task in each part of the day.</a:t>
            </a:r>
            <a:endParaRPr lang="en-US" sz="1400" dirty="0"/>
          </a:p>
        </p:txBody>
      </p:sp>
      <p:sp>
        <p:nvSpPr>
          <p:cNvPr id="16" name="Text 14"/>
          <p:cNvSpPr/>
          <p:nvPr/>
        </p:nvSpPr>
        <p:spPr>
          <a:xfrm>
            <a:off x="1143000" y="4005072"/>
            <a:ext cx="2194560" cy="182880"/>
          </a:xfrm>
          <a:prstGeom prst="rect">
            <a:avLst/>
          </a:prstGeom>
          <a:noFill/>
          <a:ln/>
        </p:spPr>
        <p:txBody>
          <a:bodyPr wrap="square" lIns="0" tIns="0" rIns="0" bIns="0" rtlCol="0" anchor="ctr"/>
          <a:lstStyle/>
          <a:p>
            <a:pPr indent="0" marL="0">
              <a:buNone/>
            </a:pPr>
            <a:r>
              <a:rPr lang="en-US" sz="950" b="1" dirty="0">
                <a:solidFill>
                  <a:srgbClr val="008F8F"/>
                </a:solidFill>
              </a:rPr>
              <a:t>Workshop canvas</a:t>
            </a:r>
            <a:endParaRPr lang="en-US" sz="950" dirty="0"/>
          </a:p>
        </p:txBody>
      </p:sp>
      <p:sp>
        <p:nvSpPr>
          <p:cNvPr id="17" name="Shape 15"/>
          <p:cNvSpPr/>
          <p:nvPr/>
        </p:nvSpPr>
        <p:spPr>
          <a:xfrm>
            <a:off x="6446520" y="1810512"/>
            <a:ext cx="128016" cy="2697480"/>
          </a:xfrm>
          <a:prstGeom prst="rect">
            <a:avLst/>
          </a:prstGeom>
          <a:solidFill>
            <a:srgbClr val="2E7D5B"/>
          </a:solidFill>
          <a:ln w="12700">
            <a:solidFill>
              <a:srgbClr val="2E7D5B"/>
            </a:solidFill>
            <a:prstDash val="solid"/>
          </a:ln>
        </p:spPr>
      </p:sp>
      <p:sp>
        <p:nvSpPr>
          <p:cNvPr id="18" name="Shape 16"/>
          <p:cNvSpPr/>
          <p:nvPr/>
        </p:nvSpPr>
        <p:spPr>
          <a:xfrm>
            <a:off x="6583680" y="1810512"/>
            <a:ext cx="4206240" cy="2697480"/>
          </a:xfrm>
          <a:prstGeom prst="roundRect">
            <a:avLst>
              <a:gd name="adj" fmla="val 2034"/>
            </a:avLst>
          </a:prstGeom>
          <a:solidFill>
            <a:srgbClr val="E9F8F0"/>
          </a:solidFill>
          <a:ln w="10160">
            <a:solidFill>
              <a:srgbClr val="BBDCC9"/>
            </a:solidFill>
            <a:prstDash val="solid"/>
          </a:ln>
        </p:spPr>
      </p:sp>
      <p:sp>
        <p:nvSpPr>
          <p:cNvPr id="19" name="Text 17"/>
          <p:cNvSpPr/>
          <p:nvPr/>
        </p:nvSpPr>
        <p:spPr>
          <a:xfrm>
            <a:off x="6858000" y="2148840"/>
            <a:ext cx="3520440" cy="1828800"/>
          </a:xfrm>
          <a:prstGeom prst="rect">
            <a:avLst/>
          </a:prstGeom>
          <a:noFill/>
          <a:ln/>
        </p:spPr>
        <p:txBody>
          <a:bodyPr wrap="square" lIns="254" tIns="254" rIns="254" bIns="254" rtlCol="0" anchor="t">
            <a:normAutofit/>
          </a:bodyPr>
          <a:lstStyle/>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Morning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Midday follow-up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Afternoon marketing/client update task</a:t>
            </a:r>
            <a:endParaRPr lang="en-US" sz="1500" dirty="0"/>
          </a:p>
          <a:p>
            <a:pPr marL="203200" indent="-203200">
              <a:buSzPct val="100000"/>
              <a:buChar char="•"/>
            </a:pPr>
            <a:r>
              <a:rPr lang="en-US" sz="1500" dirty="0">
                <a:solidFill>
                  <a:srgbClr val="102033"/>
                </a:solidFill>
                <a:latin typeface="Aptos" pitchFamily="34" charset="0"/>
                <a:ea typeface="Aptos" pitchFamily="34" charset="-122"/>
                <a:cs typeface="Aptos" pitchFamily="34" charset="-120"/>
              </a:rPr>
              <a:t>End-of-day CRM or notes task</a:t>
            </a:r>
            <a:endParaRPr lang="en-US" sz="1500" dirty="0"/>
          </a:p>
        </p:txBody>
      </p:sp>
      <p:sp>
        <p:nvSpPr>
          <p:cNvPr id="20" name="Text 18"/>
          <p:cNvSpPr/>
          <p:nvPr/>
        </p:nvSpPr>
        <p:spPr>
          <a:xfrm>
            <a:off x="9738360" y="4069080"/>
            <a:ext cx="731520" cy="201168"/>
          </a:xfrm>
          <a:prstGeom prst="rect">
            <a:avLst/>
          </a:prstGeom>
          <a:noFill/>
          <a:ln/>
        </p:spPr>
        <p:txBody>
          <a:bodyPr wrap="square" lIns="0" tIns="0" rIns="0" bIns="0" rtlCol="0" anchor="ctr"/>
          <a:lstStyle/>
          <a:p>
            <a:pPr indent="0" marL="0">
              <a:buNone/>
            </a:pPr>
            <a:r>
              <a:rPr lang="en-US" sz="950" b="1" dirty="0">
                <a:solidFill>
                  <a:srgbClr val="2E7D5B"/>
                </a:solidFill>
              </a:rPr>
              <a:t>4-6 min</a:t>
            </a:r>
            <a:endParaRPr lang="en-US" sz="950" dirty="0"/>
          </a:p>
        </p:txBody>
      </p:sp>
      <p:sp>
        <p:nvSpPr>
          <p:cNvPr id="21" name="Shape 19"/>
          <p:cNvSpPr/>
          <p:nvPr/>
        </p:nvSpPr>
        <p:spPr>
          <a:xfrm>
            <a:off x="502920" y="6473952"/>
            <a:ext cx="11201400" cy="0"/>
          </a:xfrm>
          <a:prstGeom prst="line">
            <a:avLst/>
          </a:prstGeom>
          <a:noFill/>
          <a:ln w="9525">
            <a:solidFill>
              <a:srgbClr val="D8E6E8"/>
            </a:solidFill>
            <a:prstDash val="solid"/>
          </a:ln>
        </p:spPr>
      </p:sp>
      <p:sp>
        <p:nvSpPr>
          <p:cNvPr id="22" name="Text 2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23" name="Text 2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43/46</a:t>
            </a:r>
            <a:endParaRPr lang="en-US" sz="72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9F8F0"/>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9F8F0"/>
            </a:solidFill>
            <a:prstDash val="solid"/>
          </a:ln>
        </p:spPr>
      </p:sp>
      <p:sp>
        <p:nvSpPr>
          <p:cNvPr id="4" name="Shape 2"/>
          <p:cNvSpPr/>
          <p:nvPr/>
        </p:nvSpPr>
        <p:spPr>
          <a:xfrm>
            <a:off x="9281160" y="493776"/>
            <a:ext cx="219456" cy="155448"/>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73152"/>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14300"/>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55448"/>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STARTER LIBRARY</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Five prompts to save before you leave</a:t>
            </a:r>
            <a:endParaRPr lang="en-US" sz="3000" dirty="0"/>
          </a:p>
        </p:txBody>
      </p:sp>
      <p:sp>
        <p:nvSpPr>
          <p:cNvPr id="11" name="Shape 9"/>
          <p:cNvSpPr/>
          <p:nvPr/>
        </p:nvSpPr>
        <p:spPr>
          <a:xfrm>
            <a:off x="868680" y="1719072"/>
            <a:ext cx="9829800" cy="530352"/>
          </a:xfrm>
          <a:prstGeom prst="roundRect">
            <a:avLst>
              <a:gd name="adj" fmla="val 10345"/>
            </a:avLst>
          </a:prstGeom>
          <a:solidFill>
            <a:srgbClr val="EAF7F7"/>
          </a:solidFill>
          <a:ln w="10160">
            <a:solidFill>
              <a:srgbClr val="B8DDE0"/>
            </a:solidFill>
            <a:prstDash val="solid"/>
          </a:ln>
        </p:spPr>
      </p:sp>
      <p:sp>
        <p:nvSpPr>
          <p:cNvPr id="12" name="Shape 10"/>
          <p:cNvSpPr/>
          <p:nvPr/>
        </p:nvSpPr>
        <p:spPr>
          <a:xfrm>
            <a:off x="1078992" y="1801368"/>
            <a:ext cx="402336" cy="402336"/>
          </a:xfrm>
          <a:prstGeom prst="ellipse">
            <a:avLst/>
          </a:prstGeom>
          <a:solidFill>
            <a:srgbClr val="008F8F"/>
          </a:solidFill>
          <a:ln w="12700">
            <a:solidFill>
              <a:srgbClr val="008F8F"/>
            </a:solidFill>
            <a:prstDash val="solid"/>
          </a:ln>
        </p:spPr>
      </p:sp>
      <p:sp>
        <p:nvSpPr>
          <p:cNvPr id="13" name="Text 11"/>
          <p:cNvSpPr/>
          <p:nvPr/>
        </p:nvSpPr>
        <p:spPr>
          <a:xfrm>
            <a:off x="1078992" y="1892808"/>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4" name="Text 12"/>
          <p:cNvSpPr/>
          <p:nvPr/>
        </p:nvSpPr>
        <p:spPr>
          <a:xfrm>
            <a:off x="1627632" y="1819656"/>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Draft a client message from these notes: [notes]. Make it concise, warm, and specific.</a:t>
            </a:r>
            <a:endParaRPr lang="en-US" sz="1280" dirty="0"/>
          </a:p>
        </p:txBody>
      </p:sp>
      <p:sp>
        <p:nvSpPr>
          <p:cNvPr id="15" name="Shape 13"/>
          <p:cNvSpPr/>
          <p:nvPr/>
        </p:nvSpPr>
        <p:spPr>
          <a:xfrm>
            <a:off x="868680" y="2395728"/>
            <a:ext cx="9829800" cy="530352"/>
          </a:xfrm>
          <a:prstGeom prst="roundRect">
            <a:avLst>
              <a:gd name="adj" fmla="val 10345"/>
            </a:avLst>
          </a:prstGeom>
          <a:solidFill>
            <a:srgbClr val="FFFFFF"/>
          </a:solidFill>
          <a:ln w="10160">
            <a:solidFill>
              <a:srgbClr val="D8E6E8"/>
            </a:solidFill>
            <a:prstDash val="solid"/>
          </a:ln>
        </p:spPr>
      </p:sp>
      <p:sp>
        <p:nvSpPr>
          <p:cNvPr id="16" name="Shape 14"/>
          <p:cNvSpPr/>
          <p:nvPr/>
        </p:nvSpPr>
        <p:spPr>
          <a:xfrm>
            <a:off x="1078992" y="2478024"/>
            <a:ext cx="402336" cy="402336"/>
          </a:xfrm>
          <a:prstGeom prst="ellipse">
            <a:avLst/>
          </a:prstGeom>
          <a:solidFill>
            <a:srgbClr val="2F80ED"/>
          </a:solidFill>
          <a:ln w="12700">
            <a:solidFill>
              <a:srgbClr val="2F80ED"/>
            </a:solidFill>
            <a:prstDash val="solid"/>
          </a:ln>
        </p:spPr>
      </p:sp>
      <p:sp>
        <p:nvSpPr>
          <p:cNvPr id="17" name="Text 15"/>
          <p:cNvSpPr/>
          <p:nvPr/>
        </p:nvSpPr>
        <p:spPr>
          <a:xfrm>
            <a:off x="1078992" y="2569464"/>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8" name="Text 16"/>
          <p:cNvSpPr/>
          <p:nvPr/>
        </p:nvSpPr>
        <p:spPr>
          <a:xfrm>
            <a:off x="1627632" y="2496312"/>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Create three versions of this follow-up: text, email, and voicemail.</a:t>
            </a:r>
            <a:endParaRPr lang="en-US" sz="1280" dirty="0"/>
          </a:p>
        </p:txBody>
      </p:sp>
      <p:sp>
        <p:nvSpPr>
          <p:cNvPr id="19" name="Shape 17"/>
          <p:cNvSpPr/>
          <p:nvPr/>
        </p:nvSpPr>
        <p:spPr>
          <a:xfrm>
            <a:off x="868680" y="3072384"/>
            <a:ext cx="9829800" cy="530352"/>
          </a:xfrm>
          <a:prstGeom prst="roundRect">
            <a:avLst>
              <a:gd name="adj" fmla="val 10345"/>
            </a:avLst>
          </a:prstGeom>
          <a:solidFill>
            <a:srgbClr val="EAF7F7"/>
          </a:solidFill>
          <a:ln w="10160">
            <a:solidFill>
              <a:srgbClr val="B8DDE0"/>
            </a:solidFill>
            <a:prstDash val="solid"/>
          </a:ln>
        </p:spPr>
      </p:sp>
      <p:sp>
        <p:nvSpPr>
          <p:cNvPr id="20" name="Shape 18"/>
          <p:cNvSpPr/>
          <p:nvPr/>
        </p:nvSpPr>
        <p:spPr>
          <a:xfrm>
            <a:off x="1078992" y="3154680"/>
            <a:ext cx="402336" cy="402336"/>
          </a:xfrm>
          <a:prstGeom prst="ellipse">
            <a:avLst/>
          </a:prstGeom>
          <a:solidFill>
            <a:srgbClr val="F45B69"/>
          </a:solidFill>
          <a:ln w="12700">
            <a:solidFill>
              <a:srgbClr val="F45B69"/>
            </a:solidFill>
            <a:prstDash val="solid"/>
          </a:ln>
        </p:spPr>
      </p:sp>
      <p:sp>
        <p:nvSpPr>
          <p:cNvPr id="21" name="Text 19"/>
          <p:cNvSpPr/>
          <p:nvPr/>
        </p:nvSpPr>
        <p:spPr>
          <a:xfrm>
            <a:off x="1078992" y="324612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2" name="Text 20"/>
          <p:cNvSpPr/>
          <p:nvPr/>
        </p:nvSpPr>
        <p:spPr>
          <a:xfrm>
            <a:off x="1627632" y="3172968"/>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Review this message for accuracy, Fair Housing risk, and claims I should verify.</a:t>
            </a:r>
            <a:endParaRPr lang="en-US" sz="1280" dirty="0"/>
          </a:p>
        </p:txBody>
      </p:sp>
      <p:sp>
        <p:nvSpPr>
          <p:cNvPr id="23" name="Shape 21"/>
          <p:cNvSpPr/>
          <p:nvPr/>
        </p:nvSpPr>
        <p:spPr>
          <a:xfrm>
            <a:off x="868680" y="3749040"/>
            <a:ext cx="9829800" cy="530352"/>
          </a:xfrm>
          <a:prstGeom prst="roundRect">
            <a:avLst>
              <a:gd name="adj" fmla="val 10345"/>
            </a:avLst>
          </a:prstGeom>
          <a:solidFill>
            <a:srgbClr val="FFFFFF"/>
          </a:solidFill>
          <a:ln w="10160">
            <a:solidFill>
              <a:srgbClr val="D8E6E8"/>
            </a:solidFill>
            <a:prstDash val="solid"/>
          </a:ln>
        </p:spPr>
      </p:sp>
      <p:sp>
        <p:nvSpPr>
          <p:cNvPr id="24" name="Shape 22"/>
          <p:cNvSpPr/>
          <p:nvPr/>
        </p:nvSpPr>
        <p:spPr>
          <a:xfrm>
            <a:off x="1078992" y="3831336"/>
            <a:ext cx="402336" cy="402336"/>
          </a:xfrm>
          <a:prstGeom prst="ellipse">
            <a:avLst/>
          </a:prstGeom>
          <a:solidFill>
            <a:srgbClr val="2E7D5B"/>
          </a:solidFill>
          <a:ln w="12700">
            <a:solidFill>
              <a:srgbClr val="2E7D5B"/>
            </a:solidFill>
            <a:prstDash val="solid"/>
          </a:ln>
        </p:spPr>
      </p:sp>
      <p:sp>
        <p:nvSpPr>
          <p:cNvPr id="25" name="Text 23"/>
          <p:cNvSpPr/>
          <p:nvPr/>
        </p:nvSpPr>
        <p:spPr>
          <a:xfrm>
            <a:off x="1078992" y="3922776"/>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6" name="Text 24"/>
          <p:cNvSpPr/>
          <p:nvPr/>
        </p:nvSpPr>
        <p:spPr>
          <a:xfrm>
            <a:off x="1627632" y="3849624"/>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Turn these verified listing facts into a listing paragraph, social caption, and open house invite.</a:t>
            </a:r>
            <a:endParaRPr lang="en-US" sz="1280" dirty="0"/>
          </a:p>
        </p:txBody>
      </p:sp>
      <p:sp>
        <p:nvSpPr>
          <p:cNvPr id="27" name="Shape 25"/>
          <p:cNvSpPr/>
          <p:nvPr/>
        </p:nvSpPr>
        <p:spPr>
          <a:xfrm>
            <a:off x="868680" y="4425696"/>
            <a:ext cx="9829800" cy="530352"/>
          </a:xfrm>
          <a:prstGeom prst="roundRect">
            <a:avLst>
              <a:gd name="adj" fmla="val 10345"/>
            </a:avLst>
          </a:prstGeom>
          <a:solidFill>
            <a:srgbClr val="EAF7F7"/>
          </a:solidFill>
          <a:ln w="10160">
            <a:solidFill>
              <a:srgbClr val="B8DDE0"/>
            </a:solidFill>
            <a:prstDash val="solid"/>
          </a:ln>
        </p:spPr>
      </p:sp>
      <p:sp>
        <p:nvSpPr>
          <p:cNvPr id="28" name="Shape 26"/>
          <p:cNvSpPr/>
          <p:nvPr/>
        </p:nvSpPr>
        <p:spPr>
          <a:xfrm>
            <a:off x="1078992" y="4507992"/>
            <a:ext cx="402336" cy="402336"/>
          </a:xfrm>
          <a:prstGeom prst="ellipse">
            <a:avLst/>
          </a:prstGeom>
          <a:solidFill>
            <a:srgbClr val="F2B84B"/>
          </a:solidFill>
          <a:ln w="12700">
            <a:solidFill>
              <a:srgbClr val="F2B84B"/>
            </a:solidFill>
            <a:prstDash val="solid"/>
          </a:ln>
        </p:spPr>
      </p:sp>
      <p:sp>
        <p:nvSpPr>
          <p:cNvPr id="29" name="Text 27"/>
          <p:cNvSpPr/>
          <p:nvPr/>
        </p:nvSpPr>
        <p:spPr>
          <a:xfrm>
            <a:off x="1078992" y="459943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30" name="Text 28"/>
          <p:cNvSpPr/>
          <p:nvPr/>
        </p:nvSpPr>
        <p:spPr>
          <a:xfrm>
            <a:off x="1627632" y="4526280"/>
            <a:ext cx="8549640" cy="256032"/>
          </a:xfrm>
          <a:prstGeom prst="rect">
            <a:avLst/>
          </a:prstGeom>
          <a:noFill/>
          <a:ln/>
        </p:spPr>
        <p:txBody>
          <a:bodyPr wrap="square" lIns="254" tIns="254" rIns="254" bIns="254" rtlCol="0" anchor="ctr">
            <a:normAutofit/>
          </a:bodyPr>
          <a:lstStyle/>
          <a:p>
            <a:pPr indent="0" marL="0">
              <a:buNone/>
            </a:pPr>
            <a:r>
              <a:rPr lang="en-US" sz="1280" dirty="0">
                <a:solidFill>
                  <a:srgbClr val="102033"/>
                </a:solidFill>
              </a:rPr>
              <a:t>Role-play as [buyer/seller type] and help me practice responding professionally.</a:t>
            </a:r>
            <a:endParaRPr lang="en-US" sz="1280" dirty="0"/>
          </a:p>
        </p:txBody>
      </p:sp>
      <p:sp>
        <p:nvSpPr>
          <p:cNvPr id="31" name="Shape 29"/>
          <p:cNvSpPr/>
          <p:nvPr/>
        </p:nvSpPr>
        <p:spPr>
          <a:xfrm>
            <a:off x="502920" y="6473952"/>
            <a:ext cx="11201400" cy="0"/>
          </a:xfrm>
          <a:prstGeom prst="line">
            <a:avLst/>
          </a:prstGeom>
          <a:noFill/>
          <a:ln w="9525">
            <a:solidFill>
              <a:srgbClr val="D8E6E8"/>
            </a:solidFill>
            <a:prstDash val="solid"/>
          </a:ln>
        </p:spPr>
      </p:sp>
      <p:sp>
        <p:nvSpPr>
          <p:cNvPr id="32" name="Text 30"/>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3" name="Text 31"/>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44/46</a:t>
            </a:r>
            <a:endParaRPr lang="en-US" sz="72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EAF7F7"/>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EAF7F7"/>
            </a:solidFill>
            <a:prstDash val="solid"/>
          </a:ln>
        </p:spPr>
      </p:sp>
      <p:sp>
        <p:nvSpPr>
          <p:cNvPr id="4" name="Shape 2"/>
          <p:cNvSpPr/>
          <p:nvPr/>
        </p:nvSpPr>
        <p:spPr>
          <a:xfrm>
            <a:off x="9281160" y="493776"/>
            <a:ext cx="219456" cy="73152"/>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14300"/>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155448"/>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73152"/>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SAVE CONTEXT</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Make the workflow repeatable</a:t>
            </a:r>
            <a:endParaRPr lang="en-US" sz="3000" dirty="0"/>
          </a:p>
        </p:txBody>
      </p:sp>
      <p:sp>
        <p:nvSpPr>
          <p:cNvPr id="11" name="Shape 9"/>
          <p:cNvSpPr/>
          <p:nvPr/>
        </p:nvSpPr>
        <p:spPr>
          <a:xfrm>
            <a:off x="731520" y="2331720"/>
            <a:ext cx="402336" cy="402336"/>
          </a:xfrm>
          <a:prstGeom prst="ellipse">
            <a:avLst/>
          </a:prstGeom>
          <a:solidFill>
            <a:srgbClr val="008F8F"/>
          </a:solidFill>
          <a:ln w="12700">
            <a:solidFill>
              <a:srgbClr val="008F8F"/>
            </a:solidFill>
            <a:prstDash val="solid"/>
          </a:ln>
        </p:spPr>
      </p:sp>
      <p:sp>
        <p:nvSpPr>
          <p:cNvPr id="12" name="Text 10"/>
          <p:cNvSpPr/>
          <p:nvPr/>
        </p:nvSpPr>
        <p:spPr>
          <a:xfrm>
            <a:off x="7315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43000" y="2532888"/>
            <a:ext cx="1115568" cy="0"/>
          </a:xfrm>
          <a:prstGeom prst="line">
            <a:avLst/>
          </a:prstGeom>
          <a:noFill/>
          <a:ln w="17780">
            <a:solidFill>
              <a:srgbClr val="D8E6E8"/>
            </a:solidFill>
            <a:prstDash val="solid"/>
            <a:tailEnd type="triangle"/>
          </a:ln>
        </p:spPr>
      </p:sp>
      <p:sp>
        <p:nvSpPr>
          <p:cNvPr id="14" name="Text 12"/>
          <p:cNvSpPr/>
          <p:nvPr/>
        </p:nvSpPr>
        <p:spPr>
          <a:xfrm>
            <a:off x="5943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the best prompt</a:t>
            </a:r>
            <a:endParaRPr lang="en-US" sz="1180" dirty="0"/>
          </a:p>
        </p:txBody>
      </p:sp>
      <p:sp>
        <p:nvSpPr>
          <p:cNvPr id="15" name="Shape 13"/>
          <p:cNvSpPr/>
          <p:nvPr/>
        </p:nvSpPr>
        <p:spPr>
          <a:xfrm>
            <a:off x="2788920" y="2496312"/>
            <a:ext cx="402336" cy="402336"/>
          </a:xfrm>
          <a:prstGeom prst="ellipse">
            <a:avLst/>
          </a:prstGeom>
          <a:solidFill>
            <a:srgbClr val="2F80ED"/>
          </a:solidFill>
          <a:ln w="12700">
            <a:solidFill>
              <a:srgbClr val="2F80ED"/>
            </a:solidFill>
            <a:prstDash val="solid"/>
          </a:ln>
        </p:spPr>
      </p:sp>
      <p:sp>
        <p:nvSpPr>
          <p:cNvPr id="16" name="Text 14"/>
          <p:cNvSpPr/>
          <p:nvPr/>
        </p:nvSpPr>
        <p:spPr>
          <a:xfrm>
            <a:off x="27889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200400" y="2532888"/>
            <a:ext cx="1115568" cy="0"/>
          </a:xfrm>
          <a:prstGeom prst="line">
            <a:avLst/>
          </a:prstGeom>
          <a:noFill/>
          <a:ln w="17780">
            <a:solidFill>
              <a:srgbClr val="D8E6E8"/>
            </a:solidFill>
            <a:prstDash val="solid"/>
            <a:tailEnd type="triangle"/>
          </a:ln>
        </p:spPr>
      </p:sp>
      <p:sp>
        <p:nvSpPr>
          <p:cNvPr id="18" name="Text 16"/>
          <p:cNvSpPr/>
          <p:nvPr/>
        </p:nvSpPr>
        <p:spPr>
          <a:xfrm>
            <a:off x="26517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the verified fact block</a:t>
            </a:r>
            <a:endParaRPr lang="en-US" sz="1180" dirty="0"/>
          </a:p>
        </p:txBody>
      </p:sp>
      <p:sp>
        <p:nvSpPr>
          <p:cNvPr id="19" name="Shape 17"/>
          <p:cNvSpPr/>
          <p:nvPr/>
        </p:nvSpPr>
        <p:spPr>
          <a:xfrm>
            <a:off x="4846320" y="2331720"/>
            <a:ext cx="402336" cy="402336"/>
          </a:xfrm>
          <a:prstGeom prst="ellipse">
            <a:avLst/>
          </a:prstGeom>
          <a:solidFill>
            <a:srgbClr val="F45B69"/>
          </a:solidFill>
          <a:ln w="12700">
            <a:solidFill>
              <a:srgbClr val="F45B69"/>
            </a:solidFill>
            <a:prstDash val="solid"/>
          </a:ln>
        </p:spPr>
      </p:sp>
      <p:sp>
        <p:nvSpPr>
          <p:cNvPr id="20" name="Text 18"/>
          <p:cNvSpPr/>
          <p:nvPr/>
        </p:nvSpPr>
        <p:spPr>
          <a:xfrm>
            <a:off x="48463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257800" y="2532888"/>
            <a:ext cx="1115568" cy="0"/>
          </a:xfrm>
          <a:prstGeom prst="line">
            <a:avLst/>
          </a:prstGeom>
          <a:noFill/>
          <a:ln w="17780">
            <a:solidFill>
              <a:srgbClr val="D8E6E8"/>
            </a:solidFill>
            <a:prstDash val="solid"/>
            <a:tailEnd type="triangle"/>
          </a:ln>
        </p:spPr>
      </p:sp>
      <p:sp>
        <p:nvSpPr>
          <p:cNvPr id="22" name="Text 20"/>
          <p:cNvSpPr/>
          <p:nvPr/>
        </p:nvSpPr>
        <p:spPr>
          <a:xfrm>
            <a:off x="47091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Save the final reviewed version</a:t>
            </a:r>
            <a:endParaRPr lang="en-US" sz="1180" dirty="0"/>
          </a:p>
        </p:txBody>
      </p:sp>
      <p:sp>
        <p:nvSpPr>
          <p:cNvPr id="23" name="Shape 21"/>
          <p:cNvSpPr/>
          <p:nvPr/>
        </p:nvSpPr>
        <p:spPr>
          <a:xfrm>
            <a:off x="6903720" y="2496312"/>
            <a:ext cx="402336" cy="402336"/>
          </a:xfrm>
          <a:prstGeom prst="ellipse">
            <a:avLst/>
          </a:prstGeom>
          <a:solidFill>
            <a:srgbClr val="2E7D5B"/>
          </a:solidFill>
          <a:ln w="12700">
            <a:solidFill>
              <a:srgbClr val="2E7D5B"/>
            </a:solidFill>
            <a:prstDash val="solid"/>
          </a:ln>
        </p:spPr>
      </p:sp>
      <p:sp>
        <p:nvSpPr>
          <p:cNvPr id="24" name="Text 22"/>
          <p:cNvSpPr/>
          <p:nvPr/>
        </p:nvSpPr>
        <p:spPr>
          <a:xfrm>
            <a:off x="6903720" y="2587752"/>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315200" y="2532888"/>
            <a:ext cx="1115568" cy="0"/>
          </a:xfrm>
          <a:prstGeom prst="line">
            <a:avLst/>
          </a:prstGeom>
          <a:noFill/>
          <a:ln w="17780">
            <a:solidFill>
              <a:srgbClr val="D8E6E8"/>
            </a:solidFill>
            <a:prstDash val="solid"/>
            <a:tailEnd type="triangle"/>
          </a:ln>
        </p:spPr>
      </p:sp>
      <p:sp>
        <p:nvSpPr>
          <p:cNvPr id="26" name="Text 24"/>
          <p:cNvSpPr/>
          <p:nvPr/>
        </p:nvSpPr>
        <p:spPr>
          <a:xfrm>
            <a:off x="67665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Note what worked</a:t>
            </a:r>
            <a:endParaRPr lang="en-US" sz="1180" dirty="0"/>
          </a:p>
        </p:txBody>
      </p:sp>
      <p:sp>
        <p:nvSpPr>
          <p:cNvPr id="27" name="Shape 25"/>
          <p:cNvSpPr/>
          <p:nvPr/>
        </p:nvSpPr>
        <p:spPr>
          <a:xfrm>
            <a:off x="8961120" y="2331720"/>
            <a:ext cx="402336" cy="402336"/>
          </a:xfrm>
          <a:prstGeom prst="ellipse">
            <a:avLst/>
          </a:prstGeom>
          <a:solidFill>
            <a:srgbClr val="F2B84B"/>
          </a:solidFill>
          <a:ln w="12700">
            <a:solidFill>
              <a:srgbClr val="F2B84B"/>
            </a:solidFill>
            <a:prstDash val="solid"/>
          </a:ln>
        </p:spPr>
      </p:sp>
      <p:sp>
        <p:nvSpPr>
          <p:cNvPr id="28" name="Text 26"/>
          <p:cNvSpPr/>
          <p:nvPr/>
        </p:nvSpPr>
        <p:spPr>
          <a:xfrm>
            <a:off x="8961120" y="242316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823960" y="2971800"/>
            <a:ext cx="1417320" cy="640080"/>
          </a:xfrm>
          <a:prstGeom prst="rect">
            <a:avLst/>
          </a:prstGeom>
          <a:noFill/>
          <a:ln/>
        </p:spPr>
        <p:txBody>
          <a:bodyPr wrap="square" lIns="0" tIns="0" rIns="0" bIns="0" rtlCol="0" anchor="ctr">
            <a:normAutofit/>
          </a:bodyPr>
          <a:lstStyle/>
          <a:p>
            <a:pPr algn="ctr" indent="0" marL="0">
              <a:buNone/>
            </a:pPr>
            <a:r>
              <a:rPr lang="en-US" sz="1180" b="1" dirty="0">
                <a:solidFill>
                  <a:srgbClr val="102033"/>
                </a:solidFill>
              </a:rPr>
              <a:t>Reuse as a template next time</a:t>
            </a:r>
            <a:endParaRPr lang="en-US" sz="1180" dirty="0"/>
          </a:p>
        </p:txBody>
      </p:sp>
      <p:sp>
        <p:nvSpPr>
          <p:cNvPr id="30" name="Shape 28"/>
          <p:cNvSpPr/>
          <p:nvPr/>
        </p:nvSpPr>
        <p:spPr>
          <a:xfrm>
            <a:off x="502920" y="6473952"/>
            <a:ext cx="11201400" cy="0"/>
          </a:xfrm>
          <a:prstGeom prst="line">
            <a:avLst/>
          </a:prstGeom>
          <a:noFill/>
          <a:ln w="9525">
            <a:solidFill>
              <a:srgbClr val="D8E6E8"/>
            </a:solidFill>
            <a:prstDash val="solid"/>
          </a:ln>
        </p:spPr>
      </p:sp>
      <p:sp>
        <p:nvSpPr>
          <p:cNvPr id="31" name="Text 29"/>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2" name="Text 30"/>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45/46</a:t>
            </a:r>
            <a:endParaRPr lang="en-US" sz="72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7FAFC"/>
        </a:solidFill>
      </p:bgPr>
    </p:bg>
    <p:spTree>
      <p:nvGrpSpPr>
        <p:cNvPr id="1" name=""/>
        <p:cNvGrpSpPr/>
        <p:nvPr/>
      </p:nvGrpSpPr>
      <p:grpSpPr>
        <a:xfrm>
          <a:off x="0" y="0"/>
          <a:ext cx="0" cy="0"/>
          <a:chOff x="0" y="0"/>
          <a:chExt cx="0" cy="0"/>
        </a:xfrm>
      </p:grpSpPr>
      <p:sp>
        <p:nvSpPr>
          <p:cNvPr id="2" name="Shape 0"/>
          <p:cNvSpPr/>
          <p:nvPr/>
        </p:nvSpPr>
        <p:spPr>
          <a:xfrm>
            <a:off x="9784080" y="-502920"/>
            <a:ext cx="2880360" cy="2880360"/>
          </a:xfrm>
          <a:prstGeom prst="arc">
            <a:avLst/>
          </a:prstGeom>
          <a:solidFill>
            <a:srgbClr val="FFFFFF">
              <a:alpha val="0"/>
            </a:srgbClr>
          </a:solidFill>
          <a:ln w="25400">
            <a:solidFill>
              <a:srgbClr val="FFF4D9"/>
            </a:solidFill>
            <a:prstDash val="solid"/>
          </a:ln>
        </p:spPr>
      </p:sp>
      <p:sp>
        <p:nvSpPr>
          <p:cNvPr id="3" name="Shape 1"/>
          <p:cNvSpPr/>
          <p:nvPr/>
        </p:nvSpPr>
        <p:spPr>
          <a:xfrm>
            <a:off x="-731520" y="5349240"/>
            <a:ext cx="2057400" cy="2057400"/>
          </a:xfrm>
          <a:prstGeom prst="arc">
            <a:avLst/>
          </a:prstGeom>
          <a:solidFill>
            <a:srgbClr val="FFFFFF">
              <a:alpha val="0"/>
            </a:srgbClr>
          </a:solidFill>
          <a:ln w="25400">
            <a:solidFill>
              <a:srgbClr val="FFF4D9"/>
            </a:solidFill>
            <a:prstDash val="solid"/>
          </a:ln>
        </p:spPr>
      </p:sp>
      <p:sp>
        <p:nvSpPr>
          <p:cNvPr id="4" name="Shape 2"/>
          <p:cNvSpPr/>
          <p:nvPr/>
        </p:nvSpPr>
        <p:spPr>
          <a:xfrm>
            <a:off x="9281160" y="493776"/>
            <a:ext cx="219456" cy="114300"/>
          </a:xfrm>
          <a:prstGeom prst="rect">
            <a:avLst/>
          </a:prstGeom>
          <a:solidFill>
            <a:srgbClr val="008F8F">
              <a:alpha val="92000"/>
            </a:srgbClr>
          </a:solidFill>
          <a:ln w="12700">
            <a:solidFill>
              <a:srgbClr val="008F8F">
                <a:alpha val="0"/>
              </a:srgbClr>
            </a:solidFill>
            <a:prstDash val="solid"/>
          </a:ln>
        </p:spPr>
      </p:sp>
      <p:sp>
        <p:nvSpPr>
          <p:cNvPr id="5" name="Shape 3"/>
          <p:cNvSpPr/>
          <p:nvPr/>
        </p:nvSpPr>
        <p:spPr>
          <a:xfrm>
            <a:off x="9628632" y="493776"/>
            <a:ext cx="219456" cy="155448"/>
          </a:xfrm>
          <a:prstGeom prst="rect">
            <a:avLst/>
          </a:prstGeom>
          <a:solidFill>
            <a:srgbClr val="2F80ED">
              <a:alpha val="92000"/>
            </a:srgbClr>
          </a:solidFill>
          <a:ln w="12700">
            <a:solidFill>
              <a:srgbClr val="2F80ED">
                <a:alpha val="0"/>
              </a:srgbClr>
            </a:solidFill>
            <a:prstDash val="solid"/>
          </a:ln>
        </p:spPr>
      </p:sp>
      <p:sp>
        <p:nvSpPr>
          <p:cNvPr id="6" name="Shape 4"/>
          <p:cNvSpPr/>
          <p:nvPr/>
        </p:nvSpPr>
        <p:spPr>
          <a:xfrm>
            <a:off x="9976104" y="493776"/>
            <a:ext cx="219456" cy="73152"/>
          </a:xfrm>
          <a:prstGeom prst="rect">
            <a:avLst/>
          </a:prstGeom>
          <a:solidFill>
            <a:srgbClr val="F45B69">
              <a:alpha val="92000"/>
            </a:srgbClr>
          </a:solidFill>
          <a:ln w="12700">
            <a:solidFill>
              <a:srgbClr val="F45B69">
                <a:alpha val="0"/>
              </a:srgbClr>
            </a:solidFill>
            <a:prstDash val="solid"/>
          </a:ln>
        </p:spPr>
      </p:sp>
      <p:sp>
        <p:nvSpPr>
          <p:cNvPr id="7" name="Shape 5"/>
          <p:cNvSpPr/>
          <p:nvPr/>
        </p:nvSpPr>
        <p:spPr>
          <a:xfrm>
            <a:off x="10323576" y="493776"/>
            <a:ext cx="219456" cy="114300"/>
          </a:xfrm>
          <a:prstGeom prst="rect">
            <a:avLst/>
          </a:prstGeom>
          <a:solidFill>
            <a:srgbClr val="F2B84B">
              <a:alpha val="92000"/>
            </a:srgbClr>
          </a:solidFill>
          <a:ln w="12700">
            <a:solidFill>
              <a:srgbClr val="F2B84B">
                <a:alpha val="0"/>
              </a:srgbClr>
            </a:solidFill>
            <a:prstDash val="solid"/>
          </a:ln>
        </p:spPr>
      </p:sp>
      <p:sp>
        <p:nvSpPr>
          <p:cNvPr id="8" name="Shape 6"/>
          <p:cNvSpPr/>
          <p:nvPr/>
        </p:nvSpPr>
        <p:spPr>
          <a:xfrm>
            <a:off x="658368" y="438912"/>
            <a:ext cx="109728" cy="256032"/>
          </a:xfrm>
          <a:prstGeom prst="rect">
            <a:avLst/>
          </a:prstGeom>
          <a:solidFill>
            <a:srgbClr val="008F8F"/>
          </a:solidFill>
          <a:ln w="12700">
            <a:solidFill>
              <a:srgbClr val="008F8F"/>
            </a:solidFill>
            <a:prstDash val="solid"/>
          </a:ln>
        </p:spPr>
      </p:sp>
      <p:sp>
        <p:nvSpPr>
          <p:cNvPr id="9" name="Text 7"/>
          <p:cNvSpPr/>
          <p:nvPr/>
        </p:nvSpPr>
        <p:spPr>
          <a:xfrm>
            <a:off x="841248" y="429768"/>
            <a:ext cx="4937760" cy="228600"/>
          </a:xfrm>
          <a:prstGeom prst="rect">
            <a:avLst/>
          </a:prstGeom>
          <a:noFill/>
          <a:ln/>
        </p:spPr>
        <p:txBody>
          <a:bodyPr wrap="square" lIns="0" tIns="0" rIns="0" bIns="0" rtlCol="0" anchor="ctr">
            <a:normAutofit/>
          </a:bodyPr>
          <a:lstStyle/>
          <a:p>
            <a:pPr indent="0" marL="0">
              <a:buNone/>
            </a:pPr>
            <a:r>
              <a:rPr lang="en-US" sz="880" b="1" dirty="0">
                <a:solidFill>
                  <a:srgbClr val="008F8F"/>
                </a:solidFill>
                <a:latin typeface="Aptos" pitchFamily="34" charset="0"/>
                <a:ea typeface="Aptos" pitchFamily="34" charset="-122"/>
                <a:cs typeface="Aptos" pitchFamily="34" charset="-120"/>
              </a:rPr>
              <a:t>FINAL ACTION</a:t>
            </a:r>
            <a:endParaRPr lang="en-US" sz="880" dirty="0"/>
          </a:p>
        </p:txBody>
      </p:sp>
      <p:sp>
        <p:nvSpPr>
          <p:cNvPr id="10" name="Text 8"/>
          <p:cNvSpPr/>
          <p:nvPr/>
        </p:nvSpPr>
        <p:spPr>
          <a:xfrm>
            <a:off x="658368" y="786384"/>
            <a:ext cx="10424160" cy="640080"/>
          </a:xfrm>
          <a:prstGeom prst="rect">
            <a:avLst/>
          </a:prstGeom>
          <a:noFill/>
          <a:ln/>
        </p:spPr>
        <p:txBody>
          <a:bodyPr wrap="square" lIns="0" tIns="0" rIns="0" bIns="0" rtlCol="0" anchor="ctr">
            <a:normAutofit/>
          </a:bodyPr>
          <a:lstStyle/>
          <a:p>
            <a:pPr indent="0" marL="0">
              <a:buNone/>
            </a:pPr>
            <a:r>
              <a:rPr lang="en-US" sz="3000" b="1" dirty="0">
                <a:solidFill>
                  <a:srgbClr val="102033"/>
                </a:solidFill>
                <a:latin typeface="Aptos Display" pitchFamily="34" charset="0"/>
                <a:ea typeface="Aptos Display" pitchFamily="34" charset="-122"/>
                <a:cs typeface="Aptos Display" pitchFamily="34" charset="-120"/>
              </a:rPr>
              <a:t>Your one-week implementation plan + contact</a:t>
            </a:r>
            <a:endParaRPr lang="en-US" sz="3000" dirty="0"/>
          </a:p>
        </p:txBody>
      </p:sp>
      <p:sp>
        <p:nvSpPr>
          <p:cNvPr id="11" name="Shape 9"/>
          <p:cNvSpPr/>
          <p:nvPr/>
        </p:nvSpPr>
        <p:spPr>
          <a:xfrm>
            <a:off x="749808" y="2148840"/>
            <a:ext cx="402336" cy="402336"/>
          </a:xfrm>
          <a:prstGeom prst="ellipse">
            <a:avLst/>
          </a:prstGeom>
          <a:solidFill>
            <a:srgbClr val="008F8F"/>
          </a:solidFill>
          <a:ln w="12700">
            <a:solidFill>
              <a:srgbClr val="008F8F"/>
            </a:solidFill>
            <a:prstDash val="solid"/>
          </a:ln>
        </p:spPr>
      </p:sp>
      <p:sp>
        <p:nvSpPr>
          <p:cNvPr id="12" name="Text 10"/>
          <p:cNvSpPr/>
          <p:nvPr/>
        </p:nvSpPr>
        <p:spPr>
          <a:xfrm>
            <a:off x="749808"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1</a:t>
            </a:r>
            <a:endParaRPr lang="en-US" sz="800" dirty="0"/>
          </a:p>
        </p:txBody>
      </p:sp>
      <p:sp>
        <p:nvSpPr>
          <p:cNvPr id="13" name="Shape 11"/>
          <p:cNvSpPr/>
          <p:nvPr/>
        </p:nvSpPr>
        <p:spPr>
          <a:xfrm>
            <a:off x="1161288" y="2350008"/>
            <a:ext cx="1078992" cy="0"/>
          </a:xfrm>
          <a:prstGeom prst="line">
            <a:avLst/>
          </a:prstGeom>
          <a:noFill/>
          <a:ln w="16510">
            <a:solidFill>
              <a:srgbClr val="D8E6E8"/>
            </a:solidFill>
            <a:prstDash val="solid"/>
            <a:tailEnd type="triangle"/>
          </a:ln>
        </p:spPr>
      </p:sp>
      <p:sp>
        <p:nvSpPr>
          <p:cNvPr id="14" name="Text 12"/>
          <p:cNvSpPr/>
          <p:nvPr/>
        </p:nvSpPr>
        <p:spPr>
          <a:xfrm>
            <a:off x="640080"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Choose one workflow</a:t>
            </a:r>
            <a:endParaRPr lang="en-US" sz="1100" dirty="0"/>
          </a:p>
        </p:txBody>
      </p:sp>
      <p:sp>
        <p:nvSpPr>
          <p:cNvPr id="15" name="Shape 13"/>
          <p:cNvSpPr/>
          <p:nvPr/>
        </p:nvSpPr>
        <p:spPr>
          <a:xfrm>
            <a:off x="2743200" y="2148840"/>
            <a:ext cx="402336" cy="402336"/>
          </a:xfrm>
          <a:prstGeom prst="ellipse">
            <a:avLst/>
          </a:prstGeom>
          <a:solidFill>
            <a:srgbClr val="2F80ED"/>
          </a:solidFill>
          <a:ln w="12700">
            <a:solidFill>
              <a:srgbClr val="2F80ED"/>
            </a:solidFill>
            <a:prstDash val="solid"/>
          </a:ln>
        </p:spPr>
      </p:sp>
      <p:sp>
        <p:nvSpPr>
          <p:cNvPr id="16" name="Text 14"/>
          <p:cNvSpPr/>
          <p:nvPr/>
        </p:nvSpPr>
        <p:spPr>
          <a:xfrm>
            <a:off x="2743200"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2</a:t>
            </a:r>
            <a:endParaRPr lang="en-US" sz="800" dirty="0"/>
          </a:p>
        </p:txBody>
      </p:sp>
      <p:sp>
        <p:nvSpPr>
          <p:cNvPr id="17" name="Shape 15"/>
          <p:cNvSpPr/>
          <p:nvPr/>
        </p:nvSpPr>
        <p:spPr>
          <a:xfrm>
            <a:off x="3154680" y="2350008"/>
            <a:ext cx="1078992" cy="0"/>
          </a:xfrm>
          <a:prstGeom prst="line">
            <a:avLst/>
          </a:prstGeom>
          <a:noFill/>
          <a:ln w="16510">
            <a:solidFill>
              <a:srgbClr val="D8E6E8"/>
            </a:solidFill>
            <a:prstDash val="solid"/>
            <a:tailEnd type="triangle"/>
          </a:ln>
        </p:spPr>
      </p:sp>
      <p:sp>
        <p:nvSpPr>
          <p:cNvPr id="18" name="Text 16"/>
          <p:cNvSpPr/>
          <p:nvPr/>
        </p:nvSpPr>
        <p:spPr>
          <a:xfrm>
            <a:off x="2633472"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Write one reusable prompt</a:t>
            </a:r>
            <a:endParaRPr lang="en-US" sz="1100" dirty="0"/>
          </a:p>
        </p:txBody>
      </p:sp>
      <p:sp>
        <p:nvSpPr>
          <p:cNvPr id="19" name="Shape 17"/>
          <p:cNvSpPr/>
          <p:nvPr/>
        </p:nvSpPr>
        <p:spPr>
          <a:xfrm>
            <a:off x="4736592" y="2148840"/>
            <a:ext cx="402336" cy="402336"/>
          </a:xfrm>
          <a:prstGeom prst="ellipse">
            <a:avLst/>
          </a:prstGeom>
          <a:solidFill>
            <a:srgbClr val="F45B69"/>
          </a:solidFill>
          <a:ln w="12700">
            <a:solidFill>
              <a:srgbClr val="F45B69"/>
            </a:solidFill>
            <a:prstDash val="solid"/>
          </a:ln>
        </p:spPr>
      </p:sp>
      <p:sp>
        <p:nvSpPr>
          <p:cNvPr id="20" name="Text 18"/>
          <p:cNvSpPr/>
          <p:nvPr/>
        </p:nvSpPr>
        <p:spPr>
          <a:xfrm>
            <a:off x="4736592"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3</a:t>
            </a:r>
            <a:endParaRPr lang="en-US" sz="800" dirty="0"/>
          </a:p>
        </p:txBody>
      </p:sp>
      <p:sp>
        <p:nvSpPr>
          <p:cNvPr id="21" name="Shape 19"/>
          <p:cNvSpPr/>
          <p:nvPr/>
        </p:nvSpPr>
        <p:spPr>
          <a:xfrm>
            <a:off x="5148072" y="2350008"/>
            <a:ext cx="1078992" cy="0"/>
          </a:xfrm>
          <a:prstGeom prst="line">
            <a:avLst/>
          </a:prstGeom>
          <a:noFill/>
          <a:ln w="16510">
            <a:solidFill>
              <a:srgbClr val="D8E6E8"/>
            </a:solidFill>
            <a:prstDash val="solid"/>
            <a:tailEnd type="triangle"/>
          </a:ln>
        </p:spPr>
      </p:sp>
      <p:sp>
        <p:nvSpPr>
          <p:cNvPr id="22" name="Text 20"/>
          <p:cNvSpPr/>
          <p:nvPr/>
        </p:nvSpPr>
        <p:spPr>
          <a:xfrm>
            <a:off x="4626864"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Use it three times</a:t>
            </a:r>
            <a:endParaRPr lang="en-US" sz="1100" dirty="0"/>
          </a:p>
        </p:txBody>
      </p:sp>
      <p:sp>
        <p:nvSpPr>
          <p:cNvPr id="23" name="Shape 21"/>
          <p:cNvSpPr/>
          <p:nvPr/>
        </p:nvSpPr>
        <p:spPr>
          <a:xfrm>
            <a:off x="6729984" y="2148840"/>
            <a:ext cx="402336" cy="402336"/>
          </a:xfrm>
          <a:prstGeom prst="ellipse">
            <a:avLst/>
          </a:prstGeom>
          <a:solidFill>
            <a:srgbClr val="2E7D5B"/>
          </a:solidFill>
          <a:ln w="12700">
            <a:solidFill>
              <a:srgbClr val="2E7D5B"/>
            </a:solidFill>
            <a:prstDash val="solid"/>
          </a:ln>
        </p:spPr>
      </p:sp>
      <p:sp>
        <p:nvSpPr>
          <p:cNvPr id="24" name="Text 22"/>
          <p:cNvSpPr/>
          <p:nvPr/>
        </p:nvSpPr>
        <p:spPr>
          <a:xfrm>
            <a:off x="6729984"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4</a:t>
            </a:r>
            <a:endParaRPr lang="en-US" sz="800" dirty="0"/>
          </a:p>
        </p:txBody>
      </p:sp>
      <p:sp>
        <p:nvSpPr>
          <p:cNvPr id="25" name="Shape 23"/>
          <p:cNvSpPr/>
          <p:nvPr/>
        </p:nvSpPr>
        <p:spPr>
          <a:xfrm>
            <a:off x="7141464" y="2350008"/>
            <a:ext cx="1078992" cy="0"/>
          </a:xfrm>
          <a:prstGeom prst="line">
            <a:avLst/>
          </a:prstGeom>
          <a:noFill/>
          <a:ln w="16510">
            <a:solidFill>
              <a:srgbClr val="D8E6E8"/>
            </a:solidFill>
            <a:prstDash val="solid"/>
            <a:tailEnd type="triangle"/>
          </a:ln>
        </p:spPr>
      </p:sp>
      <p:sp>
        <p:nvSpPr>
          <p:cNvPr id="26" name="Text 24"/>
          <p:cNvSpPr/>
          <p:nvPr/>
        </p:nvSpPr>
        <p:spPr>
          <a:xfrm>
            <a:off x="6620256"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Save what worked</a:t>
            </a:r>
            <a:endParaRPr lang="en-US" sz="1100" dirty="0"/>
          </a:p>
        </p:txBody>
      </p:sp>
      <p:sp>
        <p:nvSpPr>
          <p:cNvPr id="27" name="Shape 25"/>
          <p:cNvSpPr/>
          <p:nvPr/>
        </p:nvSpPr>
        <p:spPr>
          <a:xfrm>
            <a:off x="8723376" y="2148840"/>
            <a:ext cx="402336" cy="402336"/>
          </a:xfrm>
          <a:prstGeom prst="ellipse">
            <a:avLst/>
          </a:prstGeom>
          <a:solidFill>
            <a:srgbClr val="F2B84B"/>
          </a:solidFill>
          <a:ln w="12700">
            <a:solidFill>
              <a:srgbClr val="F2B84B"/>
            </a:solidFill>
            <a:prstDash val="solid"/>
          </a:ln>
        </p:spPr>
      </p:sp>
      <p:sp>
        <p:nvSpPr>
          <p:cNvPr id="28" name="Text 26"/>
          <p:cNvSpPr/>
          <p:nvPr/>
        </p:nvSpPr>
        <p:spPr>
          <a:xfrm>
            <a:off x="8723376" y="2240280"/>
            <a:ext cx="402336" cy="146304"/>
          </a:xfrm>
          <a:prstGeom prst="rect">
            <a:avLst/>
          </a:prstGeom>
          <a:noFill/>
          <a:ln/>
        </p:spPr>
        <p:txBody>
          <a:bodyPr wrap="square" lIns="0" tIns="0" rIns="0" bIns="0" rtlCol="0" anchor="ctr"/>
          <a:lstStyle/>
          <a:p>
            <a:pPr algn="ctr" indent="0" marL="0">
              <a:buNone/>
            </a:pPr>
            <a:r>
              <a:rPr lang="en-US" sz="800" b="1" dirty="0">
                <a:solidFill>
                  <a:srgbClr val="FFFFFF"/>
                </a:solidFill>
              </a:rPr>
              <a:t>5</a:t>
            </a:r>
            <a:endParaRPr lang="en-US" sz="800" dirty="0"/>
          </a:p>
        </p:txBody>
      </p:sp>
      <p:sp>
        <p:nvSpPr>
          <p:cNvPr id="29" name="Text 27"/>
          <p:cNvSpPr/>
          <p:nvPr/>
        </p:nvSpPr>
        <p:spPr>
          <a:xfrm>
            <a:off x="8613648" y="2761488"/>
            <a:ext cx="1417320" cy="530352"/>
          </a:xfrm>
          <a:prstGeom prst="rect">
            <a:avLst/>
          </a:prstGeom>
          <a:noFill/>
          <a:ln/>
        </p:spPr>
        <p:txBody>
          <a:bodyPr wrap="square" lIns="0" tIns="0" rIns="0" bIns="0" rtlCol="0" anchor="ctr">
            <a:normAutofit/>
          </a:bodyPr>
          <a:lstStyle/>
          <a:p>
            <a:pPr algn="ctr" indent="0" marL="0">
              <a:buNone/>
            </a:pPr>
            <a:r>
              <a:rPr lang="en-US" sz="1100" b="1" dirty="0">
                <a:solidFill>
                  <a:srgbClr val="102033"/>
                </a:solidFill>
              </a:rPr>
              <a:t>Review before using with clients</a:t>
            </a:r>
            <a:endParaRPr lang="en-US" sz="1100" dirty="0"/>
          </a:p>
        </p:txBody>
      </p:sp>
      <p:sp>
        <p:nvSpPr>
          <p:cNvPr id="30" name="Shape 28"/>
          <p:cNvSpPr/>
          <p:nvPr/>
        </p:nvSpPr>
        <p:spPr>
          <a:xfrm>
            <a:off x="841248" y="3977640"/>
            <a:ext cx="9829800" cy="1024128"/>
          </a:xfrm>
          <a:prstGeom prst="roundRect">
            <a:avLst>
              <a:gd name="adj" fmla="val 5357"/>
            </a:avLst>
          </a:prstGeom>
          <a:solidFill>
            <a:srgbClr val="FFFFFF"/>
          </a:solidFill>
          <a:ln w="10160">
            <a:solidFill>
              <a:srgbClr val="C9DFE5"/>
            </a:solidFill>
            <a:prstDash val="solid"/>
          </a:ln>
        </p:spPr>
      </p:sp>
      <p:sp>
        <p:nvSpPr>
          <p:cNvPr id="31" name="Text 29"/>
          <p:cNvSpPr/>
          <p:nvPr/>
        </p:nvSpPr>
        <p:spPr>
          <a:xfrm>
            <a:off x="1115568" y="4187952"/>
            <a:ext cx="3246120" cy="182880"/>
          </a:xfrm>
          <a:prstGeom prst="rect">
            <a:avLst/>
          </a:prstGeom>
          <a:noFill/>
          <a:ln/>
        </p:spPr>
        <p:txBody>
          <a:bodyPr wrap="square" lIns="0" tIns="0" rIns="0" bIns="0" rtlCol="0" anchor="ctr"/>
          <a:lstStyle/>
          <a:p>
            <a:pPr indent="0" marL="0">
              <a:buNone/>
            </a:pPr>
            <a:r>
              <a:rPr lang="en-US" sz="1180" b="1" dirty="0">
                <a:solidFill>
                  <a:srgbClr val="16324F"/>
                </a:solidFill>
              </a:rPr>
              <a:t>Presented by Ian Burton Price</a:t>
            </a:r>
            <a:endParaRPr lang="en-US" sz="1180" dirty="0"/>
          </a:p>
        </p:txBody>
      </p:sp>
      <p:sp>
        <p:nvSpPr>
          <p:cNvPr id="32" name="Text 30"/>
          <p:cNvSpPr/>
          <p:nvPr/>
        </p:nvSpPr>
        <p:spPr>
          <a:xfrm>
            <a:off x="1115568" y="4462272"/>
            <a:ext cx="4206240" cy="329184"/>
          </a:xfrm>
          <a:prstGeom prst="rect">
            <a:avLst/>
          </a:prstGeom>
          <a:noFill/>
          <a:ln/>
        </p:spPr>
        <p:txBody>
          <a:bodyPr wrap="square" lIns="0" tIns="0" rIns="0" bIns="0" rtlCol="0" anchor="ctr">
            <a:normAutofit/>
          </a:bodyPr>
          <a:lstStyle/>
          <a:p>
            <a:pPr indent="0" marL="0">
              <a:buNone/>
            </a:pPr>
            <a:r>
              <a:rPr lang="en-US" sz="980" dirty="0">
                <a:solidFill>
                  <a:srgbClr val="52606D"/>
                </a:solidFill>
              </a:rPr>
              <a:t>REALTOR® | Dalton Wade Real Estate Group</a:t>
            </a:r>
            <a:endParaRPr lang="en-US" sz="980" dirty="0"/>
          </a:p>
          <a:p>
            <a:pPr indent="0" marL="0">
              <a:buNone/>
            </a:pPr>
            <a:r>
              <a:rPr lang="en-US" sz="980" dirty="0">
                <a:solidFill>
                  <a:srgbClr val="52606D"/>
                </a:solidFill>
              </a:rPr>
              <a:t>V.P. of Growth and Partnerships | GoHouse.ai</a:t>
            </a:r>
            <a:endParaRPr lang="en-US" sz="980" dirty="0"/>
          </a:p>
        </p:txBody>
      </p:sp>
      <p:pic>
        <p:nvPicPr>
          <p:cNvPr id="33" name="Image 0" descr="C:\Users\TR4_1950X\Documents\New project\assets\brand\gohouse-logo-w-text-large-transparent.png">    </p:cNvPr>
          <p:cNvPicPr>
            <a:picLocks noChangeAspect="1"/>
          </p:cNvPicPr>
          <p:nvPr/>
        </p:nvPicPr>
        <p:blipFill>
          <a:blip r:embed="rId1"/>
          <a:stretch>
            <a:fillRect/>
          </a:stretch>
        </p:blipFill>
        <p:spPr>
          <a:xfrm>
            <a:off x="7909560" y="4297680"/>
            <a:ext cx="1965960" cy="393192"/>
          </a:xfrm>
          <a:prstGeom prst="rect">
            <a:avLst/>
          </a:prstGeom>
        </p:spPr>
      </p:pic>
      <p:sp>
        <p:nvSpPr>
          <p:cNvPr id="34" name="Shape 31"/>
          <p:cNvSpPr/>
          <p:nvPr/>
        </p:nvSpPr>
        <p:spPr>
          <a:xfrm>
            <a:off x="502920" y="6473952"/>
            <a:ext cx="11201400" cy="0"/>
          </a:xfrm>
          <a:prstGeom prst="line">
            <a:avLst/>
          </a:prstGeom>
          <a:noFill/>
          <a:ln w="9525">
            <a:solidFill>
              <a:srgbClr val="D8E6E8"/>
            </a:solidFill>
            <a:prstDash val="solid"/>
          </a:ln>
        </p:spPr>
      </p:sp>
      <p:sp>
        <p:nvSpPr>
          <p:cNvPr id="35" name="Text 32"/>
          <p:cNvSpPr/>
          <p:nvPr/>
        </p:nvSpPr>
        <p:spPr>
          <a:xfrm>
            <a:off x="502920" y="6565392"/>
            <a:ext cx="7132320" cy="164592"/>
          </a:xfrm>
          <a:prstGeom prst="rect">
            <a:avLst/>
          </a:prstGeom>
          <a:noFill/>
          <a:ln/>
        </p:spPr>
        <p:txBody>
          <a:bodyPr wrap="square" lIns="0" tIns="0" rIns="0" bIns="0" rtlCol="0" anchor="ctr"/>
          <a:lstStyle/>
          <a:p>
            <a:pPr indent="0" marL="0">
              <a:buNone/>
            </a:pPr>
            <a:r>
              <a:rPr lang="en-US" sz="720" dirty="0">
                <a:solidFill>
                  <a:srgbClr val="52606D"/>
                </a:solidFill>
                <a:latin typeface="Aptos" pitchFamily="34" charset="0"/>
                <a:ea typeface="Aptos" pitchFamily="34" charset="-122"/>
                <a:cs typeface="Aptos" pitchFamily="34" charset="-120"/>
              </a:rPr>
              <a:t>Approved REALTOR® education course | MIAMI REALTORS® + RWorld members</a:t>
            </a:r>
            <a:endParaRPr lang="en-US" sz="720" dirty="0"/>
          </a:p>
        </p:txBody>
      </p:sp>
      <p:sp>
        <p:nvSpPr>
          <p:cNvPr id="36" name="Text 33"/>
          <p:cNvSpPr/>
          <p:nvPr/>
        </p:nvSpPr>
        <p:spPr>
          <a:xfrm>
            <a:off x="10927080" y="6565392"/>
            <a:ext cx="731520" cy="164592"/>
          </a:xfrm>
          <a:prstGeom prst="rect">
            <a:avLst/>
          </a:prstGeom>
          <a:noFill/>
          <a:ln/>
        </p:spPr>
        <p:txBody>
          <a:bodyPr wrap="square" lIns="0" tIns="0" rIns="0" bIns="0" rtlCol="0" anchor="ctr"/>
          <a:lstStyle/>
          <a:p>
            <a:pPr algn="r" indent="0" marL="0">
              <a:buNone/>
            </a:pPr>
            <a:r>
              <a:rPr lang="en-US" sz="720" dirty="0">
                <a:solidFill>
                  <a:srgbClr val="52606D"/>
                </a:solidFill>
                <a:latin typeface="Aptos" pitchFamily="34" charset="0"/>
                <a:ea typeface="Aptos" pitchFamily="34" charset="-122"/>
                <a:cs typeface="Aptos" pitchFamily="34" charset="-120"/>
              </a:rPr>
              <a:t>46/46</a:t>
            </a:r>
            <a:endParaRPr lang="en-US" sz="7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MIAMI REALTORS + RWorld education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AI for Real Estate Sales: From Confusion to Daily Use</dc:title>
  <dc:subject>AI for Real Estate Sales approved REALTOR education course</dc:subject>
  <dc:creator>Ian Burton Price</dc:creator>
  <cp:lastModifiedBy>Ian Burton Price</cp:lastModifiedBy>
  <cp:revision>1</cp:revision>
  <dcterms:created xsi:type="dcterms:W3CDTF">2026-06-05T14:56:03Z</dcterms:created>
  <dcterms:modified xsi:type="dcterms:W3CDTF">2026-06-05T14:56:03Z</dcterms:modified>
</cp:coreProperties>
</file>