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attendees. Set expectations: practical, non-technical, compliance-aware.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bio brief. Keep company context minimal and educational. Do not turn this into a product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course as a confidence-builder for busy professionals.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objectives are preserved from the approved syllabus.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to manage pacing. Exercises may expand or compress.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to texts, emails, listing notes, showing feedback, and CRM updates.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a vague social post prompt with a repeatable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attendees to write down one task for later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AI predicts useful language; it does not verify your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review lens throughout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 protected-class implications, school claims, and subjective neighborhood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the prompt provides facts, tone, constraints, and review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this formula repeatedly.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empathy, value, and easy next question. Avoid lender-specific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no panic, no blame, no invented stats.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phrase "just checking in" is the teaching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attendees to save prompts that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examples: portal, IDX, open house, valuation lead, old database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imply AI should auto-send without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that availability must be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attendees work in pairs or individually.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measurement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Warn against asking AI to invent descriptions from an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useful copy without protected-class or exaggerated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AI saves time across repeated formats.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attendees that MLS, brokerage, and advertising rules still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preparation and clarity, not replacing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identify better language for pricing conversations.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rate predictions and financial advice. Suggest lender involvement for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exercise creates a usable takeaway.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repeated usage beats one dramatic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 compliance reminder slide. Avoid legal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course as serious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attendees to write one workflow they will actually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attendees to customize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slide. Keep it actionable.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attendee to choose one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attendees to authoritative sources and broker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cleanly. Invite final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remaining time for questions, examples, and follow-up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6324F"/>
          </a:solidFill>
          <a:ln w="12700">
            <a:solidFill>
              <a:srgbClr val="16324F"/>
            </a:solidFill>
            <a:prstDash val="solid"/>
          </a:ln>
        </p:spPr>
      </p:sp>
      <p:sp>
        <p:nvSpPr>
          <p:cNvPr id="3" name="Shape 1"/>
          <p:cNvSpPr/>
          <p:nvPr/>
        </p:nvSpPr>
        <p:spPr>
          <a:xfrm>
            <a:off x="7955280" y="-502920"/>
            <a:ext cx="4389120" cy="4389120"/>
          </a:xfrm>
          <a:prstGeom prst="arc">
            <a:avLst/>
          </a:prstGeom>
          <a:solidFill>
            <a:srgbClr val="16324F">
              <a:alpha val="0"/>
            </a:srgbClr>
          </a:solidFill>
          <a:ln w="25400">
            <a:solidFill>
              <a:srgbClr val="5FBDBD">
                <a:alpha val="80000"/>
              </a:srgbClr>
            </a:solidFill>
            <a:prstDash val="solid"/>
          </a:ln>
        </p:spPr>
      </p:sp>
      <p:sp>
        <p:nvSpPr>
          <p:cNvPr id="4" name="Shape 2"/>
          <p:cNvSpPr/>
          <p:nvPr/>
        </p:nvSpPr>
        <p:spPr>
          <a:xfrm>
            <a:off x="10826496" y="0"/>
            <a:ext cx="201168" cy="6858000"/>
          </a:xfrm>
          <a:prstGeom prst="rect">
            <a:avLst/>
          </a:prstGeom>
          <a:solidFill>
            <a:srgbClr val="008F8F">
              <a:alpha val="75000"/>
            </a:srgbClr>
          </a:solidFill>
          <a:ln w="12700">
            <a:solidFill>
              <a:srgbClr val="008F8F">
                <a:alpha val="0"/>
              </a:srgbClr>
            </a:solidFill>
            <a:prstDash val="solid"/>
          </a:ln>
        </p:spPr>
      </p:sp>
      <p:sp>
        <p:nvSpPr>
          <p:cNvPr id="5" name="Shape 3"/>
          <p:cNvSpPr/>
          <p:nvPr/>
        </p:nvSpPr>
        <p:spPr>
          <a:xfrm>
            <a:off x="11082528" y="0"/>
            <a:ext cx="91440" cy="6858000"/>
          </a:xfrm>
          <a:prstGeom prst="rect">
            <a:avLst/>
          </a:prstGeom>
          <a:solidFill>
            <a:srgbClr val="F2B84B">
              <a:alpha val="88000"/>
            </a:srgbClr>
          </a:solidFill>
          <a:ln w="12700">
            <a:solidFill>
              <a:srgbClr val="F2B84B">
                <a:alpha val="0"/>
              </a:srgbClr>
            </a:solidFill>
            <a:prstDash val="solid"/>
          </a:ln>
        </p:spPr>
      </p:sp>
      <p:sp>
        <p:nvSpPr>
          <p:cNvPr id="6" name="Text 4"/>
          <p:cNvSpPr/>
          <p:nvPr/>
        </p:nvSpPr>
        <p:spPr>
          <a:xfrm>
            <a:off x="7315200" y="2788920"/>
            <a:ext cx="3931920" cy="1097280"/>
          </a:xfrm>
          <a:prstGeom prst="rect">
            <a:avLst/>
          </a:prstGeom>
          <a:noFill/>
          <a:ln/>
        </p:spPr>
        <p:txBody>
          <a:bodyPr wrap="square" lIns="0" tIns="0" rIns="0" bIns="0" rtlCol="0" anchor="ctr">
            <a:normAutofit/>
          </a:bodyPr>
          <a:lstStyle/>
          <a:p>
            <a:pPr indent="0" marL="0">
              <a:buNone/>
            </a:pPr>
            <a:r>
              <a:rPr lang="en-US" sz="10800" b="1" dirty="0">
                <a:solidFill>
                  <a:srgbClr val="254B6B"/>
                </a:solidFill>
                <a:latin typeface="Aptos Display" pitchFamily="34" charset="0"/>
                <a:ea typeface="Aptos Display" pitchFamily="34" charset="-122"/>
                <a:cs typeface="Aptos Display" pitchFamily="34" charset="-120"/>
              </a:rPr>
              <a:t>AI</a:t>
            </a:r>
            <a:endParaRPr lang="en-US" sz="10800" dirty="0"/>
          </a:p>
        </p:txBody>
      </p:sp>
      <p:sp>
        <p:nvSpPr>
          <p:cNvPr id="7" name="Text 5"/>
          <p:cNvSpPr/>
          <p:nvPr/>
        </p:nvSpPr>
        <p:spPr>
          <a:xfrm>
            <a:off x="731520" y="685800"/>
            <a:ext cx="6217920" cy="228600"/>
          </a:xfrm>
          <a:prstGeom prst="rect">
            <a:avLst/>
          </a:prstGeom>
          <a:noFill/>
          <a:ln/>
        </p:spPr>
        <p:txBody>
          <a:bodyPr wrap="square" lIns="0" tIns="0" rIns="0" bIns="0" rtlCol="0" anchor="ctr"/>
          <a:lstStyle/>
          <a:p>
            <a:pPr indent="0" marL="0">
              <a:buNone/>
            </a:pPr>
            <a:r>
              <a:rPr lang="en-US" sz="1050" b="1" dirty="0">
                <a:solidFill>
                  <a:srgbClr val="F2B84B"/>
                </a:solidFill>
              </a:rPr>
              <a:t>APPROVED REALTOR EDUCATION COURSE</a:t>
            </a:r>
            <a:endParaRPr lang="en-US" sz="1050" dirty="0"/>
          </a:p>
        </p:txBody>
      </p:sp>
      <p:sp>
        <p:nvSpPr>
          <p:cNvPr id="8" name="Text 6"/>
          <p:cNvSpPr/>
          <p:nvPr/>
        </p:nvSpPr>
        <p:spPr>
          <a:xfrm>
            <a:off x="713232" y="1508760"/>
            <a:ext cx="8961120" cy="77724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Aptos Display" pitchFamily="34" charset="0"/>
                <a:ea typeface="Aptos Display" pitchFamily="34" charset="-122"/>
                <a:cs typeface="Aptos Display" pitchFamily="34" charset="-120"/>
              </a:rPr>
              <a:t>AI for Real Estate Sales</a:t>
            </a:r>
            <a:endParaRPr lang="en-US" sz="4200" dirty="0"/>
          </a:p>
        </p:txBody>
      </p:sp>
      <p:sp>
        <p:nvSpPr>
          <p:cNvPr id="9" name="Text 7"/>
          <p:cNvSpPr/>
          <p:nvPr/>
        </p:nvSpPr>
        <p:spPr>
          <a:xfrm>
            <a:off x="749808" y="2340864"/>
            <a:ext cx="7955280" cy="411480"/>
          </a:xfrm>
          <a:prstGeom prst="rect">
            <a:avLst/>
          </a:prstGeom>
          <a:noFill/>
          <a:ln/>
        </p:spPr>
        <p:txBody>
          <a:bodyPr wrap="square" lIns="0" tIns="0" rIns="0" bIns="0" rtlCol="0" anchor="ctr"/>
          <a:lstStyle/>
          <a:p>
            <a:pPr indent="0" marL="0">
              <a:buNone/>
            </a:pPr>
            <a:r>
              <a:rPr lang="en-US" sz="2200" dirty="0">
                <a:solidFill>
                  <a:srgbClr val="D7EDEE"/>
                </a:solidFill>
              </a:rPr>
              <a:t>From Confusion to Daily Use</a:t>
            </a:r>
            <a:endParaRPr lang="en-US" sz="2200" dirty="0"/>
          </a:p>
        </p:txBody>
      </p:sp>
      <p:sp>
        <p:nvSpPr>
          <p:cNvPr id="10" name="Shape 8"/>
          <p:cNvSpPr/>
          <p:nvPr/>
        </p:nvSpPr>
        <p:spPr>
          <a:xfrm>
            <a:off x="749808" y="3054096"/>
            <a:ext cx="2011680" cy="0"/>
          </a:xfrm>
          <a:prstGeom prst="line">
            <a:avLst/>
          </a:prstGeom>
          <a:noFill/>
          <a:ln w="50800">
            <a:solidFill>
              <a:srgbClr val="F45B69"/>
            </a:solidFill>
            <a:prstDash val="solid"/>
          </a:ln>
        </p:spPr>
      </p:sp>
      <p:sp>
        <p:nvSpPr>
          <p:cNvPr id="11" name="Shape 9"/>
          <p:cNvSpPr/>
          <p:nvPr/>
        </p:nvSpPr>
        <p:spPr>
          <a:xfrm>
            <a:off x="749808" y="3364992"/>
            <a:ext cx="1572768" cy="310896"/>
          </a:xfrm>
          <a:prstGeom prst="roundRect">
            <a:avLst>
              <a:gd name="adj" fmla="val 11765"/>
            </a:avLst>
          </a:prstGeom>
          <a:solidFill>
            <a:srgbClr val="008F8F"/>
          </a:solidFill>
          <a:ln w="12700">
            <a:solidFill>
              <a:srgbClr val="008F8F"/>
            </a:solidFill>
            <a:prstDash val="solid"/>
          </a:ln>
        </p:spPr>
      </p:sp>
      <p:sp>
        <p:nvSpPr>
          <p:cNvPr id="12" name="Text 10"/>
          <p:cNvSpPr/>
          <p:nvPr/>
        </p:nvSpPr>
        <p:spPr>
          <a:xfrm>
            <a:off x="877824" y="3451860"/>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LIVE WORKSHOP</a:t>
            </a:r>
            <a:endParaRPr lang="en-US" sz="720" dirty="0"/>
          </a:p>
        </p:txBody>
      </p:sp>
      <p:sp>
        <p:nvSpPr>
          <p:cNvPr id="13" name="Shape 11"/>
          <p:cNvSpPr/>
          <p:nvPr/>
        </p:nvSpPr>
        <p:spPr>
          <a:xfrm>
            <a:off x="603504" y="4206240"/>
            <a:ext cx="4281587" cy="819302"/>
          </a:xfrm>
          <a:prstGeom prst="roundRect">
            <a:avLst>
              <a:gd name="adj" fmla="val 4464"/>
            </a:avLst>
          </a:prstGeom>
          <a:solidFill>
            <a:srgbClr val="FFFFFF">
              <a:alpha val="97000"/>
            </a:srgbClr>
          </a:solidFill>
          <a:ln w="7620">
            <a:solidFill>
              <a:srgbClr val="D7E4EA">
                <a:alpha val="75000"/>
              </a:srgbClr>
            </a:solidFill>
            <a:prstDash val="solid"/>
          </a:ln>
        </p:spPr>
      </p:sp>
      <p:pic>
        <p:nvPicPr>
          <p:cNvPr id="14" name="Image 0" descr="C:\Users\TR4_1950X\Documents\New project\assets\brand\miami-realtors-rworld-combined-logo.png">    </p:cNvPr>
          <p:cNvPicPr>
            <a:picLocks noChangeAspect="1"/>
          </p:cNvPicPr>
          <p:nvPr/>
        </p:nvPicPr>
        <p:blipFill>
          <a:blip r:embed="rId1"/>
          <a:stretch>
            <a:fillRect/>
          </a:stretch>
        </p:blipFill>
        <p:spPr>
          <a:xfrm>
            <a:off x="749808" y="4315968"/>
            <a:ext cx="3988979" cy="599846"/>
          </a:xfrm>
          <a:prstGeom prst="rect">
            <a:avLst/>
          </a:prstGeom>
        </p:spPr>
      </p:pic>
      <p:sp>
        <p:nvSpPr>
          <p:cNvPr id="15" name="Text 12"/>
          <p:cNvSpPr/>
          <p:nvPr/>
        </p:nvSpPr>
        <p:spPr>
          <a:xfrm>
            <a:off x="749808" y="5440680"/>
            <a:ext cx="6217920" cy="256032"/>
          </a:xfrm>
          <a:prstGeom prst="rect">
            <a:avLst/>
          </a:prstGeom>
          <a:noFill/>
          <a:ln/>
        </p:spPr>
        <p:txBody>
          <a:bodyPr wrap="square" lIns="0" tIns="0" rIns="0" bIns="0" rtlCol="0" anchor="ctr"/>
          <a:lstStyle/>
          <a:p>
            <a:pPr indent="0" marL="0">
              <a:buNone/>
            </a:pPr>
            <a:r>
              <a:rPr lang="en-US" sz="1200" dirty="0">
                <a:solidFill>
                  <a:srgbClr val="D7EDEE"/>
                </a:solidFill>
              </a:rPr>
              <a:t>For MIAMI REALTORS + RWorld members</a:t>
            </a:r>
            <a:endParaRPr lang="en-US" sz="1200" dirty="0"/>
          </a:p>
        </p:txBody>
      </p:sp>
      <p:sp>
        <p:nvSpPr>
          <p:cNvPr id="16" name="Text 13"/>
          <p:cNvSpPr/>
          <p:nvPr/>
        </p:nvSpPr>
        <p:spPr>
          <a:xfrm>
            <a:off x="749808" y="5760720"/>
            <a:ext cx="4389120" cy="201168"/>
          </a:xfrm>
          <a:prstGeom prst="rect">
            <a:avLst/>
          </a:prstGeom>
          <a:noFill/>
          <a:ln/>
        </p:spPr>
        <p:txBody>
          <a:bodyPr wrap="square" lIns="0" tIns="0" rIns="0" bIns="0" rtlCol="0" anchor="ctr"/>
          <a:lstStyle/>
          <a:p>
            <a:pPr indent="0" marL="0">
              <a:buNone/>
            </a:pPr>
            <a:r>
              <a:rPr lang="en-US" sz="950" dirty="0">
                <a:solidFill>
                  <a:srgbClr val="AFC8CF"/>
                </a:solidFill>
              </a:rPr>
              <a:t>Instructor-ready live training deck</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INSTRUCTOR</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Today is about workflows, not software demos</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Instructor: Ian Burton Price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Real estate technology, online lead workflows, and practical AI adoption</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Focus: usable sales communication, follow-up, listing prep, and daily productivity</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Questions are welcome throughout the class</a:t>
            </a:r>
            <a:endParaRPr lang="en-US" sz="165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F5C8C5"/>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Make it usable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Turn each example into one repeatable workflow you can use this week.</a:t>
            </a:r>
            <a:endParaRPr lang="en-US" sz="1220" dirty="0"/>
          </a:p>
        </p:txBody>
      </p:sp>
      <p:sp>
        <p:nvSpPr>
          <p:cNvPr id="16" name="Shape 14"/>
          <p:cNvSpPr/>
          <p:nvPr/>
        </p:nvSpPr>
        <p:spPr>
          <a:xfrm>
            <a:off x="7882128" y="4160520"/>
            <a:ext cx="1097280" cy="0"/>
          </a:xfrm>
          <a:prstGeom prst="line">
            <a:avLst/>
          </a:prstGeom>
          <a:noFill/>
          <a:ln w="38100">
            <a:solidFill>
              <a:srgbClr val="F45B69"/>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2/48</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COURSE PROMISE</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By the end, AI should feel usable in your normal sales day</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Draft clearer client messages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Follow up with more consistency</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Prepare for buyer and seller conversations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Create listing and marketing drafts faster</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 AI with privacy, Fair Housing, and professional review in mind</a:t>
            </a:r>
            <a:endParaRPr lang="en-US" sz="1650" dirty="0"/>
          </a:p>
        </p:txBody>
      </p:sp>
      <p:sp>
        <p:nvSpPr>
          <p:cNvPr id="12" name="Shape 10"/>
          <p:cNvSpPr/>
          <p:nvPr/>
        </p:nvSpPr>
        <p:spPr>
          <a:xfrm>
            <a:off x="7479792" y="1737360"/>
            <a:ext cx="91440" cy="2971800"/>
          </a:xfrm>
          <a:prstGeom prst="rect">
            <a:avLst/>
          </a:prstGeom>
          <a:solidFill>
            <a:srgbClr val="F2B84B"/>
          </a:solidFill>
          <a:ln w="12700">
            <a:solidFill>
              <a:srgbClr val="F2B84B"/>
            </a:solidFill>
            <a:prstDash val="solid"/>
          </a:ln>
        </p:spPr>
      </p:sp>
      <p:sp>
        <p:nvSpPr>
          <p:cNvPr id="13" name="Shape 11"/>
          <p:cNvSpPr/>
          <p:nvPr/>
        </p:nvSpPr>
        <p:spPr>
          <a:xfrm>
            <a:off x="7607808" y="1828800"/>
            <a:ext cx="3246120" cy="2788920"/>
          </a:xfrm>
          <a:prstGeom prst="roundRect">
            <a:avLst>
              <a:gd name="adj" fmla="val 1967"/>
            </a:avLst>
          </a:prstGeom>
          <a:solidFill>
            <a:srgbClr val="F0F3F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Use it where work repeats</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Start with messages, notes, follow-up, and prep before chasing new tools.</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3/48</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APPROVED OBJECTIVES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Approved learning objectives</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440" dirty="0">
                <a:solidFill>
                  <a:srgbClr val="102033"/>
                </a:solidFill>
                <a:latin typeface="Aptos" pitchFamily="34" charset="0"/>
                <a:ea typeface="Aptos" pitchFamily="34" charset="-122"/>
                <a:cs typeface="Aptos" pitchFamily="34" charset="-120"/>
              </a:rPr>
              <a:t>Explain what AI can and cannot do in a real estate sales environment</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Use AI to draft emails, text messages, listing copy, and client updates</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Personalize buyer and seller communication with better context</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Prepare for appointments, objections, and follow-up conversations</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Build a simple daily AI workflow for productivity and consistency</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Identify basic risks involving accuracy, privacy, Fair Housing, and overreliance</a:t>
            </a:r>
            <a:endParaRPr lang="en-US" sz="1440" dirty="0"/>
          </a:p>
        </p:txBody>
      </p:sp>
      <p:sp>
        <p:nvSpPr>
          <p:cNvPr id="12" name="Shape 10"/>
          <p:cNvSpPr/>
          <p:nvPr/>
        </p:nvSpPr>
        <p:spPr>
          <a:xfrm>
            <a:off x="7479792" y="1737360"/>
            <a:ext cx="91440" cy="2971800"/>
          </a:xfrm>
          <a:prstGeom prst="rect">
            <a:avLst/>
          </a:prstGeom>
          <a:solidFill>
            <a:srgbClr val="2E7D5B"/>
          </a:solidFill>
          <a:ln w="12700">
            <a:solidFill>
              <a:srgbClr val="2E7D5B"/>
            </a:solidFill>
            <a:prstDash val="solid"/>
          </a:ln>
        </p:spPr>
      </p:sp>
      <p:sp>
        <p:nvSpPr>
          <p:cNvPr id="13" name="Shape 11"/>
          <p:cNvSpPr/>
          <p:nvPr/>
        </p:nvSpPr>
        <p:spPr>
          <a:xfrm>
            <a:off x="7607808" y="1828800"/>
            <a:ext cx="3246120" cy="2788920"/>
          </a:xfrm>
          <a:prstGeom prst="roundRect">
            <a:avLst>
              <a:gd name="adj" fmla="val 1967"/>
            </a:avLst>
          </a:prstGeom>
          <a:solidFill>
            <a:srgbClr val="E9F8F0"/>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What this class builds</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A practical AI workflow for real estate sales, not a technical certification.</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4/48</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SESSION MAP</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The two-hour path</a:t>
            </a:r>
            <a:endParaRPr lang="en-US" sz="2800" dirty="0"/>
          </a:p>
        </p:txBody>
      </p:sp>
      <p:sp>
        <p:nvSpPr>
          <p:cNvPr id="11" name="Text 9"/>
          <p:cNvSpPr/>
          <p:nvPr/>
        </p:nvSpPr>
        <p:spPr>
          <a:xfrm>
            <a:off x="786384" y="1444752"/>
            <a:ext cx="4297680" cy="201168"/>
          </a:xfrm>
          <a:prstGeom prst="rect">
            <a:avLst/>
          </a:prstGeom>
          <a:noFill/>
          <a:ln/>
        </p:spPr>
        <p:txBody>
          <a:bodyPr wrap="square" lIns="0" tIns="0" rIns="0" bIns="0" rtlCol="0" anchor="ctr"/>
          <a:lstStyle/>
          <a:p>
            <a:pPr indent="0" marL="0">
              <a:buNone/>
            </a:pPr>
            <a:r>
              <a:rPr lang="en-US" sz="1050" b="1" dirty="0">
                <a:solidFill>
                  <a:srgbClr val="52606D"/>
                </a:solidFill>
              </a:rPr>
              <a:t>Concept -&gt; example -&gt; practice -&gt; takeaway</a:t>
            </a:r>
            <a:endParaRPr lang="en-US" sz="1050" dirty="0"/>
          </a:p>
        </p:txBody>
      </p:sp>
      <p:sp>
        <p:nvSpPr>
          <p:cNvPr id="12" name="Shape 10"/>
          <p:cNvSpPr/>
          <p:nvPr/>
        </p:nvSpPr>
        <p:spPr>
          <a:xfrm>
            <a:off x="777240" y="2523744"/>
            <a:ext cx="2148840" cy="0"/>
          </a:xfrm>
          <a:prstGeom prst="line">
            <a:avLst/>
          </a:prstGeom>
          <a:noFill/>
          <a:ln w="12700">
            <a:solidFill>
              <a:srgbClr val="D8E6E8"/>
            </a:solidFill>
            <a:prstDash val="solid"/>
          </a:ln>
        </p:spPr>
      </p:sp>
      <p:sp>
        <p:nvSpPr>
          <p:cNvPr id="13" name="Shape 11"/>
          <p:cNvSpPr/>
          <p:nvPr/>
        </p:nvSpPr>
        <p:spPr>
          <a:xfrm>
            <a:off x="777240" y="1828800"/>
            <a:ext cx="402336" cy="402336"/>
          </a:xfrm>
          <a:prstGeom prst="ellipse">
            <a:avLst/>
          </a:prstGeom>
          <a:solidFill>
            <a:srgbClr val="008F8F"/>
          </a:solidFill>
          <a:ln w="12700">
            <a:solidFill>
              <a:srgbClr val="008F8F"/>
            </a:solidFill>
            <a:prstDash val="solid"/>
          </a:ln>
        </p:spPr>
      </p:sp>
      <p:sp>
        <p:nvSpPr>
          <p:cNvPr id="14" name="Text 12"/>
          <p:cNvSpPr/>
          <p:nvPr/>
        </p:nvSpPr>
        <p:spPr>
          <a:xfrm>
            <a:off x="77724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5" name="Text 13"/>
          <p:cNvSpPr/>
          <p:nvPr/>
        </p:nvSpPr>
        <p:spPr>
          <a:xfrm>
            <a:off x="130759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10m</a:t>
            </a:r>
            <a:endParaRPr lang="en-US" sz="900" dirty="0"/>
          </a:p>
        </p:txBody>
      </p:sp>
      <p:sp>
        <p:nvSpPr>
          <p:cNvPr id="16" name="Text 14"/>
          <p:cNvSpPr/>
          <p:nvPr/>
        </p:nvSpPr>
        <p:spPr>
          <a:xfrm>
            <a:off x="130759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Reality check</a:t>
            </a:r>
            <a:endParaRPr lang="en-US" sz="1500" dirty="0"/>
          </a:p>
        </p:txBody>
      </p:sp>
      <p:sp>
        <p:nvSpPr>
          <p:cNvPr id="17" name="Shape 15"/>
          <p:cNvSpPr/>
          <p:nvPr/>
        </p:nvSpPr>
        <p:spPr>
          <a:xfrm>
            <a:off x="3566160" y="2523744"/>
            <a:ext cx="2148840" cy="0"/>
          </a:xfrm>
          <a:prstGeom prst="line">
            <a:avLst/>
          </a:prstGeom>
          <a:noFill/>
          <a:ln w="12700">
            <a:solidFill>
              <a:srgbClr val="D8E6E8"/>
            </a:solidFill>
            <a:prstDash val="solid"/>
          </a:ln>
        </p:spPr>
      </p:sp>
      <p:sp>
        <p:nvSpPr>
          <p:cNvPr id="18" name="Shape 16"/>
          <p:cNvSpPr/>
          <p:nvPr/>
        </p:nvSpPr>
        <p:spPr>
          <a:xfrm>
            <a:off x="3566160" y="1828800"/>
            <a:ext cx="402336" cy="402336"/>
          </a:xfrm>
          <a:prstGeom prst="ellipse">
            <a:avLst/>
          </a:prstGeom>
          <a:solidFill>
            <a:srgbClr val="2F80ED"/>
          </a:solidFill>
          <a:ln w="12700">
            <a:solidFill>
              <a:srgbClr val="2F80ED"/>
            </a:solidFill>
            <a:prstDash val="solid"/>
          </a:ln>
        </p:spPr>
      </p:sp>
      <p:sp>
        <p:nvSpPr>
          <p:cNvPr id="19" name="Text 17"/>
          <p:cNvSpPr/>
          <p:nvPr/>
        </p:nvSpPr>
        <p:spPr>
          <a:xfrm>
            <a:off x="356616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20" name="Text 18"/>
          <p:cNvSpPr/>
          <p:nvPr/>
        </p:nvSpPr>
        <p:spPr>
          <a:xfrm>
            <a:off x="409651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21" name="Text 19"/>
          <p:cNvSpPr/>
          <p:nvPr/>
        </p:nvSpPr>
        <p:spPr>
          <a:xfrm>
            <a:off x="409651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Strengths + risks</a:t>
            </a:r>
            <a:endParaRPr lang="en-US" sz="1500" dirty="0"/>
          </a:p>
        </p:txBody>
      </p:sp>
      <p:sp>
        <p:nvSpPr>
          <p:cNvPr id="22" name="Shape 20"/>
          <p:cNvSpPr/>
          <p:nvPr/>
        </p:nvSpPr>
        <p:spPr>
          <a:xfrm>
            <a:off x="6355080" y="2523744"/>
            <a:ext cx="2148840" cy="0"/>
          </a:xfrm>
          <a:prstGeom prst="line">
            <a:avLst/>
          </a:prstGeom>
          <a:noFill/>
          <a:ln w="12700">
            <a:solidFill>
              <a:srgbClr val="D8E6E8"/>
            </a:solidFill>
            <a:prstDash val="solid"/>
          </a:ln>
        </p:spPr>
      </p:sp>
      <p:sp>
        <p:nvSpPr>
          <p:cNvPr id="23" name="Shape 21"/>
          <p:cNvSpPr/>
          <p:nvPr/>
        </p:nvSpPr>
        <p:spPr>
          <a:xfrm>
            <a:off x="6355080" y="1828800"/>
            <a:ext cx="402336" cy="402336"/>
          </a:xfrm>
          <a:prstGeom prst="ellipse">
            <a:avLst/>
          </a:prstGeom>
          <a:solidFill>
            <a:srgbClr val="F45B69"/>
          </a:solidFill>
          <a:ln w="12700">
            <a:solidFill>
              <a:srgbClr val="F45B69"/>
            </a:solidFill>
            <a:prstDash val="solid"/>
          </a:ln>
        </p:spPr>
      </p:sp>
      <p:sp>
        <p:nvSpPr>
          <p:cNvPr id="24" name="Text 22"/>
          <p:cNvSpPr/>
          <p:nvPr/>
        </p:nvSpPr>
        <p:spPr>
          <a:xfrm>
            <a:off x="635508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5" name="Text 23"/>
          <p:cNvSpPr/>
          <p:nvPr/>
        </p:nvSpPr>
        <p:spPr>
          <a:xfrm>
            <a:off x="688543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25m</a:t>
            </a:r>
            <a:endParaRPr lang="en-US" sz="900" dirty="0"/>
          </a:p>
        </p:txBody>
      </p:sp>
      <p:sp>
        <p:nvSpPr>
          <p:cNvPr id="26" name="Text 24"/>
          <p:cNvSpPr/>
          <p:nvPr/>
        </p:nvSpPr>
        <p:spPr>
          <a:xfrm>
            <a:off x="688543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Client communication</a:t>
            </a:r>
            <a:endParaRPr lang="en-US" sz="1500" dirty="0"/>
          </a:p>
        </p:txBody>
      </p:sp>
      <p:sp>
        <p:nvSpPr>
          <p:cNvPr id="27" name="Shape 25"/>
          <p:cNvSpPr/>
          <p:nvPr/>
        </p:nvSpPr>
        <p:spPr>
          <a:xfrm>
            <a:off x="9144000" y="2523744"/>
            <a:ext cx="2148840" cy="0"/>
          </a:xfrm>
          <a:prstGeom prst="line">
            <a:avLst/>
          </a:prstGeom>
          <a:noFill/>
          <a:ln w="12700">
            <a:solidFill>
              <a:srgbClr val="D8E6E8"/>
            </a:solidFill>
            <a:prstDash val="solid"/>
          </a:ln>
        </p:spPr>
      </p:sp>
      <p:sp>
        <p:nvSpPr>
          <p:cNvPr id="28" name="Shape 26"/>
          <p:cNvSpPr/>
          <p:nvPr/>
        </p:nvSpPr>
        <p:spPr>
          <a:xfrm>
            <a:off x="9144000" y="1828800"/>
            <a:ext cx="402336" cy="402336"/>
          </a:xfrm>
          <a:prstGeom prst="ellipse">
            <a:avLst/>
          </a:prstGeom>
          <a:solidFill>
            <a:srgbClr val="F2B84B"/>
          </a:solidFill>
          <a:ln w="12700">
            <a:solidFill>
              <a:srgbClr val="F2B84B"/>
            </a:solidFill>
            <a:prstDash val="solid"/>
          </a:ln>
        </p:spPr>
      </p:sp>
      <p:sp>
        <p:nvSpPr>
          <p:cNvPr id="29" name="Text 27"/>
          <p:cNvSpPr/>
          <p:nvPr/>
        </p:nvSpPr>
        <p:spPr>
          <a:xfrm>
            <a:off x="914400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30" name="Text 28"/>
          <p:cNvSpPr/>
          <p:nvPr/>
        </p:nvSpPr>
        <p:spPr>
          <a:xfrm>
            <a:off x="967435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31" name="Text 29"/>
          <p:cNvSpPr/>
          <p:nvPr/>
        </p:nvSpPr>
        <p:spPr>
          <a:xfrm>
            <a:off x="967435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Lead follow-up</a:t>
            </a:r>
            <a:endParaRPr lang="en-US" sz="1500" dirty="0"/>
          </a:p>
        </p:txBody>
      </p:sp>
      <p:sp>
        <p:nvSpPr>
          <p:cNvPr id="32" name="Shape 30"/>
          <p:cNvSpPr/>
          <p:nvPr/>
        </p:nvSpPr>
        <p:spPr>
          <a:xfrm>
            <a:off x="777240" y="4078224"/>
            <a:ext cx="2148840" cy="0"/>
          </a:xfrm>
          <a:prstGeom prst="line">
            <a:avLst/>
          </a:prstGeom>
          <a:noFill/>
          <a:ln w="12700">
            <a:solidFill>
              <a:srgbClr val="E7D9B6"/>
            </a:solidFill>
            <a:prstDash val="solid"/>
          </a:ln>
        </p:spPr>
      </p:sp>
      <p:sp>
        <p:nvSpPr>
          <p:cNvPr id="33" name="Shape 31"/>
          <p:cNvSpPr/>
          <p:nvPr/>
        </p:nvSpPr>
        <p:spPr>
          <a:xfrm>
            <a:off x="777240" y="3383280"/>
            <a:ext cx="402336" cy="402336"/>
          </a:xfrm>
          <a:prstGeom prst="ellipse">
            <a:avLst/>
          </a:prstGeom>
          <a:solidFill>
            <a:srgbClr val="008F8F"/>
          </a:solidFill>
          <a:ln w="12700">
            <a:solidFill>
              <a:srgbClr val="008F8F"/>
            </a:solidFill>
            <a:prstDash val="solid"/>
          </a:ln>
        </p:spPr>
      </p:sp>
      <p:sp>
        <p:nvSpPr>
          <p:cNvPr id="34" name="Text 32"/>
          <p:cNvSpPr/>
          <p:nvPr/>
        </p:nvSpPr>
        <p:spPr>
          <a:xfrm>
            <a:off x="77724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35" name="Text 33"/>
          <p:cNvSpPr/>
          <p:nvPr/>
        </p:nvSpPr>
        <p:spPr>
          <a:xfrm>
            <a:off x="130759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36" name="Text 34"/>
          <p:cNvSpPr/>
          <p:nvPr/>
        </p:nvSpPr>
        <p:spPr>
          <a:xfrm>
            <a:off x="130759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Listings + marketing</a:t>
            </a:r>
            <a:endParaRPr lang="en-US" sz="1500" dirty="0"/>
          </a:p>
        </p:txBody>
      </p:sp>
      <p:sp>
        <p:nvSpPr>
          <p:cNvPr id="37" name="Shape 35"/>
          <p:cNvSpPr/>
          <p:nvPr/>
        </p:nvSpPr>
        <p:spPr>
          <a:xfrm>
            <a:off x="3566160" y="4078224"/>
            <a:ext cx="2148840" cy="0"/>
          </a:xfrm>
          <a:prstGeom prst="line">
            <a:avLst/>
          </a:prstGeom>
          <a:noFill/>
          <a:ln w="12700">
            <a:solidFill>
              <a:srgbClr val="E7D9B6"/>
            </a:solidFill>
            <a:prstDash val="solid"/>
          </a:ln>
        </p:spPr>
      </p:sp>
      <p:sp>
        <p:nvSpPr>
          <p:cNvPr id="38" name="Shape 36"/>
          <p:cNvSpPr/>
          <p:nvPr/>
        </p:nvSpPr>
        <p:spPr>
          <a:xfrm>
            <a:off x="3566160" y="3383280"/>
            <a:ext cx="402336" cy="402336"/>
          </a:xfrm>
          <a:prstGeom prst="ellipse">
            <a:avLst/>
          </a:prstGeom>
          <a:solidFill>
            <a:srgbClr val="2F80ED"/>
          </a:solidFill>
          <a:ln w="12700">
            <a:solidFill>
              <a:srgbClr val="2F80ED"/>
            </a:solidFill>
            <a:prstDash val="solid"/>
          </a:ln>
        </p:spPr>
      </p:sp>
      <p:sp>
        <p:nvSpPr>
          <p:cNvPr id="39" name="Text 37"/>
          <p:cNvSpPr/>
          <p:nvPr/>
        </p:nvSpPr>
        <p:spPr>
          <a:xfrm>
            <a:off x="356616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6</a:t>
            </a:r>
            <a:endParaRPr lang="en-US" sz="800" dirty="0"/>
          </a:p>
        </p:txBody>
      </p:sp>
      <p:sp>
        <p:nvSpPr>
          <p:cNvPr id="40" name="Text 38"/>
          <p:cNvSpPr/>
          <p:nvPr/>
        </p:nvSpPr>
        <p:spPr>
          <a:xfrm>
            <a:off x="409651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41" name="Text 39"/>
          <p:cNvSpPr/>
          <p:nvPr/>
        </p:nvSpPr>
        <p:spPr>
          <a:xfrm>
            <a:off x="409651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Appointment prep</a:t>
            </a:r>
            <a:endParaRPr lang="en-US" sz="1500" dirty="0"/>
          </a:p>
        </p:txBody>
      </p:sp>
      <p:sp>
        <p:nvSpPr>
          <p:cNvPr id="42" name="Shape 40"/>
          <p:cNvSpPr/>
          <p:nvPr/>
        </p:nvSpPr>
        <p:spPr>
          <a:xfrm>
            <a:off x="6355080" y="4078224"/>
            <a:ext cx="2148840" cy="0"/>
          </a:xfrm>
          <a:prstGeom prst="line">
            <a:avLst/>
          </a:prstGeom>
          <a:noFill/>
          <a:ln w="12700">
            <a:solidFill>
              <a:srgbClr val="E7D9B6"/>
            </a:solidFill>
            <a:prstDash val="solid"/>
          </a:ln>
        </p:spPr>
      </p:sp>
      <p:sp>
        <p:nvSpPr>
          <p:cNvPr id="43" name="Shape 41"/>
          <p:cNvSpPr/>
          <p:nvPr/>
        </p:nvSpPr>
        <p:spPr>
          <a:xfrm>
            <a:off x="6355080" y="3383280"/>
            <a:ext cx="402336" cy="402336"/>
          </a:xfrm>
          <a:prstGeom prst="ellipse">
            <a:avLst/>
          </a:prstGeom>
          <a:solidFill>
            <a:srgbClr val="F45B69"/>
          </a:solidFill>
          <a:ln w="12700">
            <a:solidFill>
              <a:srgbClr val="F45B69"/>
            </a:solidFill>
            <a:prstDash val="solid"/>
          </a:ln>
        </p:spPr>
      </p:sp>
      <p:sp>
        <p:nvSpPr>
          <p:cNvPr id="44" name="Text 42"/>
          <p:cNvSpPr/>
          <p:nvPr/>
        </p:nvSpPr>
        <p:spPr>
          <a:xfrm>
            <a:off x="635508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7</a:t>
            </a:r>
            <a:endParaRPr lang="en-US" sz="800" dirty="0"/>
          </a:p>
        </p:txBody>
      </p:sp>
      <p:sp>
        <p:nvSpPr>
          <p:cNvPr id="45" name="Text 43"/>
          <p:cNvSpPr/>
          <p:nvPr/>
        </p:nvSpPr>
        <p:spPr>
          <a:xfrm>
            <a:off x="688543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46" name="Text 44"/>
          <p:cNvSpPr/>
          <p:nvPr/>
        </p:nvSpPr>
        <p:spPr>
          <a:xfrm>
            <a:off x="688543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Workflow + guardrails</a:t>
            </a:r>
            <a:endParaRPr lang="en-US" sz="1500" dirty="0"/>
          </a:p>
        </p:txBody>
      </p:sp>
      <p:sp>
        <p:nvSpPr>
          <p:cNvPr id="47" name="Shape 45"/>
          <p:cNvSpPr/>
          <p:nvPr/>
        </p:nvSpPr>
        <p:spPr>
          <a:xfrm>
            <a:off x="9144000" y="4078224"/>
            <a:ext cx="2148840" cy="0"/>
          </a:xfrm>
          <a:prstGeom prst="line">
            <a:avLst/>
          </a:prstGeom>
          <a:noFill/>
          <a:ln w="12700">
            <a:solidFill>
              <a:srgbClr val="E7D9B6"/>
            </a:solidFill>
            <a:prstDash val="solid"/>
          </a:ln>
        </p:spPr>
      </p:sp>
      <p:sp>
        <p:nvSpPr>
          <p:cNvPr id="48" name="Shape 46"/>
          <p:cNvSpPr/>
          <p:nvPr/>
        </p:nvSpPr>
        <p:spPr>
          <a:xfrm>
            <a:off x="9144000" y="3383280"/>
            <a:ext cx="402336" cy="402336"/>
          </a:xfrm>
          <a:prstGeom prst="ellipse">
            <a:avLst/>
          </a:prstGeom>
          <a:solidFill>
            <a:srgbClr val="F2B84B"/>
          </a:solidFill>
          <a:ln w="12700">
            <a:solidFill>
              <a:srgbClr val="F2B84B"/>
            </a:solidFill>
            <a:prstDash val="solid"/>
          </a:ln>
        </p:spPr>
      </p:sp>
      <p:sp>
        <p:nvSpPr>
          <p:cNvPr id="49" name="Text 47"/>
          <p:cNvSpPr/>
          <p:nvPr/>
        </p:nvSpPr>
        <p:spPr>
          <a:xfrm>
            <a:off x="914400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8</a:t>
            </a:r>
            <a:endParaRPr lang="en-US" sz="800" dirty="0"/>
          </a:p>
        </p:txBody>
      </p:sp>
      <p:sp>
        <p:nvSpPr>
          <p:cNvPr id="50" name="Text 48"/>
          <p:cNvSpPr/>
          <p:nvPr/>
        </p:nvSpPr>
        <p:spPr>
          <a:xfrm>
            <a:off x="967435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5m</a:t>
            </a:r>
            <a:endParaRPr lang="en-US" sz="900" dirty="0"/>
          </a:p>
        </p:txBody>
      </p:sp>
      <p:sp>
        <p:nvSpPr>
          <p:cNvPr id="51" name="Text 49"/>
          <p:cNvSpPr/>
          <p:nvPr/>
        </p:nvSpPr>
        <p:spPr>
          <a:xfrm>
            <a:off x="967435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Prompt practice</a:t>
            </a:r>
            <a:endParaRPr lang="en-US" sz="1500" dirty="0"/>
          </a:p>
        </p:txBody>
      </p:sp>
      <p:sp>
        <p:nvSpPr>
          <p:cNvPr id="52" name="Shape 50"/>
          <p:cNvSpPr/>
          <p:nvPr/>
        </p:nvSpPr>
        <p:spPr>
          <a:xfrm>
            <a:off x="502920" y="6473952"/>
            <a:ext cx="11201400" cy="0"/>
          </a:xfrm>
          <a:prstGeom prst="line">
            <a:avLst/>
          </a:prstGeom>
          <a:noFill/>
          <a:ln w="9525">
            <a:solidFill>
              <a:srgbClr val="D8E6E8"/>
            </a:solidFill>
            <a:prstDash val="solid"/>
          </a:ln>
        </p:spPr>
      </p:sp>
      <p:sp>
        <p:nvSpPr>
          <p:cNvPr id="53" name="Text 5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54" name="Text 5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5/48</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F80ED"/>
          </a:solidFill>
          <a:ln w="12700">
            <a:solidFill>
              <a:srgbClr val="2F80ED"/>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01</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1</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Welcome and AI Reality Check</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AI is a practical assistant, not a replacement for licensed judgment.</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WHY NOW</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matters because speed and consistency shape client experience</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Consumers expect quick, clear responses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Most agents have more follow-up tasks than hours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AI reduces blank-page time for common communication tasks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The advantage is not using AI once; it is using it repeatably</a:t>
            </a:r>
            <a:endParaRPr lang="en-US" sz="165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Speed plus judgment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AI can reduce blank-page time; the agent still owns accuracy and relationship quality.</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7/48</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SHIFT</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Move from random prompts to repeatable business assistance</a:t>
            </a:r>
            <a:endParaRPr lang="en-US" sz="2800" dirty="0"/>
          </a:p>
        </p:txBody>
      </p:sp>
      <p:sp>
        <p:nvSpPr>
          <p:cNvPr id="11" name="Shape 9"/>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12" name="Text 10"/>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Random AI use</a:t>
            </a:r>
            <a:endParaRPr lang="en-US" sz="1900" dirty="0"/>
          </a:p>
        </p:txBody>
      </p:sp>
      <p:sp>
        <p:nvSpPr>
          <p:cNvPr id="13" name="Text 11"/>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One-off prompts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Generic output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No saved process</a:t>
            </a:r>
            <a:endParaRPr lang="en-US" sz="1500" dirty="0"/>
          </a:p>
        </p:txBody>
      </p:sp>
      <p:sp>
        <p:nvSpPr>
          <p:cNvPr id="14" name="Shape 12"/>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15" name="Text 13"/>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Repeatable workflow</a:t>
            </a:r>
            <a:endParaRPr lang="en-US" sz="1900" dirty="0"/>
          </a:p>
        </p:txBody>
      </p:sp>
      <p:sp>
        <p:nvSpPr>
          <p:cNvPr id="16" name="Text 14"/>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Known use case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Context-rich prompt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Reviewed reusable output</a:t>
            </a:r>
            <a:endParaRPr lang="en-US" sz="1500" dirty="0"/>
          </a:p>
        </p:txBody>
      </p:sp>
      <p:sp>
        <p:nvSpPr>
          <p:cNvPr id="17" name="Shape 15"/>
          <p:cNvSpPr/>
          <p:nvPr/>
        </p:nvSpPr>
        <p:spPr>
          <a:xfrm>
            <a:off x="5650992" y="3017520"/>
            <a:ext cx="438912" cy="475488"/>
          </a:xfrm>
          <a:prstGeom prst="chevron">
            <a:avLst/>
          </a:prstGeom>
          <a:solidFill>
            <a:srgbClr val="008F8F"/>
          </a:solidFill>
          <a:ln w="12700">
            <a:solidFill>
              <a:srgbClr val="008F8F"/>
            </a:solidFill>
            <a:prstDash val="solid"/>
          </a:ln>
        </p:spPr>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8/48</a:t>
            </a:r>
            <a:endParaRPr lang="en-US" sz="7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DISCUSSION</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Where would 20 saved minutes matter most this week?</a:t>
            </a:r>
            <a:endParaRPr lang="en-US" sz="2800" dirty="0"/>
          </a:p>
        </p:txBody>
      </p:sp>
      <p:sp>
        <p:nvSpPr>
          <p:cNvPr id="11" name="Shape 9"/>
          <p:cNvSpPr/>
          <p:nvPr/>
        </p:nvSpPr>
        <p:spPr>
          <a:xfrm>
            <a:off x="868680" y="1517904"/>
            <a:ext cx="1572768" cy="310896"/>
          </a:xfrm>
          <a:prstGeom prst="roundRect">
            <a:avLst>
              <a:gd name="adj" fmla="val 11765"/>
            </a:avLst>
          </a:prstGeom>
          <a:solidFill>
            <a:srgbClr val="2F80ED"/>
          </a:solidFill>
          <a:ln w="12700">
            <a:solidFill>
              <a:srgbClr val="2F80ED"/>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DISCUSS</a:t>
            </a:r>
            <a:endParaRPr lang="en-US" sz="720" dirty="0"/>
          </a:p>
        </p:txBody>
      </p:sp>
      <p:sp>
        <p:nvSpPr>
          <p:cNvPr id="13" name="Shape 11"/>
          <p:cNvSpPr/>
          <p:nvPr/>
        </p:nvSpPr>
        <p:spPr>
          <a:xfrm>
            <a:off x="822960" y="1810512"/>
            <a:ext cx="5413248" cy="109728"/>
          </a:xfrm>
          <a:prstGeom prst="rect">
            <a:avLst/>
          </a:prstGeom>
          <a:solidFill>
            <a:srgbClr val="2F80ED"/>
          </a:solidFill>
          <a:ln w="12700">
            <a:solidFill>
              <a:srgbClr val="2F80ED"/>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Pick one task you delay because it is repetitive, awkward, or annoying.</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Seller update after low activity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Follow-up after a showing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Open house recap</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CRM note cleanup</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Social caption from listing facts</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9/48</a:t>
            </a:r>
            <a:endParaRPr lang="en-US" sz="7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45B69"/>
          </a:solidFill>
          <a:ln w="12700">
            <a:solidFill>
              <a:srgbClr val="F45B69"/>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02</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2</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What AI Is Good At - And Where It Gets Risky</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Use AI for drafting and structure. Verify facts before clients see them.</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AI BASICS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 plain-English way to think about AI</a:t>
            </a:r>
            <a:endParaRPr lang="en-US" sz="2800" dirty="0"/>
          </a:p>
        </p:txBody>
      </p:sp>
      <p:sp>
        <p:nvSpPr>
          <p:cNvPr id="11" name="Shape 9"/>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12" name="Text 10"/>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Good at</a:t>
            </a:r>
            <a:endParaRPr lang="en-US" sz="1900" dirty="0"/>
          </a:p>
        </p:txBody>
      </p:sp>
      <p:sp>
        <p:nvSpPr>
          <p:cNvPr id="13" name="Text 11"/>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Rewriting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Summarizing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Brainstorming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Organizing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Role-play</a:t>
            </a:r>
            <a:endParaRPr lang="en-US" sz="1500" dirty="0"/>
          </a:p>
        </p:txBody>
      </p:sp>
      <p:sp>
        <p:nvSpPr>
          <p:cNvPr id="14" name="Shape 12"/>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15" name="Text 13"/>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Not safe for</a:t>
            </a:r>
            <a:endParaRPr lang="en-US" sz="1900" dirty="0"/>
          </a:p>
        </p:txBody>
      </p:sp>
      <p:sp>
        <p:nvSpPr>
          <p:cNvPr id="16" name="Text 14"/>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Guaranteeing facts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Legal advice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Local market certainty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MLS rule interpretation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Fair Housing judgment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Final decisions</a:t>
            </a:r>
            <a:endParaRPr lang="en-US" sz="1500" dirty="0"/>
          </a:p>
        </p:txBody>
      </p:sp>
      <p:sp>
        <p:nvSpPr>
          <p:cNvPr id="17" name="Shape 15"/>
          <p:cNvSpPr/>
          <p:nvPr/>
        </p:nvSpPr>
        <p:spPr>
          <a:xfrm>
            <a:off x="5650992" y="3017520"/>
            <a:ext cx="438912" cy="475488"/>
          </a:xfrm>
          <a:prstGeom prst="chevron">
            <a:avLst/>
          </a:prstGeom>
          <a:solidFill>
            <a:srgbClr val="008F8F"/>
          </a:solidFill>
          <a:ln w="12700">
            <a:solidFill>
              <a:srgbClr val="008F8F"/>
            </a:solidFill>
            <a:prstDash val="solid"/>
          </a:ln>
        </p:spPr>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11/48</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REVIEW LENS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Four questions before using AI output with a client</a:t>
            </a:r>
            <a:endParaRPr lang="en-US" sz="2800" dirty="0"/>
          </a:p>
        </p:txBody>
      </p:sp>
      <p:sp>
        <p:nvSpPr>
          <p:cNvPr id="11" name="Shape 9"/>
          <p:cNvSpPr/>
          <p:nvPr/>
        </p:nvSpPr>
        <p:spPr>
          <a:xfrm>
            <a:off x="868680" y="1828800"/>
            <a:ext cx="4572000" cy="1078992"/>
          </a:xfrm>
          <a:prstGeom prst="roundRect">
            <a:avLst>
              <a:gd name="adj" fmla="val 5085"/>
            </a:avLst>
          </a:prstGeom>
          <a:solidFill>
            <a:srgbClr val="FFFFFF"/>
          </a:solidFill>
          <a:ln w="10160">
            <a:solidFill>
              <a:srgbClr val="D8E6E8"/>
            </a:solidFill>
            <a:prstDash val="solid"/>
          </a:ln>
        </p:spPr>
      </p:sp>
      <p:sp>
        <p:nvSpPr>
          <p:cNvPr id="12" name="Shape 10"/>
          <p:cNvSpPr/>
          <p:nvPr/>
        </p:nvSpPr>
        <p:spPr>
          <a:xfrm>
            <a:off x="1097280" y="2084832"/>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4" name="Text 12"/>
          <p:cNvSpPr/>
          <p:nvPr/>
        </p:nvSpPr>
        <p:spPr>
          <a:xfrm>
            <a:off x="16916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true?</a:t>
            </a:r>
            <a:endParaRPr lang="en-US" sz="1450" dirty="0"/>
          </a:p>
        </p:txBody>
      </p:sp>
      <p:sp>
        <p:nvSpPr>
          <p:cNvPr id="15" name="Text 13"/>
          <p:cNvSpPr/>
          <p:nvPr/>
        </p:nvSpPr>
        <p:spPr>
          <a:xfrm>
            <a:off x="16916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Verify property facts, stats, dates, and claims.</a:t>
            </a:r>
            <a:endParaRPr lang="en-US" sz="1070" dirty="0"/>
          </a:p>
        </p:txBody>
      </p:sp>
      <p:sp>
        <p:nvSpPr>
          <p:cNvPr id="16" name="Shape 14"/>
          <p:cNvSpPr/>
          <p:nvPr/>
        </p:nvSpPr>
        <p:spPr>
          <a:xfrm>
            <a:off x="6126480" y="1828800"/>
            <a:ext cx="4572000" cy="1078992"/>
          </a:xfrm>
          <a:prstGeom prst="roundRect">
            <a:avLst>
              <a:gd name="adj" fmla="val 5085"/>
            </a:avLst>
          </a:prstGeom>
          <a:solidFill>
            <a:srgbClr val="FFFFFF"/>
          </a:solidFill>
          <a:ln w="10160">
            <a:solidFill>
              <a:srgbClr val="D8E6E8"/>
            </a:solidFill>
            <a:prstDash val="solid"/>
          </a:ln>
        </p:spPr>
      </p:sp>
      <p:sp>
        <p:nvSpPr>
          <p:cNvPr id="17" name="Shape 15"/>
          <p:cNvSpPr/>
          <p:nvPr/>
        </p:nvSpPr>
        <p:spPr>
          <a:xfrm>
            <a:off x="6355080" y="2084832"/>
            <a:ext cx="402336" cy="402336"/>
          </a:xfrm>
          <a:prstGeom prst="ellipse">
            <a:avLst/>
          </a:prstGeom>
          <a:solidFill>
            <a:srgbClr val="2F80ED"/>
          </a:solidFill>
          <a:ln w="12700">
            <a:solidFill>
              <a:srgbClr val="2F80ED"/>
            </a:solidFill>
            <a:prstDash val="solid"/>
          </a:ln>
        </p:spPr>
      </p:sp>
      <p:sp>
        <p:nvSpPr>
          <p:cNvPr id="18" name="Text 16"/>
          <p:cNvSpPr/>
          <p:nvPr/>
        </p:nvSpPr>
        <p:spPr>
          <a:xfrm>
            <a:off x="63550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9" name="Text 17"/>
          <p:cNvSpPr/>
          <p:nvPr/>
        </p:nvSpPr>
        <p:spPr>
          <a:xfrm>
            <a:off x="69494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allowed?</a:t>
            </a:r>
            <a:endParaRPr lang="en-US" sz="1450" dirty="0"/>
          </a:p>
        </p:txBody>
      </p:sp>
      <p:sp>
        <p:nvSpPr>
          <p:cNvPr id="20" name="Text 18"/>
          <p:cNvSpPr/>
          <p:nvPr/>
        </p:nvSpPr>
        <p:spPr>
          <a:xfrm>
            <a:off x="69494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Check brokerage, MLS, advertising, and communication rules.</a:t>
            </a:r>
            <a:endParaRPr lang="en-US" sz="1070" dirty="0"/>
          </a:p>
        </p:txBody>
      </p:sp>
      <p:sp>
        <p:nvSpPr>
          <p:cNvPr id="21" name="Shape 19"/>
          <p:cNvSpPr/>
          <p:nvPr/>
        </p:nvSpPr>
        <p:spPr>
          <a:xfrm>
            <a:off x="868680" y="3246120"/>
            <a:ext cx="4572000" cy="1078992"/>
          </a:xfrm>
          <a:prstGeom prst="roundRect">
            <a:avLst>
              <a:gd name="adj" fmla="val 5085"/>
            </a:avLst>
          </a:prstGeom>
          <a:solidFill>
            <a:srgbClr val="FFFFFF"/>
          </a:solidFill>
          <a:ln w="10160">
            <a:solidFill>
              <a:srgbClr val="D8E6E8"/>
            </a:solidFill>
            <a:prstDash val="solid"/>
          </a:ln>
        </p:spPr>
      </p:sp>
      <p:sp>
        <p:nvSpPr>
          <p:cNvPr id="22" name="Shape 20"/>
          <p:cNvSpPr/>
          <p:nvPr/>
        </p:nvSpPr>
        <p:spPr>
          <a:xfrm>
            <a:off x="1097280" y="3502152"/>
            <a:ext cx="402336" cy="402336"/>
          </a:xfrm>
          <a:prstGeom prst="ellipse">
            <a:avLst/>
          </a:prstGeom>
          <a:solidFill>
            <a:srgbClr val="F45B69"/>
          </a:solidFill>
          <a:ln w="12700">
            <a:solidFill>
              <a:srgbClr val="F45B69"/>
            </a:solidFill>
            <a:prstDash val="solid"/>
          </a:ln>
        </p:spPr>
      </p:sp>
      <p:sp>
        <p:nvSpPr>
          <p:cNvPr id="23" name="Text 21"/>
          <p:cNvSpPr/>
          <p:nvPr/>
        </p:nvSpPr>
        <p:spPr>
          <a:xfrm>
            <a:off x="10972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4" name="Text 22"/>
          <p:cNvSpPr/>
          <p:nvPr/>
        </p:nvSpPr>
        <p:spPr>
          <a:xfrm>
            <a:off x="16916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fair?</a:t>
            </a:r>
            <a:endParaRPr lang="en-US" sz="1450" dirty="0"/>
          </a:p>
        </p:txBody>
      </p:sp>
      <p:sp>
        <p:nvSpPr>
          <p:cNvPr id="25" name="Text 23"/>
          <p:cNvSpPr/>
          <p:nvPr/>
        </p:nvSpPr>
        <p:spPr>
          <a:xfrm>
            <a:off x="16916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Avoid protected-class language, steering, or discriminatory targeting.</a:t>
            </a:r>
            <a:endParaRPr lang="en-US" sz="1070" dirty="0"/>
          </a:p>
        </p:txBody>
      </p:sp>
      <p:sp>
        <p:nvSpPr>
          <p:cNvPr id="26" name="Shape 24"/>
          <p:cNvSpPr/>
          <p:nvPr/>
        </p:nvSpPr>
        <p:spPr>
          <a:xfrm>
            <a:off x="6126480" y="3246120"/>
            <a:ext cx="4572000" cy="1078992"/>
          </a:xfrm>
          <a:prstGeom prst="roundRect">
            <a:avLst>
              <a:gd name="adj" fmla="val 5085"/>
            </a:avLst>
          </a:prstGeom>
          <a:solidFill>
            <a:srgbClr val="FFFFFF"/>
          </a:solidFill>
          <a:ln w="10160">
            <a:solidFill>
              <a:srgbClr val="D8E6E8"/>
            </a:solidFill>
            <a:prstDash val="solid"/>
          </a:ln>
        </p:spPr>
      </p:sp>
      <p:sp>
        <p:nvSpPr>
          <p:cNvPr id="27" name="Shape 25"/>
          <p:cNvSpPr/>
          <p:nvPr/>
        </p:nvSpPr>
        <p:spPr>
          <a:xfrm>
            <a:off x="6355080" y="3502152"/>
            <a:ext cx="402336" cy="402336"/>
          </a:xfrm>
          <a:prstGeom prst="ellipse">
            <a:avLst/>
          </a:prstGeom>
          <a:solidFill>
            <a:srgbClr val="2E7D5B"/>
          </a:solidFill>
          <a:ln w="12700">
            <a:solidFill>
              <a:srgbClr val="2E7D5B"/>
            </a:solidFill>
            <a:prstDash val="solid"/>
          </a:ln>
        </p:spPr>
      </p:sp>
      <p:sp>
        <p:nvSpPr>
          <p:cNvPr id="28" name="Text 26"/>
          <p:cNvSpPr/>
          <p:nvPr/>
        </p:nvSpPr>
        <p:spPr>
          <a:xfrm>
            <a:off x="63550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9" name="Text 27"/>
          <p:cNvSpPr/>
          <p:nvPr/>
        </p:nvSpPr>
        <p:spPr>
          <a:xfrm>
            <a:off x="69494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yours?</a:t>
            </a:r>
            <a:endParaRPr lang="en-US" sz="1450" dirty="0"/>
          </a:p>
        </p:txBody>
      </p:sp>
      <p:sp>
        <p:nvSpPr>
          <p:cNvPr id="30" name="Text 28"/>
          <p:cNvSpPr/>
          <p:nvPr/>
        </p:nvSpPr>
        <p:spPr>
          <a:xfrm>
            <a:off x="69494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Edit for your voice, judgment, and client relationship.</a:t>
            </a:r>
            <a:endParaRPr lang="en-US" sz="107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12/48</a:t>
            </a:r>
            <a:endParaRPr lang="en-US" sz="7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Compliance risk check</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Review this AI-generated sentence:</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This quiet family neighborhood is perfect for young professionals and has the best schools in the area.</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What could create risk?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What facts need verification?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How could it be rewritten safely?</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13/48</a:t>
            </a:r>
            <a:endParaRPr lang="en-US" sz="7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BEFORE / AFTER</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Better instruction creates safer output</a:t>
            </a:r>
            <a:endParaRPr lang="en-US" sz="2800" dirty="0"/>
          </a:p>
        </p:txBody>
      </p:sp>
      <p:sp>
        <p:nvSpPr>
          <p:cNvPr id="11" name="Shape 9"/>
          <p:cNvSpPr/>
          <p:nvPr/>
        </p:nvSpPr>
        <p:spPr>
          <a:xfrm>
            <a:off x="868680" y="1828800"/>
            <a:ext cx="4663440" cy="3108960"/>
          </a:xfrm>
          <a:prstGeom prst="roundRect">
            <a:avLst>
              <a:gd name="adj" fmla="val 1765"/>
            </a:avLst>
          </a:prstGeom>
          <a:solidFill>
            <a:srgbClr val="FFF0EF"/>
          </a:solidFill>
          <a:ln w="10160">
            <a:solidFill>
              <a:srgbClr val="D8E6E8"/>
            </a:solidFill>
            <a:prstDash val="solid"/>
          </a:ln>
        </p:spPr>
      </p:sp>
      <p:sp>
        <p:nvSpPr>
          <p:cNvPr id="12" name="Text 10"/>
          <p:cNvSpPr/>
          <p:nvPr/>
        </p:nvSpPr>
        <p:spPr>
          <a:xfrm>
            <a:off x="1124712" y="2084832"/>
            <a:ext cx="1371600" cy="201168"/>
          </a:xfrm>
          <a:prstGeom prst="rect">
            <a:avLst/>
          </a:prstGeom>
          <a:noFill/>
          <a:ln/>
        </p:spPr>
        <p:txBody>
          <a:bodyPr wrap="square" lIns="0" tIns="0" rIns="0" bIns="0" rtlCol="0" anchor="ctr"/>
          <a:lstStyle/>
          <a:p>
            <a:pPr indent="0" marL="0">
              <a:buNone/>
            </a:pPr>
            <a:r>
              <a:rPr lang="en-US" sz="1000" b="1" dirty="0">
                <a:solidFill>
                  <a:srgbClr val="F45B69"/>
                </a:solidFill>
              </a:rPr>
              <a:t>Before</a:t>
            </a:r>
            <a:endParaRPr lang="en-US" sz="1000" dirty="0"/>
          </a:p>
        </p:txBody>
      </p:sp>
      <p:sp>
        <p:nvSpPr>
          <p:cNvPr id="13" name="Text 11"/>
          <p:cNvSpPr/>
          <p:nvPr/>
        </p:nvSpPr>
        <p:spPr>
          <a:xfrm>
            <a:off x="114300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Write a listing description for a nice house in Coral Gables.</a:t>
            </a:r>
            <a:endParaRPr lang="en-US" sz="1340" dirty="0"/>
          </a:p>
        </p:txBody>
      </p:sp>
      <p:sp>
        <p:nvSpPr>
          <p:cNvPr id="14" name="Shape 12"/>
          <p:cNvSpPr/>
          <p:nvPr/>
        </p:nvSpPr>
        <p:spPr>
          <a:xfrm>
            <a:off x="6080760" y="1828800"/>
            <a:ext cx="4663440" cy="3108960"/>
          </a:xfrm>
          <a:prstGeom prst="roundRect">
            <a:avLst>
              <a:gd name="adj" fmla="val 1765"/>
            </a:avLst>
          </a:prstGeom>
          <a:solidFill>
            <a:srgbClr val="EAF7F7"/>
          </a:solidFill>
          <a:ln w="10160">
            <a:solidFill>
              <a:srgbClr val="D8E6E8"/>
            </a:solidFill>
            <a:prstDash val="solid"/>
          </a:ln>
        </p:spPr>
      </p:sp>
      <p:sp>
        <p:nvSpPr>
          <p:cNvPr id="15" name="Text 13"/>
          <p:cNvSpPr/>
          <p:nvPr/>
        </p:nvSpPr>
        <p:spPr>
          <a:xfrm>
            <a:off x="6336792" y="2084832"/>
            <a:ext cx="1371600" cy="201168"/>
          </a:xfrm>
          <a:prstGeom prst="rect">
            <a:avLst/>
          </a:prstGeom>
          <a:noFill/>
          <a:ln/>
        </p:spPr>
        <p:txBody>
          <a:bodyPr wrap="square" lIns="0" tIns="0" rIns="0" bIns="0" rtlCol="0" anchor="ctr"/>
          <a:lstStyle/>
          <a:p>
            <a:pPr indent="0" marL="0">
              <a:buNone/>
            </a:pPr>
            <a:r>
              <a:rPr lang="en-US" sz="1000" b="1" dirty="0">
                <a:solidFill>
                  <a:srgbClr val="008F8F"/>
                </a:solidFill>
              </a:rPr>
              <a:t>After</a:t>
            </a:r>
            <a:endParaRPr lang="en-US" sz="1000" dirty="0"/>
          </a:p>
        </p:txBody>
      </p:sp>
      <p:sp>
        <p:nvSpPr>
          <p:cNvPr id="16" name="Text 14"/>
          <p:cNvSpPr/>
          <p:nvPr/>
        </p:nvSpPr>
        <p:spPr>
          <a:xfrm>
            <a:off x="635508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Using only the verified facts below, draft a warm 130-word listing description. Avoid Fair Housing risk, school claims, or invented features. Facts: 3 bedrooms, 2 baths, updated kitchen, covered patio, 2-car garage, near parks and dining.</a:t>
            </a:r>
            <a:endParaRPr lang="en-US" sz="1340" dirty="0"/>
          </a:p>
        </p:txBody>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14/48</a:t>
            </a:r>
            <a:endParaRPr lang="en-US" sz="7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2B84B"/>
          </a:solidFill>
          <a:ln w="12700">
            <a:solidFill>
              <a:srgbClr val="F2B84B"/>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03</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3</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Client Communication</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Better context creates messages that sound more like a professional agent.</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 FORMULA</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Use the Realtor prompt formula</a:t>
            </a:r>
            <a:endParaRPr lang="en-US" sz="2800" dirty="0"/>
          </a:p>
        </p:txBody>
      </p:sp>
      <p:sp>
        <p:nvSpPr>
          <p:cNvPr id="11" name="Shape 9"/>
          <p:cNvSpPr/>
          <p:nvPr/>
        </p:nvSpPr>
        <p:spPr>
          <a:xfrm>
            <a:off x="749808" y="1828800"/>
            <a:ext cx="3246120" cy="960120"/>
          </a:xfrm>
          <a:prstGeom prst="roundRect">
            <a:avLst>
              <a:gd name="adj" fmla="val 5714"/>
            </a:avLst>
          </a:prstGeom>
          <a:solidFill>
            <a:srgbClr val="FFFFFF"/>
          </a:solidFill>
          <a:ln w="10160">
            <a:solidFill>
              <a:srgbClr val="D8E6E8"/>
            </a:solidFill>
            <a:prstDash val="solid"/>
          </a:ln>
        </p:spPr>
      </p:sp>
      <p:sp>
        <p:nvSpPr>
          <p:cNvPr id="12" name="Text 10"/>
          <p:cNvSpPr/>
          <p:nvPr/>
        </p:nvSpPr>
        <p:spPr>
          <a:xfrm>
            <a:off x="969264" y="199339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Role</a:t>
            </a:r>
            <a:endParaRPr lang="en-US" sz="950" dirty="0"/>
          </a:p>
        </p:txBody>
      </p:sp>
      <p:sp>
        <p:nvSpPr>
          <p:cNvPr id="13" name="Text 11"/>
          <p:cNvSpPr/>
          <p:nvPr/>
        </p:nvSpPr>
        <p:spPr>
          <a:xfrm>
            <a:off x="969264" y="226771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You are helping me as a REALTOR</a:t>
            </a:r>
            <a:endParaRPr lang="en-US" sz="1150" dirty="0"/>
          </a:p>
        </p:txBody>
      </p:sp>
      <p:sp>
        <p:nvSpPr>
          <p:cNvPr id="14" name="Shape 12"/>
          <p:cNvSpPr/>
          <p:nvPr/>
        </p:nvSpPr>
        <p:spPr>
          <a:xfrm>
            <a:off x="4425696" y="1828800"/>
            <a:ext cx="3246120" cy="960120"/>
          </a:xfrm>
          <a:prstGeom prst="roundRect">
            <a:avLst>
              <a:gd name="adj" fmla="val 5714"/>
            </a:avLst>
          </a:prstGeom>
          <a:solidFill>
            <a:srgbClr val="FFFFFF"/>
          </a:solidFill>
          <a:ln w="10160">
            <a:solidFill>
              <a:srgbClr val="D8E6E8"/>
            </a:solidFill>
            <a:prstDash val="solid"/>
          </a:ln>
        </p:spPr>
      </p:sp>
      <p:sp>
        <p:nvSpPr>
          <p:cNvPr id="15" name="Text 13"/>
          <p:cNvSpPr/>
          <p:nvPr/>
        </p:nvSpPr>
        <p:spPr>
          <a:xfrm>
            <a:off x="4645152" y="199339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Task</a:t>
            </a:r>
            <a:endParaRPr lang="en-US" sz="950" dirty="0"/>
          </a:p>
        </p:txBody>
      </p:sp>
      <p:sp>
        <p:nvSpPr>
          <p:cNvPr id="16" name="Text 14"/>
          <p:cNvSpPr/>
          <p:nvPr/>
        </p:nvSpPr>
        <p:spPr>
          <a:xfrm>
            <a:off x="4645152" y="226771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Draft a text / email / script / checklist</a:t>
            </a:r>
            <a:endParaRPr lang="en-US" sz="1150" dirty="0"/>
          </a:p>
        </p:txBody>
      </p:sp>
      <p:sp>
        <p:nvSpPr>
          <p:cNvPr id="17" name="Shape 15"/>
          <p:cNvSpPr/>
          <p:nvPr/>
        </p:nvSpPr>
        <p:spPr>
          <a:xfrm>
            <a:off x="8101584" y="1828800"/>
            <a:ext cx="3246120" cy="960120"/>
          </a:xfrm>
          <a:prstGeom prst="roundRect">
            <a:avLst>
              <a:gd name="adj" fmla="val 5714"/>
            </a:avLst>
          </a:prstGeom>
          <a:solidFill>
            <a:srgbClr val="FFFFFF"/>
          </a:solidFill>
          <a:ln w="10160">
            <a:solidFill>
              <a:srgbClr val="D8E6E8"/>
            </a:solidFill>
            <a:prstDash val="solid"/>
          </a:ln>
        </p:spPr>
      </p:sp>
      <p:sp>
        <p:nvSpPr>
          <p:cNvPr id="18" name="Text 16"/>
          <p:cNvSpPr/>
          <p:nvPr/>
        </p:nvSpPr>
        <p:spPr>
          <a:xfrm>
            <a:off x="8321040" y="199339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Context</a:t>
            </a:r>
            <a:endParaRPr lang="en-US" sz="950" dirty="0"/>
          </a:p>
        </p:txBody>
      </p:sp>
      <p:sp>
        <p:nvSpPr>
          <p:cNvPr id="19" name="Text 17"/>
          <p:cNvSpPr/>
          <p:nvPr/>
        </p:nvSpPr>
        <p:spPr>
          <a:xfrm>
            <a:off x="8321040" y="226771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Client situation, property, timeline, concern</a:t>
            </a:r>
            <a:endParaRPr lang="en-US" sz="1150" dirty="0"/>
          </a:p>
        </p:txBody>
      </p:sp>
      <p:sp>
        <p:nvSpPr>
          <p:cNvPr id="20" name="Shape 18"/>
          <p:cNvSpPr/>
          <p:nvPr/>
        </p:nvSpPr>
        <p:spPr>
          <a:xfrm>
            <a:off x="749808" y="3154680"/>
            <a:ext cx="3246120" cy="960120"/>
          </a:xfrm>
          <a:prstGeom prst="roundRect">
            <a:avLst>
              <a:gd name="adj" fmla="val 5714"/>
            </a:avLst>
          </a:prstGeom>
          <a:solidFill>
            <a:srgbClr val="FFFFFF"/>
          </a:solidFill>
          <a:ln w="10160">
            <a:solidFill>
              <a:srgbClr val="D8E6E8"/>
            </a:solidFill>
            <a:prstDash val="solid"/>
          </a:ln>
        </p:spPr>
      </p:sp>
      <p:sp>
        <p:nvSpPr>
          <p:cNvPr id="21" name="Text 19"/>
          <p:cNvSpPr/>
          <p:nvPr/>
        </p:nvSpPr>
        <p:spPr>
          <a:xfrm>
            <a:off x="969264" y="331927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Tone</a:t>
            </a:r>
            <a:endParaRPr lang="en-US" sz="950" dirty="0"/>
          </a:p>
        </p:txBody>
      </p:sp>
      <p:sp>
        <p:nvSpPr>
          <p:cNvPr id="22" name="Text 20"/>
          <p:cNvSpPr/>
          <p:nvPr/>
        </p:nvSpPr>
        <p:spPr>
          <a:xfrm>
            <a:off x="969264" y="359359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Warm, concise, direct, educational</a:t>
            </a:r>
            <a:endParaRPr lang="en-US" sz="1150" dirty="0"/>
          </a:p>
        </p:txBody>
      </p:sp>
      <p:sp>
        <p:nvSpPr>
          <p:cNvPr id="23" name="Shape 21"/>
          <p:cNvSpPr/>
          <p:nvPr/>
        </p:nvSpPr>
        <p:spPr>
          <a:xfrm>
            <a:off x="4425696" y="3154680"/>
            <a:ext cx="3246120" cy="960120"/>
          </a:xfrm>
          <a:prstGeom prst="roundRect">
            <a:avLst>
              <a:gd name="adj" fmla="val 5714"/>
            </a:avLst>
          </a:prstGeom>
          <a:solidFill>
            <a:srgbClr val="FFFFFF"/>
          </a:solidFill>
          <a:ln w="10160">
            <a:solidFill>
              <a:srgbClr val="D8E6E8"/>
            </a:solidFill>
            <a:prstDash val="solid"/>
          </a:ln>
        </p:spPr>
      </p:sp>
      <p:sp>
        <p:nvSpPr>
          <p:cNvPr id="24" name="Text 22"/>
          <p:cNvSpPr/>
          <p:nvPr/>
        </p:nvSpPr>
        <p:spPr>
          <a:xfrm>
            <a:off x="4645152" y="331927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Constraints</a:t>
            </a:r>
            <a:endParaRPr lang="en-US" sz="950" dirty="0"/>
          </a:p>
        </p:txBody>
      </p:sp>
      <p:sp>
        <p:nvSpPr>
          <p:cNvPr id="25" name="Text 23"/>
          <p:cNvSpPr/>
          <p:nvPr/>
        </p:nvSpPr>
        <p:spPr>
          <a:xfrm>
            <a:off x="4645152" y="359359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Avoid claims, private data, Fair Housing risk</a:t>
            </a:r>
            <a:endParaRPr lang="en-US" sz="1150" dirty="0"/>
          </a:p>
        </p:txBody>
      </p:sp>
      <p:sp>
        <p:nvSpPr>
          <p:cNvPr id="26" name="Shape 24"/>
          <p:cNvSpPr/>
          <p:nvPr/>
        </p:nvSpPr>
        <p:spPr>
          <a:xfrm>
            <a:off x="8101584" y="3154680"/>
            <a:ext cx="3246120" cy="960120"/>
          </a:xfrm>
          <a:prstGeom prst="roundRect">
            <a:avLst>
              <a:gd name="adj" fmla="val 5714"/>
            </a:avLst>
          </a:prstGeom>
          <a:solidFill>
            <a:srgbClr val="FFFFFF"/>
          </a:solidFill>
          <a:ln w="10160">
            <a:solidFill>
              <a:srgbClr val="D8E6E8"/>
            </a:solidFill>
            <a:prstDash val="solid"/>
          </a:ln>
        </p:spPr>
      </p:sp>
      <p:sp>
        <p:nvSpPr>
          <p:cNvPr id="27" name="Text 25"/>
          <p:cNvSpPr/>
          <p:nvPr/>
        </p:nvSpPr>
        <p:spPr>
          <a:xfrm>
            <a:off x="8321040" y="331927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Goal</a:t>
            </a:r>
            <a:endParaRPr lang="en-US" sz="950" dirty="0"/>
          </a:p>
        </p:txBody>
      </p:sp>
      <p:sp>
        <p:nvSpPr>
          <p:cNvPr id="28" name="Text 26"/>
          <p:cNvSpPr/>
          <p:nvPr/>
        </p:nvSpPr>
        <p:spPr>
          <a:xfrm>
            <a:off x="8321040" y="359359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Reply, next step, clarity, appointment</a:t>
            </a:r>
            <a:endParaRPr lang="en-US" sz="1150" dirty="0"/>
          </a:p>
        </p:txBody>
      </p:sp>
      <p:sp>
        <p:nvSpPr>
          <p:cNvPr id="29" name="Shape 27"/>
          <p:cNvSpPr/>
          <p:nvPr/>
        </p:nvSpPr>
        <p:spPr>
          <a:xfrm>
            <a:off x="502920" y="6473952"/>
            <a:ext cx="11201400" cy="0"/>
          </a:xfrm>
          <a:prstGeom prst="line">
            <a:avLst/>
          </a:prstGeom>
          <a:noFill/>
          <a:ln w="9525">
            <a:solidFill>
              <a:srgbClr val="D8E6E8"/>
            </a:solidFill>
            <a:prstDash val="solid"/>
          </a:ln>
        </p:spPr>
      </p:sp>
      <p:sp>
        <p:nvSpPr>
          <p:cNvPr id="30" name="Text 2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16/48</a:t>
            </a:r>
            <a:endParaRPr lang="en-US" sz="7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BUYER EXAMPLE</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Buyer follow-up: clear, short, useful</a:t>
            </a:r>
            <a:endParaRPr lang="en-US" sz="2800" dirty="0"/>
          </a:p>
        </p:txBody>
      </p:sp>
      <p:sp>
        <p:nvSpPr>
          <p:cNvPr id="11" name="Shape 9"/>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2" name="Shape 10"/>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3" name="Text 11"/>
          <p:cNvSpPr/>
          <p:nvPr/>
        </p:nvSpPr>
        <p:spPr>
          <a:xfrm>
            <a:off x="1325880" y="2377440"/>
            <a:ext cx="2148840" cy="502920"/>
          </a:xfrm>
          <a:prstGeom prst="rect">
            <a:avLst/>
          </a:prstGeom>
          <a:noFill/>
          <a:ln/>
        </p:spPr>
        <p:txBody>
          <a:bodyPr wrap="square" lIns="381" tIns="381" rIns="381" bIns="381" rtlCol="0" anchor="ctr">
            <a:normAutofit/>
          </a:bodyPr>
          <a:lstStyle/>
          <a:p>
            <a:pPr indent="0" marL="0">
              <a:buNone/>
            </a:pPr>
            <a:r>
              <a:rPr lang="en-US" sz="1280" b="1" dirty="0">
                <a:solidFill>
                  <a:srgbClr val="16324F"/>
                </a:solidFill>
              </a:rPr>
              <a:t>A buyer toured two condos, liked one, but is worried about monthly payment.</a:t>
            </a:r>
            <a:endParaRPr lang="en-US" sz="1280" dirty="0"/>
          </a:p>
        </p:txBody>
      </p:sp>
      <p:sp>
        <p:nvSpPr>
          <p:cNvPr id="14" name="Text 12"/>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5" name="Shape 13"/>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6" name="Shape 14"/>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7" name="Text 15"/>
          <p:cNvSpPr/>
          <p:nvPr/>
        </p:nvSpPr>
        <p:spPr>
          <a:xfrm>
            <a:off x="5166360" y="2487168"/>
            <a:ext cx="4892040" cy="1051560"/>
          </a:xfrm>
          <a:prstGeom prst="rect">
            <a:avLst/>
          </a:prstGeom>
          <a:noFill/>
          <a:ln/>
        </p:spPr>
        <p:txBody>
          <a:bodyPr wrap="square" lIns="381" tIns="381" rIns="381" bIns="381" rtlCol="0" anchor="ctr">
            <a:normAutofit/>
          </a:bodyPr>
          <a:lstStyle/>
          <a:p>
            <a:pPr indent="0" marL="0">
              <a:buNone/>
            </a:pPr>
            <a:r>
              <a:rPr lang="en-US" sz="1320" dirty="0">
                <a:solidFill>
                  <a:srgbClr val="102033"/>
                </a:solidFill>
              </a:rPr>
              <a:t>I know the monthly payment is the big question. I can send a quick side-by-side with estimated HOA, taxes, and payment ranges so you can compare without guessing. Would that be helpful before we decide whether to see similar options?</a:t>
            </a:r>
            <a:endParaRPr lang="en-US" sz="1320" dirty="0"/>
          </a:p>
        </p:txBody>
      </p:sp>
      <p:sp>
        <p:nvSpPr>
          <p:cNvPr id="18" name="Text 16"/>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17/48</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SELLER EXAMPLE</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Seller update: honest without sounding negative</a:t>
            </a:r>
            <a:endParaRPr lang="en-US" sz="2800" dirty="0"/>
          </a:p>
        </p:txBody>
      </p:sp>
      <p:sp>
        <p:nvSpPr>
          <p:cNvPr id="11" name="Shape 9"/>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2" name="Shape 10"/>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3" name="Text 11"/>
          <p:cNvSpPr/>
          <p:nvPr/>
        </p:nvSpPr>
        <p:spPr>
          <a:xfrm>
            <a:off x="1325880" y="2377440"/>
            <a:ext cx="2148840" cy="502920"/>
          </a:xfrm>
          <a:prstGeom prst="rect">
            <a:avLst/>
          </a:prstGeom>
          <a:noFill/>
          <a:ln/>
        </p:spPr>
        <p:txBody>
          <a:bodyPr wrap="square" lIns="381" tIns="381" rIns="381" bIns="381" rtlCol="0" anchor="ctr">
            <a:normAutofit/>
          </a:bodyPr>
          <a:lstStyle/>
          <a:p>
            <a:pPr indent="0" marL="0">
              <a:buNone/>
            </a:pPr>
            <a:r>
              <a:rPr lang="en-US" sz="1280" b="1" dirty="0">
                <a:solidFill>
                  <a:srgbClr val="16324F"/>
                </a:solidFill>
              </a:rPr>
              <a:t>A listing had showings but no offers this week.</a:t>
            </a:r>
            <a:endParaRPr lang="en-US" sz="1280" dirty="0"/>
          </a:p>
        </p:txBody>
      </p:sp>
      <p:sp>
        <p:nvSpPr>
          <p:cNvPr id="14" name="Text 12"/>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5" name="Shape 13"/>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6" name="Shape 14"/>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7" name="Text 15"/>
          <p:cNvSpPr/>
          <p:nvPr/>
        </p:nvSpPr>
        <p:spPr>
          <a:xfrm>
            <a:off x="5166360" y="2487168"/>
            <a:ext cx="4892040" cy="1051560"/>
          </a:xfrm>
          <a:prstGeom prst="rect">
            <a:avLst/>
          </a:prstGeom>
          <a:noFill/>
          <a:ln/>
        </p:spPr>
        <p:txBody>
          <a:bodyPr wrap="square" lIns="381" tIns="381" rIns="381" bIns="381" rtlCol="0" anchor="ctr">
            <a:normAutofit/>
          </a:bodyPr>
          <a:lstStyle/>
          <a:p>
            <a:pPr indent="0" marL="0">
              <a:buNone/>
            </a:pPr>
            <a:r>
              <a:rPr lang="en-US" sz="1320" dirty="0">
                <a:solidFill>
                  <a:srgbClr val="102033"/>
                </a:solidFill>
              </a:rPr>
              <a:t>We had three showings this week and the consistent feedback was positive on condition, with some hesitation around pricing compared with recent nearby options. My recommendation is that we review the newest activity together and decide whether a small adjustment would improve our position.</a:t>
            </a:r>
            <a:endParaRPr lang="en-US" sz="1320" dirty="0"/>
          </a:p>
        </p:txBody>
      </p:sp>
      <p:sp>
        <p:nvSpPr>
          <p:cNvPr id="18" name="Text 16"/>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18/48</a:t>
            </a:r>
            <a:endParaRPr lang="en-US" sz="7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Improve this follow-up message</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Original message:</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Just checking in to see if you are still interested.</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Give the lead a reason to reply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Ask one specific question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Keep it under 45 words</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19/48</a:t>
            </a:r>
            <a:endParaRPr lang="en-US" sz="7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Reusable communication prompts</a:t>
            </a:r>
            <a:endParaRPr lang="en-US" sz="2800" dirty="0"/>
          </a:p>
        </p:txBody>
      </p:sp>
      <p:sp>
        <p:nvSpPr>
          <p:cNvPr id="11" name="Shape 9"/>
          <p:cNvSpPr/>
          <p:nvPr/>
        </p:nvSpPr>
        <p:spPr>
          <a:xfrm>
            <a:off x="868680" y="1755648"/>
            <a:ext cx="9646920" cy="475488"/>
          </a:xfrm>
          <a:prstGeom prst="roundRect">
            <a:avLst>
              <a:gd name="adj" fmla="val 11538"/>
            </a:avLst>
          </a:prstGeom>
          <a:solidFill>
            <a:srgbClr val="EAF7F7"/>
          </a:solidFill>
          <a:ln w="10160">
            <a:solidFill>
              <a:srgbClr val="B8DDE0"/>
            </a:solidFill>
            <a:prstDash val="solid"/>
          </a:ln>
        </p:spPr>
      </p:sp>
      <p:sp>
        <p:nvSpPr>
          <p:cNvPr id="12" name="Shape 10"/>
          <p:cNvSpPr/>
          <p:nvPr/>
        </p:nvSpPr>
        <p:spPr>
          <a:xfrm>
            <a:off x="1078992" y="1810512"/>
            <a:ext cx="402336" cy="402336"/>
          </a:xfrm>
          <a:prstGeom prst="ellipse">
            <a:avLst/>
          </a:prstGeom>
          <a:solidFill>
            <a:srgbClr val="008F8F"/>
          </a:solidFill>
          <a:ln w="12700">
            <a:solidFill>
              <a:srgbClr val="008F8F"/>
            </a:solidFill>
            <a:prstDash val="solid"/>
          </a:ln>
        </p:spPr>
      </p:sp>
      <p:sp>
        <p:nvSpPr>
          <p:cNvPr id="13" name="Text 11"/>
          <p:cNvSpPr/>
          <p:nvPr/>
        </p:nvSpPr>
        <p:spPr>
          <a:xfrm>
            <a:off x="1078992" y="19019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627632" y="1828800"/>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Rewrite this text so it sounds warm, concise, and natural for a REALTOR: [draft]</a:t>
            </a:r>
            <a:endParaRPr lang="en-US" sz="1260" dirty="0"/>
          </a:p>
        </p:txBody>
      </p:sp>
      <p:sp>
        <p:nvSpPr>
          <p:cNvPr id="15" name="Shape 13"/>
          <p:cNvSpPr/>
          <p:nvPr/>
        </p:nvSpPr>
        <p:spPr>
          <a:xfrm>
            <a:off x="868680" y="2377440"/>
            <a:ext cx="9646920" cy="475488"/>
          </a:xfrm>
          <a:prstGeom prst="roundRect">
            <a:avLst>
              <a:gd name="adj" fmla="val 11538"/>
            </a:avLst>
          </a:prstGeom>
          <a:solidFill>
            <a:srgbClr val="FFFFFF"/>
          </a:solidFill>
          <a:ln w="10160">
            <a:solidFill>
              <a:srgbClr val="D8E6E8"/>
            </a:solidFill>
            <a:prstDash val="solid"/>
          </a:ln>
        </p:spPr>
      </p:sp>
      <p:sp>
        <p:nvSpPr>
          <p:cNvPr id="16" name="Shape 14"/>
          <p:cNvSpPr/>
          <p:nvPr/>
        </p:nvSpPr>
        <p:spPr>
          <a:xfrm>
            <a:off x="1078992" y="2432304"/>
            <a:ext cx="402336" cy="402336"/>
          </a:xfrm>
          <a:prstGeom prst="ellipse">
            <a:avLst/>
          </a:prstGeom>
          <a:solidFill>
            <a:srgbClr val="2F80ED"/>
          </a:solidFill>
          <a:ln w="12700">
            <a:solidFill>
              <a:srgbClr val="2F80ED"/>
            </a:solidFill>
            <a:prstDash val="solid"/>
          </a:ln>
        </p:spPr>
      </p:sp>
      <p:sp>
        <p:nvSpPr>
          <p:cNvPr id="17" name="Text 15"/>
          <p:cNvSpPr/>
          <p:nvPr/>
        </p:nvSpPr>
        <p:spPr>
          <a:xfrm>
            <a:off x="1078992" y="2523744"/>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8" name="Text 16"/>
          <p:cNvSpPr/>
          <p:nvPr/>
        </p:nvSpPr>
        <p:spPr>
          <a:xfrm>
            <a:off x="1627632" y="2450592"/>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Create a buyer follow-up email based on these call notes: [notes]. Ask one clear next-step question.</a:t>
            </a:r>
            <a:endParaRPr lang="en-US" sz="1260" dirty="0"/>
          </a:p>
        </p:txBody>
      </p:sp>
      <p:sp>
        <p:nvSpPr>
          <p:cNvPr id="19" name="Shape 17"/>
          <p:cNvSpPr/>
          <p:nvPr/>
        </p:nvSpPr>
        <p:spPr>
          <a:xfrm>
            <a:off x="868680" y="2999232"/>
            <a:ext cx="9646920" cy="475488"/>
          </a:xfrm>
          <a:prstGeom prst="roundRect">
            <a:avLst>
              <a:gd name="adj" fmla="val 11538"/>
            </a:avLst>
          </a:prstGeom>
          <a:solidFill>
            <a:srgbClr val="EAF7F7"/>
          </a:solidFill>
          <a:ln w="10160">
            <a:solidFill>
              <a:srgbClr val="B8DDE0"/>
            </a:solidFill>
            <a:prstDash val="solid"/>
          </a:ln>
        </p:spPr>
      </p:sp>
      <p:sp>
        <p:nvSpPr>
          <p:cNvPr id="20" name="Shape 18"/>
          <p:cNvSpPr/>
          <p:nvPr/>
        </p:nvSpPr>
        <p:spPr>
          <a:xfrm>
            <a:off x="1078992" y="3054096"/>
            <a:ext cx="402336" cy="402336"/>
          </a:xfrm>
          <a:prstGeom prst="ellipse">
            <a:avLst/>
          </a:prstGeom>
          <a:solidFill>
            <a:srgbClr val="F45B69"/>
          </a:solidFill>
          <a:ln w="12700">
            <a:solidFill>
              <a:srgbClr val="F45B69"/>
            </a:solidFill>
            <a:prstDash val="solid"/>
          </a:ln>
        </p:spPr>
      </p:sp>
      <p:sp>
        <p:nvSpPr>
          <p:cNvPr id="21" name="Text 19"/>
          <p:cNvSpPr/>
          <p:nvPr/>
        </p:nvSpPr>
        <p:spPr>
          <a:xfrm>
            <a:off x="1078992" y="3145536"/>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2" name="Text 20"/>
          <p:cNvSpPr/>
          <p:nvPr/>
        </p:nvSpPr>
        <p:spPr>
          <a:xfrm>
            <a:off x="1627632" y="3072384"/>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Draft a seller update after a quiet week. Be honest, professional, and solution-oriented.</a:t>
            </a:r>
            <a:endParaRPr lang="en-US" sz="1260" dirty="0"/>
          </a:p>
        </p:txBody>
      </p:sp>
      <p:sp>
        <p:nvSpPr>
          <p:cNvPr id="23" name="Shape 21"/>
          <p:cNvSpPr/>
          <p:nvPr/>
        </p:nvSpPr>
        <p:spPr>
          <a:xfrm>
            <a:off x="868680" y="3621024"/>
            <a:ext cx="9646920" cy="475488"/>
          </a:xfrm>
          <a:prstGeom prst="roundRect">
            <a:avLst>
              <a:gd name="adj" fmla="val 11538"/>
            </a:avLst>
          </a:prstGeom>
          <a:solidFill>
            <a:srgbClr val="FFFFFF"/>
          </a:solidFill>
          <a:ln w="10160">
            <a:solidFill>
              <a:srgbClr val="D8E6E8"/>
            </a:solidFill>
            <a:prstDash val="solid"/>
          </a:ln>
        </p:spPr>
      </p:sp>
      <p:sp>
        <p:nvSpPr>
          <p:cNvPr id="24" name="Shape 22"/>
          <p:cNvSpPr/>
          <p:nvPr/>
        </p:nvSpPr>
        <p:spPr>
          <a:xfrm>
            <a:off x="1078992" y="3675888"/>
            <a:ext cx="402336" cy="402336"/>
          </a:xfrm>
          <a:prstGeom prst="ellipse">
            <a:avLst/>
          </a:prstGeom>
          <a:solidFill>
            <a:srgbClr val="2E7D5B"/>
          </a:solidFill>
          <a:ln w="12700">
            <a:solidFill>
              <a:srgbClr val="2E7D5B"/>
            </a:solidFill>
            <a:prstDash val="solid"/>
          </a:ln>
        </p:spPr>
      </p:sp>
      <p:sp>
        <p:nvSpPr>
          <p:cNvPr id="25" name="Text 23"/>
          <p:cNvSpPr/>
          <p:nvPr/>
        </p:nvSpPr>
        <p:spPr>
          <a:xfrm>
            <a:off x="1078992" y="3767328"/>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6" name="Text 24"/>
          <p:cNvSpPr/>
          <p:nvPr/>
        </p:nvSpPr>
        <p:spPr>
          <a:xfrm>
            <a:off x="1627632" y="3694176"/>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Give me three tone options: concise, reassuring, and more direct.</a:t>
            </a:r>
            <a:endParaRPr lang="en-US" sz="1260" dirty="0"/>
          </a:p>
        </p:txBody>
      </p:sp>
      <p:sp>
        <p:nvSpPr>
          <p:cNvPr id="27" name="Shape 25"/>
          <p:cNvSpPr/>
          <p:nvPr/>
        </p:nvSpPr>
        <p:spPr>
          <a:xfrm>
            <a:off x="502920" y="6473952"/>
            <a:ext cx="11201400" cy="0"/>
          </a:xfrm>
          <a:prstGeom prst="line">
            <a:avLst/>
          </a:prstGeom>
          <a:noFill/>
          <a:ln w="9525">
            <a:solidFill>
              <a:srgbClr val="D8E6E8"/>
            </a:solidFill>
            <a:prstDash val="solid"/>
          </a:ln>
        </p:spPr>
      </p:sp>
      <p:sp>
        <p:nvSpPr>
          <p:cNvPr id="28" name="Text 2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9" name="Text 2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20/48</a:t>
            </a:r>
            <a:endParaRPr lang="en-US" sz="7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E7D5B"/>
          </a:solidFill>
          <a:ln w="12700">
            <a:solidFill>
              <a:srgbClr val="2E7D5B"/>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04</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4</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Lead Follow-Up</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The goal is not more messages. The goal is better next steps.</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LEAD REALITY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300" b="1" dirty="0">
                <a:solidFill>
                  <a:srgbClr val="102033"/>
                </a:solidFill>
                <a:latin typeface="Aptos Display" pitchFamily="34" charset="0"/>
                <a:ea typeface="Aptos Display" pitchFamily="34" charset="-122"/>
                <a:cs typeface="Aptos Display" pitchFamily="34" charset="-120"/>
              </a:rPr>
              <a:t>Most follow-up fails because it is generic, late, or stops too soon</a:t>
            </a:r>
            <a:endParaRPr lang="en-US" sz="23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Online leads often arrive with limited context</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Speed matters, but fast and generic still feels automated</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Different lead sources need different first responses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Useful follow-up creates a reason to continue the conversation</a:t>
            </a:r>
            <a:endParaRPr lang="en-US" sz="165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Useful beats frequent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Better follow-up gives the lead a reason to respond and a clear next step.</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22/48</a:t>
            </a:r>
            <a:endParaRPr lang="en-US" sz="7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WORKFLOW</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Lead note to next-best message</a:t>
            </a:r>
            <a:endParaRPr lang="en-US" sz="2800" dirty="0"/>
          </a:p>
        </p:txBody>
      </p:sp>
      <p:sp>
        <p:nvSpPr>
          <p:cNvPr id="11" name="Shape 9"/>
          <p:cNvSpPr/>
          <p:nvPr/>
        </p:nvSpPr>
        <p:spPr>
          <a:xfrm>
            <a:off x="731520" y="2331720"/>
            <a:ext cx="402336" cy="402336"/>
          </a:xfrm>
          <a:prstGeom prst="ellipse">
            <a:avLst/>
          </a:prstGeom>
          <a:solidFill>
            <a:srgbClr val="008F8F"/>
          </a:solidFill>
          <a:ln w="12700">
            <a:solidFill>
              <a:srgbClr val="008F8F"/>
            </a:solidFill>
            <a:prstDash val="solid"/>
          </a:ln>
        </p:spPr>
      </p:sp>
      <p:sp>
        <p:nvSpPr>
          <p:cNvPr id="12" name="Text 10"/>
          <p:cNvSpPr/>
          <p:nvPr/>
        </p:nvSpPr>
        <p:spPr>
          <a:xfrm>
            <a:off x="7315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3" name="Shape 11"/>
          <p:cNvSpPr/>
          <p:nvPr/>
        </p:nvSpPr>
        <p:spPr>
          <a:xfrm>
            <a:off x="1143000" y="2532888"/>
            <a:ext cx="1115568" cy="0"/>
          </a:xfrm>
          <a:prstGeom prst="line">
            <a:avLst/>
          </a:prstGeom>
          <a:noFill/>
          <a:ln w="17780">
            <a:solidFill>
              <a:srgbClr val="D8E6E8"/>
            </a:solidFill>
            <a:prstDash val="solid"/>
            <a:tailEnd type="triangle"/>
          </a:ln>
        </p:spPr>
      </p:sp>
      <p:sp>
        <p:nvSpPr>
          <p:cNvPr id="14" name="Text 12"/>
          <p:cNvSpPr/>
          <p:nvPr/>
        </p:nvSpPr>
        <p:spPr>
          <a:xfrm>
            <a:off x="5943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Capture source + behavior</a:t>
            </a:r>
            <a:endParaRPr lang="en-US" sz="1150" dirty="0"/>
          </a:p>
        </p:txBody>
      </p:sp>
      <p:sp>
        <p:nvSpPr>
          <p:cNvPr id="15" name="Shape 13"/>
          <p:cNvSpPr/>
          <p:nvPr/>
        </p:nvSpPr>
        <p:spPr>
          <a:xfrm>
            <a:off x="2468880" y="2496312"/>
            <a:ext cx="402336" cy="402336"/>
          </a:xfrm>
          <a:prstGeom prst="ellipse">
            <a:avLst/>
          </a:prstGeom>
          <a:solidFill>
            <a:srgbClr val="2F80ED"/>
          </a:solidFill>
          <a:ln w="12700">
            <a:solidFill>
              <a:srgbClr val="2F80ED"/>
            </a:solidFill>
            <a:prstDash val="solid"/>
          </a:ln>
        </p:spPr>
      </p:sp>
      <p:sp>
        <p:nvSpPr>
          <p:cNvPr id="16" name="Text 14"/>
          <p:cNvSpPr/>
          <p:nvPr/>
        </p:nvSpPr>
        <p:spPr>
          <a:xfrm>
            <a:off x="246888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7" name="Shape 15"/>
          <p:cNvSpPr/>
          <p:nvPr/>
        </p:nvSpPr>
        <p:spPr>
          <a:xfrm>
            <a:off x="2880360" y="2532888"/>
            <a:ext cx="1115568" cy="0"/>
          </a:xfrm>
          <a:prstGeom prst="line">
            <a:avLst/>
          </a:prstGeom>
          <a:noFill/>
          <a:ln w="17780">
            <a:solidFill>
              <a:srgbClr val="D8E6E8"/>
            </a:solidFill>
            <a:prstDash val="solid"/>
            <a:tailEnd type="triangle"/>
          </a:ln>
        </p:spPr>
      </p:sp>
      <p:sp>
        <p:nvSpPr>
          <p:cNvPr id="18" name="Text 16"/>
          <p:cNvSpPr/>
          <p:nvPr/>
        </p:nvSpPr>
        <p:spPr>
          <a:xfrm>
            <a:off x="233172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Identify likely intent</a:t>
            </a:r>
            <a:endParaRPr lang="en-US" sz="1150" dirty="0"/>
          </a:p>
        </p:txBody>
      </p:sp>
      <p:sp>
        <p:nvSpPr>
          <p:cNvPr id="19" name="Shape 17"/>
          <p:cNvSpPr/>
          <p:nvPr/>
        </p:nvSpPr>
        <p:spPr>
          <a:xfrm>
            <a:off x="4206240" y="2331720"/>
            <a:ext cx="402336" cy="402336"/>
          </a:xfrm>
          <a:prstGeom prst="ellipse">
            <a:avLst/>
          </a:prstGeom>
          <a:solidFill>
            <a:srgbClr val="F45B69"/>
          </a:solidFill>
          <a:ln w="12700">
            <a:solidFill>
              <a:srgbClr val="F45B69"/>
            </a:solidFill>
            <a:prstDash val="solid"/>
          </a:ln>
        </p:spPr>
      </p:sp>
      <p:sp>
        <p:nvSpPr>
          <p:cNvPr id="20" name="Text 18"/>
          <p:cNvSpPr/>
          <p:nvPr/>
        </p:nvSpPr>
        <p:spPr>
          <a:xfrm>
            <a:off x="420624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1" name="Shape 19"/>
          <p:cNvSpPr/>
          <p:nvPr/>
        </p:nvSpPr>
        <p:spPr>
          <a:xfrm>
            <a:off x="4617720" y="2532888"/>
            <a:ext cx="1115568" cy="0"/>
          </a:xfrm>
          <a:prstGeom prst="line">
            <a:avLst/>
          </a:prstGeom>
          <a:noFill/>
          <a:ln w="17780">
            <a:solidFill>
              <a:srgbClr val="D8E6E8"/>
            </a:solidFill>
            <a:prstDash val="solid"/>
            <a:tailEnd type="triangle"/>
          </a:ln>
        </p:spPr>
      </p:sp>
      <p:sp>
        <p:nvSpPr>
          <p:cNvPr id="22" name="Text 20"/>
          <p:cNvSpPr/>
          <p:nvPr/>
        </p:nvSpPr>
        <p:spPr>
          <a:xfrm>
            <a:off x="406908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Choose channel</a:t>
            </a:r>
            <a:endParaRPr lang="en-US" sz="1150" dirty="0"/>
          </a:p>
        </p:txBody>
      </p:sp>
      <p:sp>
        <p:nvSpPr>
          <p:cNvPr id="23" name="Shape 21"/>
          <p:cNvSpPr/>
          <p:nvPr/>
        </p:nvSpPr>
        <p:spPr>
          <a:xfrm>
            <a:off x="5943600" y="2496312"/>
            <a:ext cx="402336" cy="402336"/>
          </a:xfrm>
          <a:prstGeom prst="ellipse">
            <a:avLst/>
          </a:prstGeom>
          <a:solidFill>
            <a:srgbClr val="2E7D5B"/>
          </a:solidFill>
          <a:ln w="12700">
            <a:solidFill>
              <a:srgbClr val="2E7D5B"/>
            </a:solidFill>
            <a:prstDash val="solid"/>
          </a:ln>
        </p:spPr>
      </p:sp>
      <p:sp>
        <p:nvSpPr>
          <p:cNvPr id="24" name="Text 22"/>
          <p:cNvSpPr/>
          <p:nvPr/>
        </p:nvSpPr>
        <p:spPr>
          <a:xfrm>
            <a:off x="594360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5" name="Shape 23"/>
          <p:cNvSpPr/>
          <p:nvPr/>
        </p:nvSpPr>
        <p:spPr>
          <a:xfrm>
            <a:off x="6355080" y="2532888"/>
            <a:ext cx="1115568" cy="0"/>
          </a:xfrm>
          <a:prstGeom prst="line">
            <a:avLst/>
          </a:prstGeom>
          <a:noFill/>
          <a:ln w="17780">
            <a:solidFill>
              <a:srgbClr val="D8E6E8"/>
            </a:solidFill>
            <a:prstDash val="solid"/>
            <a:tailEnd type="triangle"/>
          </a:ln>
        </p:spPr>
      </p:sp>
      <p:sp>
        <p:nvSpPr>
          <p:cNvPr id="26" name="Text 24"/>
          <p:cNvSpPr/>
          <p:nvPr/>
        </p:nvSpPr>
        <p:spPr>
          <a:xfrm>
            <a:off x="580644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Draft one useful message</a:t>
            </a:r>
            <a:endParaRPr lang="en-US" sz="1150" dirty="0"/>
          </a:p>
        </p:txBody>
      </p:sp>
      <p:sp>
        <p:nvSpPr>
          <p:cNvPr id="27" name="Shape 25"/>
          <p:cNvSpPr/>
          <p:nvPr/>
        </p:nvSpPr>
        <p:spPr>
          <a:xfrm>
            <a:off x="7680960" y="2331720"/>
            <a:ext cx="402336" cy="402336"/>
          </a:xfrm>
          <a:prstGeom prst="ellipse">
            <a:avLst/>
          </a:prstGeom>
          <a:solidFill>
            <a:srgbClr val="F2B84B"/>
          </a:solidFill>
          <a:ln w="12700">
            <a:solidFill>
              <a:srgbClr val="F2B84B"/>
            </a:solidFill>
            <a:prstDash val="solid"/>
          </a:ln>
        </p:spPr>
      </p:sp>
      <p:sp>
        <p:nvSpPr>
          <p:cNvPr id="28" name="Text 26"/>
          <p:cNvSpPr/>
          <p:nvPr/>
        </p:nvSpPr>
        <p:spPr>
          <a:xfrm>
            <a:off x="768096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9" name="Shape 27"/>
          <p:cNvSpPr/>
          <p:nvPr/>
        </p:nvSpPr>
        <p:spPr>
          <a:xfrm>
            <a:off x="8092440" y="2532888"/>
            <a:ext cx="1115568" cy="0"/>
          </a:xfrm>
          <a:prstGeom prst="line">
            <a:avLst/>
          </a:prstGeom>
          <a:noFill/>
          <a:ln w="17780">
            <a:solidFill>
              <a:srgbClr val="D8E6E8"/>
            </a:solidFill>
            <a:prstDash val="solid"/>
            <a:tailEnd type="triangle"/>
          </a:ln>
        </p:spPr>
      </p:sp>
      <p:sp>
        <p:nvSpPr>
          <p:cNvPr id="30" name="Text 28"/>
          <p:cNvSpPr/>
          <p:nvPr/>
        </p:nvSpPr>
        <p:spPr>
          <a:xfrm>
            <a:off x="754380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Review for accuracy + tone</a:t>
            </a:r>
            <a:endParaRPr lang="en-US" sz="1150" dirty="0"/>
          </a:p>
        </p:txBody>
      </p:sp>
      <p:sp>
        <p:nvSpPr>
          <p:cNvPr id="31" name="Shape 29"/>
          <p:cNvSpPr/>
          <p:nvPr/>
        </p:nvSpPr>
        <p:spPr>
          <a:xfrm>
            <a:off x="9418320" y="2496312"/>
            <a:ext cx="402336" cy="402336"/>
          </a:xfrm>
          <a:prstGeom prst="ellipse">
            <a:avLst/>
          </a:prstGeom>
          <a:solidFill>
            <a:srgbClr val="16324F"/>
          </a:solidFill>
          <a:ln w="12700">
            <a:solidFill>
              <a:srgbClr val="16324F"/>
            </a:solidFill>
            <a:prstDash val="solid"/>
          </a:ln>
        </p:spPr>
      </p:sp>
      <p:sp>
        <p:nvSpPr>
          <p:cNvPr id="32" name="Text 30"/>
          <p:cNvSpPr/>
          <p:nvPr/>
        </p:nvSpPr>
        <p:spPr>
          <a:xfrm>
            <a:off x="94183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6</a:t>
            </a:r>
            <a:endParaRPr lang="en-US" sz="800" dirty="0"/>
          </a:p>
        </p:txBody>
      </p:sp>
      <p:sp>
        <p:nvSpPr>
          <p:cNvPr id="33" name="Text 31"/>
          <p:cNvSpPr/>
          <p:nvPr/>
        </p:nvSpPr>
        <p:spPr>
          <a:xfrm>
            <a:off x="92811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Send and log next step</a:t>
            </a:r>
            <a:endParaRPr lang="en-US" sz="1150" dirty="0"/>
          </a:p>
        </p:txBody>
      </p:sp>
      <p:sp>
        <p:nvSpPr>
          <p:cNvPr id="34" name="Shape 32"/>
          <p:cNvSpPr/>
          <p:nvPr/>
        </p:nvSpPr>
        <p:spPr>
          <a:xfrm>
            <a:off x="502920" y="6473952"/>
            <a:ext cx="11201400" cy="0"/>
          </a:xfrm>
          <a:prstGeom prst="line">
            <a:avLst/>
          </a:prstGeom>
          <a:noFill/>
          <a:ln w="9525">
            <a:solidFill>
              <a:srgbClr val="D8E6E8"/>
            </a:solidFill>
            <a:prstDash val="solid"/>
          </a:ln>
        </p:spPr>
      </p:sp>
      <p:sp>
        <p:nvSpPr>
          <p:cNvPr id="35" name="Text 3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6" name="Text 3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23/48</a:t>
            </a:r>
            <a:endParaRPr lang="en-US" sz="7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SYNTHETIC LEAD</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300" b="1" dirty="0">
                <a:solidFill>
                  <a:srgbClr val="102033"/>
                </a:solidFill>
                <a:latin typeface="Aptos Display" pitchFamily="34" charset="0"/>
                <a:ea typeface="Aptos Display" pitchFamily="34" charset="-122"/>
                <a:cs typeface="Aptos Display" pitchFamily="34" charset="-120"/>
              </a:rPr>
              <a:t>Property inquiry response that does more than answer "available?"</a:t>
            </a:r>
            <a:endParaRPr lang="en-US" sz="2300" dirty="0"/>
          </a:p>
        </p:txBody>
      </p:sp>
      <p:sp>
        <p:nvSpPr>
          <p:cNvPr id="11" name="Shape 9"/>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2" name="Shape 10"/>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3" name="Text 11"/>
          <p:cNvSpPr/>
          <p:nvPr/>
        </p:nvSpPr>
        <p:spPr>
          <a:xfrm>
            <a:off x="1325880" y="2377440"/>
            <a:ext cx="2148840" cy="502920"/>
          </a:xfrm>
          <a:prstGeom prst="rect">
            <a:avLst/>
          </a:prstGeom>
          <a:noFill/>
          <a:ln/>
        </p:spPr>
        <p:txBody>
          <a:bodyPr wrap="square" lIns="381" tIns="381" rIns="381" bIns="381" rtlCol="0" anchor="ctr">
            <a:normAutofit/>
          </a:bodyPr>
          <a:lstStyle/>
          <a:p>
            <a:pPr indent="0" marL="0">
              <a:buNone/>
            </a:pPr>
            <a:r>
              <a:rPr lang="en-US" sz="1280" b="1" dirty="0">
                <a:solidFill>
                  <a:srgbClr val="16324F"/>
                </a:solidFill>
              </a:rPr>
              <a:t>Lead asked: "Is the condo on Brickell still available?"</a:t>
            </a:r>
            <a:endParaRPr lang="en-US" sz="1280" dirty="0"/>
          </a:p>
        </p:txBody>
      </p:sp>
      <p:sp>
        <p:nvSpPr>
          <p:cNvPr id="14" name="Text 12"/>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5" name="Shape 13"/>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6" name="Shape 14"/>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7" name="Text 15"/>
          <p:cNvSpPr/>
          <p:nvPr/>
        </p:nvSpPr>
        <p:spPr>
          <a:xfrm>
            <a:off x="5166360" y="2487168"/>
            <a:ext cx="4892040" cy="1051560"/>
          </a:xfrm>
          <a:prstGeom prst="rect">
            <a:avLst/>
          </a:prstGeom>
          <a:noFill/>
          <a:ln/>
        </p:spPr>
        <p:txBody>
          <a:bodyPr wrap="square" lIns="381" tIns="381" rIns="381" bIns="381" rtlCol="0" anchor="ctr">
            <a:normAutofit/>
          </a:bodyPr>
          <a:lstStyle/>
          <a:p>
            <a:pPr indent="0" marL="0">
              <a:buNone/>
            </a:pPr>
            <a:r>
              <a:rPr lang="en-US" sz="1320" dirty="0">
                <a:solidFill>
                  <a:srgbClr val="102033"/>
                </a:solidFill>
              </a:rPr>
              <a:t>Weak: "Yes, it is available. Let me know if you want to see it."</a:t>
            </a:r>
            <a:endParaRPr lang="en-US" sz="1320" dirty="0"/>
          </a:p>
          <a:p>
            <a:pPr indent="0" marL="0">
              <a:buNone/>
            </a:pPr>
            <a:endParaRPr lang="en-US" sz="1320" dirty="0"/>
          </a:p>
          <a:p>
            <a:pPr indent="0" marL="0">
              <a:buNone/>
            </a:pPr>
            <a:r>
              <a:rPr lang="en-US" sz="1320" dirty="0">
                <a:solidFill>
                  <a:srgbClr val="102033"/>
                </a:solidFill>
              </a:rPr>
              <a:t>Better: "Yes, it appears available as of my latest check. Are you looking specifically in Brickell, or would similar buildings with strong amenities also be worth sending over?"</a:t>
            </a:r>
            <a:endParaRPr lang="en-US" sz="1320" dirty="0"/>
          </a:p>
        </p:txBody>
      </p:sp>
      <p:sp>
        <p:nvSpPr>
          <p:cNvPr id="18" name="Text 16"/>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24/48</a:t>
            </a:r>
            <a:endParaRPr lang="en-US" sz="7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Build a first-response set</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Synthetic lead: Online buyer asks about a 2-bedroom condo and leaves no timeline.</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text message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short email</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voicemail opener</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one appointment-oriented next step</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25/48</a:t>
            </a:r>
            <a:endParaRPr lang="en-US" sz="7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MEASURE</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Track whether AI is improving follow-up quality</a:t>
            </a:r>
            <a:endParaRPr lang="en-US" sz="2800" dirty="0"/>
          </a:p>
        </p:txBody>
      </p:sp>
      <p:sp>
        <p:nvSpPr>
          <p:cNvPr id="11" name="Shape 9"/>
          <p:cNvSpPr/>
          <p:nvPr/>
        </p:nvSpPr>
        <p:spPr>
          <a:xfrm>
            <a:off x="868680" y="1828800"/>
            <a:ext cx="4572000" cy="1078992"/>
          </a:xfrm>
          <a:prstGeom prst="roundRect">
            <a:avLst>
              <a:gd name="adj" fmla="val 5085"/>
            </a:avLst>
          </a:prstGeom>
          <a:solidFill>
            <a:srgbClr val="FFFFFF"/>
          </a:solidFill>
          <a:ln w="10160">
            <a:solidFill>
              <a:srgbClr val="D8E6E8"/>
            </a:solidFill>
            <a:prstDash val="solid"/>
          </a:ln>
        </p:spPr>
      </p:sp>
      <p:sp>
        <p:nvSpPr>
          <p:cNvPr id="12" name="Shape 10"/>
          <p:cNvSpPr/>
          <p:nvPr/>
        </p:nvSpPr>
        <p:spPr>
          <a:xfrm>
            <a:off x="1097280" y="2084832"/>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4" name="Text 12"/>
          <p:cNvSpPr/>
          <p:nvPr/>
        </p:nvSpPr>
        <p:spPr>
          <a:xfrm>
            <a:off x="16916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Response rate</a:t>
            </a:r>
            <a:endParaRPr lang="en-US" sz="1450" dirty="0"/>
          </a:p>
        </p:txBody>
      </p:sp>
      <p:sp>
        <p:nvSpPr>
          <p:cNvPr id="15" name="Text 13"/>
          <p:cNvSpPr/>
          <p:nvPr/>
        </p:nvSpPr>
        <p:spPr>
          <a:xfrm>
            <a:off x="16916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more leads replying?</a:t>
            </a:r>
            <a:endParaRPr lang="en-US" sz="1070" dirty="0"/>
          </a:p>
        </p:txBody>
      </p:sp>
      <p:sp>
        <p:nvSpPr>
          <p:cNvPr id="16" name="Shape 14"/>
          <p:cNvSpPr/>
          <p:nvPr/>
        </p:nvSpPr>
        <p:spPr>
          <a:xfrm>
            <a:off x="6126480" y="1828800"/>
            <a:ext cx="4572000" cy="1078992"/>
          </a:xfrm>
          <a:prstGeom prst="roundRect">
            <a:avLst>
              <a:gd name="adj" fmla="val 5085"/>
            </a:avLst>
          </a:prstGeom>
          <a:solidFill>
            <a:srgbClr val="FFFFFF"/>
          </a:solidFill>
          <a:ln w="10160">
            <a:solidFill>
              <a:srgbClr val="D8E6E8"/>
            </a:solidFill>
            <a:prstDash val="solid"/>
          </a:ln>
        </p:spPr>
      </p:sp>
      <p:sp>
        <p:nvSpPr>
          <p:cNvPr id="17" name="Shape 15"/>
          <p:cNvSpPr/>
          <p:nvPr/>
        </p:nvSpPr>
        <p:spPr>
          <a:xfrm>
            <a:off x="6355080" y="2084832"/>
            <a:ext cx="402336" cy="402336"/>
          </a:xfrm>
          <a:prstGeom prst="ellipse">
            <a:avLst/>
          </a:prstGeom>
          <a:solidFill>
            <a:srgbClr val="2F80ED"/>
          </a:solidFill>
          <a:ln w="12700">
            <a:solidFill>
              <a:srgbClr val="2F80ED"/>
            </a:solidFill>
            <a:prstDash val="solid"/>
          </a:ln>
        </p:spPr>
      </p:sp>
      <p:sp>
        <p:nvSpPr>
          <p:cNvPr id="18" name="Text 16"/>
          <p:cNvSpPr/>
          <p:nvPr/>
        </p:nvSpPr>
        <p:spPr>
          <a:xfrm>
            <a:off x="63550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9" name="Text 17"/>
          <p:cNvSpPr/>
          <p:nvPr/>
        </p:nvSpPr>
        <p:spPr>
          <a:xfrm>
            <a:off x="69494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Contact rate</a:t>
            </a:r>
            <a:endParaRPr lang="en-US" sz="1450" dirty="0"/>
          </a:p>
        </p:txBody>
      </p:sp>
      <p:sp>
        <p:nvSpPr>
          <p:cNvPr id="20" name="Text 18"/>
          <p:cNvSpPr/>
          <p:nvPr/>
        </p:nvSpPr>
        <p:spPr>
          <a:xfrm>
            <a:off x="69494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conversations starting?</a:t>
            </a:r>
            <a:endParaRPr lang="en-US" sz="1070" dirty="0"/>
          </a:p>
        </p:txBody>
      </p:sp>
      <p:sp>
        <p:nvSpPr>
          <p:cNvPr id="21" name="Shape 19"/>
          <p:cNvSpPr/>
          <p:nvPr/>
        </p:nvSpPr>
        <p:spPr>
          <a:xfrm>
            <a:off x="868680" y="3246120"/>
            <a:ext cx="4572000" cy="1078992"/>
          </a:xfrm>
          <a:prstGeom prst="roundRect">
            <a:avLst>
              <a:gd name="adj" fmla="val 5085"/>
            </a:avLst>
          </a:prstGeom>
          <a:solidFill>
            <a:srgbClr val="FFFFFF"/>
          </a:solidFill>
          <a:ln w="10160">
            <a:solidFill>
              <a:srgbClr val="D8E6E8"/>
            </a:solidFill>
            <a:prstDash val="solid"/>
          </a:ln>
        </p:spPr>
      </p:sp>
      <p:sp>
        <p:nvSpPr>
          <p:cNvPr id="22" name="Shape 20"/>
          <p:cNvSpPr/>
          <p:nvPr/>
        </p:nvSpPr>
        <p:spPr>
          <a:xfrm>
            <a:off x="1097280" y="3502152"/>
            <a:ext cx="402336" cy="402336"/>
          </a:xfrm>
          <a:prstGeom prst="ellipse">
            <a:avLst/>
          </a:prstGeom>
          <a:solidFill>
            <a:srgbClr val="F45B69"/>
          </a:solidFill>
          <a:ln w="12700">
            <a:solidFill>
              <a:srgbClr val="F45B69"/>
            </a:solidFill>
            <a:prstDash val="solid"/>
          </a:ln>
        </p:spPr>
      </p:sp>
      <p:sp>
        <p:nvSpPr>
          <p:cNvPr id="23" name="Text 21"/>
          <p:cNvSpPr/>
          <p:nvPr/>
        </p:nvSpPr>
        <p:spPr>
          <a:xfrm>
            <a:off x="10972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4" name="Text 22"/>
          <p:cNvSpPr/>
          <p:nvPr/>
        </p:nvSpPr>
        <p:spPr>
          <a:xfrm>
            <a:off x="16916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Appointment rate</a:t>
            </a:r>
            <a:endParaRPr lang="en-US" sz="1450" dirty="0"/>
          </a:p>
        </p:txBody>
      </p:sp>
      <p:sp>
        <p:nvSpPr>
          <p:cNvPr id="25" name="Text 23"/>
          <p:cNvSpPr/>
          <p:nvPr/>
        </p:nvSpPr>
        <p:spPr>
          <a:xfrm>
            <a:off x="16916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replies becoming meetings?</a:t>
            </a:r>
            <a:endParaRPr lang="en-US" sz="1070" dirty="0"/>
          </a:p>
        </p:txBody>
      </p:sp>
      <p:sp>
        <p:nvSpPr>
          <p:cNvPr id="26" name="Shape 24"/>
          <p:cNvSpPr/>
          <p:nvPr/>
        </p:nvSpPr>
        <p:spPr>
          <a:xfrm>
            <a:off x="6126480" y="3246120"/>
            <a:ext cx="4572000" cy="1078992"/>
          </a:xfrm>
          <a:prstGeom prst="roundRect">
            <a:avLst>
              <a:gd name="adj" fmla="val 5085"/>
            </a:avLst>
          </a:prstGeom>
          <a:solidFill>
            <a:srgbClr val="FFFFFF"/>
          </a:solidFill>
          <a:ln w="10160">
            <a:solidFill>
              <a:srgbClr val="D8E6E8"/>
            </a:solidFill>
            <a:prstDash val="solid"/>
          </a:ln>
        </p:spPr>
      </p:sp>
      <p:sp>
        <p:nvSpPr>
          <p:cNvPr id="27" name="Shape 25"/>
          <p:cNvSpPr/>
          <p:nvPr/>
        </p:nvSpPr>
        <p:spPr>
          <a:xfrm>
            <a:off x="6355080" y="3502152"/>
            <a:ext cx="402336" cy="402336"/>
          </a:xfrm>
          <a:prstGeom prst="ellipse">
            <a:avLst/>
          </a:prstGeom>
          <a:solidFill>
            <a:srgbClr val="2E7D5B"/>
          </a:solidFill>
          <a:ln w="12700">
            <a:solidFill>
              <a:srgbClr val="2E7D5B"/>
            </a:solidFill>
            <a:prstDash val="solid"/>
          </a:ln>
        </p:spPr>
      </p:sp>
      <p:sp>
        <p:nvSpPr>
          <p:cNvPr id="28" name="Text 26"/>
          <p:cNvSpPr/>
          <p:nvPr/>
        </p:nvSpPr>
        <p:spPr>
          <a:xfrm>
            <a:off x="63550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9" name="Text 27"/>
          <p:cNvSpPr/>
          <p:nvPr/>
        </p:nvSpPr>
        <p:spPr>
          <a:xfrm>
            <a:off x="69494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Time to response</a:t>
            </a:r>
            <a:endParaRPr lang="en-US" sz="1450" dirty="0"/>
          </a:p>
        </p:txBody>
      </p:sp>
      <p:sp>
        <p:nvSpPr>
          <p:cNvPr id="30" name="Text 28"/>
          <p:cNvSpPr/>
          <p:nvPr/>
        </p:nvSpPr>
        <p:spPr>
          <a:xfrm>
            <a:off x="69494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first touches faster?</a:t>
            </a:r>
            <a:endParaRPr lang="en-US" sz="107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26/48</a:t>
            </a:r>
            <a:endParaRPr lang="en-US" sz="7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008F8F"/>
          </a:solidFill>
          <a:ln w="12700">
            <a:solidFill>
              <a:srgbClr val="008F8F"/>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05</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5</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Listings, Sellers, and Marketing</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Facts first. Polish second. Human review always.</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LISTING PREP</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is useful when you feed it verified property facts</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Property features and improvements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Showing feedback and buyer questions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Seller goals and timing</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Factual neighborhood context</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Desired tone and format</a:t>
            </a:r>
            <a:endParaRPr lang="en-US" sz="1650" dirty="0"/>
          </a:p>
        </p:txBody>
      </p:sp>
      <p:sp>
        <p:nvSpPr>
          <p:cNvPr id="12" name="Shape 10"/>
          <p:cNvSpPr/>
          <p:nvPr/>
        </p:nvSpPr>
        <p:spPr>
          <a:xfrm>
            <a:off x="7479792" y="1737360"/>
            <a:ext cx="91440" cy="2971800"/>
          </a:xfrm>
          <a:prstGeom prst="rect">
            <a:avLst/>
          </a:prstGeom>
          <a:solidFill>
            <a:srgbClr val="F2B84B"/>
          </a:solidFill>
          <a:ln w="12700">
            <a:solidFill>
              <a:srgbClr val="F2B84B"/>
            </a:solidFill>
            <a:prstDash val="solid"/>
          </a:ln>
        </p:spPr>
      </p:sp>
      <p:sp>
        <p:nvSpPr>
          <p:cNvPr id="13" name="Shape 11"/>
          <p:cNvSpPr/>
          <p:nvPr/>
        </p:nvSpPr>
        <p:spPr>
          <a:xfrm>
            <a:off x="7607808" y="1828800"/>
            <a:ext cx="3246120" cy="2788920"/>
          </a:xfrm>
          <a:prstGeom prst="roundRect">
            <a:avLst>
              <a:gd name="adj" fmla="val 1967"/>
            </a:avLst>
          </a:prstGeom>
          <a:solidFill>
            <a:srgbClr val="F0F3F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Facts first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Feed AI verified property facts. Do not ask it to invent listing details.</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28/48</a:t>
            </a:r>
            <a:endParaRPr lang="en-US" sz="7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LISTING COPY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From bullet points to polished marketing copy</a:t>
            </a:r>
            <a:endParaRPr lang="en-US" sz="2800" dirty="0"/>
          </a:p>
        </p:txBody>
      </p:sp>
      <p:sp>
        <p:nvSpPr>
          <p:cNvPr id="11" name="Shape 9"/>
          <p:cNvSpPr/>
          <p:nvPr/>
        </p:nvSpPr>
        <p:spPr>
          <a:xfrm>
            <a:off x="868680" y="1828800"/>
            <a:ext cx="4663440" cy="3108960"/>
          </a:xfrm>
          <a:prstGeom prst="roundRect">
            <a:avLst>
              <a:gd name="adj" fmla="val 1765"/>
            </a:avLst>
          </a:prstGeom>
          <a:solidFill>
            <a:srgbClr val="FFF0EF"/>
          </a:solidFill>
          <a:ln w="10160">
            <a:solidFill>
              <a:srgbClr val="D8E6E8"/>
            </a:solidFill>
            <a:prstDash val="solid"/>
          </a:ln>
        </p:spPr>
      </p:sp>
      <p:sp>
        <p:nvSpPr>
          <p:cNvPr id="12" name="Text 10"/>
          <p:cNvSpPr/>
          <p:nvPr/>
        </p:nvSpPr>
        <p:spPr>
          <a:xfrm>
            <a:off x="1124712" y="2084832"/>
            <a:ext cx="1371600" cy="201168"/>
          </a:xfrm>
          <a:prstGeom prst="rect">
            <a:avLst/>
          </a:prstGeom>
          <a:noFill/>
          <a:ln/>
        </p:spPr>
        <p:txBody>
          <a:bodyPr wrap="square" lIns="0" tIns="0" rIns="0" bIns="0" rtlCol="0" anchor="ctr"/>
          <a:lstStyle/>
          <a:p>
            <a:pPr indent="0" marL="0">
              <a:buNone/>
            </a:pPr>
            <a:r>
              <a:rPr lang="en-US" sz="1000" b="1" dirty="0">
                <a:solidFill>
                  <a:srgbClr val="F45B69"/>
                </a:solidFill>
              </a:rPr>
              <a:t>Before</a:t>
            </a:r>
            <a:endParaRPr lang="en-US" sz="1000" dirty="0"/>
          </a:p>
        </p:txBody>
      </p:sp>
      <p:sp>
        <p:nvSpPr>
          <p:cNvPr id="13" name="Text 11"/>
          <p:cNvSpPr/>
          <p:nvPr/>
        </p:nvSpPr>
        <p:spPr>
          <a:xfrm>
            <a:off x="114300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3 bed / 2 bath</a:t>
            </a:r>
            <a:endParaRPr lang="en-US" sz="1340" dirty="0"/>
          </a:p>
          <a:p>
            <a:pPr indent="0" marL="0">
              <a:buNone/>
            </a:pPr>
            <a:r>
              <a:rPr lang="en-US" sz="1340" dirty="0">
                <a:solidFill>
                  <a:srgbClr val="102033"/>
                </a:solidFill>
              </a:rPr>
              <a:t>Updated kitchen</a:t>
            </a:r>
            <a:endParaRPr lang="en-US" sz="1340" dirty="0"/>
          </a:p>
          <a:p>
            <a:pPr indent="0" marL="0">
              <a:buNone/>
            </a:pPr>
            <a:r>
              <a:rPr lang="en-US" sz="1340" dirty="0">
                <a:solidFill>
                  <a:srgbClr val="102033"/>
                </a:solidFill>
              </a:rPr>
              <a:t>Covered patio</a:t>
            </a:r>
            <a:endParaRPr lang="en-US" sz="1340" dirty="0"/>
          </a:p>
          <a:p>
            <a:pPr indent="0" marL="0">
              <a:buNone/>
            </a:pPr>
            <a:r>
              <a:rPr lang="en-US" sz="1340" dirty="0">
                <a:solidFill>
                  <a:srgbClr val="102033"/>
                </a:solidFill>
              </a:rPr>
              <a:t>2-car garage</a:t>
            </a:r>
            <a:endParaRPr lang="en-US" sz="1340" dirty="0"/>
          </a:p>
          <a:p>
            <a:pPr indent="0" marL="0">
              <a:buNone/>
            </a:pPr>
            <a:r>
              <a:rPr lang="en-US" sz="1340" dirty="0">
                <a:solidFill>
                  <a:srgbClr val="102033"/>
                </a:solidFill>
              </a:rPr>
              <a:t>Close to dining and parks</a:t>
            </a:r>
            <a:endParaRPr lang="en-US" sz="1340" dirty="0"/>
          </a:p>
        </p:txBody>
      </p:sp>
      <p:sp>
        <p:nvSpPr>
          <p:cNvPr id="14" name="Shape 12"/>
          <p:cNvSpPr/>
          <p:nvPr/>
        </p:nvSpPr>
        <p:spPr>
          <a:xfrm>
            <a:off x="6080760" y="1828800"/>
            <a:ext cx="4663440" cy="3108960"/>
          </a:xfrm>
          <a:prstGeom prst="roundRect">
            <a:avLst>
              <a:gd name="adj" fmla="val 1765"/>
            </a:avLst>
          </a:prstGeom>
          <a:solidFill>
            <a:srgbClr val="EAF7F7"/>
          </a:solidFill>
          <a:ln w="10160">
            <a:solidFill>
              <a:srgbClr val="D8E6E8"/>
            </a:solidFill>
            <a:prstDash val="solid"/>
          </a:ln>
        </p:spPr>
      </p:sp>
      <p:sp>
        <p:nvSpPr>
          <p:cNvPr id="15" name="Text 13"/>
          <p:cNvSpPr/>
          <p:nvPr/>
        </p:nvSpPr>
        <p:spPr>
          <a:xfrm>
            <a:off x="6336792" y="2084832"/>
            <a:ext cx="1371600" cy="201168"/>
          </a:xfrm>
          <a:prstGeom prst="rect">
            <a:avLst/>
          </a:prstGeom>
          <a:noFill/>
          <a:ln/>
        </p:spPr>
        <p:txBody>
          <a:bodyPr wrap="square" lIns="0" tIns="0" rIns="0" bIns="0" rtlCol="0" anchor="ctr"/>
          <a:lstStyle/>
          <a:p>
            <a:pPr indent="0" marL="0">
              <a:buNone/>
            </a:pPr>
            <a:r>
              <a:rPr lang="en-US" sz="1000" b="1" dirty="0">
                <a:solidFill>
                  <a:srgbClr val="008F8F"/>
                </a:solidFill>
              </a:rPr>
              <a:t>After</a:t>
            </a:r>
            <a:endParaRPr lang="en-US" sz="1000" dirty="0"/>
          </a:p>
        </p:txBody>
      </p:sp>
      <p:sp>
        <p:nvSpPr>
          <p:cNvPr id="16" name="Text 14"/>
          <p:cNvSpPr/>
          <p:nvPr/>
        </p:nvSpPr>
        <p:spPr>
          <a:xfrm>
            <a:off x="635508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This 3-bedroom, 2-bath home offers an updated kitchen, practical everyday layout, covered patio space, and a 2-car garage. The location provides convenient access to nearby dining, parks, and local amenities while keeping the description focused on verified property features.</a:t>
            </a:r>
            <a:endParaRPr lang="en-US" sz="1340" dirty="0"/>
          </a:p>
        </p:txBody>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29/48</a:t>
            </a:r>
            <a:endParaRPr lang="en-US" sz="72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MULTI-USE</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One verified fact set can become multiple assets</a:t>
            </a:r>
            <a:endParaRPr lang="en-US" sz="2800" dirty="0"/>
          </a:p>
        </p:txBody>
      </p:sp>
      <p:sp>
        <p:nvSpPr>
          <p:cNvPr id="11" name="Shape 9"/>
          <p:cNvSpPr/>
          <p:nvPr/>
        </p:nvSpPr>
        <p:spPr>
          <a:xfrm>
            <a:off x="777240" y="1783080"/>
            <a:ext cx="3154680" cy="914400"/>
          </a:xfrm>
          <a:prstGeom prst="roundRect">
            <a:avLst>
              <a:gd name="adj" fmla="val 6000"/>
            </a:avLst>
          </a:prstGeom>
          <a:solidFill>
            <a:srgbClr val="FFFFFF"/>
          </a:solidFill>
          <a:ln w="10160">
            <a:solidFill>
              <a:srgbClr val="D8E6E8"/>
            </a:solidFill>
            <a:prstDash val="solid"/>
          </a:ln>
        </p:spPr>
      </p:sp>
      <p:sp>
        <p:nvSpPr>
          <p:cNvPr id="12" name="Text 10"/>
          <p:cNvSpPr/>
          <p:nvPr/>
        </p:nvSpPr>
        <p:spPr>
          <a:xfrm>
            <a:off x="100584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Listing description</a:t>
            </a:r>
            <a:endParaRPr lang="en-US" sz="1320" dirty="0"/>
          </a:p>
        </p:txBody>
      </p:sp>
      <p:sp>
        <p:nvSpPr>
          <p:cNvPr id="13" name="Text 11"/>
          <p:cNvSpPr/>
          <p:nvPr/>
        </p:nvSpPr>
        <p:spPr>
          <a:xfrm>
            <a:off x="100584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Polished narrative</a:t>
            </a:r>
            <a:endParaRPr lang="en-US" sz="1050" dirty="0"/>
          </a:p>
        </p:txBody>
      </p:sp>
      <p:sp>
        <p:nvSpPr>
          <p:cNvPr id="14" name="Shape 12"/>
          <p:cNvSpPr/>
          <p:nvPr/>
        </p:nvSpPr>
        <p:spPr>
          <a:xfrm>
            <a:off x="4389120" y="1783080"/>
            <a:ext cx="3154680" cy="914400"/>
          </a:xfrm>
          <a:prstGeom prst="roundRect">
            <a:avLst>
              <a:gd name="adj" fmla="val 6000"/>
            </a:avLst>
          </a:prstGeom>
          <a:solidFill>
            <a:srgbClr val="FFFFFF"/>
          </a:solidFill>
          <a:ln w="10160">
            <a:solidFill>
              <a:srgbClr val="D8E6E8"/>
            </a:solidFill>
            <a:prstDash val="solid"/>
          </a:ln>
        </p:spPr>
      </p:sp>
      <p:sp>
        <p:nvSpPr>
          <p:cNvPr id="15" name="Text 13"/>
          <p:cNvSpPr/>
          <p:nvPr/>
        </p:nvSpPr>
        <p:spPr>
          <a:xfrm>
            <a:off x="461772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Open house invite</a:t>
            </a:r>
            <a:endParaRPr lang="en-US" sz="1320" dirty="0"/>
          </a:p>
        </p:txBody>
      </p:sp>
      <p:sp>
        <p:nvSpPr>
          <p:cNvPr id="16" name="Text 14"/>
          <p:cNvSpPr/>
          <p:nvPr/>
        </p:nvSpPr>
        <p:spPr>
          <a:xfrm>
            <a:off x="461772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Short event copy</a:t>
            </a:r>
            <a:endParaRPr lang="en-US" sz="1050" dirty="0"/>
          </a:p>
        </p:txBody>
      </p:sp>
      <p:sp>
        <p:nvSpPr>
          <p:cNvPr id="17" name="Shape 15"/>
          <p:cNvSpPr/>
          <p:nvPr/>
        </p:nvSpPr>
        <p:spPr>
          <a:xfrm>
            <a:off x="8001000" y="1783080"/>
            <a:ext cx="3154680" cy="914400"/>
          </a:xfrm>
          <a:prstGeom prst="roundRect">
            <a:avLst>
              <a:gd name="adj" fmla="val 6000"/>
            </a:avLst>
          </a:prstGeom>
          <a:solidFill>
            <a:srgbClr val="FFFFFF"/>
          </a:solidFill>
          <a:ln w="10160">
            <a:solidFill>
              <a:srgbClr val="D8E6E8"/>
            </a:solidFill>
            <a:prstDash val="solid"/>
          </a:ln>
        </p:spPr>
      </p:sp>
      <p:sp>
        <p:nvSpPr>
          <p:cNvPr id="18" name="Text 16"/>
          <p:cNvSpPr/>
          <p:nvPr/>
        </p:nvSpPr>
        <p:spPr>
          <a:xfrm>
            <a:off x="822960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Seller update</a:t>
            </a:r>
            <a:endParaRPr lang="en-US" sz="1320" dirty="0"/>
          </a:p>
        </p:txBody>
      </p:sp>
      <p:sp>
        <p:nvSpPr>
          <p:cNvPr id="19" name="Text 17"/>
          <p:cNvSpPr/>
          <p:nvPr/>
        </p:nvSpPr>
        <p:spPr>
          <a:xfrm>
            <a:off x="822960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Activity summary</a:t>
            </a:r>
            <a:endParaRPr lang="en-US" sz="1050" dirty="0"/>
          </a:p>
        </p:txBody>
      </p:sp>
      <p:sp>
        <p:nvSpPr>
          <p:cNvPr id="20" name="Shape 18"/>
          <p:cNvSpPr/>
          <p:nvPr/>
        </p:nvSpPr>
        <p:spPr>
          <a:xfrm>
            <a:off x="777240" y="3136392"/>
            <a:ext cx="3154680" cy="914400"/>
          </a:xfrm>
          <a:prstGeom prst="roundRect">
            <a:avLst>
              <a:gd name="adj" fmla="val 6000"/>
            </a:avLst>
          </a:prstGeom>
          <a:solidFill>
            <a:srgbClr val="FFFFFF"/>
          </a:solidFill>
          <a:ln w="10160">
            <a:solidFill>
              <a:srgbClr val="D8E6E8"/>
            </a:solidFill>
            <a:prstDash val="solid"/>
          </a:ln>
        </p:spPr>
      </p:sp>
      <p:sp>
        <p:nvSpPr>
          <p:cNvPr id="21" name="Text 19"/>
          <p:cNvSpPr/>
          <p:nvPr/>
        </p:nvSpPr>
        <p:spPr>
          <a:xfrm>
            <a:off x="100584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Social post</a:t>
            </a:r>
            <a:endParaRPr lang="en-US" sz="1320" dirty="0"/>
          </a:p>
        </p:txBody>
      </p:sp>
      <p:sp>
        <p:nvSpPr>
          <p:cNvPr id="22" name="Text 20"/>
          <p:cNvSpPr/>
          <p:nvPr/>
        </p:nvSpPr>
        <p:spPr>
          <a:xfrm>
            <a:off x="100584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Caption + hook</a:t>
            </a:r>
            <a:endParaRPr lang="en-US" sz="1050" dirty="0"/>
          </a:p>
        </p:txBody>
      </p:sp>
      <p:sp>
        <p:nvSpPr>
          <p:cNvPr id="23" name="Shape 21"/>
          <p:cNvSpPr/>
          <p:nvPr/>
        </p:nvSpPr>
        <p:spPr>
          <a:xfrm>
            <a:off x="4389120" y="3136392"/>
            <a:ext cx="3154680" cy="914400"/>
          </a:xfrm>
          <a:prstGeom prst="roundRect">
            <a:avLst>
              <a:gd name="adj" fmla="val 6000"/>
            </a:avLst>
          </a:prstGeom>
          <a:solidFill>
            <a:srgbClr val="FFFFFF"/>
          </a:solidFill>
          <a:ln w="10160">
            <a:solidFill>
              <a:srgbClr val="D8E6E8"/>
            </a:solidFill>
            <a:prstDash val="solid"/>
          </a:ln>
        </p:spPr>
      </p:sp>
      <p:sp>
        <p:nvSpPr>
          <p:cNvPr id="24" name="Text 22"/>
          <p:cNvSpPr/>
          <p:nvPr/>
        </p:nvSpPr>
        <p:spPr>
          <a:xfrm>
            <a:off x="461772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Video script</a:t>
            </a:r>
            <a:endParaRPr lang="en-US" sz="1320" dirty="0"/>
          </a:p>
        </p:txBody>
      </p:sp>
      <p:sp>
        <p:nvSpPr>
          <p:cNvPr id="25" name="Text 23"/>
          <p:cNvSpPr/>
          <p:nvPr/>
        </p:nvSpPr>
        <p:spPr>
          <a:xfrm>
            <a:off x="461772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30-second talking points</a:t>
            </a:r>
            <a:endParaRPr lang="en-US" sz="1050" dirty="0"/>
          </a:p>
        </p:txBody>
      </p:sp>
      <p:sp>
        <p:nvSpPr>
          <p:cNvPr id="26" name="Shape 24"/>
          <p:cNvSpPr/>
          <p:nvPr/>
        </p:nvSpPr>
        <p:spPr>
          <a:xfrm>
            <a:off x="8001000" y="3136392"/>
            <a:ext cx="3154680" cy="914400"/>
          </a:xfrm>
          <a:prstGeom prst="roundRect">
            <a:avLst>
              <a:gd name="adj" fmla="val 6000"/>
            </a:avLst>
          </a:prstGeom>
          <a:solidFill>
            <a:srgbClr val="FFFFFF"/>
          </a:solidFill>
          <a:ln w="10160">
            <a:solidFill>
              <a:srgbClr val="D8E6E8"/>
            </a:solidFill>
            <a:prstDash val="solid"/>
          </a:ln>
        </p:spPr>
      </p:sp>
      <p:sp>
        <p:nvSpPr>
          <p:cNvPr id="27" name="Text 25"/>
          <p:cNvSpPr/>
          <p:nvPr/>
        </p:nvSpPr>
        <p:spPr>
          <a:xfrm>
            <a:off x="822960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Newsletter blurb</a:t>
            </a:r>
            <a:endParaRPr lang="en-US" sz="1320" dirty="0"/>
          </a:p>
        </p:txBody>
      </p:sp>
      <p:sp>
        <p:nvSpPr>
          <p:cNvPr id="28" name="Text 26"/>
          <p:cNvSpPr/>
          <p:nvPr/>
        </p:nvSpPr>
        <p:spPr>
          <a:xfrm>
            <a:off x="822960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Market-facing note</a:t>
            </a:r>
            <a:endParaRPr lang="en-US" sz="1050" dirty="0"/>
          </a:p>
        </p:txBody>
      </p:sp>
      <p:sp>
        <p:nvSpPr>
          <p:cNvPr id="29" name="Shape 27"/>
          <p:cNvSpPr/>
          <p:nvPr/>
        </p:nvSpPr>
        <p:spPr>
          <a:xfrm>
            <a:off x="502920" y="6473952"/>
            <a:ext cx="11201400" cy="0"/>
          </a:xfrm>
          <a:prstGeom prst="line">
            <a:avLst/>
          </a:prstGeom>
          <a:noFill/>
          <a:ln w="9525">
            <a:solidFill>
              <a:srgbClr val="D8E6E8"/>
            </a:solidFill>
            <a:prstDash val="solid"/>
          </a:ln>
        </p:spPr>
      </p:sp>
      <p:sp>
        <p:nvSpPr>
          <p:cNvPr id="30" name="Text 2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30/48</a:t>
            </a:r>
            <a:endParaRPr lang="en-US" sz="72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Create three versions from one property fact set</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Use only verified facts. Do not invent features.</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listing paragraph</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35-word social caption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open house invite</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31/48</a:t>
            </a:r>
            <a:endParaRPr lang="en-US" sz="72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F80ED"/>
          </a:solidFill>
          <a:ln w="12700">
            <a:solidFill>
              <a:srgbClr val="2F80ED"/>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06</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6</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Appointment Prep and Objection Practice</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Practice the conversation before the client conversation.</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PREP</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helps you rehearse, organize, and simplify</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Build buyer consultation and listing appointment agendas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Create discovery questions from client context</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Practice common objections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Explain market conditions in plain language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Prepare follow-up after the appointment</a:t>
            </a:r>
            <a:endParaRPr lang="en-US" sz="1650" dirty="0"/>
          </a:p>
        </p:txBody>
      </p:sp>
      <p:sp>
        <p:nvSpPr>
          <p:cNvPr id="12" name="Shape 10"/>
          <p:cNvSpPr/>
          <p:nvPr/>
        </p:nvSpPr>
        <p:spPr>
          <a:xfrm>
            <a:off x="7479792" y="1737360"/>
            <a:ext cx="91440" cy="2971800"/>
          </a:xfrm>
          <a:prstGeom prst="rect">
            <a:avLst/>
          </a:prstGeom>
          <a:solidFill>
            <a:srgbClr val="F2B84B"/>
          </a:solidFill>
          <a:ln w="12700">
            <a:solidFill>
              <a:srgbClr val="F2B84B"/>
            </a:solidFill>
            <a:prstDash val="solid"/>
          </a:ln>
        </p:spPr>
      </p:sp>
      <p:sp>
        <p:nvSpPr>
          <p:cNvPr id="13" name="Shape 11"/>
          <p:cNvSpPr/>
          <p:nvPr/>
        </p:nvSpPr>
        <p:spPr>
          <a:xfrm>
            <a:off x="7607808" y="1828800"/>
            <a:ext cx="3246120" cy="2788920"/>
          </a:xfrm>
          <a:prstGeom prst="roundRect">
            <a:avLst>
              <a:gd name="adj" fmla="val 1967"/>
            </a:avLst>
          </a:prstGeom>
          <a:solidFill>
            <a:srgbClr val="F0F3F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Practice before pressure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Role-play makes client conversations clearer and less reactive.</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33/48</a:t>
            </a:r>
            <a:endParaRPr lang="en-US" sz="72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ROLE-PLAY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Seller wants to overprice</a:t>
            </a:r>
            <a:endParaRPr lang="en-US" sz="2800" dirty="0"/>
          </a:p>
        </p:txBody>
      </p:sp>
      <p:sp>
        <p:nvSpPr>
          <p:cNvPr id="11" name="Shape 9"/>
          <p:cNvSpPr/>
          <p:nvPr/>
        </p:nvSpPr>
        <p:spPr>
          <a:xfrm>
            <a:off x="914400" y="1828800"/>
            <a:ext cx="9601200" cy="2331720"/>
          </a:xfrm>
          <a:prstGeom prst="roundRect">
            <a:avLst>
              <a:gd name="adj" fmla="val 2353"/>
            </a:avLst>
          </a:prstGeom>
          <a:solidFill>
            <a:srgbClr val="0D1B2A"/>
          </a:solidFill>
          <a:ln w="10160">
            <a:solidFill>
              <a:srgbClr val="0D1B2A"/>
            </a:solidFill>
            <a:prstDash val="solid"/>
          </a:ln>
        </p:spPr>
      </p:sp>
      <p:sp>
        <p:nvSpPr>
          <p:cNvPr id="12" name="Shape 10"/>
          <p:cNvSpPr/>
          <p:nvPr/>
        </p:nvSpPr>
        <p:spPr>
          <a:xfrm>
            <a:off x="8458200" y="1600200"/>
            <a:ext cx="1920240" cy="1920240"/>
          </a:xfrm>
          <a:prstGeom prst="arc">
            <a:avLst/>
          </a:prstGeom>
          <a:solidFill>
            <a:srgbClr val="0D1B2A">
              <a:alpha val="0"/>
            </a:srgbClr>
          </a:solidFill>
          <a:ln w="25400">
            <a:solidFill>
              <a:srgbClr val="008F8F"/>
            </a:solidFill>
            <a:prstDash val="solid"/>
          </a:ln>
        </p:spPr>
      </p:sp>
      <p:sp>
        <p:nvSpPr>
          <p:cNvPr id="13" name="Text 11"/>
          <p:cNvSpPr/>
          <p:nvPr/>
        </p:nvSpPr>
        <p:spPr>
          <a:xfrm>
            <a:off x="1325880" y="2194560"/>
            <a:ext cx="8229600" cy="1234440"/>
          </a:xfrm>
          <a:prstGeom prst="rect">
            <a:avLst/>
          </a:prstGeom>
          <a:noFill/>
          <a:ln/>
        </p:spPr>
        <p:txBody>
          <a:bodyPr wrap="square" lIns="381" tIns="381" rIns="381" bIns="381" rtlCol="0" anchor="ctr">
            <a:normAutofit/>
          </a:bodyPr>
          <a:lstStyle/>
          <a:p>
            <a:pPr indent="0" marL="0">
              <a:buNone/>
            </a:pPr>
            <a:r>
              <a:rPr lang="en-US" sz="1800" i="1" dirty="0">
                <a:solidFill>
                  <a:srgbClr val="FFFFFF"/>
                </a:solidFill>
              </a:rPr>
              <a:t>"Role-play as a seller who believes their home is worth more than recent comparable sales. Push back realistically. After each of my responses, tell me what was clear, what sounded defensive, and what I should try next."</a:t>
            </a:r>
            <a:endParaRPr lang="en-US" sz="180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34/48</a:t>
            </a:r>
            <a:endParaRPr lang="en-US" sz="72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ROLE-PLAY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Buyer wants to wait for rates to drop</a:t>
            </a:r>
            <a:endParaRPr lang="en-US" sz="2800" dirty="0"/>
          </a:p>
        </p:txBody>
      </p:sp>
      <p:sp>
        <p:nvSpPr>
          <p:cNvPr id="11" name="Shape 9"/>
          <p:cNvSpPr/>
          <p:nvPr/>
        </p:nvSpPr>
        <p:spPr>
          <a:xfrm>
            <a:off x="914400" y="1828800"/>
            <a:ext cx="9601200" cy="2331720"/>
          </a:xfrm>
          <a:prstGeom prst="roundRect">
            <a:avLst>
              <a:gd name="adj" fmla="val 2353"/>
            </a:avLst>
          </a:prstGeom>
          <a:solidFill>
            <a:srgbClr val="0D1B2A"/>
          </a:solidFill>
          <a:ln w="10160">
            <a:solidFill>
              <a:srgbClr val="0D1B2A"/>
            </a:solidFill>
            <a:prstDash val="solid"/>
          </a:ln>
        </p:spPr>
      </p:sp>
      <p:sp>
        <p:nvSpPr>
          <p:cNvPr id="12" name="Shape 10"/>
          <p:cNvSpPr/>
          <p:nvPr/>
        </p:nvSpPr>
        <p:spPr>
          <a:xfrm>
            <a:off x="8458200" y="1600200"/>
            <a:ext cx="1920240" cy="1920240"/>
          </a:xfrm>
          <a:prstGeom prst="arc">
            <a:avLst/>
          </a:prstGeom>
          <a:solidFill>
            <a:srgbClr val="0D1B2A">
              <a:alpha val="0"/>
            </a:srgbClr>
          </a:solidFill>
          <a:ln w="25400">
            <a:solidFill>
              <a:srgbClr val="008F8F"/>
            </a:solidFill>
            <a:prstDash val="solid"/>
          </a:ln>
        </p:spPr>
      </p:sp>
      <p:sp>
        <p:nvSpPr>
          <p:cNvPr id="13" name="Text 11"/>
          <p:cNvSpPr/>
          <p:nvPr/>
        </p:nvSpPr>
        <p:spPr>
          <a:xfrm>
            <a:off x="1325880" y="2194560"/>
            <a:ext cx="8229600" cy="1234440"/>
          </a:xfrm>
          <a:prstGeom prst="rect">
            <a:avLst/>
          </a:prstGeom>
          <a:noFill/>
          <a:ln/>
        </p:spPr>
        <p:txBody>
          <a:bodyPr wrap="square" lIns="381" tIns="381" rIns="381" bIns="381" rtlCol="0" anchor="ctr">
            <a:normAutofit/>
          </a:bodyPr>
          <a:lstStyle/>
          <a:p>
            <a:pPr indent="0" marL="0">
              <a:buNone/>
            </a:pPr>
            <a:r>
              <a:rPr lang="en-US" sz="1800" i="1" dirty="0">
                <a:solidFill>
                  <a:srgbClr val="FFFFFF"/>
                </a:solidFill>
              </a:rPr>
              <a:t>"Act as a cautious buyer who wants to wait for rates to drop. Help me practice a conversation that is educational, not pushy. Challenge any claims that sound too certain."</a:t>
            </a:r>
            <a:endParaRPr lang="en-US" sz="180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35/48</a:t>
            </a:r>
            <a:endParaRPr lang="en-US" sz="72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Create an appointment prep brief</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Choose buyer consultation or listing appointment.</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5-part agenda</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5 discovery questions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3 likely objections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follow-up email template</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36/48</a:t>
            </a:r>
            <a:endParaRPr lang="en-US" sz="72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45B69"/>
          </a:solidFill>
          <a:ln w="12700">
            <a:solidFill>
              <a:srgbClr val="F45B69"/>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07</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7</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Daily AI Workflow and Professional Guardrails</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Attach AI to the day, not to a vague intention.</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DAILY RHYTHM</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 simple daily AI workflow</a:t>
            </a:r>
            <a:endParaRPr lang="en-US" sz="2800" dirty="0"/>
          </a:p>
        </p:txBody>
      </p:sp>
      <p:sp>
        <p:nvSpPr>
          <p:cNvPr id="11" name="Shape 9"/>
          <p:cNvSpPr/>
          <p:nvPr/>
        </p:nvSpPr>
        <p:spPr>
          <a:xfrm>
            <a:off x="868680" y="1920240"/>
            <a:ext cx="2148840" cy="2377440"/>
          </a:xfrm>
          <a:prstGeom prst="roundRect">
            <a:avLst>
              <a:gd name="adj" fmla="val 2553"/>
            </a:avLst>
          </a:prstGeom>
          <a:solidFill>
            <a:srgbClr val="EAF7F7"/>
          </a:solidFill>
          <a:ln w="10160">
            <a:solidFill>
              <a:srgbClr val="D8E6E8"/>
            </a:solidFill>
            <a:prstDash val="solid"/>
          </a:ln>
        </p:spPr>
      </p:sp>
      <p:sp>
        <p:nvSpPr>
          <p:cNvPr id="12" name="Shape 10"/>
          <p:cNvSpPr/>
          <p:nvPr/>
        </p:nvSpPr>
        <p:spPr>
          <a:xfrm>
            <a:off x="1097280" y="2194560"/>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09728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Morning</a:t>
            </a:r>
            <a:endParaRPr lang="en-US" sz="1600" dirty="0"/>
          </a:p>
        </p:txBody>
      </p:sp>
      <p:sp>
        <p:nvSpPr>
          <p:cNvPr id="15" name="Text 13"/>
          <p:cNvSpPr/>
          <p:nvPr/>
        </p:nvSpPr>
        <p:spPr>
          <a:xfrm>
            <a:off x="109728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Prioritize tasks and prepare calls</a:t>
            </a:r>
            <a:endParaRPr lang="en-US" sz="1150" dirty="0"/>
          </a:p>
        </p:txBody>
      </p:sp>
      <p:sp>
        <p:nvSpPr>
          <p:cNvPr id="16" name="Shape 14"/>
          <p:cNvSpPr/>
          <p:nvPr/>
        </p:nvSpPr>
        <p:spPr>
          <a:xfrm>
            <a:off x="3474720" y="1920240"/>
            <a:ext cx="2148840" cy="2377440"/>
          </a:xfrm>
          <a:prstGeom prst="roundRect">
            <a:avLst>
              <a:gd name="adj" fmla="val 2553"/>
            </a:avLst>
          </a:prstGeom>
          <a:solidFill>
            <a:srgbClr val="FFFFFF"/>
          </a:solidFill>
          <a:ln w="10160">
            <a:solidFill>
              <a:srgbClr val="D8E6E8"/>
            </a:solidFill>
            <a:prstDash val="solid"/>
          </a:ln>
        </p:spPr>
      </p:sp>
      <p:sp>
        <p:nvSpPr>
          <p:cNvPr id="17" name="Shape 15"/>
          <p:cNvSpPr/>
          <p:nvPr/>
        </p:nvSpPr>
        <p:spPr>
          <a:xfrm>
            <a:off x="3703320" y="2194560"/>
            <a:ext cx="402336" cy="402336"/>
          </a:xfrm>
          <a:prstGeom prst="ellipse">
            <a:avLst/>
          </a:prstGeom>
          <a:solidFill>
            <a:srgbClr val="2F80ED"/>
          </a:solidFill>
          <a:ln w="12700">
            <a:solidFill>
              <a:srgbClr val="2F80ED"/>
            </a:solidFill>
            <a:prstDash val="solid"/>
          </a:ln>
        </p:spPr>
      </p:sp>
      <p:sp>
        <p:nvSpPr>
          <p:cNvPr id="18" name="Text 16"/>
          <p:cNvSpPr/>
          <p:nvPr/>
        </p:nvSpPr>
        <p:spPr>
          <a:xfrm>
            <a:off x="370332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9" name="Text 17"/>
          <p:cNvSpPr/>
          <p:nvPr/>
        </p:nvSpPr>
        <p:spPr>
          <a:xfrm>
            <a:off x="370332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Midday</a:t>
            </a:r>
            <a:endParaRPr lang="en-US" sz="1600" dirty="0"/>
          </a:p>
        </p:txBody>
      </p:sp>
      <p:sp>
        <p:nvSpPr>
          <p:cNvPr id="20" name="Text 18"/>
          <p:cNvSpPr/>
          <p:nvPr/>
        </p:nvSpPr>
        <p:spPr>
          <a:xfrm>
            <a:off x="370332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Draft follow-up and client updates</a:t>
            </a:r>
            <a:endParaRPr lang="en-US" sz="1150" dirty="0"/>
          </a:p>
        </p:txBody>
      </p:sp>
      <p:sp>
        <p:nvSpPr>
          <p:cNvPr id="21" name="Shape 19"/>
          <p:cNvSpPr/>
          <p:nvPr/>
        </p:nvSpPr>
        <p:spPr>
          <a:xfrm>
            <a:off x="6080760" y="1920240"/>
            <a:ext cx="2148840" cy="2377440"/>
          </a:xfrm>
          <a:prstGeom prst="roundRect">
            <a:avLst>
              <a:gd name="adj" fmla="val 2553"/>
            </a:avLst>
          </a:prstGeom>
          <a:solidFill>
            <a:srgbClr val="FFF4D9"/>
          </a:solidFill>
          <a:ln w="10160">
            <a:solidFill>
              <a:srgbClr val="D8E6E8"/>
            </a:solidFill>
            <a:prstDash val="solid"/>
          </a:ln>
        </p:spPr>
      </p:sp>
      <p:sp>
        <p:nvSpPr>
          <p:cNvPr id="22" name="Shape 20"/>
          <p:cNvSpPr/>
          <p:nvPr/>
        </p:nvSpPr>
        <p:spPr>
          <a:xfrm>
            <a:off x="6309360" y="2194560"/>
            <a:ext cx="402336" cy="402336"/>
          </a:xfrm>
          <a:prstGeom prst="ellipse">
            <a:avLst/>
          </a:prstGeom>
          <a:solidFill>
            <a:srgbClr val="F2B84B"/>
          </a:solidFill>
          <a:ln w="12700">
            <a:solidFill>
              <a:srgbClr val="F2B84B"/>
            </a:solidFill>
            <a:prstDash val="solid"/>
          </a:ln>
        </p:spPr>
      </p:sp>
      <p:sp>
        <p:nvSpPr>
          <p:cNvPr id="23" name="Text 21"/>
          <p:cNvSpPr/>
          <p:nvPr/>
        </p:nvSpPr>
        <p:spPr>
          <a:xfrm>
            <a:off x="630936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4" name="Text 22"/>
          <p:cNvSpPr/>
          <p:nvPr/>
        </p:nvSpPr>
        <p:spPr>
          <a:xfrm>
            <a:off x="630936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Afternoon</a:t>
            </a:r>
            <a:endParaRPr lang="en-US" sz="1600" dirty="0"/>
          </a:p>
        </p:txBody>
      </p:sp>
      <p:sp>
        <p:nvSpPr>
          <p:cNvPr id="25" name="Text 23"/>
          <p:cNvSpPr/>
          <p:nvPr/>
        </p:nvSpPr>
        <p:spPr>
          <a:xfrm>
            <a:off x="630936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Create listing/content drafts</a:t>
            </a:r>
            <a:endParaRPr lang="en-US" sz="1150" dirty="0"/>
          </a:p>
        </p:txBody>
      </p:sp>
      <p:sp>
        <p:nvSpPr>
          <p:cNvPr id="26" name="Shape 24"/>
          <p:cNvSpPr/>
          <p:nvPr/>
        </p:nvSpPr>
        <p:spPr>
          <a:xfrm>
            <a:off x="8686800" y="1920240"/>
            <a:ext cx="2148840" cy="2377440"/>
          </a:xfrm>
          <a:prstGeom prst="roundRect">
            <a:avLst>
              <a:gd name="adj" fmla="val 2553"/>
            </a:avLst>
          </a:prstGeom>
          <a:solidFill>
            <a:srgbClr val="FFFFFF"/>
          </a:solidFill>
          <a:ln w="10160">
            <a:solidFill>
              <a:srgbClr val="D8E6E8"/>
            </a:solidFill>
            <a:prstDash val="solid"/>
          </a:ln>
        </p:spPr>
      </p:sp>
      <p:sp>
        <p:nvSpPr>
          <p:cNvPr id="27" name="Shape 25"/>
          <p:cNvSpPr/>
          <p:nvPr/>
        </p:nvSpPr>
        <p:spPr>
          <a:xfrm>
            <a:off x="8915400" y="2194560"/>
            <a:ext cx="402336" cy="402336"/>
          </a:xfrm>
          <a:prstGeom prst="ellipse">
            <a:avLst/>
          </a:prstGeom>
          <a:solidFill>
            <a:srgbClr val="2E7D5B"/>
          </a:solidFill>
          <a:ln w="12700">
            <a:solidFill>
              <a:srgbClr val="2E7D5B"/>
            </a:solidFill>
            <a:prstDash val="solid"/>
          </a:ln>
        </p:spPr>
      </p:sp>
      <p:sp>
        <p:nvSpPr>
          <p:cNvPr id="28" name="Text 26"/>
          <p:cNvSpPr/>
          <p:nvPr/>
        </p:nvSpPr>
        <p:spPr>
          <a:xfrm>
            <a:off x="891540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9" name="Text 27"/>
          <p:cNvSpPr/>
          <p:nvPr/>
        </p:nvSpPr>
        <p:spPr>
          <a:xfrm>
            <a:off x="891540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End of day</a:t>
            </a:r>
            <a:endParaRPr lang="en-US" sz="1600" dirty="0"/>
          </a:p>
        </p:txBody>
      </p:sp>
      <p:sp>
        <p:nvSpPr>
          <p:cNvPr id="30" name="Text 28"/>
          <p:cNvSpPr/>
          <p:nvPr/>
        </p:nvSpPr>
        <p:spPr>
          <a:xfrm>
            <a:off x="891540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Summarize notes and next steps</a:t>
            </a:r>
            <a:endParaRPr lang="en-US" sz="115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38/48</a:t>
            </a:r>
            <a:endParaRPr lang="en-US" sz="72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GUARDRAILS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Responsible AI use in a real estate business</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Protect private client information</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Do not paste confidential data without authorization and safeguards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Review all output before use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Follow brokerage policies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Comply with Fair Housing requirements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Verify facts, MLS data, legal claims, and financial claims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Avoid discriminatory targeting or language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 AI to support professional judgment, not replace it</a:t>
            </a:r>
            <a:endParaRPr lang="en-US" sz="1650" dirty="0"/>
          </a:p>
        </p:txBody>
      </p:sp>
      <p:sp>
        <p:nvSpPr>
          <p:cNvPr id="12" name="Shape 10"/>
          <p:cNvSpPr/>
          <p:nvPr/>
        </p:nvSpPr>
        <p:spPr>
          <a:xfrm>
            <a:off x="7479792" y="1737360"/>
            <a:ext cx="91440" cy="2971800"/>
          </a:xfrm>
          <a:prstGeom prst="rect">
            <a:avLst/>
          </a:prstGeom>
          <a:solidFill>
            <a:srgbClr val="2E7D5B"/>
          </a:solidFill>
          <a:ln w="12700">
            <a:solidFill>
              <a:srgbClr val="2E7D5B"/>
            </a:solidFill>
            <a:prstDash val="solid"/>
          </a:ln>
        </p:spPr>
      </p:sp>
      <p:sp>
        <p:nvSpPr>
          <p:cNvPr id="13" name="Shape 11"/>
          <p:cNvSpPr/>
          <p:nvPr/>
        </p:nvSpPr>
        <p:spPr>
          <a:xfrm>
            <a:off x="7607808" y="1828800"/>
            <a:ext cx="3246120" cy="2788920"/>
          </a:xfrm>
          <a:prstGeom prst="roundRect">
            <a:avLst>
              <a:gd name="adj" fmla="val 1967"/>
            </a:avLst>
          </a:prstGeom>
          <a:solidFill>
            <a:srgbClr val="E9F8F0"/>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Review before use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Private data, brokerage policy, MLS rules, advertising, and Fair Housing still apply.</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39/48</a:t>
            </a:r>
            <a:endParaRPr lang="en-US" sz="72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BROKERAGE + MLS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When in doubt, slow down and verify</a:t>
            </a:r>
            <a:endParaRPr lang="en-US" sz="2800" dirty="0"/>
          </a:p>
        </p:txBody>
      </p:sp>
      <p:sp>
        <p:nvSpPr>
          <p:cNvPr id="11" name="Shape 9"/>
          <p:cNvSpPr/>
          <p:nvPr/>
        </p:nvSpPr>
        <p:spPr>
          <a:xfrm>
            <a:off x="868680" y="1783080"/>
            <a:ext cx="9601200" cy="603504"/>
          </a:xfrm>
          <a:prstGeom prst="roundRect">
            <a:avLst>
              <a:gd name="adj" fmla="val 9091"/>
            </a:avLst>
          </a:prstGeom>
          <a:solidFill>
            <a:srgbClr val="FFFFFF"/>
          </a:solidFill>
          <a:ln w="10160">
            <a:solidFill>
              <a:srgbClr val="D8E6E8"/>
            </a:solidFill>
            <a:prstDash val="solid"/>
          </a:ln>
        </p:spPr>
      </p:sp>
      <p:sp>
        <p:nvSpPr>
          <p:cNvPr id="12" name="Text 10"/>
          <p:cNvSpPr/>
          <p:nvPr/>
        </p:nvSpPr>
        <p:spPr>
          <a:xfrm>
            <a:off x="1115568" y="1947672"/>
            <a:ext cx="2011680" cy="164592"/>
          </a:xfrm>
          <a:prstGeom prst="rect">
            <a:avLst/>
          </a:prstGeom>
          <a:noFill/>
          <a:ln/>
        </p:spPr>
        <p:txBody>
          <a:bodyPr wrap="square" lIns="0" tIns="0" rIns="0" bIns="0" rtlCol="0" anchor="ctr">
            <a:normAutofit/>
          </a:bodyPr>
          <a:lstStyle/>
          <a:p>
            <a:pPr indent="0" marL="0">
              <a:buNone/>
            </a:pPr>
            <a:r>
              <a:rPr lang="en-US" sz="1030" b="1" dirty="0">
                <a:solidFill>
                  <a:srgbClr val="008F8F"/>
                </a:solidFill>
              </a:rPr>
              <a:t>Private data</a:t>
            </a:r>
            <a:endParaRPr lang="en-US" sz="1030" dirty="0"/>
          </a:p>
        </p:txBody>
      </p:sp>
      <p:sp>
        <p:nvSpPr>
          <p:cNvPr id="13" name="Text 11"/>
          <p:cNvSpPr/>
          <p:nvPr/>
        </p:nvSpPr>
        <p:spPr>
          <a:xfrm>
            <a:off x="3310128" y="1911096"/>
            <a:ext cx="6629400" cy="219456"/>
          </a:xfrm>
          <a:prstGeom prst="rect">
            <a:avLst/>
          </a:prstGeom>
          <a:noFill/>
          <a:ln/>
        </p:spPr>
        <p:txBody>
          <a:bodyPr wrap="square" lIns="0" tIns="0" rIns="0" bIns="0" rtlCol="0" anchor="ctr">
            <a:normAutofit/>
          </a:bodyPr>
          <a:lstStyle/>
          <a:p>
            <a:pPr indent="0" marL="0">
              <a:buNone/>
            </a:pPr>
            <a:r>
              <a:rPr lang="en-US" sz="1130" dirty="0">
                <a:solidFill>
                  <a:srgbClr val="102033"/>
                </a:solidFill>
              </a:rPr>
              <a:t>Remove names, contact info, financial details, and sensitive context before using public tools.</a:t>
            </a:r>
            <a:endParaRPr lang="en-US" sz="1130" dirty="0"/>
          </a:p>
        </p:txBody>
      </p:sp>
      <p:sp>
        <p:nvSpPr>
          <p:cNvPr id="14" name="Shape 12"/>
          <p:cNvSpPr/>
          <p:nvPr/>
        </p:nvSpPr>
        <p:spPr>
          <a:xfrm>
            <a:off x="868680" y="2624328"/>
            <a:ext cx="9601200" cy="603504"/>
          </a:xfrm>
          <a:prstGeom prst="roundRect">
            <a:avLst>
              <a:gd name="adj" fmla="val 9091"/>
            </a:avLst>
          </a:prstGeom>
          <a:solidFill>
            <a:srgbClr val="FFFFFF"/>
          </a:solidFill>
          <a:ln w="10160">
            <a:solidFill>
              <a:srgbClr val="D8E6E8"/>
            </a:solidFill>
            <a:prstDash val="solid"/>
          </a:ln>
        </p:spPr>
      </p:sp>
      <p:sp>
        <p:nvSpPr>
          <p:cNvPr id="15" name="Text 13"/>
          <p:cNvSpPr/>
          <p:nvPr/>
        </p:nvSpPr>
        <p:spPr>
          <a:xfrm>
            <a:off x="1115568" y="2788920"/>
            <a:ext cx="2011680" cy="164592"/>
          </a:xfrm>
          <a:prstGeom prst="rect">
            <a:avLst/>
          </a:prstGeom>
          <a:noFill/>
          <a:ln/>
        </p:spPr>
        <p:txBody>
          <a:bodyPr wrap="square" lIns="0" tIns="0" rIns="0" bIns="0" rtlCol="0" anchor="ctr">
            <a:normAutofit/>
          </a:bodyPr>
          <a:lstStyle/>
          <a:p>
            <a:pPr indent="0" marL="0">
              <a:buNone/>
            </a:pPr>
            <a:r>
              <a:rPr lang="en-US" sz="1030" b="1" dirty="0">
                <a:solidFill>
                  <a:srgbClr val="008F8F"/>
                </a:solidFill>
              </a:rPr>
              <a:t>Advertising</a:t>
            </a:r>
            <a:endParaRPr lang="en-US" sz="1030" dirty="0"/>
          </a:p>
        </p:txBody>
      </p:sp>
      <p:sp>
        <p:nvSpPr>
          <p:cNvPr id="16" name="Text 14"/>
          <p:cNvSpPr/>
          <p:nvPr/>
        </p:nvSpPr>
        <p:spPr>
          <a:xfrm>
            <a:off x="3310128" y="2752344"/>
            <a:ext cx="6629400" cy="219456"/>
          </a:xfrm>
          <a:prstGeom prst="rect">
            <a:avLst/>
          </a:prstGeom>
          <a:noFill/>
          <a:ln/>
        </p:spPr>
        <p:txBody>
          <a:bodyPr wrap="square" lIns="0" tIns="0" rIns="0" bIns="0" rtlCol="0" anchor="ctr">
            <a:normAutofit/>
          </a:bodyPr>
          <a:lstStyle/>
          <a:p>
            <a:pPr indent="0" marL="0">
              <a:buNone/>
            </a:pPr>
            <a:r>
              <a:rPr lang="en-US" sz="1130" dirty="0">
                <a:solidFill>
                  <a:srgbClr val="102033"/>
                </a:solidFill>
              </a:rPr>
              <a:t>Review claims, disclosures, brokerage rules, and platform requirements.</a:t>
            </a:r>
            <a:endParaRPr lang="en-US" sz="1130" dirty="0"/>
          </a:p>
        </p:txBody>
      </p:sp>
      <p:sp>
        <p:nvSpPr>
          <p:cNvPr id="17" name="Shape 15"/>
          <p:cNvSpPr/>
          <p:nvPr/>
        </p:nvSpPr>
        <p:spPr>
          <a:xfrm>
            <a:off x="868680" y="3465576"/>
            <a:ext cx="9601200" cy="603504"/>
          </a:xfrm>
          <a:prstGeom prst="roundRect">
            <a:avLst>
              <a:gd name="adj" fmla="val 9091"/>
            </a:avLst>
          </a:prstGeom>
          <a:solidFill>
            <a:srgbClr val="FFFFFF"/>
          </a:solidFill>
          <a:ln w="10160">
            <a:solidFill>
              <a:srgbClr val="D8E6E8"/>
            </a:solidFill>
            <a:prstDash val="solid"/>
          </a:ln>
        </p:spPr>
      </p:sp>
      <p:sp>
        <p:nvSpPr>
          <p:cNvPr id="18" name="Text 16"/>
          <p:cNvSpPr/>
          <p:nvPr/>
        </p:nvSpPr>
        <p:spPr>
          <a:xfrm>
            <a:off x="1115568" y="3630168"/>
            <a:ext cx="2011680" cy="164592"/>
          </a:xfrm>
          <a:prstGeom prst="rect">
            <a:avLst/>
          </a:prstGeom>
          <a:noFill/>
          <a:ln/>
        </p:spPr>
        <p:txBody>
          <a:bodyPr wrap="square" lIns="0" tIns="0" rIns="0" bIns="0" rtlCol="0" anchor="ctr">
            <a:normAutofit/>
          </a:bodyPr>
          <a:lstStyle/>
          <a:p>
            <a:pPr indent="0" marL="0">
              <a:buNone/>
            </a:pPr>
            <a:r>
              <a:rPr lang="en-US" sz="1030" b="1" dirty="0">
                <a:solidFill>
                  <a:srgbClr val="008F8F"/>
                </a:solidFill>
              </a:rPr>
              <a:t>MLS</a:t>
            </a:r>
            <a:endParaRPr lang="en-US" sz="1030" dirty="0"/>
          </a:p>
        </p:txBody>
      </p:sp>
      <p:sp>
        <p:nvSpPr>
          <p:cNvPr id="19" name="Text 17"/>
          <p:cNvSpPr/>
          <p:nvPr/>
        </p:nvSpPr>
        <p:spPr>
          <a:xfrm>
            <a:off x="3310128" y="3593592"/>
            <a:ext cx="6629400" cy="219456"/>
          </a:xfrm>
          <a:prstGeom prst="rect">
            <a:avLst/>
          </a:prstGeom>
          <a:noFill/>
          <a:ln/>
        </p:spPr>
        <p:txBody>
          <a:bodyPr wrap="square" lIns="0" tIns="0" rIns="0" bIns="0" rtlCol="0" anchor="ctr">
            <a:normAutofit/>
          </a:bodyPr>
          <a:lstStyle/>
          <a:p>
            <a:pPr indent="0" marL="0">
              <a:buNone/>
            </a:pPr>
            <a:r>
              <a:rPr lang="en-US" sz="1130" dirty="0">
                <a:solidFill>
                  <a:srgbClr val="102033"/>
                </a:solidFill>
              </a:rPr>
              <a:t>Follow MLS rules for listing data, remarks, photos, and public display.</a:t>
            </a:r>
            <a:endParaRPr lang="en-US" sz="1130" dirty="0"/>
          </a:p>
        </p:txBody>
      </p:sp>
      <p:sp>
        <p:nvSpPr>
          <p:cNvPr id="20" name="Shape 18"/>
          <p:cNvSpPr/>
          <p:nvPr/>
        </p:nvSpPr>
        <p:spPr>
          <a:xfrm>
            <a:off x="868680" y="4306824"/>
            <a:ext cx="9601200" cy="603504"/>
          </a:xfrm>
          <a:prstGeom prst="roundRect">
            <a:avLst>
              <a:gd name="adj" fmla="val 9091"/>
            </a:avLst>
          </a:prstGeom>
          <a:solidFill>
            <a:srgbClr val="FFFFFF"/>
          </a:solidFill>
          <a:ln w="10160">
            <a:solidFill>
              <a:srgbClr val="D8E6E8"/>
            </a:solidFill>
            <a:prstDash val="solid"/>
          </a:ln>
        </p:spPr>
      </p:sp>
      <p:sp>
        <p:nvSpPr>
          <p:cNvPr id="21" name="Text 19"/>
          <p:cNvSpPr/>
          <p:nvPr/>
        </p:nvSpPr>
        <p:spPr>
          <a:xfrm>
            <a:off x="1115568" y="4471416"/>
            <a:ext cx="2011680" cy="164592"/>
          </a:xfrm>
          <a:prstGeom prst="rect">
            <a:avLst/>
          </a:prstGeom>
          <a:noFill/>
          <a:ln/>
        </p:spPr>
        <p:txBody>
          <a:bodyPr wrap="square" lIns="0" tIns="0" rIns="0" bIns="0" rtlCol="0" anchor="ctr">
            <a:normAutofit/>
          </a:bodyPr>
          <a:lstStyle/>
          <a:p>
            <a:pPr indent="0" marL="0">
              <a:buNone/>
            </a:pPr>
            <a:r>
              <a:rPr lang="en-US" sz="1030" b="1" dirty="0">
                <a:solidFill>
                  <a:srgbClr val="008F8F"/>
                </a:solidFill>
              </a:rPr>
              <a:t>Consumer communication</a:t>
            </a:r>
            <a:endParaRPr lang="en-US" sz="1030" dirty="0"/>
          </a:p>
        </p:txBody>
      </p:sp>
      <p:sp>
        <p:nvSpPr>
          <p:cNvPr id="22" name="Text 20"/>
          <p:cNvSpPr/>
          <p:nvPr/>
        </p:nvSpPr>
        <p:spPr>
          <a:xfrm>
            <a:off x="3310128" y="4434840"/>
            <a:ext cx="6629400" cy="219456"/>
          </a:xfrm>
          <a:prstGeom prst="rect">
            <a:avLst/>
          </a:prstGeom>
          <a:noFill/>
          <a:ln/>
        </p:spPr>
        <p:txBody>
          <a:bodyPr wrap="square" lIns="0" tIns="0" rIns="0" bIns="0" rtlCol="0" anchor="ctr">
            <a:normAutofit/>
          </a:bodyPr>
          <a:lstStyle/>
          <a:p>
            <a:pPr indent="0" marL="0">
              <a:buNone/>
            </a:pPr>
            <a:r>
              <a:rPr lang="en-US" sz="1130" dirty="0">
                <a:solidFill>
                  <a:srgbClr val="102033"/>
                </a:solidFill>
              </a:rPr>
              <a:t>Keep records, respect opt-outs, and do not automate beyond policy.</a:t>
            </a:r>
            <a:endParaRPr lang="en-US" sz="1130" dirty="0"/>
          </a:p>
        </p:txBody>
      </p:sp>
      <p:sp>
        <p:nvSpPr>
          <p:cNvPr id="23" name="Shape 21"/>
          <p:cNvSpPr/>
          <p:nvPr/>
        </p:nvSpPr>
        <p:spPr>
          <a:xfrm>
            <a:off x="502920" y="6473952"/>
            <a:ext cx="11201400" cy="0"/>
          </a:xfrm>
          <a:prstGeom prst="line">
            <a:avLst/>
          </a:prstGeom>
          <a:noFill/>
          <a:ln w="9525">
            <a:solidFill>
              <a:srgbClr val="D8E6E8"/>
            </a:solidFill>
            <a:prstDash val="solid"/>
          </a:ln>
        </p:spPr>
      </p:sp>
      <p:sp>
        <p:nvSpPr>
          <p:cNvPr id="24" name="Text 2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40/48</a:t>
            </a:r>
            <a:endParaRPr lang="en-US" sz="72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Build your daily AI workflow</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Pick one task in each part of the day.</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Morning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Midday follow-up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Afternoon marketing/client update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End-of-day CRM or notes task</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41/48</a:t>
            </a:r>
            <a:endParaRPr lang="en-US" sz="72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2B84B"/>
          </a:solidFill>
          <a:ln w="12700">
            <a:solidFill>
              <a:srgbClr val="F2B84B"/>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08</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8</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Wrap-Up and Starter Prompt Practice</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Leave with one repeatable workflow and a small prompt library.</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STARTER LIBRARY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Five prompts to save before you leave</a:t>
            </a:r>
            <a:endParaRPr lang="en-US" sz="2800" dirty="0"/>
          </a:p>
        </p:txBody>
      </p:sp>
      <p:sp>
        <p:nvSpPr>
          <p:cNvPr id="11" name="Shape 9"/>
          <p:cNvSpPr/>
          <p:nvPr/>
        </p:nvSpPr>
        <p:spPr>
          <a:xfrm>
            <a:off x="868680" y="1755648"/>
            <a:ext cx="9646920" cy="475488"/>
          </a:xfrm>
          <a:prstGeom prst="roundRect">
            <a:avLst>
              <a:gd name="adj" fmla="val 11538"/>
            </a:avLst>
          </a:prstGeom>
          <a:solidFill>
            <a:srgbClr val="EAF7F7"/>
          </a:solidFill>
          <a:ln w="10160">
            <a:solidFill>
              <a:srgbClr val="B8DDE0"/>
            </a:solidFill>
            <a:prstDash val="solid"/>
          </a:ln>
        </p:spPr>
      </p:sp>
      <p:sp>
        <p:nvSpPr>
          <p:cNvPr id="12" name="Shape 10"/>
          <p:cNvSpPr/>
          <p:nvPr/>
        </p:nvSpPr>
        <p:spPr>
          <a:xfrm>
            <a:off x="1078992" y="1810512"/>
            <a:ext cx="402336" cy="402336"/>
          </a:xfrm>
          <a:prstGeom prst="ellipse">
            <a:avLst/>
          </a:prstGeom>
          <a:solidFill>
            <a:srgbClr val="008F8F"/>
          </a:solidFill>
          <a:ln w="12700">
            <a:solidFill>
              <a:srgbClr val="008F8F"/>
            </a:solidFill>
            <a:prstDash val="solid"/>
          </a:ln>
        </p:spPr>
      </p:sp>
      <p:sp>
        <p:nvSpPr>
          <p:cNvPr id="13" name="Text 11"/>
          <p:cNvSpPr/>
          <p:nvPr/>
        </p:nvSpPr>
        <p:spPr>
          <a:xfrm>
            <a:off x="1078992" y="19019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627632" y="1828800"/>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Draft a client message from these notes: [notes]. Make it concise, warm, and specific.</a:t>
            </a:r>
            <a:endParaRPr lang="en-US" sz="1260" dirty="0"/>
          </a:p>
        </p:txBody>
      </p:sp>
      <p:sp>
        <p:nvSpPr>
          <p:cNvPr id="15" name="Shape 13"/>
          <p:cNvSpPr/>
          <p:nvPr/>
        </p:nvSpPr>
        <p:spPr>
          <a:xfrm>
            <a:off x="868680" y="2377440"/>
            <a:ext cx="9646920" cy="475488"/>
          </a:xfrm>
          <a:prstGeom prst="roundRect">
            <a:avLst>
              <a:gd name="adj" fmla="val 11538"/>
            </a:avLst>
          </a:prstGeom>
          <a:solidFill>
            <a:srgbClr val="FFFFFF"/>
          </a:solidFill>
          <a:ln w="10160">
            <a:solidFill>
              <a:srgbClr val="D8E6E8"/>
            </a:solidFill>
            <a:prstDash val="solid"/>
          </a:ln>
        </p:spPr>
      </p:sp>
      <p:sp>
        <p:nvSpPr>
          <p:cNvPr id="16" name="Shape 14"/>
          <p:cNvSpPr/>
          <p:nvPr/>
        </p:nvSpPr>
        <p:spPr>
          <a:xfrm>
            <a:off x="1078992" y="2432304"/>
            <a:ext cx="402336" cy="402336"/>
          </a:xfrm>
          <a:prstGeom prst="ellipse">
            <a:avLst/>
          </a:prstGeom>
          <a:solidFill>
            <a:srgbClr val="2F80ED"/>
          </a:solidFill>
          <a:ln w="12700">
            <a:solidFill>
              <a:srgbClr val="2F80ED"/>
            </a:solidFill>
            <a:prstDash val="solid"/>
          </a:ln>
        </p:spPr>
      </p:sp>
      <p:sp>
        <p:nvSpPr>
          <p:cNvPr id="17" name="Text 15"/>
          <p:cNvSpPr/>
          <p:nvPr/>
        </p:nvSpPr>
        <p:spPr>
          <a:xfrm>
            <a:off x="1078992" y="2523744"/>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8" name="Text 16"/>
          <p:cNvSpPr/>
          <p:nvPr/>
        </p:nvSpPr>
        <p:spPr>
          <a:xfrm>
            <a:off x="1627632" y="2450592"/>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Create three versions of this follow-up: text, email, and voicemail.</a:t>
            </a:r>
            <a:endParaRPr lang="en-US" sz="1260" dirty="0"/>
          </a:p>
        </p:txBody>
      </p:sp>
      <p:sp>
        <p:nvSpPr>
          <p:cNvPr id="19" name="Shape 17"/>
          <p:cNvSpPr/>
          <p:nvPr/>
        </p:nvSpPr>
        <p:spPr>
          <a:xfrm>
            <a:off x="868680" y="2999232"/>
            <a:ext cx="9646920" cy="475488"/>
          </a:xfrm>
          <a:prstGeom prst="roundRect">
            <a:avLst>
              <a:gd name="adj" fmla="val 11538"/>
            </a:avLst>
          </a:prstGeom>
          <a:solidFill>
            <a:srgbClr val="EAF7F7"/>
          </a:solidFill>
          <a:ln w="10160">
            <a:solidFill>
              <a:srgbClr val="B8DDE0"/>
            </a:solidFill>
            <a:prstDash val="solid"/>
          </a:ln>
        </p:spPr>
      </p:sp>
      <p:sp>
        <p:nvSpPr>
          <p:cNvPr id="20" name="Shape 18"/>
          <p:cNvSpPr/>
          <p:nvPr/>
        </p:nvSpPr>
        <p:spPr>
          <a:xfrm>
            <a:off x="1078992" y="3054096"/>
            <a:ext cx="402336" cy="402336"/>
          </a:xfrm>
          <a:prstGeom prst="ellipse">
            <a:avLst/>
          </a:prstGeom>
          <a:solidFill>
            <a:srgbClr val="F45B69"/>
          </a:solidFill>
          <a:ln w="12700">
            <a:solidFill>
              <a:srgbClr val="F45B69"/>
            </a:solidFill>
            <a:prstDash val="solid"/>
          </a:ln>
        </p:spPr>
      </p:sp>
      <p:sp>
        <p:nvSpPr>
          <p:cNvPr id="21" name="Text 19"/>
          <p:cNvSpPr/>
          <p:nvPr/>
        </p:nvSpPr>
        <p:spPr>
          <a:xfrm>
            <a:off x="1078992" y="3145536"/>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2" name="Text 20"/>
          <p:cNvSpPr/>
          <p:nvPr/>
        </p:nvSpPr>
        <p:spPr>
          <a:xfrm>
            <a:off x="1627632" y="3072384"/>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Review this message for accuracy, Fair Housing risk, and claims I should verify.</a:t>
            </a:r>
            <a:endParaRPr lang="en-US" sz="1260" dirty="0"/>
          </a:p>
        </p:txBody>
      </p:sp>
      <p:sp>
        <p:nvSpPr>
          <p:cNvPr id="23" name="Shape 21"/>
          <p:cNvSpPr/>
          <p:nvPr/>
        </p:nvSpPr>
        <p:spPr>
          <a:xfrm>
            <a:off x="868680" y="3621024"/>
            <a:ext cx="9646920" cy="475488"/>
          </a:xfrm>
          <a:prstGeom prst="roundRect">
            <a:avLst>
              <a:gd name="adj" fmla="val 11538"/>
            </a:avLst>
          </a:prstGeom>
          <a:solidFill>
            <a:srgbClr val="FFFFFF"/>
          </a:solidFill>
          <a:ln w="10160">
            <a:solidFill>
              <a:srgbClr val="D8E6E8"/>
            </a:solidFill>
            <a:prstDash val="solid"/>
          </a:ln>
        </p:spPr>
      </p:sp>
      <p:sp>
        <p:nvSpPr>
          <p:cNvPr id="24" name="Shape 22"/>
          <p:cNvSpPr/>
          <p:nvPr/>
        </p:nvSpPr>
        <p:spPr>
          <a:xfrm>
            <a:off x="1078992" y="3675888"/>
            <a:ext cx="402336" cy="402336"/>
          </a:xfrm>
          <a:prstGeom prst="ellipse">
            <a:avLst/>
          </a:prstGeom>
          <a:solidFill>
            <a:srgbClr val="2E7D5B"/>
          </a:solidFill>
          <a:ln w="12700">
            <a:solidFill>
              <a:srgbClr val="2E7D5B"/>
            </a:solidFill>
            <a:prstDash val="solid"/>
          </a:ln>
        </p:spPr>
      </p:sp>
      <p:sp>
        <p:nvSpPr>
          <p:cNvPr id="25" name="Text 23"/>
          <p:cNvSpPr/>
          <p:nvPr/>
        </p:nvSpPr>
        <p:spPr>
          <a:xfrm>
            <a:off x="1078992" y="3767328"/>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6" name="Text 24"/>
          <p:cNvSpPr/>
          <p:nvPr/>
        </p:nvSpPr>
        <p:spPr>
          <a:xfrm>
            <a:off x="1627632" y="3694176"/>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Turn these verified listing facts into a listing paragraph, social caption, and open house invite.</a:t>
            </a:r>
            <a:endParaRPr lang="en-US" sz="1260" dirty="0"/>
          </a:p>
        </p:txBody>
      </p:sp>
      <p:sp>
        <p:nvSpPr>
          <p:cNvPr id="27" name="Shape 25"/>
          <p:cNvSpPr/>
          <p:nvPr/>
        </p:nvSpPr>
        <p:spPr>
          <a:xfrm>
            <a:off x="868680" y="4242816"/>
            <a:ext cx="9646920" cy="475488"/>
          </a:xfrm>
          <a:prstGeom prst="roundRect">
            <a:avLst>
              <a:gd name="adj" fmla="val 11538"/>
            </a:avLst>
          </a:prstGeom>
          <a:solidFill>
            <a:srgbClr val="EAF7F7"/>
          </a:solidFill>
          <a:ln w="10160">
            <a:solidFill>
              <a:srgbClr val="B8DDE0"/>
            </a:solidFill>
            <a:prstDash val="solid"/>
          </a:ln>
        </p:spPr>
      </p:sp>
      <p:sp>
        <p:nvSpPr>
          <p:cNvPr id="28" name="Shape 26"/>
          <p:cNvSpPr/>
          <p:nvPr/>
        </p:nvSpPr>
        <p:spPr>
          <a:xfrm>
            <a:off x="1078992" y="4297680"/>
            <a:ext cx="402336" cy="402336"/>
          </a:xfrm>
          <a:prstGeom prst="ellipse">
            <a:avLst/>
          </a:prstGeom>
          <a:solidFill>
            <a:srgbClr val="F2B84B"/>
          </a:solidFill>
          <a:ln w="12700">
            <a:solidFill>
              <a:srgbClr val="F2B84B"/>
            </a:solidFill>
            <a:prstDash val="solid"/>
          </a:ln>
        </p:spPr>
      </p:sp>
      <p:sp>
        <p:nvSpPr>
          <p:cNvPr id="29" name="Text 27"/>
          <p:cNvSpPr/>
          <p:nvPr/>
        </p:nvSpPr>
        <p:spPr>
          <a:xfrm>
            <a:off x="1078992" y="43891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30" name="Text 28"/>
          <p:cNvSpPr/>
          <p:nvPr/>
        </p:nvSpPr>
        <p:spPr>
          <a:xfrm>
            <a:off x="1627632" y="4315968"/>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Role-play as [buyer/seller type] and help me practice responding professionally.</a:t>
            </a:r>
            <a:endParaRPr lang="en-US" sz="126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43/48</a:t>
            </a:r>
            <a:endParaRPr lang="en-US" sz="72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KEY TAKEAWAYS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What should change after today</a:t>
            </a:r>
            <a:endParaRPr lang="en-US" sz="2800" dirty="0"/>
          </a:p>
        </p:txBody>
      </p:sp>
      <p:sp>
        <p:nvSpPr>
          <p:cNvPr id="11" name="Text 9"/>
          <p:cNvSpPr/>
          <p:nvPr/>
        </p:nvSpPr>
        <p:spPr>
          <a:xfrm>
            <a:off x="914400" y="1874520"/>
            <a:ext cx="8961120" cy="2926080"/>
          </a:xfrm>
          <a:prstGeom prst="rect">
            <a:avLst/>
          </a:prstGeom>
          <a:noFill/>
          <a:ln/>
        </p:spPr>
        <p:txBody>
          <a:bodyPr wrap="square" lIns="254" tIns="254" rIns="254" bIns="254" rtlCol="0" anchor="t">
            <a:normAutofit/>
          </a:bodyPr>
          <a:lstStyle/>
          <a:p>
            <a:pPr marL="203200" indent="-203200">
              <a:buSzPct val="100000"/>
              <a:buChar char="•"/>
            </a:pPr>
            <a:r>
              <a:rPr lang="en-US" sz="1700" dirty="0">
                <a:solidFill>
                  <a:srgbClr val="102033"/>
                </a:solidFill>
                <a:latin typeface="Aptos" pitchFamily="34" charset="0"/>
                <a:ea typeface="Aptos" pitchFamily="34" charset="-122"/>
                <a:cs typeface="Aptos" pitchFamily="34" charset="-120"/>
              </a:rPr>
              <a:t>Use AI on repeatable sales tasks, not vague experiments</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Give AI role, task, context, tone, constraints, and goal</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Review every output before a client sees it</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Protect private data and follow brokerage policy</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Build one daily workflow before adding more tools</a:t>
            </a:r>
            <a:endParaRPr lang="en-US" sz="1700" dirty="0"/>
          </a:p>
        </p:txBody>
      </p:sp>
      <p:sp>
        <p:nvSpPr>
          <p:cNvPr id="12" name="Shape 10"/>
          <p:cNvSpPr/>
          <p:nvPr/>
        </p:nvSpPr>
        <p:spPr>
          <a:xfrm>
            <a:off x="502920" y="6473952"/>
            <a:ext cx="11201400" cy="0"/>
          </a:xfrm>
          <a:prstGeom prst="line">
            <a:avLst/>
          </a:prstGeom>
          <a:noFill/>
          <a:ln w="9525">
            <a:solidFill>
              <a:srgbClr val="D8E6E8"/>
            </a:solidFill>
            <a:prstDash val="solid"/>
          </a:ln>
        </p:spPr>
      </p:sp>
      <p:sp>
        <p:nvSpPr>
          <p:cNvPr id="13" name="Text 1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4" name="Text 1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44/48</a:t>
            </a:r>
            <a:endParaRPr lang="en-US" sz="72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NEXT STEPS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Your one-week implementation plan</a:t>
            </a:r>
            <a:endParaRPr lang="en-US" sz="2800" dirty="0"/>
          </a:p>
        </p:txBody>
      </p:sp>
      <p:sp>
        <p:nvSpPr>
          <p:cNvPr id="11" name="Shape 9"/>
          <p:cNvSpPr/>
          <p:nvPr/>
        </p:nvSpPr>
        <p:spPr>
          <a:xfrm>
            <a:off x="731520" y="2331720"/>
            <a:ext cx="402336" cy="402336"/>
          </a:xfrm>
          <a:prstGeom prst="ellipse">
            <a:avLst/>
          </a:prstGeom>
          <a:solidFill>
            <a:srgbClr val="008F8F"/>
          </a:solidFill>
          <a:ln w="12700">
            <a:solidFill>
              <a:srgbClr val="008F8F"/>
            </a:solidFill>
            <a:prstDash val="solid"/>
          </a:ln>
        </p:spPr>
      </p:sp>
      <p:sp>
        <p:nvSpPr>
          <p:cNvPr id="12" name="Text 10"/>
          <p:cNvSpPr/>
          <p:nvPr/>
        </p:nvSpPr>
        <p:spPr>
          <a:xfrm>
            <a:off x="7315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3" name="Shape 11"/>
          <p:cNvSpPr/>
          <p:nvPr/>
        </p:nvSpPr>
        <p:spPr>
          <a:xfrm>
            <a:off x="1143000" y="2532888"/>
            <a:ext cx="1115568" cy="0"/>
          </a:xfrm>
          <a:prstGeom prst="line">
            <a:avLst/>
          </a:prstGeom>
          <a:noFill/>
          <a:ln w="17780">
            <a:solidFill>
              <a:srgbClr val="D8E6E8"/>
            </a:solidFill>
            <a:prstDash val="solid"/>
            <a:tailEnd type="triangle"/>
          </a:ln>
        </p:spPr>
      </p:sp>
      <p:sp>
        <p:nvSpPr>
          <p:cNvPr id="14" name="Text 12"/>
          <p:cNvSpPr/>
          <p:nvPr/>
        </p:nvSpPr>
        <p:spPr>
          <a:xfrm>
            <a:off x="5943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Choose one workflow</a:t>
            </a:r>
            <a:endParaRPr lang="en-US" sz="1150" dirty="0"/>
          </a:p>
        </p:txBody>
      </p:sp>
      <p:sp>
        <p:nvSpPr>
          <p:cNvPr id="15" name="Shape 13"/>
          <p:cNvSpPr/>
          <p:nvPr/>
        </p:nvSpPr>
        <p:spPr>
          <a:xfrm>
            <a:off x="2788920" y="2496312"/>
            <a:ext cx="402336" cy="402336"/>
          </a:xfrm>
          <a:prstGeom prst="ellipse">
            <a:avLst/>
          </a:prstGeom>
          <a:solidFill>
            <a:srgbClr val="2F80ED"/>
          </a:solidFill>
          <a:ln w="12700">
            <a:solidFill>
              <a:srgbClr val="2F80ED"/>
            </a:solidFill>
            <a:prstDash val="solid"/>
          </a:ln>
        </p:spPr>
      </p:sp>
      <p:sp>
        <p:nvSpPr>
          <p:cNvPr id="16" name="Text 14"/>
          <p:cNvSpPr/>
          <p:nvPr/>
        </p:nvSpPr>
        <p:spPr>
          <a:xfrm>
            <a:off x="27889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7" name="Shape 15"/>
          <p:cNvSpPr/>
          <p:nvPr/>
        </p:nvSpPr>
        <p:spPr>
          <a:xfrm>
            <a:off x="3200400" y="2532888"/>
            <a:ext cx="1115568" cy="0"/>
          </a:xfrm>
          <a:prstGeom prst="line">
            <a:avLst/>
          </a:prstGeom>
          <a:noFill/>
          <a:ln w="17780">
            <a:solidFill>
              <a:srgbClr val="D8E6E8"/>
            </a:solidFill>
            <a:prstDash val="solid"/>
            <a:tailEnd type="triangle"/>
          </a:ln>
        </p:spPr>
      </p:sp>
      <p:sp>
        <p:nvSpPr>
          <p:cNvPr id="18" name="Text 16"/>
          <p:cNvSpPr/>
          <p:nvPr/>
        </p:nvSpPr>
        <p:spPr>
          <a:xfrm>
            <a:off x="26517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Write one reusable prompt</a:t>
            </a:r>
            <a:endParaRPr lang="en-US" sz="1150" dirty="0"/>
          </a:p>
        </p:txBody>
      </p:sp>
      <p:sp>
        <p:nvSpPr>
          <p:cNvPr id="19" name="Shape 17"/>
          <p:cNvSpPr/>
          <p:nvPr/>
        </p:nvSpPr>
        <p:spPr>
          <a:xfrm>
            <a:off x="4846320" y="2331720"/>
            <a:ext cx="402336" cy="402336"/>
          </a:xfrm>
          <a:prstGeom prst="ellipse">
            <a:avLst/>
          </a:prstGeom>
          <a:solidFill>
            <a:srgbClr val="F45B69"/>
          </a:solidFill>
          <a:ln w="12700">
            <a:solidFill>
              <a:srgbClr val="F45B69"/>
            </a:solidFill>
            <a:prstDash val="solid"/>
          </a:ln>
        </p:spPr>
      </p:sp>
      <p:sp>
        <p:nvSpPr>
          <p:cNvPr id="20" name="Text 18"/>
          <p:cNvSpPr/>
          <p:nvPr/>
        </p:nvSpPr>
        <p:spPr>
          <a:xfrm>
            <a:off x="48463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1" name="Shape 19"/>
          <p:cNvSpPr/>
          <p:nvPr/>
        </p:nvSpPr>
        <p:spPr>
          <a:xfrm>
            <a:off x="5257800" y="2532888"/>
            <a:ext cx="1115568" cy="0"/>
          </a:xfrm>
          <a:prstGeom prst="line">
            <a:avLst/>
          </a:prstGeom>
          <a:noFill/>
          <a:ln w="17780">
            <a:solidFill>
              <a:srgbClr val="D8E6E8"/>
            </a:solidFill>
            <a:prstDash val="solid"/>
            <a:tailEnd type="triangle"/>
          </a:ln>
        </p:spPr>
      </p:sp>
      <p:sp>
        <p:nvSpPr>
          <p:cNvPr id="22" name="Text 20"/>
          <p:cNvSpPr/>
          <p:nvPr/>
        </p:nvSpPr>
        <p:spPr>
          <a:xfrm>
            <a:off x="47091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Use it three times</a:t>
            </a:r>
            <a:endParaRPr lang="en-US" sz="1150" dirty="0"/>
          </a:p>
        </p:txBody>
      </p:sp>
      <p:sp>
        <p:nvSpPr>
          <p:cNvPr id="23" name="Shape 21"/>
          <p:cNvSpPr/>
          <p:nvPr/>
        </p:nvSpPr>
        <p:spPr>
          <a:xfrm>
            <a:off x="6903720" y="2496312"/>
            <a:ext cx="402336" cy="402336"/>
          </a:xfrm>
          <a:prstGeom prst="ellipse">
            <a:avLst/>
          </a:prstGeom>
          <a:solidFill>
            <a:srgbClr val="2E7D5B"/>
          </a:solidFill>
          <a:ln w="12700">
            <a:solidFill>
              <a:srgbClr val="2E7D5B"/>
            </a:solidFill>
            <a:prstDash val="solid"/>
          </a:ln>
        </p:spPr>
      </p:sp>
      <p:sp>
        <p:nvSpPr>
          <p:cNvPr id="24" name="Text 22"/>
          <p:cNvSpPr/>
          <p:nvPr/>
        </p:nvSpPr>
        <p:spPr>
          <a:xfrm>
            <a:off x="69037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5" name="Shape 23"/>
          <p:cNvSpPr/>
          <p:nvPr/>
        </p:nvSpPr>
        <p:spPr>
          <a:xfrm>
            <a:off x="7315200" y="2532888"/>
            <a:ext cx="1115568" cy="0"/>
          </a:xfrm>
          <a:prstGeom prst="line">
            <a:avLst/>
          </a:prstGeom>
          <a:noFill/>
          <a:ln w="17780">
            <a:solidFill>
              <a:srgbClr val="D8E6E8"/>
            </a:solidFill>
            <a:prstDash val="solid"/>
            <a:tailEnd type="triangle"/>
          </a:ln>
        </p:spPr>
      </p:sp>
      <p:sp>
        <p:nvSpPr>
          <p:cNvPr id="26" name="Text 24"/>
          <p:cNvSpPr/>
          <p:nvPr/>
        </p:nvSpPr>
        <p:spPr>
          <a:xfrm>
            <a:off x="67665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Save the best output</a:t>
            </a:r>
            <a:endParaRPr lang="en-US" sz="1150" dirty="0"/>
          </a:p>
        </p:txBody>
      </p:sp>
      <p:sp>
        <p:nvSpPr>
          <p:cNvPr id="27" name="Shape 25"/>
          <p:cNvSpPr/>
          <p:nvPr/>
        </p:nvSpPr>
        <p:spPr>
          <a:xfrm>
            <a:off x="8961120" y="2331720"/>
            <a:ext cx="402336" cy="402336"/>
          </a:xfrm>
          <a:prstGeom prst="ellipse">
            <a:avLst/>
          </a:prstGeom>
          <a:solidFill>
            <a:srgbClr val="F2B84B"/>
          </a:solidFill>
          <a:ln w="12700">
            <a:solidFill>
              <a:srgbClr val="F2B84B"/>
            </a:solidFill>
            <a:prstDash val="solid"/>
          </a:ln>
        </p:spPr>
      </p:sp>
      <p:sp>
        <p:nvSpPr>
          <p:cNvPr id="28" name="Text 26"/>
          <p:cNvSpPr/>
          <p:nvPr/>
        </p:nvSpPr>
        <p:spPr>
          <a:xfrm>
            <a:off x="89611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9" name="Text 27"/>
          <p:cNvSpPr/>
          <p:nvPr/>
        </p:nvSpPr>
        <p:spPr>
          <a:xfrm>
            <a:off x="88239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Refine after reviewing results</a:t>
            </a:r>
            <a:endParaRPr lang="en-US" sz="1150" dirty="0"/>
          </a:p>
        </p:txBody>
      </p:sp>
      <p:sp>
        <p:nvSpPr>
          <p:cNvPr id="30" name="Shape 28"/>
          <p:cNvSpPr/>
          <p:nvPr/>
        </p:nvSpPr>
        <p:spPr>
          <a:xfrm>
            <a:off x="502920" y="6473952"/>
            <a:ext cx="11201400" cy="0"/>
          </a:xfrm>
          <a:prstGeom prst="line">
            <a:avLst/>
          </a:prstGeom>
          <a:noFill/>
          <a:ln w="9525">
            <a:solidFill>
              <a:srgbClr val="D8E6E8"/>
            </a:solidFill>
            <a:prstDash val="solid"/>
          </a:ln>
        </p:spPr>
      </p:sp>
      <p:sp>
        <p:nvSpPr>
          <p:cNvPr id="31" name="Text 29"/>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2" name="Text 30"/>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45/48</a:t>
            </a:r>
            <a:endParaRPr lang="en-US" sz="72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RESOURCES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Recommended resources to keep nearby</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Your brokerage AI, advertising, and data policies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Fair Housing and advertising guidance from your brokerage or association</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MLS rules and public remarks guidance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 personal prompt library saved in your notes or CRM workflow</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 simple checklist: private, verified, compliant, human-reviewed</a:t>
            </a:r>
            <a:endParaRPr lang="en-US" sz="1650" dirty="0"/>
          </a:p>
        </p:txBody>
      </p:sp>
      <p:sp>
        <p:nvSpPr>
          <p:cNvPr id="12" name="Shape 10"/>
          <p:cNvSpPr/>
          <p:nvPr/>
        </p:nvSpPr>
        <p:spPr>
          <a:xfrm>
            <a:off x="7479792" y="1737360"/>
            <a:ext cx="91440" cy="2971800"/>
          </a:xfrm>
          <a:prstGeom prst="rect">
            <a:avLst/>
          </a:prstGeom>
          <a:solidFill>
            <a:srgbClr val="2F80ED"/>
          </a:solidFill>
          <a:ln w="12700">
            <a:solidFill>
              <a:srgbClr val="2F80ED"/>
            </a:solidFill>
            <a:prstDash val="solid"/>
          </a:ln>
        </p:spPr>
      </p:sp>
      <p:sp>
        <p:nvSpPr>
          <p:cNvPr id="13" name="Shape 11"/>
          <p:cNvSpPr/>
          <p:nvPr/>
        </p:nvSpPr>
        <p:spPr>
          <a:xfrm>
            <a:off x="7607808" y="1828800"/>
            <a:ext cx="3246120" cy="2788920"/>
          </a:xfrm>
          <a:prstGeom prst="roundRect">
            <a:avLst>
              <a:gd name="adj" fmla="val 1967"/>
            </a:avLst>
          </a:prstGeom>
          <a:solidFill>
            <a:srgbClr val="FFF4D9"/>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Keep sources close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Use authoritative local rules and broker guidance when the answer matters.</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46/48</a:t>
            </a:r>
            <a:endParaRPr lang="en-US" sz="72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FINAL REMINDER</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supports your work. It does not replace your judgment.</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This course provides general education, not legal, financial, brokerage, MLS, or Fair Housing advice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Agents remain responsible for reviewing communications and following applicable rules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 verified facts and approved data sources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When uncertain, consult your broker, MLS, attorney, lender, or appropriate professional</a:t>
            </a:r>
            <a:endParaRPr lang="en-US" sz="165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F5C8C5"/>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Professional judgment stays in the loop</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Verify, review, and follow applicable rules before using AI output.</a:t>
            </a:r>
            <a:endParaRPr lang="en-US" sz="1220" dirty="0"/>
          </a:p>
        </p:txBody>
      </p:sp>
      <p:sp>
        <p:nvSpPr>
          <p:cNvPr id="16" name="Shape 14"/>
          <p:cNvSpPr/>
          <p:nvPr/>
        </p:nvSpPr>
        <p:spPr>
          <a:xfrm>
            <a:off x="7882128" y="4160520"/>
            <a:ext cx="1097280" cy="0"/>
          </a:xfrm>
          <a:prstGeom prst="line">
            <a:avLst/>
          </a:prstGeom>
          <a:noFill/>
          <a:ln w="38100">
            <a:solidFill>
              <a:srgbClr val="F45B69"/>
            </a:solidFill>
            <a:prstDash val="solid"/>
          </a:ln>
        </p:spPr>
      </p:sp>
      <p:sp>
        <p:nvSpPr>
          <p:cNvPr id="17" name="Shape 15"/>
          <p:cNvSpPr/>
          <p:nvPr/>
        </p:nvSpPr>
        <p:spPr>
          <a:xfrm>
            <a:off x="7882128" y="4370832"/>
            <a:ext cx="493776" cy="493776"/>
          </a:xfrm>
          <a:prstGeom prst="roundRect">
            <a:avLst>
              <a:gd name="adj" fmla="val 14815"/>
            </a:avLst>
          </a:prstGeom>
          <a:solidFill>
            <a:srgbClr val="F45B69"/>
          </a:solidFill>
          <a:ln w="12700">
            <a:solidFill>
              <a:srgbClr val="F45B69"/>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47/48</a:t>
            </a:r>
            <a:endParaRPr lang="en-US" sz="72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THANK YOU</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Questions and discussion</a:t>
            </a:r>
            <a:endParaRPr lang="en-US" sz="2800" dirty="0"/>
          </a:p>
        </p:txBody>
      </p:sp>
      <p:sp>
        <p:nvSpPr>
          <p:cNvPr id="11" name="Text 9"/>
          <p:cNvSpPr/>
          <p:nvPr/>
        </p:nvSpPr>
        <p:spPr>
          <a:xfrm>
            <a:off x="694944" y="2697480"/>
            <a:ext cx="6858000" cy="347472"/>
          </a:xfrm>
          <a:prstGeom prst="rect">
            <a:avLst/>
          </a:prstGeom>
          <a:noFill/>
          <a:ln/>
        </p:spPr>
        <p:txBody>
          <a:bodyPr wrap="square" lIns="0" tIns="0" rIns="0" bIns="0" rtlCol="0" anchor="ctr"/>
          <a:lstStyle/>
          <a:p>
            <a:pPr indent="0" marL="0">
              <a:buNone/>
            </a:pPr>
            <a:r>
              <a:rPr lang="en-US" sz="1600" dirty="0">
                <a:solidFill>
                  <a:srgbClr val="52606D"/>
                </a:solidFill>
              </a:rPr>
              <a:t>AI for Real Estate Sales: From Confusion to Daily Use</a:t>
            </a:r>
            <a:endParaRPr lang="en-US" sz="1600" dirty="0"/>
          </a:p>
        </p:txBody>
      </p:sp>
      <p:sp>
        <p:nvSpPr>
          <p:cNvPr id="12" name="Shape 10"/>
          <p:cNvSpPr/>
          <p:nvPr/>
        </p:nvSpPr>
        <p:spPr>
          <a:xfrm>
            <a:off x="694944" y="3273552"/>
            <a:ext cx="1828800" cy="0"/>
          </a:xfrm>
          <a:prstGeom prst="line">
            <a:avLst/>
          </a:prstGeom>
          <a:noFill/>
          <a:ln w="50800">
            <a:solidFill>
              <a:srgbClr val="F45B69"/>
            </a:solidFill>
            <a:prstDash val="solid"/>
          </a:ln>
        </p:spPr>
      </p:sp>
      <p:sp>
        <p:nvSpPr>
          <p:cNvPr id="13" name="Text 11"/>
          <p:cNvSpPr/>
          <p:nvPr/>
        </p:nvSpPr>
        <p:spPr>
          <a:xfrm>
            <a:off x="694944" y="3749040"/>
            <a:ext cx="2743200" cy="320040"/>
          </a:xfrm>
          <a:prstGeom prst="rect">
            <a:avLst/>
          </a:prstGeom>
          <a:noFill/>
          <a:ln/>
        </p:spPr>
        <p:txBody>
          <a:bodyPr wrap="square" lIns="0" tIns="0" rIns="0" bIns="0" rtlCol="0" anchor="ctr"/>
          <a:lstStyle/>
          <a:p>
            <a:pPr indent="0" marL="0">
              <a:buNone/>
            </a:pPr>
            <a:r>
              <a:rPr lang="en-US" sz="2200" b="1" dirty="0">
                <a:solidFill>
                  <a:srgbClr val="16324F"/>
                </a:solidFill>
              </a:rPr>
              <a:t>Thank you</a:t>
            </a:r>
            <a:endParaRPr lang="en-US" sz="2200" dirty="0"/>
          </a:p>
        </p:txBody>
      </p:sp>
      <p:sp>
        <p:nvSpPr>
          <p:cNvPr id="14" name="Shape 12"/>
          <p:cNvSpPr/>
          <p:nvPr/>
        </p:nvSpPr>
        <p:spPr>
          <a:xfrm>
            <a:off x="6300216" y="3566160"/>
            <a:ext cx="3795126" cy="746150"/>
          </a:xfrm>
          <a:prstGeom prst="roundRect">
            <a:avLst>
              <a:gd name="adj" fmla="val 4902"/>
            </a:avLst>
          </a:prstGeom>
          <a:solidFill>
            <a:srgbClr val="FFFFFF">
              <a:alpha val="97000"/>
            </a:srgbClr>
          </a:solidFill>
          <a:ln w="7620">
            <a:solidFill>
              <a:srgbClr val="D7E4EA">
                <a:alpha val="75000"/>
              </a:srgbClr>
            </a:solidFill>
            <a:prstDash val="solid"/>
          </a:ln>
        </p:spPr>
      </p:sp>
      <p:pic>
        <p:nvPicPr>
          <p:cNvPr id="15" name="Image 0" descr="C:\Users\TR4_1950X\Documents\New project\assets\brand\miami-realtors-rworld-combined-logo.png">    </p:cNvPr>
          <p:cNvPicPr>
            <a:picLocks noChangeAspect="1"/>
          </p:cNvPicPr>
          <p:nvPr/>
        </p:nvPicPr>
        <p:blipFill>
          <a:blip r:embed="rId1"/>
          <a:stretch>
            <a:fillRect/>
          </a:stretch>
        </p:blipFill>
        <p:spPr>
          <a:xfrm>
            <a:off x="6446520" y="3675888"/>
            <a:ext cx="3502518" cy="526694"/>
          </a:xfrm>
          <a:prstGeom prst="rect">
            <a:avLst/>
          </a:prstGeom>
        </p:spPr>
      </p:pic>
      <p:sp>
        <p:nvSpPr>
          <p:cNvPr id="16" name="Shape 13"/>
          <p:cNvSpPr/>
          <p:nvPr/>
        </p:nvSpPr>
        <p:spPr>
          <a:xfrm>
            <a:off x="502920" y="6473952"/>
            <a:ext cx="11201400" cy="0"/>
          </a:xfrm>
          <a:prstGeom prst="line">
            <a:avLst/>
          </a:prstGeom>
          <a:noFill/>
          <a:ln w="9525">
            <a:solidFill>
              <a:srgbClr val="D8E6E8"/>
            </a:solidFill>
            <a:prstDash val="solid"/>
          </a:ln>
        </p:spPr>
      </p:sp>
      <p:sp>
        <p:nvSpPr>
          <p:cNvPr id="17" name="Text 14"/>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8" name="Text 15"/>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48/48</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MIAMI REALTORS + RWorld education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Real Estate Sales: From Confusion to Daily Use</dc:title>
  <dc:subject>AI for Real Estate Sales approved REALTOR education course</dc:subject>
  <dc:creator>Ian Burton Price</dc:creator>
  <cp:lastModifiedBy>Ian Burton Price</cp:lastModifiedBy>
  <cp:revision>1</cp:revision>
  <dcterms:created xsi:type="dcterms:W3CDTF">2026-06-02T01:29:58Z</dcterms:created>
  <dcterms:modified xsi:type="dcterms:W3CDTF">2026-06-02T01:29:58Z</dcterms:modified>
</cp:coreProperties>
</file>