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Keep company context minimal and educational. Do not turn this into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manage pacing. Exercises may expand or compress.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protected-class implications, school claims, and subjective neighborhood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course as serious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Text 4"/>
          <p:cNvSpPr/>
          <p:nvPr/>
        </p:nvSpPr>
        <p:spPr>
          <a:xfrm>
            <a:off x="7315200" y="2788920"/>
            <a:ext cx="3931920" cy="1097280"/>
          </a:xfrm>
          <a:prstGeom prst="rect">
            <a:avLst/>
          </a:prstGeom>
          <a:noFill/>
          <a:ln/>
        </p:spPr>
        <p:txBody>
          <a:bodyPr wrap="square" lIns="0" tIns="0" rIns="0" bIns="0" rtlCol="0" anchor="ctr">
            <a:normAutofit/>
          </a:bodyPr>
          <a:lstStyle/>
          <a:p>
            <a:pPr indent="0" marL="0">
              <a:buNone/>
            </a:pPr>
            <a:r>
              <a:rPr lang="en-US" sz="10800" b="1" dirty="0">
                <a:solidFill>
                  <a:srgbClr val="254B6B"/>
                </a:solidFill>
                <a:latin typeface="Aptos Display" pitchFamily="34" charset="0"/>
                <a:ea typeface="Aptos Display" pitchFamily="34" charset="-122"/>
                <a:cs typeface="Aptos Display" pitchFamily="34" charset="-120"/>
              </a:rPr>
              <a:t>AI</a:t>
            </a:r>
            <a:endParaRPr lang="en-US" sz="10800" dirty="0"/>
          </a:p>
        </p:txBody>
      </p:sp>
      <p:sp>
        <p:nvSpPr>
          <p:cNvPr id="7" name="Text 5"/>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8" name="Text 6"/>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9" name="Text 7"/>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0" name="Shape 8"/>
          <p:cNvSpPr/>
          <p:nvPr/>
        </p:nvSpPr>
        <p:spPr>
          <a:xfrm>
            <a:off x="749808" y="3054096"/>
            <a:ext cx="2011680" cy="0"/>
          </a:xfrm>
          <a:prstGeom prst="line">
            <a:avLst/>
          </a:prstGeom>
          <a:noFill/>
          <a:ln w="50800">
            <a:solidFill>
              <a:srgbClr val="F45B69"/>
            </a:solidFill>
            <a:prstDash val="solid"/>
          </a:ln>
        </p:spPr>
      </p:sp>
      <p:sp>
        <p:nvSpPr>
          <p:cNvPr id="11" name="Shape 9"/>
          <p:cNvSpPr/>
          <p:nvPr/>
        </p:nvSpPr>
        <p:spPr>
          <a:xfrm>
            <a:off x="749808" y="3364992"/>
            <a:ext cx="1572768" cy="310896"/>
          </a:xfrm>
          <a:prstGeom prst="roundRect">
            <a:avLst>
              <a:gd name="adj" fmla="val 11765"/>
            </a:avLst>
          </a:prstGeom>
          <a:solidFill>
            <a:srgbClr val="008F8F"/>
          </a:solidFill>
          <a:ln w="12700">
            <a:solidFill>
              <a:srgbClr val="008F8F"/>
            </a:solidFill>
            <a:prstDash val="solid"/>
          </a:ln>
        </p:spPr>
      </p:sp>
      <p:sp>
        <p:nvSpPr>
          <p:cNvPr id="12" name="Text 10"/>
          <p:cNvSpPr/>
          <p:nvPr/>
        </p:nvSpPr>
        <p:spPr>
          <a:xfrm>
            <a:off x="877824" y="3451860"/>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3" name="Shape 11"/>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4" name="Image 0" descr="C:\Users\TR4_1950X\Documents\New project\assets\brand\miami-realtors-rworld-combined-logo.png">    </p:cNvPr>
          <p:cNvPicPr>
            <a:picLocks noChangeAspect="1"/>
          </p:cNvPicPr>
          <p:nvPr/>
        </p:nvPicPr>
        <p:blipFill>
          <a:blip r:embed="rId1"/>
          <a:stretch>
            <a:fillRect/>
          </a:stretch>
        </p:blipFill>
        <p:spPr>
          <a:xfrm>
            <a:off x="749808" y="4315968"/>
            <a:ext cx="3988979" cy="599846"/>
          </a:xfrm>
          <a:prstGeom prst="rect">
            <a:avLst/>
          </a:prstGeom>
        </p:spPr>
      </p:pic>
      <p:sp>
        <p:nvSpPr>
          <p:cNvPr id="15" name="Text 12"/>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16" name="Text 13"/>
          <p:cNvSpPr/>
          <p:nvPr/>
        </p:nvSpPr>
        <p:spPr>
          <a:xfrm>
            <a:off x="749808" y="5760720"/>
            <a:ext cx="4389120" cy="201168"/>
          </a:xfrm>
          <a:prstGeom prst="rect">
            <a:avLst/>
          </a:prstGeom>
          <a:noFill/>
          <a:ln/>
        </p:spPr>
        <p:txBody>
          <a:bodyPr wrap="square" lIns="0" tIns="0" rIns="0" bIns="0" rtlCol="0" anchor="ctr"/>
          <a:lstStyle/>
          <a:p>
            <a:pPr indent="0" marL="0">
              <a:buNone/>
            </a:pPr>
            <a:r>
              <a:rPr lang="en-US" sz="950" dirty="0">
                <a:solidFill>
                  <a:srgbClr val="AFC8CF"/>
                </a:solidFill>
              </a:rPr>
              <a:t>Instructor-ready live training deck</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Focus: usable sales communication, follow-up, listing prep, and daily productivity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Questions are welcome throughout the class</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Make it usable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Turn each example into one repeatable workflow you can use this week.</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2/48</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3/48</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What this class builds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 practical AI workflow for real estate sales, not a technical certification.</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4/48</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11" name="Text 9"/>
          <p:cNvSpPr/>
          <p:nvPr/>
        </p:nvSpPr>
        <p:spPr>
          <a:xfrm>
            <a:off x="786384" y="1444752"/>
            <a:ext cx="4297680" cy="201168"/>
          </a:xfrm>
          <a:prstGeom prst="rect">
            <a:avLst/>
          </a:prstGeom>
          <a:noFill/>
          <a:ln/>
        </p:spPr>
        <p:txBody>
          <a:bodyPr wrap="square" lIns="0" tIns="0" rIns="0" bIns="0" rtlCol="0" anchor="ctr"/>
          <a:lstStyle/>
          <a:p>
            <a:pPr indent="0" marL="0">
              <a:buNone/>
            </a:pPr>
            <a:r>
              <a:rPr lang="en-US" sz="1050" b="1" dirty="0">
                <a:solidFill>
                  <a:srgbClr val="52606D"/>
                </a:solidFill>
              </a:rPr>
              <a:t>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25m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20m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5/48</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7/48</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8/48</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9/48</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11/48</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12/48</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13/48</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14/48</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Realtor prompt formula</a:t>
            </a:r>
            <a:endParaRPr lang="en-US" sz="2800" dirty="0"/>
          </a:p>
        </p:txBody>
      </p:sp>
      <p:sp>
        <p:nvSpPr>
          <p:cNvPr id="11" name="Shape 9"/>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13" name="Text 11"/>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REALTOR</a:t>
            </a:r>
            <a:endParaRPr lang="en-US" sz="1150" dirty="0"/>
          </a:p>
        </p:txBody>
      </p:sp>
      <p:sp>
        <p:nvSpPr>
          <p:cNvPr id="14" name="Shape 12"/>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6" name="Text 14"/>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7" name="Shape 15"/>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9" name="Text 17"/>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20" name="Shape 18"/>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22" name="Text 20"/>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23" name="Shape 21"/>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4" name="Text 22"/>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5" name="Text 23"/>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6" name="Shape 24"/>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7" name="Text 25"/>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8" name="Text 26"/>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16/48</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buyer toured two condos, liked one, but is worried about monthly payment.</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17/48</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listing had showings but no offers this week.</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19/48</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20/48</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22/48</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15" name="Shape 13"/>
          <p:cNvSpPr/>
          <p:nvPr/>
        </p:nvSpPr>
        <p:spPr>
          <a:xfrm>
            <a:off x="246888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2880360" y="2532888"/>
            <a:ext cx="1115568" cy="0"/>
          </a:xfrm>
          <a:prstGeom prst="line">
            <a:avLst/>
          </a:prstGeom>
          <a:noFill/>
          <a:ln w="17780">
            <a:solidFill>
              <a:srgbClr val="D8E6E8"/>
            </a:solidFill>
            <a:prstDash val="solid"/>
            <a:tailEnd type="triangle"/>
          </a:ln>
        </p:spPr>
      </p:sp>
      <p:sp>
        <p:nvSpPr>
          <p:cNvPr id="18" name="Text 16"/>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9" name="Shape 17"/>
          <p:cNvSpPr/>
          <p:nvPr/>
        </p:nvSpPr>
        <p:spPr>
          <a:xfrm>
            <a:off x="420624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4617720" y="2532888"/>
            <a:ext cx="1115568" cy="0"/>
          </a:xfrm>
          <a:prstGeom prst="line">
            <a:avLst/>
          </a:prstGeom>
          <a:noFill/>
          <a:ln w="17780">
            <a:solidFill>
              <a:srgbClr val="D8E6E8"/>
            </a:solidFill>
            <a:prstDash val="solid"/>
            <a:tailEnd type="triangle"/>
          </a:ln>
        </p:spPr>
      </p:sp>
      <p:sp>
        <p:nvSpPr>
          <p:cNvPr id="22" name="Text 20"/>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23" name="Shape 21"/>
          <p:cNvSpPr/>
          <p:nvPr/>
        </p:nvSpPr>
        <p:spPr>
          <a:xfrm>
            <a:off x="594360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6355080" y="2532888"/>
            <a:ext cx="1115568" cy="0"/>
          </a:xfrm>
          <a:prstGeom prst="line">
            <a:avLst/>
          </a:prstGeom>
          <a:noFill/>
          <a:ln w="17780">
            <a:solidFill>
              <a:srgbClr val="D8E6E8"/>
            </a:solidFill>
            <a:prstDash val="solid"/>
            <a:tailEnd type="triangle"/>
          </a:ln>
        </p:spPr>
      </p:sp>
      <p:sp>
        <p:nvSpPr>
          <p:cNvPr id="26" name="Text 24"/>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7" name="Shape 25"/>
          <p:cNvSpPr/>
          <p:nvPr/>
        </p:nvSpPr>
        <p:spPr>
          <a:xfrm>
            <a:off x="768096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Shape 27"/>
          <p:cNvSpPr/>
          <p:nvPr/>
        </p:nvSpPr>
        <p:spPr>
          <a:xfrm>
            <a:off x="8092440" y="2532888"/>
            <a:ext cx="1115568" cy="0"/>
          </a:xfrm>
          <a:prstGeom prst="line">
            <a:avLst/>
          </a:prstGeom>
          <a:noFill/>
          <a:ln w="17780">
            <a:solidFill>
              <a:srgbClr val="D8E6E8"/>
            </a:solidFill>
            <a:prstDash val="solid"/>
            <a:tailEnd type="triangle"/>
          </a:ln>
        </p:spPr>
      </p:sp>
      <p:sp>
        <p:nvSpPr>
          <p:cNvPr id="30" name="Text 28"/>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31" name="Shape 29"/>
          <p:cNvSpPr/>
          <p:nvPr/>
        </p:nvSpPr>
        <p:spPr>
          <a:xfrm>
            <a:off x="9418320" y="2496312"/>
            <a:ext cx="402336" cy="402336"/>
          </a:xfrm>
          <a:prstGeom prst="ellipse">
            <a:avLst/>
          </a:prstGeom>
          <a:solidFill>
            <a:srgbClr val="16324F"/>
          </a:solidFill>
          <a:ln w="12700">
            <a:solidFill>
              <a:srgbClr val="16324F"/>
            </a:solidFill>
            <a:prstDash val="solid"/>
          </a:ln>
        </p:spPr>
      </p:sp>
      <p:sp>
        <p:nvSpPr>
          <p:cNvPr id="32" name="Text 30"/>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3" name="Text 31"/>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4" name="Shape 32"/>
          <p:cNvSpPr/>
          <p:nvPr/>
        </p:nvSpPr>
        <p:spPr>
          <a:xfrm>
            <a:off x="502920" y="6473952"/>
            <a:ext cx="11201400" cy="0"/>
          </a:xfrm>
          <a:prstGeom prst="line">
            <a:avLst/>
          </a:prstGeom>
          <a:noFill/>
          <a:ln w="9525">
            <a:solidFill>
              <a:srgbClr val="D8E6E8"/>
            </a:solidFill>
            <a:prstDash val="solid"/>
          </a:ln>
        </p:spPr>
      </p:sp>
      <p:sp>
        <p:nvSpPr>
          <p:cNvPr id="35" name="Text 3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23/48</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Lead asked: "Is the condo on Brickell still available?"</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Weak: "Yes, it is available. Let me know if you want to see it."</a:t>
            </a:r>
            <a:endParaRPr lang="en-US" sz="1320" dirty="0"/>
          </a:p>
          <a:p>
            <a:pPr indent="0" marL="0">
              <a:buNone/>
            </a:pPr>
            <a:endParaRPr lang="en-US" sz="1320" dirty="0"/>
          </a:p>
          <a:p>
            <a:pPr indent="0" marL="0">
              <a:buNone/>
            </a:pPr>
            <a:r>
              <a:rPr lang="en-US" sz="1320" dirty="0">
                <a:solidFill>
                  <a:srgbClr val="102033"/>
                </a:solidFill>
              </a:rPr>
              <a:t>Better: "Yes, it appears available as of my latest check. Are you looking specifically in Brickell, or would similar buildings with strong amenities also be worth sending over?"</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24/48</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25/48</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26/48</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Feed AI verified property facts. Do not ask it to invent listing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28/48</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29/48</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30/48</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31/48</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06</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33/48</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34/48</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"Act as a cautious buyer who wants to wait for rates to drop. Help me practice a conversation that is educational, not pushy. Challenge any claims that sound too certain."</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35/48</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36/48</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07</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38/48</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39/48</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11" name="Shape 9"/>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1947672"/>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Private data</a:t>
            </a:r>
            <a:endParaRPr lang="en-US" sz="1030" dirty="0"/>
          </a:p>
        </p:txBody>
      </p:sp>
      <p:sp>
        <p:nvSpPr>
          <p:cNvPr id="13" name="Text 11"/>
          <p:cNvSpPr/>
          <p:nvPr/>
        </p:nvSpPr>
        <p:spPr>
          <a:xfrm>
            <a:off x="3310128" y="1911096"/>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Remove names, contact info, financial details, and sensitive context before using public tools.</a:t>
            </a:r>
            <a:endParaRPr lang="en-US" sz="1130" dirty="0"/>
          </a:p>
        </p:txBody>
      </p:sp>
      <p:sp>
        <p:nvSpPr>
          <p:cNvPr id="14" name="Shape 12"/>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2788920"/>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Advertising</a:t>
            </a:r>
            <a:endParaRPr lang="en-US" sz="1030" dirty="0"/>
          </a:p>
        </p:txBody>
      </p:sp>
      <p:sp>
        <p:nvSpPr>
          <p:cNvPr id="16" name="Text 14"/>
          <p:cNvSpPr/>
          <p:nvPr/>
        </p:nvSpPr>
        <p:spPr>
          <a:xfrm>
            <a:off x="3310128" y="2752344"/>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Review claims, disclosures, brokerage rules, and platform requirements.</a:t>
            </a:r>
            <a:endParaRPr lang="en-US" sz="1130" dirty="0"/>
          </a:p>
        </p:txBody>
      </p:sp>
      <p:sp>
        <p:nvSpPr>
          <p:cNvPr id="17" name="Shape 15"/>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8" name="Text 16"/>
          <p:cNvSpPr/>
          <p:nvPr/>
        </p:nvSpPr>
        <p:spPr>
          <a:xfrm>
            <a:off x="1115568" y="3630168"/>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MLS</a:t>
            </a:r>
            <a:endParaRPr lang="en-US" sz="1030" dirty="0"/>
          </a:p>
        </p:txBody>
      </p:sp>
      <p:sp>
        <p:nvSpPr>
          <p:cNvPr id="19" name="Text 17"/>
          <p:cNvSpPr/>
          <p:nvPr/>
        </p:nvSpPr>
        <p:spPr>
          <a:xfrm>
            <a:off x="3310128" y="3593592"/>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Follow MLS rules for listing data, remarks, photos, and public display.</a:t>
            </a:r>
            <a:endParaRPr lang="en-US" sz="1130" dirty="0"/>
          </a:p>
        </p:txBody>
      </p:sp>
      <p:sp>
        <p:nvSpPr>
          <p:cNvPr id="20" name="Shape 18"/>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21" name="Text 19"/>
          <p:cNvSpPr/>
          <p:nvPr/>
        </p:nvSpPr>
        <p:spPr>
          <a:xfrm>
            <a:off x="1115568" y="4471416"/>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Consumer communication</a:t>
            </a:r>
            <a:endParaRPr lang="en-US" sz="1030" dirty="0"/>
          </a:p>
        </p:txBody>
      </p:sp>
      <p:sp>
        <p:nvSpPr>
          <p:cNvPr id="22" name="Text 20"/>
          <p:cNvSpPr/>
          <p:nvPr/>
        </p:nvSpPr>
        <p:spPr>
          <a:xfrm>
            <a:off x="3310128" y="4434840"/>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Keep records, respect opt-outs, and do not automate beyond policy.</a:t>
            </a:r>
            <a:endParaRPr lang="en-US" sz="113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40/48</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41/48</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08</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7" name="Shape 25"/>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8" name="Shape 26"/>
          <p:cNvSpPr/>
          <p:nvPr/>
        </p:nvSpPr>
        <p:spPr>
          <a:xfrm>
            <a:off x="1078992" y="4297680"/>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43/48</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11" name="Text 9"/>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12" name="Shape 10"/>
          <p:cNvSpPr/>
          <p:nvPr/>
        </p:nvSpPr>
        <p:spPr>
          <a:xfrm>
            <a:off x="502920" y="6473952"/>
            <a:ext cx="11201400" cy="0"/>
          </a:xfrm>
          <a:prstGeom prst="line">
            <a:avLst/>
          </a:prstGeom>
          <a:noFill/>
          <a:ln w="9525">
            <a:solidFill>
              <a:srgbClr val="D8E6E8"/>
            </a:solidFill>
            <a:prstDash val="solid"/>
          </a:ln>
        </p:spPr>
      </p:sp>
      <p:sp>
        <p:nvSpPr>
          <p:cNvPr id="13" name="Text 1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4" name="Text 1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44/48</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45/48</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Keep sources close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authoritative local rules and broker guidance when the answer matters.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46/48</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Professional judgment stays in the loop</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Verify, review, and follow applicable rules before using AI output.</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F45B69"/>
          </a:solidFill>
          <a:ln w="12700">
            <a:solidFill>
              <a:srgbClr val="F45B69"/>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47/48</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11" name="Text 9"/>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12" name="Shape 10"/>
          <p:cNvSpPr/>
          <p:nvPr/>
        </p:nvSpPr>
        <p:spPr>
          <a:xfrm>
            <a:off x="694944" y="3273552"/>
            <a:ext cx="1828800" cy="0"/>
          </a:xfrm>
          <a:prstGeom prst="line">
            <a:avLst/>
          </a:prstGeom>
          <a:noFill/>
          <a:ln w="50800">
            <a:solidFill>
              <a:srgbClr val="F45B69"/>
            </a:solidFill>
            <a:prstDash val="solid"/>
          </a:ln>
        </p:spPr>
      </p:sp>
      <p:sp>
        <p:nvSpPr>
          <p:cNvPr id="13" name="Text 11"/>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14" name="Shape 12"/>
          <p:cNvSpPr/>
          <p:nvPr/>
        </p:nvSpPr>
        <p:spPr>
          <a:xfrm>
            <a:off x="6300216" y="3566160"/>
            <a:ext cx="3795126" cy="746150"/>
          </a:xfrm>
          <a:prstGeom prst="roundRect">
            <a:avLst>
              <a:gd name="adj" fmla="val 4902"/>
            </a:avLst>
          </a:prstGeom>
          <a:solidFill>
            <a:srgbClr val="FFFFFF">
              <a:alpha val="97000"/>
            </a:srgbClr>
          </a:solidFill>
          <a:ln w="7620">
            <a:solidFill>
              <a:srgbClr val="D7E4EA">
                <a:alpha val="75000"/>
              </a:srgbClr>
            </a:solidFill>
            <a:prstDash val="solid"/>
          </a:ln>
        </p:spPr>
      </p:sp>
      <p:pic>
        <p:nvPicPr>
          <p:cNvPr id="15" name="Image 0" descr="C:\Users\TR4_1950X\Documents\New project\assets\brand\miami-realtors-rworld-combined-logo.png">    </p:cNvPr>
          <p:cNvPicPr>
            <a:picLocks noChangeAspect="1"/>
          </p:cNvPicPr>
          <p:nvPr/>
        </p:nvPicPr>
        <p:blipFill>
          <a:blip r:embed="rId1"/>
          <a:stretch>
            <a:fillRect/>
          </a:stretch>
        </p:blipFill>
        <p:spPr>
          <a:xfrm>
            <a:off x="6446520" y="3675888"/>
            <a:ext cx="3502518" cy="526694"/>
          </a:xfrm>
          <a:prstGeom prst="rect">
            <a:avLst/>
          </a:prstGeom>
        </p:spPr>
      </p:pic>
      <p:sp>
        <p:nvSpPr>
          <p:cNvPr id="16" name="Shape 13"/>
          <p:cNvSpPr/>
          <p:nvPr/>
        </p:nvSpPr>
        <p:spPr>
          <a:xfrm>
            <a:off x="502920" y="6473952"/>
            <a:ext cx="11201400" cy="0"/>
          </a:xfrm>
          <a:prstGeom prst="line">
            <a:avLst/>
          </a:prstGeom>
          <a:noFill/>
          <a:ln w="9525">
            <a:solidFill>
              <a:srgbClr val="D8E6E8"/>
            </a:solidFill>
            <a:prstDash val="solid"/>
          </a:ln>
        </p:spPr>
      </p:sp>
      <p:sp>
        <p:nvSpPr>
          <p:cNvPr id="17"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8"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48/48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2026-06-02T01:36:24Z</dcterms:created>
  <dcterms:modified xsi:type="dcterms:W3CDTF">2026-06-02T01:36:24Z</dcterms:modified>
</cp:coreProperties>
</file>