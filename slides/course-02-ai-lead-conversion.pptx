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Welcome the room, set the practical tone, and frame the class as useful even for agents who do not consider themselves technical.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Tell attendees they do not need to master every AI tool. The win is leaving with repeatable workflows.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Preview the path so attendees know the class will stay concrete and paced.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Set this expectation early so the rest of the class can be practical without sounding reckless.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Use the midnight condo click joke if the room is warm.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Talk track: Use the midnight condo click joke if the room is warm.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Walk through the framework quickly, then move to the demo. The framework should feel usable, not academic.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Facilitate the exercise. Invite one example from the room if time allows. Keep the output short and client-safe.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Make speed-to-lead feel tactical, not abstract.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Talk track: Make speed-to-lead feel tactical, not abstract.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Walk through the framework quickly, then move to the demo. The framework should feel usable, not academic.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Facilitate the exercise. Invite one example from the room if time allows. Keep the output short and client-safe.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The point: segmentation can happen before a formal campaign.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Talk track: The point: segmentation can happen before a formal campaign.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Walk through the framework quickly, then move to the demo. The framework should feel usable, not academic.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Facilitate the exercise. Invite one example from the room if time allows. Keep the output short and client-safe.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Keep examples short enough to read on a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Talk track: Keep examples short enough to read on a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Walk through the framework quickly, then move to the demo. The framework should feel usable, not academic.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Facilitate the exercise. Invite one example from the room if time allows. Keep the output short and client-safe.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Tie this lightly to CRM/website workflows without pitching 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Talk track: Tie this lightly to CRM/website workflows without pitching 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Walk through the framework quickly, then move to the demo. The framework should feel usable, not academic.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Facilitate the exercise. Invite one example from the room if time allows. Keep the output short and client-safe.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This is the core money slide. Spend time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Talk track: This is the core money slide. Spend time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Walk through the framework quickly, then move to the demo. The framework should feel usable, not academic.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Facilitate the exercise. Invite one example from the room if time allows. Keep the output short and client-safe.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Keep the role-play friendly. Nobody likes being roasted by a laptop.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Talk track: Keep the role-play friendly. Nobody likes being roasted by a laptop.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Walk through the framework quickly, then move to the demo. The framework should feel usable, not academic.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Facilitate the exercise. Invite one example from the room if time allows. Keep the output short and client-safe.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End with practical accountability, not a dashboard lecture.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Talk track: End with practical accountability, not a dashboard lecture.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Walk through the framework quickly, then move to the demo. The framework should feel usable, not academic.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Facilitate the exercise. Invite one example from the room if time allows. Keep the output short and client-safe.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Use this slide to transition from learning into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notes: Have attendees write down one action before leaving. This is the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7F7"/>
          </a:solidFill>
          <a:ln w="12700">
            <a:solidFill>
              <a:srgbClr val="EAF7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0" y="-548640"/>
            <a:ext cx="4297680" cy="4297680"/>
          </a:xfrm>
          <a:prstGeom prst="arc">
            <a:avLst/>
          </a:prstGeom>
          <a:solidFill>
            <a:srgbClr val="EAF7F7">
              <a:alpha val="0"/>
            </a:srgbClr>
          </a:solidFill>
          <a:ln w="25400">
            <a:solidFill>
              <a:srgbClr val="A6DE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6583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</a:rPr>
              <a:t>Miami Realtors AI Course Series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1481328"/>
            <a:ext cx="978408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Lead Conversion: How to Turn More Online Leads Into Appointments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68096" y="3090672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02033"/>
                </a:solidFill>
              </a:rPr>
              <a:t>Use AI to turn internet lead activity into real conversations and appointments.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68096" y="53949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Instructor: Ian Burton Price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68096" y="568756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06D"/>
                </a:solidFill>
              </a:rPr>
              <a:t>Neutral education materials; synthetic examples only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Promise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AI to turn internet lead activity into real conversations and appointments.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examples, not theory.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prompts and workflows.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judgment stays in the driver's seat.</a:t>
            </a:r>
            <a:endParaRPr lang="en-US" sz="1820" dirty="0"/>
          </a:p>
        </p:txBody>
      </p:sp>
      <p:sp>
        <p:nvSpPr>
          <p:cNvPr id="8" name="Shape 5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2 /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 at a Glance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for a 2-hour class; core modules total about 150 minutes plus exercises and discussion.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86868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8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Online Lead Problem</a:t>
            </a:r>
            <a:endParaRPr lang="en-US" sz="1580" dirty="0"/>
          </a:p>
          <a:p>
            <a:pPr marL="203200" indent="-203200">
              <a:buSzPct val="100000"/>
              <a:buChar char="•"/>
            </a:pPr>
            <a:r>
              <a:rPr lang="en-US" sz="158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Speed-to-Lead Is Not Enough</a:t>
            </a:r>
            <a:endParaRPr lang="en-US" sz="1580" dirty="0"/>
          </a:p>
          <a:p>
            <a:pPr marL="203200" indent="-203200">
              <a:buSzPct val="100000"/>
              <a:buChar char="•"/>
            </a:pPr>
            <a:r>
              <a:rPr lang="en-US" sz="158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Types and Response Strategy</a:t>
            </a:r>
            <a:endParaRPr lang="en-US" sz="1580" dirty="0"/>
          </a:p>
          <a:p>
            <a:pPr marL="203200" indent="-203200">
              <a:buSzPct val="100000"/>
              <a:buChar char="•"/>
            </a:pPr>
            <a:r>
              <a:rPr lang="en-US" sz="158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First Contact Scripts</a:t>
            </a:r>
            <a:endParaRPr lang="en-US" sz="1580" dirty="0"/>
          </a:p>
          <a:p>
            <a:pPr marL="203200" indent="-203200">
              <a:buSzPct val="100000"/>
              <a:buChar char="•"/>
            </a:pPr>
            <a:r>
              <a:rPr lang="en-US" sz="158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Signals and Prioritization</a:t>
            </a:r>
            <a:endParaRPr lang="en-US" sz="1580" dirty="0"/>
          </a:p>
          <a:p>
            <a:pPr marL="203200" indent="-203200">
              <a:buSzPct val="100000"/>
              <a:buChar char="•"/>
            </a:pPr>
            <a:r>
              <a:rPr lang="en-US" sz="158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Turning Replies Into Appointments</a:t>
            </a:r>
            <a:endParaRPr lang="en-US" sz="158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Learn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Demo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Practice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Apply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2 /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Professional Guardrails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helps draft and organize. You still verify, edit, and decide.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client privacy.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facts before sending.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Fair Housing risk.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outsource licensed judgment.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Private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Verified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Compliant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Human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2 /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14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</a:rPr>
              <a:t>15 minutes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" y="1828800"/>
            <a:ext cx="98755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The Online Lead Problem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68096" y="30632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EEF"/>
                </a:solidFill>
              </a:rPr>
              <a:t>Most leads do not fail because they are fake; they fail because follow-up is generic.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8096" y="3913632"/>
            <a:ext cx="2011680" cy="0"/>
          </a:xfrm>
          <a:prstGeom prst="line">
            <a:avLst/>
          </a:prstGeom>
          <a:noFill/>
          <a:ln w="50800">
            <a:solidFill>
              <a:srgbClr val="FF6B5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Most leads do not fail because they are fake; they fail because follow-up is generic.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Online Lead Problem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context.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timing.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many copy-paste messages.</a:t>
            </a:r>
            <a:endParaRPr lang="en-US" sz="1820" dirty="0"/>
          </a:p>
        </p:txBody>
      </p:sp>
      <p:sp>
        <p:nvSpPr>
          <p:cNvPr id="8" name="Shape 5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2 /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Framework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Online Lead Problem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context.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timing.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many copy-paste messages.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give up before the lead is ready.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Context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Prompt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Review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Send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2 /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Practice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a generic first response with a better appointment-oriented version.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Rewrite 'Is this available?' into a conversation starter.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Debrief: what improved, what still needs human review?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Try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Edit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Debrief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Save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86384" y="4498848"/>
            <a:ext cx="10195560" cy="1225296"/>
          </a:xfrm>
          <a:prstGeom prst="roundRect">
            <a:avLst>
              <a:gd name="adj" fmla="val 5224"/>
            </a:avLst>
          </a:prstGeom>
          <a:solidFill>
            <a:srgbClr val="F7FBFB"/>
          </a:solidFill>
          <a:ln w="12700">
            <a:solidFill>
              <a:srgbClr val="D8E6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663440"/>
            <a:ext cx="9738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i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prompt: give AI the role, task, context, tone, format, and goal.</a:t>
            </a:r>
            <a:endParaRPr lang="en-US" sz="1320" dirty="0"/>
          </a:p>
        </p:txBody>
      </p:sp>
      <p:sp>
        <p:nvSpPr>
          <p:cNvPr id="23" name="Shape 20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2 /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14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</a:rPr>
              <a:t>20 minutes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" y="1828800"/>
            <a:ext cx="98755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Speed-to-Lead Is Not Enough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68096" y="30632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EEF"/>
                </a:solidFill>
              </a:rPr>
              <a:t>Fast matters, but fast and generic still feels automated.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8096" y="3913632"/>
            <a:ext cx="2011680" cy="0"/>
          </a:xfrm>
          <a:prstGeom prst="line">
            <a:avLst/>
          </a:prstGeom>
          <a:noFill/>
          <a:ln w="50800">
            <a:solidFill>
              <a:srgbClr val="FF6B5F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 matters, but fast and generic still feels automated.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Speed-to-Lead Is Not Enough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Acknowledge what they asked.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only what is verified.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one low-friction next question.</a:t>
            </a:r>
            <a:endParaRPr lang="en-US" sz="1820" dirty="0"/>
          </a:p>
        </p:txBody>
      </p:sp>
      <p:sp>
        <p:nvSpPr>
          <p:cNvPr id="8" name="Shape 5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2 / 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Framework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Speed-to-Lead Is Not Enough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Acknowledge what they asked.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only what is verified.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one low-friction next question.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path to call, showing, or consultation.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Context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Prompt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Review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Send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2 / 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Practice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 to a no-message IDX registration lead.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fast text, email, and voicemail for one lead.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Debrief: what improved, what still needs human review?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Try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Edit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Debrief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Save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86384" y="4498848"/>
            <a:ext cx="10195560" cy="1225296"/>
          </a:xfrm>
          <a:prstGeom prst="roundRect">
            <a:avLst>
              <a:gd name="adj" fmla="val 5224"/>
            </a:avLst>
          </a:prstGeom>
          <a:solidFill>
            <a:srgbClr val="F7FBFB"/>
          </a:solidFill>
          <a:ln w="12700">
            <a:solidFill>
              <a:srgbClr val="D8E6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663440"/>
            <a:ext cx="9738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i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prompt: give AI the role, task, context, tone, format, and goal.</a:t>
            </a:r>
            <a:endParaRPr lang="en-US" sz="1320" dirty="0"/>
          </a:p>
        </p:txBody>
      </p:sp>
      <p:sp>
        <p:nvSpPr>
          <p:cNvPr id="23" name="Shape 20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2 / 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14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</a:rPr>
              <a:t>20 minutes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" y="1828800"/>
            <a:ext cx="98755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Lead Types and Response Strategy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68096" y="30632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EEF"/>
                </a:solidFill>
              </a:rPr>
              <a:t>Different leads deserve different first moves.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8096" y="3913632"/>
            <a:ext cx="2011680" cy="0"/>
          </a:xfrm>
          <a:prstGeom prst="line">
            <a:avLst/>
          </a:prstGeom>
          <a:noFill/>
          <a:ln w="50800">
            <a:solidFill>
              <a:srgbClr val="FF6B5F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Different leads deserve different first moves.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Types and Response Strategy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Portal buyer lead.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IDX registration.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Property inquiry.</a:t>
            </a:r>
            <a:endParaRPr lang="en-US" sz="1820" dirty="0"/>
          </a:p>
        </p:txBody>
      </p:sp>
      <p:sp>
        <p:nvSpPr>
          <p:cNvPr id="8" name="Shape 5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2 / 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Framework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Types and Response Strategy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Portal buyer lead.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IDX registration.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Property inquiry.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valuation lead.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Relocation or open house lead.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Context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Prompt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Review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Send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2 / 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Practice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five lead types to five first-response styles.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Have attendees choose the strongest first question for each lead.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Debrief: what improved, what still needs human review?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Try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Edit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Debrief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Save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86384" y="4498848"/>
            <a:ext cx="10195560" cy="1225296"/>
          </a:xfrm>
          <a:prstGeom prst="roundRect">
            <a:avLst>
              <a:gd name="adj" fmla="val 5224"/>
            </a:avLst>
          </a:prstGeom>
          <a:solidFill>
            <a:srgbClr val="F7FBFB"/>
          </a:solidFill>
          <a:ln w="12700">
            <a:solidFill>
              <a:srgbClr val="D8E6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663440"/>
            <a:ext cx="9738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i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prompt: give AI the role, task, context, tone, format, and goal.</a:t>
            </a:r>
            <a:endParaRPr lang="en-US" sz="1320" dirty="0"/>
          </a:p>
        </p:txBody>
      </p:sp>
      <p:sp>
        <p:nvSpPr>
          <p:cNvPr id="23" name="Shape 20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2 / 16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14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</a:rPr>
              <a:t>20 minutes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" y="1828800"/>
            <a:ext cx="98755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AI for First Contact Scripts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68096" y="30632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EEF"/>
                </a:solidFill>
              </a:rPr>
              <a:t>AI can draft the message set so agents can focus on the conversation.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8096" y="3913632"/>
            <a:ext cx="2011680" cy="0"/>
          </a:xfrm>
          <a:prstGeom prst="line">
            <a:avLst/>
          </a:prstGeom>
          <a:noFill/>
          <a:ln w="50800">
            <a:solidFill>
              <a:srgbClr val="FF6B5F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can draft the message set so agents can focus on the conversation.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First Contact Scripts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Text: short and specific.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Email: useful and contextual.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Voicemail: quick reason for the call.</a:t>
            </a:r>
            <a:endParaRPr lang="en-US" sz="1820" dirty="0"/>
          </a:p>
        </p:txBody>
      </p:sp>
      <p:sp>
        <p:nvSpPr>
          <p:cNvPr id="8" name="Shape 5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2 / 18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Framework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First Contact Scripts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Text: short and specific.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Email: useful and contextual.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Voicemail: quick reason for the call.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Follow-up: one question, one next step.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Context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Prompt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Review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Send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2 / 19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Practice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text, email, voicemail, and call opener from one lead note.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the outputs to sound less salesy.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Debrief: what improved, what still needs human review?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Try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Edit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Debrief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Save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86384" y="4498848"/>
            <a:ext cx="10195560" cy="1225296"/>
          </a:xfrm>
          <a:prstGeom prst="roundRect">
            <a:avLst>
              <a:gd name="adj" fmla="val 5224"/>
            </a:avLst>
          </a:prstGeom>
          <a:solidFill>
            <a:srgbClr val="F7FBFB"/>
          </a:solidFill>
          <a:ln w="12700">
            <a:solidFill>
              <a:srgbClr val="D8E6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663440"/>
            <a:ext cx="9738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i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prompt: give AI the role, task, context, tone, format, and goal.</a:t>
            </a:r>
            <a:endParaRPr lang="en-US" sz="1320" dirty="0"/>
          </a:p>
        </p:txBody>
      </p:sp>
      <p:sp>
        <p:nvSpPr>
          <p:cNvPr id="23" name="Shape 20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2 / 20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14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</a:rPr>
              <a:t>20 minutes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" y="1828800"/>
            <a:ext cx="98755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Intent Signals and Prioritization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68096" y="30632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EEF"/>
                </a:solidFill>
              </a:rPr>
              <a:t>AI can summarize clues, but the agent decides who gets attention first.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8096" y="3913632"/>
            <a:ext cx="2011680" cy="0"/>
          </a:xfrm>
          <a:prstGeom prst="line">
            <a:avLst/>
          </a:prstGeom>
          <a:noFill/>
          <a:ln w="50800">
            <a:solidFill>
              <a:srgbClr val="FF6B5F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can summarize clues, but the agent decides who gets attention first.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Signals and Prioritization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visits.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Saved homes.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Showing requests.</a:t>
            </a:r>
            <a:endParaRPr lang="en-US" sz="1820" dirty="0"/>
          </a:p>
        </p:txBody>
      </p:sp>
      <p:sp>
        <p:nvSpPr>
          <p:cNvPr id="8" name="Shape 5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2 / 22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Framework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Signals and Prioritization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visits.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Saved homes.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Showing requests.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 or financing questions.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 and relocation language.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Context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Prompt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Review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Send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2 / 23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Practice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three synthetic leads from hot to long-term.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attendees what signal they trust most.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Debrief: what improved, what still needs human review?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Try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Edit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Debrief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Save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86384" y="4498848"/>
            <a:ext cx="10195560" cy="1225296"/>
          </a:xfrm>
          <a:prstGeom prst="roundRect">
            <a:avLst>
              <a:gd name="adj" fmla="val 5224"/>
            </a:avLst>
          </a:prstGeom>
          <a:solidFill>
            <a:srgbClr val="F7FBFB"/>
          </a:solidFill>
          <a:ln w="12700">
            <a:solidFill>
              <a:srgbClr val="D8E6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663440"/>
            <a:ext cx="9738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i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prompt: give AI the role, task, context, tone, format, and goal.</a:t>
            </a:r>
            <a:endParaRPr lang="en-US" sz="1320" dirty="0"/>
          </a:p>
        </p:txBody>
      </p:sp>
      <p:sp>
        <p:nvSpPr>
          <p:cNvPr id="23" name="Shape 20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2 / 24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14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</a:rPr>
              <a:t>20 minutes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" y="1828800"/>
            <a:ext cx="98755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Turning Replies Into Appointments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68096" y="30632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EEF"/>
                </a:solidFill>
              </a:rPr>
              <a:t>The appointment ask should feel like the natural next helpful step.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8096" y="3913632"/>
            <a:ext cx="2011680" cy="0"/>
          </a:xfrm>
          <a:prstGeom prst="line">
            <a:avLst/>
          </a:prstGeom>
          <a:noFill/>
          <a:ln w="50800">
            <a:solidFill>
              <a:srgbClr val="FF6B5F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appointment ask should feel like the natural next helpful step.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Turning Replies Into Appointments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 ask: 'Would it be helpful if...'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ask: 'The best next step is...'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Consultation ask.</a:t>
            </a:r>
            <a:endParaRPr lang="en-US" sz="1820" dirty="0"/>
          </a:p>
        </p:txBody>
      </p:sp>
      <p:sp>
        <p:nvSpPr>
          <p:cNvPr id="8" name="Shape 5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2 / 26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Framework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Turning Replies Into Appointments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 ask: 'Would it be helpful if...'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ask: 'The best next step is...'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Consultation ask.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Showing ask.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Phone-call ask.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Context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Prompt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Review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Send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2 / 27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Practice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an information-only chat into an appointment request.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three appointment asks in different tones.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Debrief: what improved, what still needs human review?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Try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Edit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Debrief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Save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86384" y="4498848"/>
            <a:ext cx="10195560" cy="1225296"/>
          </a:xfrm>
          <a:prstGeom prst="roundRect">
            <a:avLst>
              <a:gd name="adj" fmla="val 5224"/>
            </a:avLst>
          </a:prstGeom>
          <a:solidFill>
            <a:srgbClr val="F7FBFB"/>
          </a:solidFill>
          <a:ln w="12700">
            <a:solidFill>
              <a:srgbClr val="D8E6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663440"/>
            <a:ext cx="9738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i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prompt: give AI the role, task, context, tone, format, and goal.</a:t>
            </a:r>
            <a:endParaRPr lang="en-US" sz="1320" dirty="0"/>
          </a:p>
        </p:txBody>
      </p:sp>
      <p:sp>
        <p:nvSpPr>
          <p:cNvPr id="23" name="Shape 20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2 / 28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14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</a:rPr>
              <a:t>20 minutes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" y="1828800"/>
            <a:ext cx="98755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AI Role-Play and Objection Handling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68096" y="30632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EEF"/>
                </a:solidFill>
              </a:rPr>
              <a:t>Practice makes agents calmer when real leads push back.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8096" y="3913632"/>
            <a:ext cx="2011680" cy="0"/>
          </a:xfrm>
          <a:prstGeom prst="line">
            <a:avLst/>
          </a:prstGeom>
          <a:noFill/>
          <a:ln w="50800">
            <a:solidFill>
              <a:srgbClr val="FF6B5F"/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Practice makes agents calmer when real leads push back.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Role-Play and Objection Handling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I'm just looking.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already have an agent.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I'm not ready yet.</a:t>
            </a:r>
            <a:endParaRPr lang="en-US" sz="1820" dirty="0"/>
          </a:p>
        </p:txBody>
      </p:sp>
      <p:sp>
        <p:nvSpPr>
          <p:cNvPr id="8" name="Shape 5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2 / 30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Framework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Role-Play and Objection Handling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I'm just looking.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already have an agent.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I'm not ready yet.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don't want to be contacted.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I'm waiting for rates to drop.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Context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Prompt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Review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Send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2 / 31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Practice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AI to play the reluctant buyer and score the response.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 up or do room-wide objection practice.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Debrief: what improved, what still needs human review?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Try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Edit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Debrief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Save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86384" y="4498848"/>
            <a:ext cx="10195560" cy="1225296"/>
          </a:xfrm>
          <a:prstGeom prst="roundRect">
            <a:avLst>
              <a:gd name="adj" fmla="val 5224"/>
            </a:avLst>
          </a:prstGeom>
          <a:solidFill>
            <a:srgbClr val="F7FBFB"/>
          </a:solidFill>
          <a:ln w="12700">
            <a:solidFill>
              <a:srgbClr val="D8E6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663440"/>
            <a:ext cx="9738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i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prompt: give AI the role, task, context, tone, format, and goal.</a:t>
            </a:r>
            <a:endParaRPr lang="en-US" sz="1320" dirty="0"/>
          </a:p>
        </p:txBody>
      </p:sp>
      <p:sp>
        <p:nvSpPr>
          <p:cNvPr id="23" name="Shape 20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2 / 32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14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</a:rPr>
              <a:t>15 minutes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" y="1828800"/>
            <a:ext cx="98755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Measurement and Improvement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68096" y="30632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EEF"/>
                </a:solidFill>
              </a:rPr>
              <a:t>What gets measured gets coached.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8096" y="3913632"/>
            <a:ext cx="2011680" cy="0"/>
          </a:xfrm>
          <a:prstGeom prst="line">
            <a:avLst/>
          </a:prstGeom>
          <a:noFill/>
          <a:ln w="50800">
            <a:solidFill>
              <a:srgbClr val="FF6B5F"/>
            </a:solidFill>
            <a:prstDash val="solid"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gets measured gets coached.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 and Improvement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rate.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 rate.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Appointment rate.</a:t>
            </a:r>
            <a:endParaRPr lang="en-US" sz="1820" dirty="0"/>
          </a:p>
        </p:txBody>
      </p:sp>
      <p:sp>
        <p:nvSpPr>
          <p:cNvPr id="8" name="Shape 5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2 / 34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Framework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 and Improvement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rate.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 rate.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Appointment rate.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Time-to-first-response.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Follow-up attempts.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Context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Prompt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Review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Send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2 / 35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Practice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simple weekly lead conversion scorecard.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one metric to improve next week.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Debrief: what improved, what still needs human review?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18120" y="2221992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Try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668512" y="2221992"/>
            <a:ext cx="566928" cy="56692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Edit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18904" y="2221992"/>
            <a:ext cx="566928" cy="566928"/>
          </a:xfrm>
          <a:prstGeom prst="ellipse">
            <a:avLst/>
          </a:prstGeom>
          <a:solidFill>
            <a:srgbClr val="FF6B5F"/>
          </a:solidFill>
          <a:ln w="12700">
            <a:solidFill>
              <a:srgbClr val="F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6024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Debrief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69296" y="222199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9296" y="23408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6416" y="29077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02033"/>
                </a:solidFill>
              </a:rPr>
              <a:t>Save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2505456"/>
            <a:ext cx="2048256" cy="0"/>
          </a:xfrm>
          <a:prstGeom prst="line">
            <a:avLst/>
          </a:prstGeom>
          <a:noFill/>
          <a:ln w="15240">
            <a:solidFill>
              <a:srgbClr val="B7CFD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86384" y="4498848"/>
            <a:ext cx="10195560" cy="1225296"/>
          </a:xfrm>
          <a:prstGeom prst="roundRect">
            <a:avLst>
              <a:gd name="adj" fmla="val 5224"/>
            </a:avLst>
          </a:prstGeom>
          <a:solidFill>
            <a:srgbClr val="F7FBFB"/>
          </a:solidFill>
          <a:ln w="12700">
            <a:solidFill>
              <a:srgbClr val="D8E6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663440"/>
            <a:ext cx="9738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i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prompt: give AI the role, task, context, tone, format, and goal.</a:t>
            </a:r>
            <a:endParaRPr lang="en-US" sz="1320" dirty="0"/>
          </a:p>
        </p:txBody>
      </p:sp>
      <p:sp>
        <p:nvSpPr>
          <p:cNvPr id="23" name="Shape 20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2 / 36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to Take Back to Your Business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one workflow and make it repeatable.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 quickly, but use the lead's context.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one simple question.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claim facts you have not verified.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toward a next step without forcing it.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response, contact, and appointment rates.</a:t>
            </a:r>
            <a:endParaRPr lang="en-US" sz="1820" dirty="0"/>
          </a:p>
        </p:txBody>
      </p:sp>
      <p:sp>
        <p:nvSpPr>
          <p:cNvPr id="8" name="Shape 5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2 / 37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320040"/>
            <a:ext cx="1920240" cy="19202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1F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9692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7-Day Action Plan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Small, specific, and actually doable.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901952"/>
            <a:ext cx="662940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one lead source.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a first-response prompt for that source.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text, email, voicemail, and call opener versions.</a:t>
            </a:r>
            <a:endParaRPr lang="en-US" sz="1820" dirty="0"/>
          </a:p>
          <a:p>
            <a:pPr marL="203200" indent="-203200">
              <a:buSzPct val="100000"/>
              <a:buChar char="•"/>
            </a:pPr>
            <a:r>
              <a:rPr lang="en-US" sz="18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appointment conversion for one week.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786384" y="4498848"/>
            <a:ext cx="10195560" cy="1225296"/>
          </a:xfrm>
          <a:prstGeom prst="roundRect">
            <a:avLst>
              <a:gd name="adj" fmla="val 5224"/>
            </a:avLst>
          </a:prstGeom>
          <a:solidFill>
            <a:srgbClr val="F7FBFB"/>
          </a:solidFill>
          <a:ln w="12700">
            <a:solidFill>
              <a:srgbClr val="D8E6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663440"/>
            <a:ext cx="9738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i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to one repeatable workflow before adding another tool.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6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AI Course Series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0424160" y="6601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2 / 38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Miami Realtors AI Course Series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Lead Conversion: How to Turn More Online Leads Into Appointments</dc:title>
  <dc:subject>AI Lead Conversion: How to Turn More Online Leads Into Appointments</dc:subject>
  <dc:creator>Ian Burton Price</dc:creator>
  <cp:lastModifiedBy>Ian Burton Price</cp:lastModifiedBy>
  <cp:revision>1</cp:revision>
  <dcterms:created xsi:type="dcterms:W3CDTF">2026-04-27T22:07:31Z</dcterms:created>
  <dcterms:modified xsi:type="dcterms:W3CDTF">2026-04-27T22:07:31Z</dcterms:modified>
</cp:coreProperties>
</file>